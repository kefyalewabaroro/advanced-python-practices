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y="5143500" cx="9144000"/>
  <p:notesSz cx="6858000" cy="9144000"/>
  <p:embeddedFontLst>
    <p:embeddedFont>
      <p:font typeface="Roboto"/>
      <p:regular r:id="rId61"/>
      <p:bold r:id="rId62"/>
      <p:italic r:id="rId63"/>
      <p:boldItalic r:id="rId64"/>
    </p:embeddedFont>
    <p:embeddedFont>
      <p:font typeface="Roboto Medium"/>
      <p:regular r:id="rId65"/>
      <p:bold r:id="rId66"/>
      <p:italic r:id="rId67"/>
      <p:boldItalic r:id="rId68"/>
    </p:embeddedFont>
    <p:embeddedFont>
      <p:font typeface="Lato"/>
      <p:regular r:id="rId69"/>
      <p:bold r:id="rId70"/>
      <p:italic r:id="rId71"/>
      <p:boldItalic r:id="rId72"/>
    </p:embeddedFont>
    <p:embeddedFont>
      <p:font typeface="Fira Sans Extra Condensed Medium"/>
      <p:regular r:id="rId73"/>
      <p:bold r:id="rId74"/>
      <p:italic r:id="rId75"/>
      <p:boldItalic r:id="rId76"/>
    </p:embeddedFont>
    <p:embeddedFont>
      <p:font typeface="Fira Sans Medium"/>
      <p:regular r:id="rId77"/>
      <p:bold r:id="rId78"/>
      <p:italic r:id="rId79"/>
      <p:boldItalic r:id="rId80"/>
    </p:embeddedFont>
    <p:embeddedFont>
      <p:font typeface="Fira Sans"/>
      <p:regular r:id="rId81"/>
      <p:bold r:id="rId82"/>
      <p:italic r:id="rId83"/>
      <p:boldItalic r:id="rId84"/>
    </p:embeddedFont>
    <p:embeddedFont>
      <p:font typeface="Fira Code"/>
      <p:regular r:id="rId85"/>
      <p:bold r:id="rId86"/>
    </p:embeddedFont>
    <p:embeddedFont>
      <p:font typeface="Fira Sans Extra Condensed"/>
      <p:regular r:id="rId87"/>
      <p:bold r:id="rId88"/>
      <p:italic r:id="rId89"/>
      <p:boldItalic r:id="rId90"/>
    </p:embeddedFont>
    <p:embeddedFont>
      <p:font typeface="Fira Sans Extra Condensed SemiBold"/>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5" roundtripDataSignature="AMtx7miSJX7hVg1P7qdAEwlkby2Pxo1O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FiraSans-boldItalic.fntdata"/><Relationship Id="rId83" Type="http://schemas.openxmlformats.org/officeDocument/2006/relationships/font" Target="fonts/FiraSans-italic.fntdata"/><Relationship Id="rId42" Type="http://schemas.openxmlformats.org/officeDocument/2006/relationships/slide" Target="slides/slide38.xml"/><Relationship Id="rId86" Type="http://schemas.openxmlformats.org/officeDocument/2006/relationships/font" Target="fonts/FiraCode-bold.fntdata"/><Relationship Id="rId41" Type="http://schemas.openxmlformats.org/officeDocument/2006/relationships/slide" Target="slides/slide37.xml"/><Relationship Id="rId85" Type="http://schemas.openxmlformats.org/officeDocument/2006/relationships/font" Target="fonts/FiraCode-regular.fntdata"/><Relationship Id="rId44" Type="http://schemas.openxmlformats.org/officeDocument/2006/relationships/slide" Target="slides/slide40.xml"/><Relationship Id="rId88" Type="http://schemas.openxmlformats.org/officeDocument/2006/relationships/font" Target="fonts/FiraSansExtraCondensed-bold.fntdata"/><Relationship Id="rId43" Type="http://schemas.openxmlformats.org/officeDocument/2006/relationships/slide" Target="slides/slide39.xml"/><Relationship Id="rId87" Type="http://schemas.openxmlformats.org/officeDocument/2006/relationships/font" Target="fonts/FiraSansExtraCondensed-regular.fntdata"/><Relationship Id="rId46" Type="http://schemas.openxmlformats.org/officeDocument/2006/relationships/slide" Target="slides/slide42.xml"/><Relationship Id="rId45" Type="http://schemas.openxmlformats.org/officeDocument/2006/relationships/slide" Target="slides/slide41.xml"/><Relationship Id="rId89" Type="http://schemas.openxmlformats.org/officeDocument/2006/relationships/font" Target="fonts/FiraSansExtraCondensed-italic.fntdata"/><Relationship Id="rId80" Type="http://schemas.openxmlformats.org/officeDocument/2006/relationships/font" Target="fonts/FiraSansMedium-boldItalic.fntdata"/><Relationship Id="rId82" Type="http://schemas.openxmlformats.org/officeDocument/2006/relationships/font" Target="fonts/FiraSans-bold.fntdata"/><Relationship Id="rId81" Type="http://schemas.openxmlformats.org/officeDocument/2006/relationships/font" Target="fonts/Fira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FiraSansExtraCondensedMedium-regular.fntdata"/><Relationship Id="rId72" Type="http://schemas.openxmlformats.org/officeDocument/2006/relationships/font" Target="fonts/Lato-boldItalic.fntdata"/><Relationship Id="rId31" Type="http://schemas.openxmlformats.org/officeDocument/2006/relationships/slide" Target="slides/slide27.xml"/><Relationship Id="rId75" Type="http://schemas.openxmlformats.org/officeDocument/2006/relationships/font" Target="fonts/FiraSansExtraCondensedMedium-italic.fntdata"/><Relationship Id="rId30" Type="http://schemas.openxmlformats.org/officeDocument/2006/relationships/slide" Target="slides/slide26.xml"/><Relationship Id="rId74" Type="http://schemas.openxmlformats.org/officeDocument/2006/relationships/font" Target="fonts/FiraSansExtraCondensedMedium-bold.fntdata"/><Relationship Id="rId33" Type="http://schemas.openxmlformats.org/officeDocument/2006/relationships/slide" Target="slides/slide29.xml"/><Relationship Id="rId77" Type="http://schemas.openxmlformats.org/officeDocument/2006/relationships/font" Target="fonts/FiraSansMedium-regular.fntdata"/><Relationship Id="rId32" Type="http://schemas.openxmlformats.org/officeDocument/2006/relationships/slide" Target="slides/slide28.xml"/><Relationship Id="rId76" Type="http://schemas.openxmlformats.org/officeDocument/2006/relationships/font" Target="fonts/FiraSansExtraCondensedMedium-boldItalic.fntdata"/><Relationship Id="rId35" Type="http://schemas.openxmlformats.org/officeDocument/2006/relationships/slide" Target="slides/slide31.xml"/><Relationship Id="rId79" Type="http://schemas.openxmlformats.org/officeDocument/2006/relationships/font" Target="fonts/FiraSansMedium-italic.fntdata"/><Relationship Id="rId34" Type="http://schemas.openxmlformats.org/officeDocument/2006/relationships/slide" Target="slides/slide30.xml"/><Relationship Id="rId78" Type="http://schemas.openxmlformats.org/officeDocument/2006/relationships/font" Target="fonts/FiraSansMedium-bold.fntdata"/><Relationship Id="rId71" Type="http://schemas.openxmlformats.org/officeDocument/2006/relationships/font" Target="fonts/Lato-italic.fntdata"/><Relationship Id="rId70" Type="http://schemas.openxmlformats.org/officeDocument/2006/relationships/font" Target="fonts/Lato-bold.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Roboto-bold.fntdata"/><Relationship Id="rId61" Type="http://schemas.openxmlformats.org/officeDocument/2006/relationships/font" Target="fonts/Roboto-regular.fntdata"/><Relationship Id="rId20" Type="http://schemas.openxmlformats.org/officeDocument/2006/relationships/slide" Target="slides/slide16.xml"/><Relationship Id="rId64" Type="http://schemas.openxmlformats.org/officeDocument/2006/relationships/font" Target="fonts/Roboto-boldItalic.fntdata"/><Relationship Id="rId63" Type="http://schemas.openxmlformats.org/officeDocument/2006/relationships/font" Target="fonts/Roboto-italic.fntdata"/><Relationship Id="rId22" Type="http://schemas.openxmlformats.org/officeDocument/2006/relationships/slide" Target="slides/slide18.xml"/><Relationship Id="rId66" Type="http://schemas.openxmlformats.org/officeDocument/2006/relationships/font" Target="fonts/RobotoMedium-bold.fntdata"/><Relationship Id="rId21" Type="http://schemas.openxmlformats.org/officeDocument/2006/relationships/slide" Target="slides/slide17.xml"/><Relationship Id="rId65" Type="http://schemas.openxmlformats.org/officeDocument/2006/relationships/font" Target="fonts/RobotoMedium-regular.fntdata"/><Relationship Id="rId24" Type="http://schemas.openxmlformats.org/officeDocument/2006/relationships/slide" Target="slides/slide20.xml"/><Relationship Id="rId68" Type="http://schemas.openxmlformats.org/officeDocument/2006/relationships/font" Target="fonts/RobotoMedium-boldItalic.fntdata"/><Relationship Id="rId23" Type="http://schemas.openxmlformats.org/officeDocument/2006/relationships/slide" Target="slides/slide19.xml"/><Relationship Id="rId67" Type="http://schemas.openxmlformats.org/officeDocument/2006/relationships/font" Target="fonts/RobotoMedium-italic.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Lato-regular.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95" Type="http://customschemas.google.com/relationships/presentationmetadata" Target="metadata"/><Relationship Id="rId50" Type="http://schemas.openxmlformats.org/officeDocument/2006/relationships/slide" Target="slides/slide46.xml"/><Relationship Id="rId94" Type="http://schemas.openxmlformats.org/officeDocument/2006/relationships/font" Target="fonts/FiraSansExtraCondensedSemiBold-boldItalic.fntdata"/><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91" Type="http://schemas.openxmlformats.org/officeDocument/2006/relationships/font" Target="fonts/FiraSansExtraCondensedSemiBold-regular.fntdata"/><Relationship Id="rId90" Type="http://schemas.openxmlformats.org/officeDocument/2006/relationships/font" Target="fonts/FiraSansExtraCondensed-boldItalic.fntdata"/><Relationship Id="rId93" Type="http://schemas.openxmlformats.org/officeDocument/2006/relationships/font" Target="fonts/FiraSansExtraCondensedSemiBold-italic.fntdata"/><Relationship Id="rId92" Type="http://schemas.openxmlformats.org/officeDocument/2006/relationships/font" Target="fonts/FiraSansExtraCondensedSemiBold-bold.fntdata"/><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8" name="Google Shape;58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5" name="Google Shape;59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9" name="Google Shape;60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8" name="Google Shape;62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4" name="Google Shape;63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6" name="Google Shape;64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9" name="Google Shape;65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5" name="Google Shape;66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7" name="Google Shape;67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9" name="Google Shape;68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6" name="Google Shape;69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3" name="Google Shape;70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0" name="Google Shape;710;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7" name="Google Shape;717;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4" name="Google Shape;724;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1" name="Google Shape;731;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8" name="Google Shape;73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6" name="Google Shape;746;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1" name="Google Shape;761;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0" name="Google Shape;770;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9" name="Google Shape;77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7" name="Google Shape;787;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3" name="Google Shape;793;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9" name="Google Shape;799;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9" name="Google Shape;819;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9" name="Google Shape;83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8"/>
          <p:cNvSpPr txBox="1"/>
          <p:nvPr>
            <p:ph type="ctrTitle"/>
          </p:nvPr>
        </p:nvSpPr>
        <p:spPr>
          <a:xfrm>
            <a:off x="987356" y="1629550"/>
            <a:ext cx="3422400" cy="1524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58"/>
          <p:cNvSpPr txBox="1"/>
          <p:nvPr>
            <p:ph idx="1" type="subTitle"/>
          </p:nvPr>
        </p:nvSpPr>
        <p:spPr>
          <a:xfrm>
            <a:off x="987356" y="3147050"/>
            <a:ext cx="3607200" cy="366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800"/>
              <a:buNone/>
              <a:defRPr sz="1600">
                <a:solidFill>
                  <a:schemeClr val="dk1"/>
                </a:solidFill>
                <a:latin typeface="Roboto"/>
                <a:ea typeface="Roboto"/>
                <a:cs typeface="Roboto"/>
                <a:sym typeface="Roboto"/>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 name="Shape 12"/>
        <p:cNvGrpSpPr/>
        <p:nvPr/>
      </p:nvGrpSpPr>
      <p:grpSpPr>
        <a:xfrm>
          <a:off x="0" y="0"/>
          <a:ext cx="0" cy="0"/>
          <a:chOff x="0" y="0"/>
          <a:chExt cx="0" cy="0"/>
        </a:xfrm>
      </p:grpSpPr>
      <p:sp>
        <p:nvSpPr>
          <p:cNvPr id="13" name="Google Shape;13;p59"/>
          <p:cNvSpPr txBox="1"/>
          <p:nvPr>
            <p:ph type="title"/>
          </p:nvPr>
        </p:nvSpPr>
        <p:spPr>
          <a:xfrm>
            <a:off x="457200" y="411475"/>
            <a:ext cx="8229600" cy="37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 name="Shape 14"/>
        <p:cNvGrpSpPr/>
        <p:nvPr/>
      </p:nvGrpSpPr>
      <p:grpSpPr>
        <a:xfrm>
          <a:off x="0" y="0"/>
          <a:ext cx="0" cy="0"/>
          <a:chOff x="0" y="0"/>
          <a:chExt cx="0" cy="0"/>
        </a:xfrm>
      </p:grpSpPr>
      <p:sp>
        <p:nvSpPr>
          <p:cNvPr id="15" name="Google Shape;1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60"/>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1pPr>
            <a:lvl2pPr lvl="1"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2pPr>
            <a:lvl3pPr lvl="2"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3pPr>
            <a:lvl4pPr lvl="3"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4pPr>
            <a:lvl5pPr lvl="4"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5pPr>
            <a:lvl6pPr lvl="5"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6pPr>
            <a:lvl7pPr lvl="6"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7pPr>
            <a:lvl8pPr lvl="7"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8pPr>
            <a:lvl9pPr lvl="8" algn="ctr">
              <a:lnSpc>
                <a:spcPct val="100000"/>
              </a:lnSpc>
              <a:spcBef>
                <a:spcPts val="0"/>
              </a:spcBef>
              <a:spcAft>
                <a:spcPts val="0"/>
              </a:spcAft>
              <a:buClr>
                <a:srgbClr val="000000"/>
              </a:buClr>
              <a:buSzPts val="3000"/>
              <a:buFont typeface="Fira Sans Extra Condensed"/>
              <a:buNone/>
              <a:defRPr sz="3000">
                <a:solidFill>
                  <a:srgbClr val="000000"/>
                </a:solidFill>
                <a:latin typeface="Fira Sans Extra Condensed"/>
                <a:ea typeface="Fira Sans Extra Condensed"/>
                <a:cs typeface="Fira Sans Extra Condensed"/>
                <a:sym typeface="Fira Sans Extra Condense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6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5" name="Google Shape;25;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6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6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6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6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6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6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6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6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6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3" name="Google Shape;43;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6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6" name="Google Shape;46;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6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6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0" name="Google Shape;50;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1pPr>
            <a:lvl2pPr lvl="1"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2pPr>
            <a:lvl3pPr lvl="2"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3pPr>
            <a:lvl4pPr lvl="3"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4pPr>
            <a:lvl5pPr lvl="4"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5pPr>
            <a:lvl6pPr lvl="5"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6pPr>
            <a:lvl7pPr lvl="6"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7pPr>
            <a:lvl8pPr lvl="7"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8pPr>
            <a:lvl9pPr lvl="8" marR="0" rtl="0" algn="l">
              <a:lnSpc>
                <a:spcPct val="100000"/>
              </a:lnSpc>
              <a:spcBef>
                <a:spcPts val="0"/>
              </a:spcBef>
              <a:spcAft>
                <a:spcPts val="0"/>
              </a:spcAft>
              <a:buClr>
                <a:schemeClr val="dk1"/>
              </a:buClr>
              <a:buSzPts val="2800"/>
              <a:buFont typeface="Fira Sans Extra Condensed SemiBold"/>
              <a:buNone/>
              <a:defRPr b="0" i="0" sz="2800" u="none" cap="none" strike="noStrike">
                <a:solidFill>
                  <a:schemeClr val="dk1"/>
                </a:solidFill>
                <a:latin typeface="Fira Sans Extra Condensed SemiBold"/>
                <a:ea typeface="Fira Sans Extra Condensed SemiBold"/>
                <a:cs typeface="Fira Sans Extra Condensed SemiBold"/>
                <a:sym typeface="Fira Sans Extra Condensed SemiBold"/>
              </a:defRPr>
            </a:lvl9pPr>
          </a:lstStyle>
          <a:p/>
        </p:txBody>
      </p:sp>
      <p:sp>
        <p:nvSpPr>
          <p:cNvPr id="7" name="Google Shape;7;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000000"/>
              </a:buClr>
              <a:buSzPts val="1800"/>
              <a:buFont typeface="Roboto"/>
              <a:buChar char="●"/>
              <a:defRPr b="0" i="0" sz="1800" u="none" cap="none" strike="noStrike">
                <a:solidFill>
                  <a:srgbClr val="000000"/>
                </a:solidFill>
                <a:latin typeface="Roboto"/>
                <a:ea typeface="Roboto"/>
                <a:cs typeface="Roboto"/>
                <a:sym typeface="Roboto"/>
              </a:defRPr>
            </a:lvl1pPr>
            <a:lvl2pPr indent="-317500" lvl="1" marL="9144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2pPr>
            <a:lvl3pPr indent="-317500" lvl="2" marL="13716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3pPr>
            <a:lvl4pPr indent="-317500" lvl="3" marL="18288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4pPr>
            <a:lvl5pPr indent="-317500" lvl="4" marL="22860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5pPr>
            <a:lvl6pPr indent="-317500" lvl="5" marL="27432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6pPr>
            <a:lvl7pPr indent="-317500" lvl="6" marL="32004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7pPr>
            <a:lvl8pPr indent="-317500" lvl="7" marL="3657600" marR="0" rtl="0" algn="l">
              <a:lnSpc>
                <a:spcPct val="115000"/>
              </a:lnSpc>
              <a:spcBef>
                <a:spcPts val="1600"/>
              </a:spcBef>
              <a:spcAft>
                <a:spcPts val="0"/>
              </a:spcAft>
              <a:buClr>
                <a:srgbClr val="000000"/>
              </a:buClr>
              <a:buSzPts val="1400"/>
              <a:buFont typeface="Roboto"/>
              <a:buChar char="○"/>
              <a:defRPr b="0" i="0" sz="1400" u="none" cap="none" strike="noStrike">
                <a:solidFill>
                  <a:srgbClr val="000000"/>
                </a:solidFill>
                <a:latin typeface="Roboto"/>
                <a:ea typeface="Roboto"/>
                <a:cs typeface="Roboto"/>
                <a:sym typeface="Roboto"/>
              </a:defRPr>
            </a:lvl8pPr>
            <a:lvl9pPr indent="-317500" lvl="8" marL="4114800" marR="0" rtl="0" algn="l">
              <a:lnSpc>
                <a:spcPct val="115000"/>
              </a:lnSpc>
              <a:spcBef>
                <a:spcPts val="1600"/>
              </a:spcBef>
              <a:spcAft>
                <a:spcPts val="1600"/>
              </a:spcAft>
              <a:buClr>
                <a:srgbClr val="000000"/>
              </a:buClr>
              <a:buSzPts val="1400"/>
              <a:buFont typeface="Roboto"/>
              <a:buChar char="■"/>
              <a:defRPr b="0" i="0" sz="1400" u="none" cap="none" strike="noStrike">
                <a:solidFill>
                  <a:srgbClr val="000000"/>
                </a:solidFill>
                <a:latin typeface="Roboto"/>
                <a:ea typeface="Roboto"/>
                <a:cs typeface="Roboto"/>
                <a:sym typeface="Roboto"/>
              </a:defRPr>
            </a:lvl9pPr>
          </a:lstStyle>
          <a:p/>
        </p:txBody>
      </p:sp>
      <p:sp>
        <p:nvSpPr>
          <p:cNvPr id="8" name="Google Shape;8;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hyperlink" Target="http://www.quickdatabasediagrams.com/" TargetMode="External"/><Relationship Id="rId4" Type="http://schemas.openxmlformats.org/officeDocument/2006/relationships/hyperlink" Target="http://www.dbdiagram.io" TargetMode="External"/><Relationship Id="rId5" Type="http://schemas.openxmlformats.org/officeDocument/2006/relationships/hyperlink" Target="http://www.lucidchart.com" TargetMode="External"/><Relationship Id="rId6" Type="http://schemas.openxmlformats.org/officeDocument/2006/relationships/hyperlink" Target="http://www.miro.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ph type="ctrTitle"/>
          </p:nvPr>
        </p:nvSpPr>
        <p:spPr>
          <a:xfrm>
            <a:off x="277525" y="758575"/>
            <a:ext cx="5040300" cy="2395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200"/>
              <a:buNone/>
            </a:pPr>
            <a:r>
              <a:rPr lang="en">
                <a:solidFill>
                  <a:srgbClr val="09B42A"/>
                </a:solidFill>
              </a:rPr>
              <a:t>Database Development &amp; SQL Data Analysis</a:t>
            </a:r>
            <a:endParaRPr>
              <a:solidFill>
                <a:srgbClr val="09B42A"/>
              </a:solidFill>
            </a:endParaRPr>
          </a:p>
        </p:txBody>
      </p:sp>
      <p:sp>
        <p:nvSpPr>
          <p:cNvPr id="56" name="Google Shape;56;p1"/>
          <p:cNvSpPr txBox="1"/>
          <p:nvPr>
            <p:ph idx="1" type="subTitle"/>
          </p:nvPr>
        </p:nvSpPr>
        <p:spPr>
          <a:xfrm>
            <a:off x="277525" y="2940200"/>
            <a:ext cx="4864500" cy="69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lang="en" sz="3700">
                <a:solidFill>
                  <a:schemeClr val="dk2"/>
                </a:solidFill>
              </a:rPr>
              <a:t>Phase 2: Career Track</a:t>
            </a:r>
            <a:endParaRPr sz="3700">
              <a:solidFill>
                <a:schemeClr val="dk2"/>
              </a:solidFill>
            </a:endParaRPr>
          </a:p>
        </p:txBody>
      </p:sp>
      <p:sp>
        <p:nvSpPr>
          <p:cNvPr id="57" name="Google Shape;57;p1"/>
          <p:cNvSpPr/>
          <p:nvPr/>
        </p:nvSpPr>
        <p:spPr>
          <a:xfrm rot="5400000">
            <a:off x="7464244" y="3469259"/>
            <a:ext cx="692400" cy="692400"/>
          </a:xfrm>
          <a:prstGeom prst="ellipse">
            <a:avLst/>
          </a:prstGeom>
          <a:solidFill>
            <a:srgbClr val="FFFFFF"/>
          </a:solidFill>
          <a:ln cap="flat" cmpd="sng" w="2857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chemeClr val="accent1"/>
              </a:solidFill>
              <a:latin typeface="Fira Sans Extra Condensed"/>
              <a:ea typeface="Fira Sans Extra Condensed"/>
              <a:cs typeface="Fira Sans Extra Condensed"/>
              <a:sym typeface="Fira Sans Extra Condensed"/>
            </a:endParaRPr>
          </a:p>
        </p:txBody>
      </p:sp>
      <p:sp>
        <p:nvSpPr>
          <p:cNvPr id="58" name="Google Shape;58;p1"/>
          <p:cNvSpPr/>
          <p:nvPr/>
        </p:nvSpPr>
        <p:spPr>
          <a:xfrm rot="5400000">
            <a:off x="6633319" y="3469259"/>
            <a:ext cx="692400" cy="692400"/>
          </a:xfrm>
          <a:prstGeom prst="ellipse">
            <a:avLst/>
          </a:prstGeom>
          <a:solidFill>
            <a:srgbClr val="FFFFFF"/>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chemeClr val="accent2"/>
              </a:solidFill>
              <a:latin typeface="Fira Sans Extra Condensed"/>
              <a:ea typeface="Fira Sans Extra Condensed"/>
              <a:cs typeface="Fira Sans Extra Condensed"/>
              <a:sym typeface="Fira Sans Extra Condensed"/>
            </a:endParaRPr>
          </a:p>
        </p:txBody>
      </p:sp>
      <p:sp>
        <p:nvSpPr>
          <p:cNvPr id="59" name="Google Shape;59;p1"/>
          <p:cNvSpPr/>
          <p:nvPr/>
        </p:nvSpPr>
        <p:spPr>
          <a:xfrm rot="5400000">
            <a:off x="5802394" y="3469259"/>
            <a:ext cx="692400" cy="692400"/>
          </a:xfrm>
          <a:prstGeom prst="ellipse">
            <a:avLst/>
          </a:prstGeom>
          <a:solidFill>
            <a:srgbClr val="FFFFFF"/>
          </a:solidFill>
          <a:ln cap="flat" cmpd="sng" w="2857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chemeClr val="accent3"/>
              </a:solidFill>
              <a:latin typeface="Fira Sans Extra Condensed"/>
              <a:ea typeface="Fira Sans Extra Condensed"/>
              <a:cs typeface="Fira Sans Extra Condensed"/>
              <a:sym typeface="Fira Sans Extra Condensed"/>
            </a:endParaRPr>
          </a:p>
        </p:txBody>
      </p:sp>
      <p:sp>
        <p:nvSpPr>
          <p:cNvPr id="60" name="Google Shape;60;p1"/>
          <p:cNvSpPr/>
          <p:nvPr/>
        </p:nvSpPr>
        <p:spPr>
          <a:xfrm rot="5400000">
            <a:off x="4971469" y="3469259"/>
            <a:ext cx="692400" cy="692400"/>
          </a:xfrm>
          <a:prstGeom prst="ellipse">
            <a:avLst/>
          </a:prstGeom>
          <a:solidFill>
            <a:srgbClr val="FFFFFF"/>
          </a:solidFill>
          <a:ln cap="flat" cmpd="sng" w="2857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1" i="0" sz="2100" u="none" cap="none" strike="noStrike">
              <a:solidFill>
                <a:schemeClr val="accent4"/>
              </a:solidFill>
              <a:latin typeface="Fira Sans Extra Condensed"/>
              <a:ea typeface="Fira Sans Extra Condensed"/>
              <a:cs typeface="Fira Sans Extra Condensed"/>
              <a:sym typeface="Fira Sans Extra Condensed"/>
            </a:endParaRPr>
          </a:p>
        </p:txBody>
      </p:sp>
      <p:sp>
        <p:nvSpPr>
          <p:cNvPr id="61" name="Google Shape;61;p1"/>
          <p:cNvSpPr/>
          <p:nvPr/>
        </p:nvSpPr>
        <p:spPr>
          <a:xfrm rot="5400000">
            <a:off x="5980990" y="962641"/>
            <a:ext cx="1230000" cy="1268400"/>
          </a:xfrm>
          <a:prstGeom prst="roundRect">
            <a:avLst>
              <a:gd fmla="val 50000" name="adj"/>
            </a:avLst>
          </a:prstGeom>
          <a:solidFill>
            <a:srgbClr val="FFFFFF"/>
          </a:solid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2" name="Google Shape;62;p1"/>
          <p:cNvGrpSpPr/>
          <p:nvPr/>
        </p:nvGrpSpPr>
        <p:grpSpPr>
          <a:xfrm>
            <a:off x="6373463" y="1220354"/>
            <a:ext cx="379746" cy="379756"/>
            <a:chOff x="-2571737" y="2403625"/>
            <a:chExt cx="292225" cy="291425"/>
          </a:xfrm>
        </p:grpSpPr>
        <p:sp>
          <p:nvSpPr>
            <p:cNvPr id="63" name="Google Shape;63;p1"/>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0" name="Google Shape;70;p1"/>
          <p:cNvSpPr/>
          <p:nvPr/>
        </p:nvSpPr>
        <p:spPr>
          <a:xfrm>
            <a:off x="5838205" y="1687645"/>
            <a:ext cx="1450500" cy="285600"/>
          </a:xfrm>
          <a:prstGeom prst="roundRect">
            <a:avLst>
              <a:gd fmla="val 50000" name="adj"/>
            </a:avLst>
          </a:prstGeom>
          <a:solidFill>
            <a:srgbClr val="FFFFFF"/>
          </a:solid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900" u="none" cap="none" strike="noStrike">
                <a:solidFill>
                  <a:schemeClr val="dk1"/>
                </a:solidFill>
                <a:latin typeface="Fira Sans Extra Condensed"/>
                <a:ea typeface="Fira Sans Extra Condensed"/>
                <a:cs typeface="Fira Sans Extra Condensed"/>
                <a:sym typeface="Fira Sans Extra Condensed"/>
              </a:rPr>
              <a:t>SQL</a:t>
            </a:r>
            <a:endParaRPr b="1" i="0" sz="1900" u="none" cap="none" strike="noStrike">
              <a:solidFill>
                <a:schemeClr val="dk1"/>
              </a:solidFill>
              <a:latin typeface="Fira Sans Extra Condensed"/>
              <a:ea typeface="Fira Sans Extra Condensed"/>
              <a:cs typeface="Fira Sans Extra Condensed"/>
              <a:sym typeface="Fira Sans Extra Condensed"/>
            </a:endParaRPr>
          </a:p>
        </p:txBody>
      </p:sp>
      <p:cxnSp>
        <p:nvCxnSpPr>
          <p:cNvPr id="71" name="Google Shape;71;p1"/>
          <p:cNvCxnSpPr>
            <a:stCxn id="61" idx="3"/>
            <a:endCxn id="60" idx="2"/>
          </p:cNvCxnSpPr>
          <p:nvPr/>
        </p:nvCxnSpPr>
        <p:spPr>
          <a:xfrm rot="5400000">
            <a:off x="5328190" y="2201341"/>
            <a:ext cx="1257300" cy="1278300"/>
          </a:xfrm>
          <a:prstGeom prst="bentConnector3">
            <a:avLst>
              <a:gd fmla="val 50004" name="adj1"/>
            </a:avLst>
          </a:prstGeom>
          <a:noFill/>
          <a:ln cap="flat" cmpd="sng" w="28575">
            <a:solidFill>
              <a:schemeClr val="accent6"/>
            </a:solidFill>
            <a:prstDash val="solid"/>
            <a:round/>
            <a:headEnd len="sm" w="sm" type="none"/>
            <a:tailEnd len="sm" w="sm" type="none"/>
          </a:ln>
        </p:spPr>
      </p:cxnSp>
      <p:cxnSp>
        <p:nvCxnSpPr>
          <p:cNvPr id="72" name="Google Shape;72;p1"/>
          <p:cNvCxnSpPr>
            <a:stCxn id="61" idx="3"/>
            <a:endCxn id="59" idx="2"/>
          </p:cNvCxnSpPr>
          <p:nvPr/>
        </p:nvCxnSpPr>
        <p:spPr>
          <a:xfrm rot="5400000">
            <a:off x="5743690" y="2616841"/>
            <a:ext cx="1257300" cy="447300"/>
          </a:xfrm>
          <a:prstGeom prst="bentConnector3">
            <a:avLst>
              <a:gd fmla="val 50004" name="adj1"/>
            </a:avLst>
          </a:prstGeom>
          <a:noFill/>
          <a:ln cap="flat" cmpd="sng" w="28575">
            <a:solidFill>
              <a:schemeClr val="accent6"/>
            </a:solidFill>
            <a:prstDash val="solid"/>
            <a:round/>
            <a:headEnd len="sm" w="sm" type="none"/>
            <a:tailEnd len="sm" w="sm" type="none"/>
          </a:ln>
        </p:spPr>
      </p:cxnSp>
      <p:cxnSp>
        <p:nvCxnSpPr>
          <p:cNvPr id="73" name="Google Shape;73;p1"/>
          <p:cNvCxnSpPr>
            <a:stCxn id="61" idx="3"/>
            <a:endCxn id="58" idx="2"/>
          </p:cNvCxnSpPr>
          <p:nvPr/>
        </p:nvCxnSpPr>
        <p:spPr>
          <a:xfrm flipH="1" rot="-5400000">
            <a:off x="6159040" y="2648791"/>
            <a:ext cx="1257300" cy="383400"/>
          </a:xfrm>
          <a:prstGeom prst="bentConnector3">
            <a:avLst>
              <a:gd fmla="val 50004" name="adj1"/>
            </a:avLst>
          </a:prstGeom>
          <a:noFill/>
          <a:ln cap="flat" cmpd="sng" w="28575">
            <a:solidFill>
              <a:schemeClr val="accent6"/>
            </a:solidFill>
            <a:prstDash val="solid"/>
            <a:round/>
            <a:headEnd len="sm" w="sm" type="none"/>
            <a:tailEnd len="sm" w="sm" type="none"/>
          </a:ln>
        </p:spPr>
      </p:cxnSp>
      <p:cxnSp>
        <p:nvCxnSpPr>
          <p:cNvPr id="74" name="Google Shape;74;p1"/>
          <p:cNvCxnSpPr>
            <a:stCxn id="61" idx="3"/>
            <a:endCxn id="57" idx="2"/>
          </p:cNvCxnSpPr>
          <p:nvPr/>
        </p:nvCxnSpPr>
        <p:spPr>
          <a:xfrm flipH="1" rot="-5400000">
            <a:off x="6574540" y="2233291"/>
            <a:ext cx="1257300" cy="1214400"/>
          </a:xfrm>
          <a:prstGeom prst="bentConnector3">
            <a:avLst>
              <a:gd fmla="val 50004" name="adj1"/>
            </a:avLst>
          </a:prstGeom>
          <a:noFill/>
          <a:ln cap="flat" cmpd="sng" w="28575">
            <a:solidFill>
              <a:schemeClr val="accent6"/>
            </a:solidFill>
            <a:prstDash val="solid"/>
            <a:round/>
            <a:headEnd len="sm" w="sm" type="none"/>
            <a:tailEnd len="sm" w="sm" type="none"/>
          </a:ln>
        </p:spPr>
      </p:cxnSp>
      <p:grpSp>
        <p:nvGrpSpPr>
          <p:cNvPr id="75" name="Google Shape;75;p1"/>
          <p:cNvGrpSpPr/>
          <p:nvPr/>
        </p:nvGrpSpPr>
        <p:grpSpPr>
          <a:xfrm>
            <a:off x="5142093" y="3632583"/>
            <a:ext cx="351136" cy="365769"/>
            <a:chOff x="-65129950" y="2646800"/>
            <a:chExt cx="311125" cy="317425"/>
          </a:xfrm>
        </p:grpSpPr>
        <p:sp>
          <p:nvSpPr>
            <p:cNvPr id="76" name="Google Shape;76;p1"/>
            <p:cNvSpPr/>
            <p:nvPr/>
          </p:nvSpPr>
          <p:spPr>
            <a:xfrm>
              <a:off x="-65129950" y="2646800"/>
              <a:ext cx="311125" cy="317425"/>
            </a:xfrm>
            <a:custGeom>
              <a:rect b="b" l="l" r="r" t="t"/>
              <a:pathLst>
                <a:path extrusionOk="0" h="12697" w="12445">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
            <p:cNvSpPr/>
            <p:nvPr/>
          </p:nvSpPr>
          <p:spPr>
            <a:xfrm>
              <a:off x="-65066950" y="2738175"/>
              <a:ext cx="187475" cy="185100"/>
            </a:xfrm>
            <a:custGeom>
              <a:rect b="b" l="l" r="r" t="t"/>
              <a:pathLst>
                <a:path extrusionOk="0" h="7404" w="7499">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 name="Google Shape;78;p1"/>
          <p:cNvGrpSpPr/>
          <p:nvPr/>
        </p:nvGrpSpPr>
        <p:grpSpPr>
          <a:xfrm>
            <a:off x="5965703" y="3632603"/>
            <a:ext cx="365756" cy="365747"/>
            <a:chOff x="1412450" y="1954475"/>
            <a:chExt cx="297750" cy="296175"/>
          </a:xfrm>
        </p:grpSpPr>
        <p:sp>
          <p:nvSpPr>
            <p:cNvPr id="79" name="Google Shape;79;p1"/>
            <p:cNvSpPr/>
            <p:nvPr/>
          </p:nvSpPr>
          <p:spPr>
            <a:xfrm>
              <a:off x="1483350" y="2023800"/>
              <a:ext cx="155975" cy="155975"/>
            </a:xfrm>
            <a:custGeom>
              <a:rect b="b" l="l" r="r" t="t"/>
              <a:pathLst>
                <a:path extrusionOk="0" h="6239" w="6239">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
            <p:cNvSpPr/>
            <p:nvPr/>
          </p:nvSpPr>
          <p:spPr>
            <a:xfrm>
              <a:off x="1412450" y="1954475"/>
              <a:ext cx="297750" cy="296175"/>
            </a:xfrm>
            <a:custGeom>
              <a:rect b="b" l="l" r="r" t="t"/>
              <a:pathLst>
                <a:path extrusionOk="0" h="11847" w="1191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 name="Google Shape;81;p1"/>
          <p:cNvGrpSpPr/>
          <p:nvPr/>
        </p:nvGrpSpPr>
        <p:grpSpPr>
          <a:xfrm>
            <a:off x="6782916" y="3632592"/>
            <a:ext cx="393186" cy="365766"/>
            <a:chOff x="-62890750" y="2296300"/>
            <a:chExt cx="330825" cy="317450"/>
          </a:xfrm>
        </p:grpSpPr>
        <p:sp>
          <p:nvSpPr>
            <p:cNvPr id="82" name="Google Shape;82;p1"/>
            <p:cNvSpPr/>
            <p:nvPr/>
          </p:nvSpPr>
          <p:spPr>
            <a:xfrm>
              <a:off x="-62890750" y="2296300"/>
              <a:ext cx="313500" cy="195375"/>
            </a:xfrm>
            <a:custGeom>
              <a:rect b="b" l="l" r="r" t="t"/>
              <a:pathLst>
                <a:path extrusionOk="0" h="7815" w="12540">
                  <a:moveTo>
                    <a:pt x="11437" y="2080"/>
                  </a:moveTo>
                  <a:lnTo>
                    <a:pt x="11658" y="2931"/>
                  </a:lnTo>
                  <a:lnTo>
                    <a:pt x="10776" y="2742"/>
                  </a:lnTo>
                  <a:lnTo>
                    <a:pt x="11437" y="2080"/>
                  </a:lnTo>
                  <a:close/>
                  <a:moveTo>
                    <a:pt x="6617" y="1"/>
                  </a:moveTo>
                  <a:cubicBezTo>
                    <a:pt x="4916" y="1"/>
                    <a:pt x="3340" y="662"/>
                    <a:pt x="2112" y="1828"/>
                  </a:cubicBezTo>
                  <a:cubicBezTo>
                    <a:pt x="663" y="3277"/>
                    <a:pt x="1" y="5420"/>
                    <a:pt x="379" y="7467"/>
                  </a:cubicBezTo>
                  <a:cubicBezTo>
                    <a:pt x="442" y="7656"/>
                    <a:pt x="568" y="7814"/>
                    <a:pt x="789" y="7814"/>
                  </a:cubicBezTo>
                  <a:lnTo>
                    <a:pt x="852" y="7814"/>
                  </a:lnTo>
                  <a:cubicBezTo>
                    <a:pt x="1104" y="7783"/>
                    <a:pt x="1198" y="7562"/>
                    <a:pt x="1167" y="7341"/>
                  </a:cubicBezTo>
                  <a:cubicBezTo>
                    <a:pt x="852" y="5577"/>
                    <a:pt x="1419" y="3718"/>
                    <a:pt x="2710" y="2458"/>
                  </a:cubicBezTo>
                  <a:cubicBezTo>
                    <a:pt x="3719" y="1450"/>
                    <a:pt x="5136" y="851"/>
                    <a:pt x="6617" y="851"/>
                  </a:cubicBezTo>
                  <a:cubicBezTo>
                    <a:pt x="7940" y="851"/>
                    <a:pt x="9200" y="1324"/>
                    <a:pt x="10177" y="2206"/>
                  </a:cubicBezTo>
                  <a:lnTo>
                    <a:pt x="9610" y="2773"/>
                  </a:lnTo>
                  <a:cubicBezTo>
                    <a:pt x="9484" y="2899"/>
                    <a:pt x="9452" y="3057"/>
                    <a:pt x="9484" y="3183"/>
                  </a:cubicBezTo>
                  <a:cubicBezTo>
                    <a:pt x="9515" y="3340"/>
                    <a:pt x="9641" y="3403"/>
                    <a:pt x="9799" y="3466"/>
                  </a:cubicBezTo>
                  <a:lnTo>
                    <a:pt x="12036" y="3939"/>
                  </a:lnTo>
                  <a:lnTo>
                    <a:pt x="12130" y="3939"/>
                  </a:lnTo>
                  <a:cubicBezTo>
                    <a:pt x="12225" y="3939"/>
                    <a:pt x="12319" y="3876"/>
                    <a:pt x="12382" y="3813"/>
                  </a:cubicBezTo>
                  <a:cubicBezTo>
                    <a:pt x="12508" y="3687"/>
                    <a:pt x="12540" y="3561"/>
                    <a:pt x="12508" y="3403"/>
                  </a:cubicBezTo>
                  <a:lnTo>
                    <a:pt x="12036" y="1167"/>
                  </a:lnTo>
                  <a:cubicBezTo>
                    <a:pt x="12004" y="1009"/>
                    <a:pt x="11878" y="883"/>
                    <a:pt x="11752" y="851"/>
                  </a:cubicBezTo>
                  <a:cubicBezTo>
                    <a:pt x="11715" y="844"/>
                    <a:pt x="11678" y="840"/>
                    <a:pt x="11642" y="840"/>
                  </a:cubicBezTo>
                  <a:cubicBezTo>
                    <a:pt x="11526" y="840"/>
                    <a:pt x="11422" y="881"/>
                    <a:pt x="11374" y="977"/>
                  </a:cubicBezTo>
                  <a:lnTo>
                    <a:pt x="10776" y="1576"/>
                  </a:lnTo>
                  <a:cubicBezTo>
                    <a:pt x="9641" y="536"/>
                    <a:pt x="8129" y="1"/>
                    <a:pt x="661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
            <p:cNvSpPr/>
            <p:nvPr/>
          </p:nvSpPr>
          <p:spPr>
            <a:xfrm>
              <a:off x="-62874975" y="2417475"/>
              <a:ext cx="315050" cy="196275"/>
            </a:xfrm>
            <a:custGeom>
              <a:rect b="b" l="l" r="r" t="t"/>
              <a:pathLst>
                <a:path extrusionOk="0" h="7851" w="12602">
                  <a:moveTo>
                    <a:pt x="977" y="4857"/>
                  </a:moveTo>
                  <a:lnTo>
                    <a:pt x="1827" y="5078"/>
                  </a:lnTo>
                  <a:lnTo>
                    <a:pt x="1166" y="5739"/>
                  </a:lnTo>
                  <a:lnTo>
                    <a:pt x="977" y="4857"/>
                  </a:lnTo>
                  <a:close/>
                  <a:moveTo>
                    <a:pt x="11779" y="1"/>
                  </a:moveTo>
                  <a:cubicBezTo>
                    <a:pt x="11759" y="1"/>
                    <a:pt x="11739" y="2"/>
                    <a:pt x="11720" y="6"/>
                  </a:cubicBezTo>
                  <a:cubicBezTo>
                    <a:pt x="11499" y="69"/>
                    <a:pt x="11373" y="289"/>
                    <a:pt x="11405" y="478"/>
                  </a:cubicBezTo>
                  <a:cubicBezTo>
                    <a:pt x="11720" y="2274"/>
                    <a:pt x="11184" y="4101"/>
                    <a:pt x="9861" y="5361"/>
                  </a:cubicBezTo>
                  <a:cubicBezTo>
                    <a:pt x="8853" y="6401"/>
                    <a:pt x="7435" y="7000"/>
                    <a:pt x="5986" y="7000"/>
                  </a:cubicBezTo>
                  <a:cubicBezTo>
                    <a:pt x="4631" y="7000"/>
                    <a:pt x="3371" y="6527"/>
                    <a:pt x="2394" y="5645"/>
                  </a:cubicBezTo>
                  <a:lnTo>
                    <a:pt x="2993" y="5046"/>
                  </a:lnTo>
                  <a:cubicBezTo>
                    <a:pt x="3088" y="4952"/>
                    <a:pt x="3151" y="4794"/>
                    <a:pt x="3088" y="4668"/>
                  </a:cubicBezTo>
                  <a:cubicBezTo>
                    <a:pt x="3056" y="4511"/>
                    <a:pt x="2962" y="4416"/>
                    <a:pt x="2772" y="4385"/>
                  </a:cubicBezTo>
                  <a:lnTo>
                    <a:pt x="536" y="3912"/>
                  </a:lnTo>
                  <a:cubicBezTo>
                    <a:pt x="506" y="3905"/>
                    <a:pt x="476" y="3901"/>
                    <a:pt x="446" y="3901"/>
                  </a:cubicBezTo>
                  <a:cubicBezTo>
                    <a:pt x="350" y="3901"/>
                    <a:pt x="254" y="3942"/>
                    <a:pt x="158" y="4038"/>
                  </a:cubicBezTo>
                  <a:cubicBezTo>
                    <a:pt x="32" y="4164"/>
                    <a:pt x="0" y="4290"/>
                    <a:pt x="32" y="4448"/>
                  </a:cubicBezTo>
                  <a:lnTo>
                    <a:pt x="504" y="6685"/>
                  </a:lnTo>
                  <a:cubicBezTo>
                    <a:pt x="536" y="6842"/>
                    <a:pt x="662" y="6937"/>
                    <a:pt x="788" y="7000"/>
                  </a:cubicBezTo>
                  <a:lnTo>
                    <a:pt x="882" y="7000"/>
                  </a:lnTo>
                  <a:cubicBezTo>
                    <a:pt x="1008" y="7000"/>
                    <a:pt x="1103" y="6968"/>
                    <a:pt x="1166" y="6874"/>
                  </a:cubicBezTo>
                  <a:lnTo>
                    <a:pt x="1764" y="6275"/>
                  </a:lnTo>
                  <a:cubicBezTo>
                    <a:pt x="2899" y="7315"/>
                    <a:pt x="4411" y="7850"/>
                    <a:pt x="5923" y="7850"/>
                  </a:cubicBezTo>
                  <a:cubicBezTo>
                    <a:pt x="7624" y="7850"/>
                    <a:pt x="9200" y="7189"/>
                    <a:pt x="10428" y="6023"/>
                  </a:cubicBezTo>
                  <a:cubicBezTo>
                    <a:pt x="11909" y="4511"/>
                    <a:pt x="12602" y="2400"/>
                    <a:pt x="12192" y="321"/>
                  </a:cubicBezTo>
                  <a:cubicBezTo>
                    <a:pt x="12164" y="123"/>
                    <a:pt x="11958" y="1"/>
                    <a:pt x="1177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
            <p:cNvSpPr/>
            <p:nvPr/>
          </p:nvSpPr>
          <p:spPr>
            <a:xfrm>
              <a:off x="-62822225" y="2357750"/>
              <a:ext cx="193000" cy="192975"/>
            </a:xfrm>
            <a:custGeom>
              <a:rect b="b" l="l" r="r" t="t"/>
              <a:pathLst>
                <a:path extrusionOk="0" h="7719" w="7720">
                  <a:moveTo>
                    <a:pt x="2238" y="1323"/>
                  </a:moveTo>
                  <a:lnTo>
                    <a:pt x="2238" y="1323"/>
                  </a:lnTo>
                  <a:cubicBezTo>
                    <a:pt x="2143" y="1544"/>
                    <a:pt x="2049" y="1827"/>
                    <a:pt x="1986" y="2111"/>
                  </a:cubicBezTo>
                  <a:lnTo>
                    <a:pt x="1419" y="2111"/>
                  </a:lnTo>
                  <a:cubicBezTo>
                    <a:pt x="1671" y="1796"/>
                    <a:pt x="1923" y="1512"/>
                    <a:pt x="2238" y="1323"/>
                  </a:cubicBezTo>
                  <a:close/>
                  <a:moveTo>
                    <a:pt x="3466" y="1040"/>
                  </a:moveTo>
                  <a:lnTo>
                    <a:pt x="3466" y="2111"/>
                  </a:lnTo>
                  <a:lnTo>
                    <a:pt x="2836" y="2111"/>
                  </a:lnTo>
                  <a:cubicBezTo>
                    <a:pt x="2994" y="1575"/>
                    <a:pt x="3246" y="1229"/>
                    <a:pt x="3466" y="1040"/>
                  </a:cubicBezTo>
                  <a:close/>
                  <a:moveTo>
                    <a:pt x="4254" y="1040"/>
                  </a:moveTo>
                  <a:cubicBezTo>
                    <a:pt x="4538" y="1229"/>
                    <a:pt x="4727" y="1575"/>
                    <a:pt x="4884" y="2111"/>
                  </a:cubicBezTo>
                  <a:lnTo>
                    <a:pt x="4254" y="2111"/>
                  </a:lnTo>
                  <a:lnTo>
                    <a:pt x="4254" y="1040"/>
                  </a:lnTo>
                  <a:close/>
                  <a:moveTo>
                    <a:pt x="5483" y="1323"/>
                  </a:moveTo>
                  <a:lnTo>
                    <a:pt x="5483" y="1323"/>
                  </a:lnTo>
                  <a:cubicBezTo>
                    <a:pt x="5798" y="1512"/>
                    <a:pt x="6081" y="1796"/>
                    <a:pt x="6302" y="2111"/>
                  </a:cubicBezTo>
                  <a:lnTo>
                    <a:pt x="5766" y="2111"/>
                  </a:lnTo>
                  <a:cubicBezTo>
                    <a:pt x="5672" y="1827"/>
                    <a:pt x="5609" y="1544"/>
                    <a:pt x="5483" y="1323"/>
                  </a:cubicBezTo>
                  <a:close/>
                  <a:moveTo>
                    <a:pt x="1765" y="2930"/>
                  </a:moveTo>
                  <a:cubicBezTo>
                    <a:pt x="1734" y="3245"/>
                    <a:pt x="1702" y="3560"/>
                    <a:pt x="1702" y="3875"/>
                  </a:cubicBezTo>
                  <a:cubicBezTo>
                    <a:pt x="1702" y="4190"/>
                    <a:pt x="1734" y="4537"/>
                    <a:pt x="1765" y="4820"/>
                  </a:cubicBezTo>
                  <a:lnTo>
                    <a:pt x="978" y="4820"/>
                  </a:lnTo>
                  <a:cubicBezTo>
                    <a:pt x="883" y="4537"/>
                    <a:pt x="820" y="4222"/>
                    <a:pt x="820" y="3875"/>
                  </a:cubicBezTo>
                  <a:cubicBezTo>
                    <a:pt x="820" y="3497"/>
                    <a:pt x="883" y="3214"/>
                    <a:pt x="978" y="2930"/>
                  </a:cubicBezTo>
                  <a:close/>
                  <a:moveTo>
                    <a:pt x="5136" y="2930"/>
                  </a:moveTo>
                  <a:cubicBezTo>
                    <a:pt x="5168" y="3245"/>
                    <a:pt x="5199" y="3560"/>
                    <a:pt x="5199" y="3875"/>
                  </a:cubicBezTo>
                  <a:cubicBezTo>
                    <a:pt x="5199" y="4222"/>
                    <a:pt x="5168" y="4537"/>
                    <a:pt x="5136" y="4820"/>
                  </a:cubicBezTo>
                  <a:lnTo>
                    <a:pt x="4286" y="4820"/>
                  </a:lnTo>
                  <a:lnTo>
                    <a:pt x="4286" y="2930"/>
                  </a:lnTo>
                  <a:close/>
                  <a:moveTo>
                    <a:pt x="6743" y="2930"/>
                  </a:moveTo>
                  <a:cubicBezTo>
                    <a:pt x="6869" y="3245"/>
                    <a:pt x="6900" y="3560"/>
                    <a:pt x="6900" y="3875"/>
                  </a:cubicBezTo>
                  <a:cubicBezTo>
                    <a:pt x="6900" y="4222"/>
                    <a:pt x="6869" y="4537"/>
                    <a:pt x="6743" y="4820"/>
                  </a:cubicBezTo>
                  <a:lnTo>
                    <a:pt x="5955" y="4820"/>
                  </a:lnTo>
                  <a:cubicBezTo>
                    <a:pt x="5987" y="4505"/>
                    <a:pt x="6018" y="4190"/>
                    <a:pt x="6018" y="3875"/>
                  </a:cubicBezTo>
                  <a:cubicBezTo>
                    <a:pt x="6018" y="3560"/>
                    <a:pt x="5987" y="3214"/>
                    <a:pt x="5955" y="2930"/>
                  </a:cubicBezTo>
                  <a:close/>
                  <a:moveTo>
                    <a:pt x="3466" y="2930"/>
                  </a:moveTo>
                  <a:lnTo>
                    <a:pt x="3466" y="4852"/>
                  </a:lnTo>
                  <a:lnTo>
                    <a:pt x="2647" y="4852"/>
                  </a:lnTo>
                  <a:cubicBezTo>
                    <a:pt x="2553" y="4537"/>
                    <a:pt x="2553" y="4222"/>
                    <a:pt x="2553" y="3875"/>
                  </a:cubicBezTo>
                  <a:cubicBezTo>
                    <a:pt x="2553" y="3497"/>
                    <a:pt x="2616" y="3214"/>
                    <a:pt x="2647" y="2930"/>
                  </a:cubicBezTo>
                  <a:close/>
                  <a:moveTo>
                    <a:pt x="6302" y="5640"/>
                  </a:moveTo>
                  <a:cubicBezTo>
                    <a:pt x="6081" y="5955"/>
                    <a:pt x="5798" y="6238"/>
                    <a:pt x="5483" y="6427"/>
                  </a:cubicBezTo>
                  <a:cubicBezTo>
                    <a:pt x="5609" y="6207"/>
                    <a:pt x="5672" y="5923"/>
                    <a:pt x="5766" y="5640"/>
                  </a:cubicBezTo>
                  <a:close/>
                  <a:moveTo>
                    <a:pt x="1986" y="5671"/>
                  </a:moveTo>
                  <a:cubicBezTo>
                    <a:pt x="2049" y="5955"/>
                    <a:pt x="2143" y="6238"/>
                    <a:pt x="2238" y="6459"/>
                  </a:cubicBezTo>
                  <a:cubicBezTo>
                    <a:pt x="1923" y="6238"/>
                    <a:pt x="1671" y="5955"/>
                    <a:pt x="1419" y="5671"/>
                  </a:cubicBezTo>
                  <a:close/>
                  <a:moveTo>
                    <a:pt x="4916" y="5640"/>
                  </a:moveTo>
                  <a:cubicBezTo>
                    <a:pt x="4727" y="6144"/>
                    <a:pt x="4538" y="6522"/>
                    <a:pt x="4286" y="6711"/>
                  </a:cubicBezTo>
                  <a:lnTo>
                    <a:pt x="4286" y="5640"/>
                  </a:lnTo>
                  <a:close/>
                  <a:moveTo>
                    <a:pt x="3466" y="5671"/>
                  </a:moveTo>
                  <a:lnTo>
                    <a:pt x="3466" y="6742"/>
                  </a:lnTo>
                  <a:cubicBezTo>
                    <a:pt x="3246" y="6553"/>
                    <a:pt x="2994" y="6144"/>
                    <a:pt x="2836" y="5671"/>
                  </a:cubicBezTo>
                  <a:close/>
                  <a:moveTo>
                    <a:pt x="3876" y="0"/>
                  </a:moveTo>
                  <a:cubicBezTo>
                    <a:pt x="2301" y="0"/>
                    <a:pt x="915" y="945"/>
                    <a:pt x="316" y="2332"/>
                  </a:cubicBezTo>
                  <a:cubicBezTo>
                    <a:pt x="127" y="2804"/>
                    <a:pt x="1" y="3308"/>
                    <a:pt x="1" y="3875"/>
                  </a:cubicBezTo>
                  <a:cubicBezTo>
                    <a:pt x="1" y="4411"/>
                    <a:pt x="127" y="4946"/>
                    <a:pt x="316" y="5419"/>
                  </a:cubicBezTo>
                  <a:cubicBezTo>
                    <a:pt x="915" y="6774"/>
                    <a:pt x="2301" y="7719"/>
                    <a:pt x="3876" y="7719"/>
                  </a:cubicBezTo>
                  <a:cubicBezTo>
                    <a:pt x="5451" y="7719"/>
                    <a:pt x="6806" y="6774"/>
                    <a:pt x="7405" y="5419"/>
                  </a:cubicBezTo>
                  <a:cubicBezTo>
                    <a:pt x="7594" y="4946"/>
                    <a:pt x="7720" y="4411"/>
                    <a:pt x="7720" y="3875"/>
                  </a:cubicBezTo>
                  <a:cubicBezTo>
                    <a:pt x="7720" y="3308"/>
                    <a:pt x="7594" y="2804"/>
                    <a:pt x="7405" y="2332"/>
                  </a:cubicBezTo>
                  <a:cubicBezTo>
                    <a:pt x="6806" y="945"/>
                    <a:pt x="5451" y="0"/>
                    <a:pt x="387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1"/>
          <p:cNvGrpSpPr/>
          <p:nvPr/>
        </p:nvGrpSpPr>
        <p:grpSpPr>
          <a:xfrm>
            <a:off x="7627546" y="3632577"/>
            <a:ext cx="365770" cy="365770"/>
            <a:chOff x="-3137650" y="2408950"/>
            <a:chExt cx="291450" cy="292125"/>
          </a:xfrm>
        </p:grpSpPr>
        <p:sp>
          <p:nvSpPr>
            <p:cNvPr id="86" name="Google Shape;86;p1"/>
            <p:cNvSpPr/>
            <p:nvPr/>
          </p:nvSpPr>
          <p:spPr>
            <a:xfrm>
              <a:off x="-3137650" y="2408950"/>
              <a:ext cx="291450" cy="292125"/>
            </a:xfrm>
            <a:custGeom>
              <a:rect b="b" l="l" r="r" t="t"/>
              <a:pathLst>
                <a:path extrusionOk="0" h="11685" w="11658">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
            <p:cNvSpPr/>
            <p:nvPr/>
          </p:nvSpPr>
          <p:spPr>
            <a:xfrm>
              <a:off x="-3104575" y="24428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
            <p:cNvSpPr/>
            <p:nvPr/>
          </p:nvSpPr>
          <p:spPr>
            <a:xfrm>
              <a:off x="-306990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303525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3002175" y="2442800"/>
              <a:ext cx="120525" cy="17350"/>
            </a:xfrm>
            <a:custGeom>
              <a:rect b="b" l="l" r="r" t="t"/>
              <a:pathLst>
                <a:path extrusionOk="0" h="694" w="4821">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457200" y="411475"/>
            <a:ext cx="8229600" cy="37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Topics</a:t>
            </a:r>
            <a:endParaRPr/>
          </a:p>
        </p:txBody>
      </p:sp>
      <p:sp>
        <p:nvSpPr>
          <p:cNvPr id="96" name="Google Shape;96;p2"/>
          <p:cNvSpPr/>
          <p:nvPr/>
        </p:nvSpPr>
        <p:spPr>
          <a:xfrm>
            <a:off x="716275" y="1410313"/>
            <a:ext cx="939600" cy="37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1</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97" name="Google Shape;97;p2"/>
          <p:cNvSpPr/>
          <p:nvPr/>
        </p:nvSpPr>
        <p:spPr>
          <a:xfrm>
            <a:off x="716275" y="2961713"/>
            <a:ext cx="939600" cy="3714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3</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98" name="Google Shape;98;p2"/>
          <p:cNvSpPr/>
          <p:nvPr/>
        </p:nvSpPr>
        <p:spPr>
          <a:xfrm>
            <a:off x="716275" y="2186013"/>
            <a:ext cx="939600" cy="3714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2</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99" name="Google Shape;99;p2"/>
          <p:cNvSpPr txBox="1"/>
          <p:nvPr>
            <p:ph type="title"/>
          </p:nvPr>
        </p:nvSpPr>
        <p:spPr>
          <a:xfrm>
            <a:off x="1700800" y="1371025"/>
            <a:ext cx="2788500" cy="45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800"/>
              <a:t>Databases: An Overview</a:t>
            </a:r>
            <a:endParaRPr sz="1800"/>
          </a:p>
        </p:txBody>
      </p:sp>
      <p:sp>
        <p:nvSpPr>
          <p:cNvPr id="100" name="Google Shape;100;p2"/>
          <p:cNvSpPr txBox="1"/>
          <p:nvPr>
            <p:ph type="title"/>
          </p:nvPr>
        </p:nvSpPr>
        <p:spPr>
          <a:xfrm>
            <a:off x="1783650" y="2961725"/>
            <a:ext cx="2788500" cy="37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sz="2100"/>
          </a:p>
        </p:txBody>
      </p:sp>
      <p:sp>
        <p:nvSpPr>
          <p:cNvPr id="101" name="Google Shape;101;p2"/>
          <p:cNvSpPr txBox="1"/>
          <p:nvPr>
            <p:ph type="title"/>
          </p:nvPr>
        </p:nvSpPr>
        <p:spPr>
          <a:xfrm>
            <a:off x="1700800" y="2166375"/>
            <a:ext cx="2788500" cy="45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t>Data Modeling and DB Design</a:t>
            </a:r>
            <a:endParaRPr sz="2100"/>
          </a:p>
        </p:txBody>
      </p:sp>
      <p:sp>
        <p:nvSpPr>
          <p:cNvPr id="102" name="Google Shape;102;p2"/>
          <p:cNvSpPr/>
          <p:nvPr/>
        </p:nvSpPr>
        <p:spPr>
          <a:xfrm>
            <a:off x="4969250" y="1410313"/>
            <a:ext cx="939600" cy="371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4</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103" name="Google Shape;103;p2"/>
          <p:cNvSpPr/>
          <p:nvPr/>
        </p:nvSpPr>
        <p:spPr>
          <a:xfrm>
            <a:off x="4969250" y="2186013"/>
            <a:ext cx="939600" cy="3714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5</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104" name="Google Shape;104;p2"/>
          <p:cNvSpPr txBox="1"/>
          <p:nvPr>
            <p:ph type="title"/>
          </p:nvPr>
        </p:nvSpPr>
        <p:spPr>
          <a:xfrm>
            <a:off x="6036625" y="1410325"/>
            <a:ext cx="2788500" cy="37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sz="2100"/>
          </a:p>
        </p:txBody>
      </p:sp>
      <p:sp>
        <p:nvSpPr>
          <p:cNvPr id="105" name="Google Shape;105;p2"/>
          <p:cNvSpPr txBox="1"/>
          <p:nvPr>
            <p:ph type="title"/>
          </p:nvPr>
        </p:nvSpPr>
        <p:spPr>
          <a:xfrm>
            <a:off x="6036625" y="2186025"/>
            <a:ext cx="2788500" cy="37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sz="2100"/>
          </a:p>
        </p:txBody>
      </p:sp>
      <p:sp>
        <p:nvSpPr>
          <p:cNvPr id="106" name="Google Shape;106;p2"/>
          <p:cNvSpPr/>
          <p:nvPr/>
        </p:nvSpPr>
        <p:spPr>
          <a:xfrm>
            <a:off x="4969250" y="2961713"/>
            <a:ext cx="939600" cy="3714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6</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107" name="Google Shape;107;p2"/>
          <p:cNvSpPr txBox="1"/>
          <p:nvPr>
            <p:ph type="title"/>
          </p:nvPr>
        </p:nvSpPr>
        <p:spPr>
          <a:xfrm>
            <a:off x="6036625" y="2961725"/>
            <a:ext cx="2788500" cy="37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p:nvPr/>
        </p:nvSpPr>
        <p:spPr>
          <a:xfrm>
            <a:off x="2646750" y="192875"/>
            <a:ext cx="3889800" cy="450000"/>
          </a:xfrm>
          <a:prstGeom prst="roundRect">
            <a:avLst>
              <a:gd fmla="val 16667" name="adj"/>
            </a:avLst>
          </a:prstGeom>
          <a:solidFill>
            <a:schemeClr val="lt2"/>
          </a:solidFill>
          <a:ln cap="flat" cmpd="sng" w="9525">
            <a:solidFill>
              <a:srgbClr val="AAAA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ph type="title"/>
          </p:nvPr>
        </p:nvSpPr>
        <p:spPr>
          <a:xfrm>
            <a:off x="273300" y="846125"/>
            <a:ext cx="8597400" cy="59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solidFill>
                  <a:schemeClr val="accent4"/>
                </a:solidFill>
              </a:rPr>
              <a:t>What is a Database?</a:t>
            </a:r>
            <a:endParaRPr sz="2500">
              <a:solidFill>
                <a:schemeClr val="accent4"/>
              </a:solidFill>
            </a:endParaRPr>
          </a:p>
        </p:txBody>
      </p:sp>
      <p:sp>
        <p:nvSpPr>
          <p:cNvPr id="114" name="Google Shape;114;p3"/>
          <p:cNvSpPr/>
          <p:nvPr/>
        </p:nvSpPr>
        <p:spPr>
          <a:xfrm>
            <a:off x="2838500" y="235813"/>
            <a:ext cx="939600" cy="37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1</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115" name="Google Shape;115;p3"/>
          <p:cNvSpPr txBox="1"/>
          <p:nvPr>
            <p:ph type="title"/>
          </p:nvPr>
        </p:nvSpPr>
        <p:spPr>
          <a:xfrm>
            <a:off x="3823025" y="196525"/>
            <a:ext cx="2788500" cy="45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800"/>
              <a:t>Databases: An Overview</a:t>
            </a:r>
            <a:endParaRPr sz="1800"/>
          </a:p>
        </p:txBody>
      </p:sp>
      <p:sp>
        <p:nvSpPr>
          <p:cNvPr id="116" name="Google Shape;116;p3"/>
          <p:cNvSpPr txBox="1"/>
          <p:nvPr/>
        </p:nvSpPr>
        <p:spPr>
          <a:xfrm>
            <a:off x="199275" y="1642775"/>
            <a:ext cx="33648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A system used to store data?</a:t>
            </a:r>
            <a:endParaRPr b="0" i="0" sz="1500" u="none" cap="none" strike="noStrike">
              <a:solidFill>
                <a:srgbClr val="000000"/>
              </a:solidFill>
              <a:latin typeface="Roboto"/>
              <a:ea typeface="Roboto"/>
              <a:cs typeface="Roboto"/>
              <a:sym typeface="Roboto"/>
            </a:endParaRPr>
          </a:p>
        </p:txBody>
      </p:sp>
      <p:pic>
        <p:nvPicPr>
          <p:cNvPr id="117" name="Google Shape;117;p3"/>
          <p:cNvPicPr preferRelativeResize="0"/>
          <p:nvPr/>
        </p:nvPicPr>
        <p:blipFill rotWithShape="1">
          <a:blip r:embed="rId3">
            <a:alphaModFix/>
          </a:blip>
          <a:srcRect b="0" l="0" r="0" t="0"/>
          <a:stretch/>
        </p:blipFill>
        <p:spPr>
          <a:xfrm>
            <a:off x="273300" y="2481825"/>
            <a:ext cx="3855451" cy="2772676"/>
          </a:xfrm>
          <a:prstGeom prst="rect">
            <a:avLst/>
          </a:prstGeom>
          <a:noFill/>
          <a:ln>
            <a:noFill/>
          </a:ln>
        </p:spPr>
      </p:pic>
      <p:pic>
        <p:nvPicPr>
          <p:cNvPr id="118" name="Google Shape;118;p3"/>
          <p:cNvPicPr preferRelativeResize="0"/>
          <p:nvPr/>
        </p:nvPicPr>
        <p:blipFill rotWithShape="1">
          <a:blip r:embed="rId4">
            <a:alphaModFix/>
          </a:blip>
          <a:srcRect b="0" l="0" r="0" t="0"/>
          <a:stretch/>
        </p:blipFill>
        <p:spPr>
          <a:xfrm>
            <a:off x="4378150" y="846131"/>
            <a:ext cx="3889801" cy="2507683"/>
          </a:xfrm>
          <a:prstGeom prst="rect">
            <a:avLst/>
          </a:prstGeom>
          <a:noFill/>
          <a:ln>
            <a:noFill/>
          </a:ln>
        </p:spPr>
      </p:pic>
      <p:sp>
        <p:nvSpPr>
          <p:cNvPr id="119" name="Google Shape;119;p3"/>
          <p:cNvSpPr txBox="1"/>
          <p:nvPr/>
        </p:nvSpPr>
        <p:spPr>
          <a:xfrm>
            <a:off x="4459075" y="3691525"/>
            <a:ext cx="45699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There are many different ways to store data. A shoe box full of receipts could be used to store data about business expenses. Or a wall full of sticky notes can also be used to store data. But we would NOT consider either of these to be databases</a:t>
            </a:r>
            <a:endParaRPr b="0" i="0" sz="15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ph type="title"/>
          </p:nvPr>
        </p:nvSpPr>
        <p:spPr>
          <a:xfrm>
            <a:off x="273300" y="468775"/>
            <a:ext cx="8597400" cy="59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solidFill>
                  <a:schemeClr val="accent4"/>
                </a:solidFill>
              </a:rPr>
              <a:t> What’s a database then?</a:t>
            </a:r>
            <a:endParaRPr sz="2500">
              <a:solidFill>
                <a:schemeClr val="accent4"/>
              </a:solidFill>
            </a:endParaRPr>
          </a:p>
        </p:txBody>
      </p:sp>
      <p:sp>
        <p:nvSpPr>
          <p:cNvPr id="125" name="Google Shape;125;p4"/>
          <p:cNvSpPr/>
          <p:nvPr/>
        </p:nvSpPr>
        <p:spPr>
          <a:xfrm>
            <a:off x="3349200" y="4089175"/>
            <a:ext cx="3314100" cy="593400"/>
          </a:xfrm>
          <a:prstGeom prst="roundRect">
            <a:avLst>
              <a:gd fmla="val 50000" name="adj"/>
            </a:avLst>
          </a:prstGeom>
          <a:solidFill>
            <a:srgbClr val="FFFFFF"/>
          </a:solidFill>
          <a:ln cap="flat" cmpd="sng" w="2857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
          <p:cNvSpPr/>
          <p:nvPr/>
        </p:nvSpPr>
        <p:spPr>
          <a:xfrm>
            <a:off x="3349200" y="3258400"/>
            <a:ext cx="3314100" cy="593400"/>
          </a:xfrm>
          <a:prstGeom prst="roundRect">
            <a:avLst>
              <a:gd fmla="val 50000" name="adj"/>
            </a:avLst>
          </a:prstGeom>
          <a:solidFill>
            <a:srgbClr val="FFFFFF"/>
          </a:solidFill>
          <a:ln cap="flat" cmpd="sng" w="2857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
          <p:cNvSpPr/>
          <p:nvPr/>
        </p:nvSpPr>
        <p:spPr>
          <a:xfrm>
            <a:off x="3349200" y="2427325"/>
            <a:ext cx="3314100" cy="593400"/>
          </a:xfrm>
          <a:prstGeom prst="roundRect">
            <a:avLst>
              <a:gd fmla="val 50000" name="adj"/>
            </a:avLst>
          </a:prstGeom>
          <a:solidFill>
            <a:srgbClr val="FFFFFF"/>
          </a:solidFill>
          <a:ln cap="flat" cmpd="sng" w="2857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
          <p:cNvSpPr/>
          <p:nvPr/>
        </p:nvSpPr>
        <p:spPr>
          <a:xfrm>
            <a:off x="3349200" y="1596450"/>
            <a:ext cx="3314100" cy="593400"/>
          </a:xfrm>
          <a:prstGeom prst="roundRect">
            <a:avLst>
              <a:gd fmla="val 50000" name="adj"/>
            </a:avLst>
          </a:prstGeom>
          <a:solidFill>
            <a:srgbClr val="FFFFFF"/>
          </a:solidFill>
          <a:ln cap="flat" cmpd="sng" w="2857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4"/>
          <p:cNvSpPr/>
          <p:nvPr/>
        </p:nvSpPr>
        <p:spPr>
          <a:xfrm>
            <a:off x="3989800" y="1596450"/>
            <a:ext cx="2673600" cy="573000"/>
          </a:xfrm>
          <a:prstGeom prst="rect">
            <a:avLst/>
          </a:prstGeom>
          <a:noFill/>
          <a:ln>
            <a:noFill/>
          </a:ln>
        </p:spPr>
        <p:txBody>
          <a:bodyPr anchorCtr="0" anchor="ctr" bIns="91425" lIns="548625" spcFirstLastPara="1" rIns="18287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rgbClr val="000000"/>
                </a:solidFill>
                <a:latin typeface="Roboto"/>
                <a:ea typeface="Roboto"/>
                <a:cs typeface="Roboto"/>
                <a:sym typeface="Roboto"/>
              </a:rPr>
              <a:t>a system that stores data that can be searched and retrieved/queried </a:t>
            </a:r>
            <a:endParaRPr b="0" i="0" sz="1200" u="none" cap="none" strike="noStrike">
              <a:solidFill>
                <a:srgbClr val="000000"/>
              </a:solidFill>
              <a:latin typeface="Roboto"/>
              <a:ea typeface="Roboto"/>
              <a:cs typeface="Roboto"/>
              <a:sym typeface="Roboto"/>
            </a:endParaRPr>
          </a:p>
        </p:txBody>
      </p:sp>
      <p:cxnSp>
        <p:nvCxnSpPr>
          <p:cNvPr id="130" name="Google Shape;130;p4"/>
          <p:cNvCxnSpPr/>
          <p:nvPr/>
        </p:nvCxnSpPr>
        <p:spPr>
          <a:xfrm flipH="1" rot="10800000">
            <a:off x="1682388" y="1809388"/>
            <a:ext cx="1666800" cy="1330500"/>
          </a:xfrm>
          <a:prstGeom prst="straightConnector1">
            <a:avLst/>
          </a:prstGeom>
          <a:noFill/>
          <a:ln cap="flat" cmpd="sng" w="28575">
            <a:solidFill>
              <a:schemeClr val="accent1"/>
            </a:solidFill>
            <a:prstDash val="solid"/>
            <a:round/>
            <a:headEnd len="sm" w="sm" type="none"/>
            <a:tailEnd len="sm" w="sm" type="none"/>
          </a:ln>
        </p:spPr>
      </p:cxnSp>
      <p:grpSp>
        <p:nvGrpSpPr>
          <p:cNvPr id="131" name="Google Shape;131;p4"/>
          <p:cNvGrpSpPr/>
          <p:nvPr/>
        </p:nvGrpSpPr>
        <p:grpSpPr>
          <a:xfrm>
            <a:off x="7303995" y="1903493"/>
            <a:ext cx="421914" cy="420759"/>
            <a:chOff x="-2571737" y="2403625"/>
            <a:chExt cx="292225" cy="291425"/>
          </a:xfrm>
        </p:grpSpPr>
        <p:sp>
          <p:nvSpPr>
            <p:cNvPr id="132" name="Google Shape;132;p4"/>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4"/>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4"/>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4"/>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 name="Google Shape;139;p4"/>
          <p:cNvSpPr/>
          <p:nvPr/>
        </p:nvSpPr>
        <p:spPr>
          <a:xfrm>
            <a:off x="3247500" y="1546900"/>
            <a:ext cx="692400" cy="692400"/>
          </a:xfrm>
          <a:prstGeom prst="ellipse">
            <a:avLst/>
          </a:prstGeom>
          <a:solidFill>
            <a:srgbClr val="FFFFFF"/>
          </a:solidFill>
          <a:ln cap="flat" cmpd="sng" w="28575">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accent1"/>
                </a:solidFill>
                <a:latin typeface="Fira Sans Extra Condensed"/>
                <a:ea typeface="Fira Sans Extra Condensed"/>
                <a:cs typeface="Fira Sans Extra Condensed"/>
                <a:sym typeface="Fira Sans Extra Condensed"/>
              </a:rPr>
              <a:t>01</a:t>
            </a:r>
            <a:endParaRPr b="1" i="0" sz="2100" u="none" cap="none" strike="noStrike">
              <a:solidFill>
                <a:schemeClr val="accent1"/>
              </a:solidFill>
              <a:latin typeface="Fira Sans Extra Condensed"/>
              <a:ea typeface="Fira Sans Extra Condensed"/>
              <a:cs typeface="Fira Sans Extra Condensed"/>
              <a:sym typeface="Fira Sans Extra Condensed"/>
            </a:endParaRPr>
          </a:p>
        </p:txBody>
      </p:sp>
      <p:sp>
        <p:nvSpPr>
          <p:cNvPr id="140" name="Google Shape;140;p4"/>
          <p:cNvSpPr/>
          <p:nvPr/>
        </p:nvSpPr>
        <p:spPr>
          <a:xfrm>
            <a:off x="3998325" y="2427475"/>
            <a:ext cx="2673600" cy="573000"/>
          </a:xfrm>
          <a:prstGeom prst="rect">
            <a:avLst/>
          </a:prstGeom>
          <a:noFill/>
          <a:ln>
            <a:noFill/>
          </a:ln>
        </p:spPr>
        <p:txBody>
          <a:bodyPr anchorCtr="0" anchor="ctr" bIns="91425" lIns="548625" spcFirstLastPara="1" rIns="18287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rgbClr val="000000"/>
                </a:solidFill>
                <a:latin typeface="Roboto"/>
                <a:ea typeface="Roboto"/>
                <a:cs typeface="Roboto"/>
                <a:sym typeface="Roboto"/>
              </a:rPr>
              <a:t>often managed and controlled by database management systems (DBMS)</a:t>
            </a:r>
            <a:endParaRPr b="0" i="0" sz="1200" u="none" cap="none" strike="noStrike">
              <a:solidFill>
                <a:srgbClr val="000000"/>
              </a:solidFill>
              <a:latin typeface="Roboto"/>
              <a:ea typeface="Roboto"/>
              <a:cs typeface="Roboto"/>
              <a:sym typeface="Roboto"/>
            </a:endParaRPr>
          </a:p>
        </p:txBody>
      </p:sp>
      <p:cxnSp>
        <p:nvCxnSpPr>
          <p:cNvPr id="141" name="Google Shape;141;p4"/>
          <p:cNvCxnSpPr/>
          <p:nvPr/>
        </p:nvCxnSpPr>
        <p:spPr>
          <a:xfrm flipH="1" rot="10800000">
            <a:off x="1682388" y="2724013"/>
            <a:ext cx="1565100" cy="420600"/>
          </a:xfrm>
          <a:prstGeom prst="straightConnector1">
            <a:avLst/>
          </a:prstGeom>
          <a:noFill/>
          <a:ln cap="flat" cmpd="sng" w="28575">
            <a:solidFill>
              <a:schemeClr val="accent2"/>
            </a:solidFill>
            <a:prstDash val="solid"/>
            <a:round/>
            <a:headEnd len="sm" w="sm" type="none"/>
            <a:tailEnd len="sm" w="sm" type="none"/>
          </a:ln>
        </p:spPr>
      </p:cxnSp>
      <p:sp>
        <p:nvSpPr>
          <p:cNvPr id="142" name="Google Shape;142;p4"/>
          <p:cNvSpPr/>
          <p:nvPr/>
        </p:nvSpPr>
        <p:spPr>
          <a:xfrm>
            <a:off x="3247500" y="2377825"/>
            <a:ext cx="692400" cy="692400"/>
          </a:xfrm>
          <a:prstGeom prst="ellipse">
            <a:avLst/>
          </a:prstGeom>
          <a:solidFill>
            <a:srgbClr val="FFFFFF"/>
          </a:solidFill>
          <a:ln cap="flat" cmpd="sng" w="28575">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accent2"/>
                </a:solidFill>
                <a:latin typeface="Fira Sans Extra Condensed"/>
                <a:ea typeface="Fira Sans Extra Condensed"/>
                <a:cs typeface="Fira Sans Extra Condensed"/>
                <a:sym typeface="Fira Sans Extra Condensed"/>
              </a:rPr>
              <a:t>02</a:t>
            </a:r>
            <a:endParaRPr b="1" i="0" sz="2100" u="none" cap="none" strike="noStrike">
              <a:solidFill>
                <a:schemeClr val="accent2"/>
              </a:solidFill>
              <a:latin typeface="Fira Sans Extra Condensed"/>
              <a:ea typeface="Fira Sans Extra Condensed"/>
              <a:cs typeface="Fira Sans Extra Condensed"/>
              <a:sym typeface="Fira Sans Extra Condensed"/>
            </a:endParaRPr>
          </a:p>
        </p:txBody>
      </p:sp>
      <p:sp>
        <p:nvSpPr>
          <p:cNvPr id="143" name="Google Shape;143;p4"/>
          <p:cNvSpPr/>
          <p:nvPr/>
        </p:nvSpPr>
        <p:spPr>
          <a:xfrm>
            <a:off x="3989825" y="3230500"/>
            <a:ext cx="2621700" cy="692400"/>
          </a:xfrm>
          <a:prstGeom prst="rect">
            <a:avLst/>
          </a:prstGeom>
          <a:noFill/>
          <a:ln>
            <a:noFill/>
          </a:ln>
        </p:spPr>
        <p:txBody>
          <a:bodyPr anchorCtr="0" anchor="ctr" bIns="91425" lIns="548625" spcFirstLastPara="1" rIns="18287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rgbClr val="000000"/>
                </a:solidFill>
                <a:latin typeface="Roboto"/>
                <a:ea typeface="Roboto"/>
                <a:cs typeface="Roboto"/>
                <a:sym typeface="Roboto"/>
              </a:rPr>
              <a:t>usually stored on large computers called servers or on the cloud but you can also create one on your PC</a:t>
            </a:r>
            <a:endParaRPr b="0" i="0" sz="1200" u="none" cap="none" strike="noStrike">
              <a:solidFill>
                <a:srgbClr val="000000"/>
              </a:solidFill>
              <a:latin typeface="Roboto"/>
              <a:ea typeface="Roboto"/>
              <a:cs typeface="Roboto"/>
              <a:sym typeface="Roboto"/>
            </a:endParaRPr>
          </a:p>
        </p:txBody>
      </p:sp>
      <p:cxnSp>
        <p:nvCxnSpPr>
          <p:cNvPr id="144" name="Google Shape;144;p4"/>
          <p:cNvCxnSpPr/>
          <p:nvPr/>
        </p:nvCxnSpPr>
        <p:spPr>
          <a:xfrm>
            <a:off x="1682388" y="3144838"/>
            <a:ext cx="1565100" cy="410100"/>
          </a:xfrm>
          <a:prstGeom prst="straightConnector1">
            <a:avLst/>
          </a:prstGeom>
          <a:noFill/>
          <a:ln cap="flat" cmpd="sng" w="28575">
            <a:solidFill>
              <a:schemeClr val="accent3"/>
            </a:solidFill>
            <a:prstDash val="solid"/>
            <a:round/>
            <a:headEnd len="sm" w="sm" type="none"/>
            <a:tailEnd len="sm" w="sm" type="none"/>
          </a:ln>
        </p:spPr>
      </p:cxnSp>
      <p:sp>
        <p:nvSpPr>
          <p:cNvPr id="145" name="Google Shape;145;p4"/>
          <p:cNvSpPr/>
          <p:nvPr/>
        </p:nvSpPr>
        <p:spPr>
          <a:xfrm>
            <a:off x="3247500" y="3208750"/>
            <a:ext cx="692400" cy="692400"/>
          </a:xfrm>
          <a:prstGeom prst="ellipse">
            <a:avLst/>
          </a:prstGeom>
          <a:solidFill>
            <a:srgbClr val="FFFFFF"/>
          </a:solidFill>
          <a:ln cap="flat" cmpd="sng" w="28575">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accent3"/>
                </a:solidFill>
                <a:latin typeface="Fira Sans Extra Condensed"/>
                <a:ea typeface="Fira Sans Extra Condensed"/>
                <a:cs typeface="Fira Sans Extra Condensed"/>
                <a:sym typeface="Fira Sans Extra Condensed"/>
              </a:rPr>
              <a:t>03</a:t>
            </a:r>
            <a:endParaRPr b="1" i="0" sz="2100" u="none" cap="none" strike="noStrike">
              <a:solidFill>
                <a:schemeClr val="accent3"/>
              </a:solidFill>
              <a:latin typeface="Fira Sans Extra Condensed"/>
              <a:ea typeface="Fira Sans Extra Condensed"/>
              <a:cs typeface="Fira Sans Extra Condensed"/>
              <a:sym typeface="Fira Sans Extra Condensed"/>
            </a:endParaRPr>
          </a:p>
        </p:txBody>
      </p:sp>
      <p:sp>
        <p:nvSpPr>
          <p:cNvPr id="146" name="Google Shape;146;p4"/>
          <p:cNvSpPr/>
          <p:nvPr/>
        </p:nvSpPr>
        <p:spPr>
          <a:xfrm>
            <a:off x="3989825" y="4175575"/>
            <a:ext cx="2342400" cy="481500"/>
          </a:xfrm>
          <a:prstGeom prst="rect">
            <a:avLst/>
          </a:prstGeom>
          <a:noFill/>
          <a:ln>
            <a:noFill/>
          </a:ln>
        </p:spPr>
        <p:txBody>
          <a:bodyPr anchorCtr="0" anchor="ctr" bIns="91425" lIns="548625" spcFirstLastPara="1" rIns="18287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rgbClr val="000000"/>
                </a:solidFill>
                <a:latin typeface="Roboto"/>
                <a:ea typeface="Roboto"/>
                <a:cs typeface="Roboto"/>
                <a:sym typeface="Roboto"/>
              </a:rPr>
              <a:t>Used in websites, desktop apps, phone apps and</a:t>
            </a:r>
            <a:endParaRPr b="0" i="0" sz="1200" u="none" cap="none" strike="noStrike">
              <a:solidFill>
                <a:srgbClr val="000000"/>
              </a:solidFill>
              <a:latin typeface="Roboto"/>
              <a:ea typeface="Roboto"/>
              <a:cs typeface="Roboto"/>
              <a:sym typeface="Roboto"/>
            </a:endParaRPr>
          </a:p>
        </p:txBody>
      </p:sp>
      <p:cxnSp>
        <p:nvCxnSpPr>
          <p:cNvPr id="147" name="Google Shape;147;p4"/>
          <p:cNvCxnSpPr/>
          <p:nvPr/>
        </p:nvCxnSpPr>
        <p:spPr>
          <a:xfrm>
            <a:off x="1677588" y="3139663"/>
            <a:ext cx="1569900" cy="1246200"/>
          </a:xfrm>
          <a:prstGeom prst="straightConnector1">
            <a:avLst/>
          </a:prstGeom>
          <a:noFill/>
          <a:ln cap="flat" cmpd="sng" w="28575">
            <a:solidFill>
              <a:schemeClr val="accent4"/>
            </a:solidFill>
            <a:prstDash val="solid"/>
            <a:round/>
            <a:headEnd len="sm" w="sm" type="none"/>
            <a:tailEnd len="sm" w="sm" type="none"/>
          </a:ln>
        </p:spPr>
      </p:cxnSp>
      <p:sp>
        <p:nvSpPr>
          <p:cNvPr id="148" name="Google Shape;148;p4"/>
          <p:cNvSpPr/>
          <p:nvPr/>
        </p:nvSpPr>
        <p:spPr>
          <a:xfrm>
            <a:off x="3247500" y="4039675"/>
            <a:ext cx="692400" cy="692400"/>
          </a:xfrm>
          <a:prstGeom prst="ellipse">
            <a:avLst/>
          </a:prstGeom>
          <a:solidFill>
            <a:srgbClr val="FFFFFF"/>
          </a:solidFill>
          <a:ln cap="flat" cmpd="sng" w="28575">
            <a:solidFill>
              <a:schemeClr val="accent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accent4"/>
                </a:solidFill>
                <a:latin typeface="Fira Sans Extra Condensed"/>
                <a:ea typeface="Fira Sans Extra Condensed"/>
                <a:cs typeface="Fira Sans Extra Condensed"/>
                <a:sym typeface="Fira Sans Extra Condensed"/>
              </a:rPr>
              <a:t>04</a:t>
            </a:r>
            <a:endParaRPr b="1" i="0" sz="2100" u="none" cap="none" strike="noStrike">
              <a:solidFill>
                <a:schemeClr val="accent4"/>
              </a:solidFill>
              <a:latin typeface="Fira Sans Extra Condensed"/>
              <a:ea typeface="Fira Sans Extra Condensed"/>
              <a:cs typeface="Fira Sans Extra Condensed"/>
              <a:sym typeface="Fira Sans Extra Condensed"/>
            </a:endParaRPr>
          </a:p>
        </p:txBody>
      </p:sp>
      <p:sp>
        <p:nvSpPr>
          <p:cNvPr id="149" name="Google Shape;149;p4"/>
          <p:cNvSpPr/>
          <p:nvPr/>
        </p:nvSpPr>
        <p:spPr>
          <a:xfrm>
            <a:off x="643025" y="2029671"/>
            <a:ext cx="2073000" cy="2137800"/>
          </a:xfrm>
          <a:prstGeom prst="roundRect">
            <a:avLst>
              <a:gd fmla="val 50000" name="adj"/>
            </a:avLst>
          </a:prstGeom>
          <a:solidFill>
            <a:srgbClr val="FFFFFF"/>
          </a:solid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0" name="Google Shape;150;p4"/>
          <p:cNvGrpSpPr/>
          <p:nvPr/>
        </p:nvGrpSpPr>
        <p:grpSpPr>
          <a:xfrm>
            <a:off x="1359500" y="2518983"/>
            <a:ext cx="640090" cy="640086"/>
            <a:chOff x="-2571737" y="2403625"/>
            <a:chExt cx="292225" cy="291425"/>
          </a:xfrm>
        </p:grpSpPr>
        <p:sp>
          <p:nvSpPr>
            <p:cNvPr id="151" name="Google Shape;151;p4"/>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4"/>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8" name="Google Shape;158;p4"/>
          <p:cNvSpPr/>
          <p:nvPr/>
        </p:nvSpPr>
        <p:spPr>
          <a:xfrm>
            <a:off x="457200" y="3306800"/>
            <a:ext cx="2444700" cy="481500"/>
          </a:xfrm>
          <a:prstGeom prst="roundRect">
            <a:avLst>
              <a:gd fmla="val 50000" name="adj"/>
            </a:avLst>
          </a:prstGeom>
          <a:solidFill>
            <a:srgbClr val="FFFFFF"/>
          </a:solid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900" u="none" cap="none" strike="noStrike">
                <a:solidFill>
                  <a:schemeClr val="dk1"/>
                </a:solidFill>
                <a:latin typeface="Fira Sans Extra Condensed"/>
                <a:ea typeface="Fira Sans Extra Condensed"/>
                <a:cs typeface="Fira Sans Extra Condensed"/>
                <a:sym typeface="Fira Sans Extra Condensed"/>
              </a:rPr>
              <a:t>A database is </a:t>
            </a:r>
            <a:endParaRPr b="1" i="0" sz="1900" u="none" cap="none" strike="noStrike">
              <a:solidFill>
                <a:schemeClr val="dk1"/>
              </a:solidFill>
              <a:latin typeface="Fira Sans Extra Condensed"/>
              <a:ea typeface="Fira Sans Extra Condensed"/>
              <a:cs typeface="Fira Sans Extra Condensed"/>
              <a:sym typeface="Fira Sans Extra Condensed"/>
            </a:endParaRPr>
          </a:p>
        </p:txBody>
      </p:sp>
      <p:sp>
        <p:nvSpPr>
          <p:cNvPr id="159" name="Google Shape;159;p4"/>
          <p:cNvSpPr txBox="1"/>
          <p:nvPr/>
        </p:nvSpPr>
        <p:spPr>
          <a:xfrm>
            <a:off x="7136600" y="2239300"/>
            <a:ext cx="18753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Roboto"/>
                <a:ea typeface="Roboto"/>
                <a:cs typeface="Roboto"/>
                <a:sym typeface="Roboto"/>
              </a:rPr>
              <a:t>The data along with DBMS and associated applications are often referred to as a database system or just </a:t>
            </a:r>
            <a:r>
              <a:rPr b="1" i="1" lang="en" sz="1400" u="none" cap="none" strike="noStrike">
                <a:solidFill>
                  <a:srgbClr val="000000"/>
                </a:solidFill>
                <a:latin typeface="Roboto"/>
                <a:ea typeface="Roboto"/>
                <a:cs typeface="Roboto"/>
                <a:sym typeface="Roboto"/>
              </a:rPr>
              <a:t>database.</a:t>
            </a:r>
            <a:endParaRPr b="1" i="1"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ph type="title"/>
          </p:nvPr>
        </p:nvSpPr>
        <p:spPr>
          <a:xfrm>
            <a:off x="457200" y="143575"/>
            <a:ext cx="8229600" cy="585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Types of Databases</a:t>
            </a:r>
            <a:endParaRPr/>
          </a:p>
        </p:txBody>
      </p:sp>
      <p:sp>
        <p:nvSpPr>
          <p:cNvPr id="165" name="Google Shape;165;p5"/>
          <p:cNvSpPr txBox="1"/>
          <p:nvPr/>
        </p:nvSpPr>
        <p:spPr>
          <a:xfrm>
            <a:off x="882951" y="4312803"/>
            <a:ext cx="7657800" cy="2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Fira Sans Extra Condensed"/>
                <a:ea typeface="Fira Sans Extra Condensed"/>
                <a:cs typeface="Fira Sans Extra Condensed"/>
                <a:sym typeface="Fira Sans Extra Condensed"/>
              </a:rPr>
              <a:t>Network Databases</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166" name="Google Shape;166;p5"/>
          <p:cNvSpPr txBox="1"/>
          <p:nvPr/>
        </p:nvSpPr>
        <p:spPr>
          <a:xfrm>
            <a:off x="871914" y="974642"/>
            <a:ext cx="7901400" cy="253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Fira Sans Extra Condensed"/>
                <a:ea typeface="Fira Sans Extra Condensed"/>
                <a:cs typeface="Fira Sans Extra Condensed"/>
                <a:sym typeface="Fira Sans Extra Condensed"/>
              </a:rPr>
              <a:t>Relational Databases</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167" name="Google Shape;167;p5"/>
          <p:cNvSpPr txBox="1"/>
          <p:nvPr/>
        </p:nvSpPr>
        <p:spPr>
          <a:xfrm>
            <a:off x="871914" y="3153631"/>
            <a:ext cx="7901400" cy="253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Fira Sans Extra Condensed"/>
                <a:ea typeface="Fira Sans Extra Condensed"/>
                <a:cs typeface="Fira Sans Extra Condensed"/>
                <a:sym typeface="Fira Sans Extra Condensed"/>
              </a:rPr>
              <a:t>Hierarchical Databases</a:t>
            </a:r>
            <a:endParaRPr b="1" i="0" sz="1600" u="none" cap="none" strike="noStrike">
              <a:solidFill>
                <a:schemeClr val="dk1"/>
              </a:solidFill>
              <a:latin typeface="Fira Sans Extra Condensed"/>
              <a:ea typeface="Fira Sans Extra Condensed"/>
              <a:cs typeface="Fira Sans Extra Condensed"/>
              <a:sym typeface="Fira Sans Extra Condensed"/>
            </a:endParaRPr>
          </a:p>
        </p:txBody>
      </p:sp>
      <p:sp>
        <p:nvSpPr>
          <p:cNvPr id="168" name="Google Shape;168;p5"/>
          <p:cNvSpPr txBox="1"/>
          <p:nvPr/>
        </p:nvSpPr>
        <p:spPr>
          <a:xfrm>
            <a:off x="882950" y="4527525"/>
            <a:ext cx="8182500" cy="4278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Fira Sans"/>
                <a:ea typeface="Fira Sans"/>
                <a:cs typeface="Fira Sans"/>
                <a:sym typeface="Fira Sans"/>
              </a:rPr>
              <a:t>have a </a:t>
            </a:r>
            <a:r>
              <a:rPr b="0" i="1" lang="en" sz="1200" u="none" cap="none" strike="noStrike">
                <a:solidFill>
                  <a:srgbClr val="000000"/>
                </a:solidFill>
                <a:latin typeface="Fira Sans"/>
                <a:ea typeface="Fira Sans"/>
                <a:cs typeface="Fira Sans"/>
                <a:sym typeface="Fira Sans"/>
              </a:rPr>
              <a:t>hierarchical </a:t>
            </a:r>
            <a:r>
              <a:rPr b="0" i="0" lang="en" sz="1200" u="none" cap="none" strike="noStrike">
                <a:solidFill>
                  <a:srgbClr val="000000"/>
                </a:solidFill>
                <a:latin typeface="Fira Sans"/>
                <a:ea typeface="Fira Sans"/>
                <a:cs typeface="Fira Sans"/>
                <a:sym typeface="Fira Sans"/>
              </a:rPr>
              <a:t>structure. However, instead of using a single-parent tree hierarchy, this model supports many to many relationships, as child tables can have more than one parent.</a:t>
            </a:r>
            <a:endParaRPr b="0" i="0" sz="1200" u="none" cap="none" strike="noStrike">
              <a:solidFill>
                <a:srgbClr val="000000"/>
              </a:solidFill>
              <a:latin typeface="Fira Sans"/>
              <a:ea typeface="Fira Sans"/>
              <a:cs typeface="Fira Sans"/>
              <a:sym typeface="Fira Sans"/>
            </a:endParaRPr>
          </a:p>
        </p:txBody>
      </p:sp>
      <p:sp>
        <p:nvSpPr>
          <p:cNvPr id="169" name="Google Shape;169;p5"/>
          <p:cNvSpPr txBox="1"/>
          <p:nvPr/>
        </p:nvSpPr>
        <p:spPr>
          <a:xfrm>
            <a:off x="871901" y="1227947"/>
            <a:ext cx="7507800" cy="504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Fira Sans"/>
                <a:ea typeface="Fira Sans"/>
                <a:cs typeface="Fira Sans"/>
                <a:sym typeface="Fira Sans"/>
              </a:rPr>
              <a:t>became dominant in the 1980s. Items in a relational database are organized as a set of </a:t>
            </a:r>
            <a:r>
              <a:rPr b="1" i="1" lang="en" sz="1200" u="none" cap="none" strike="noStrike">
                <a:solidFill>
                  <a:srgbClr val="000000"/>
                </a:solidFill>
                <a:latin typeface="Fira Sans"/>
                <a:ea typeface="Fira Sans"/>
                <a:cs typeface="Fira Sans"/>
                <a:sym typeface="Fira Sans"/>
              </a:rPr>
              <a:t>tables </a:t>
            </a:r>
            <a:r>
              <a:rPr b="0" i="0" lang="en" sz="1200" u="none" cap="none" strike="noStrike">
                <a:solidFill>
                  <a:srgbClr val="000000"/>
                </a:solidFill>
                <a:latin typeface="Fira Sans"/>
                <a:ea typeface="Fira Sans"/>
                <a:cs typeface="Fira Sans"/>
                <a:sym typeface="Fira Sans"/>
              </a:rPr>
              <a:t>with </a:t>
            </a:r>
            <a:r>
              <a:rPr b="1" i="1" lang="en" sz="1200" u="none" cap="none" strike="noStrike">
                <a:solidFill>
                  <a:srgbClr val="000000"/>
                </a:solidFill>
                <a:latin typeface="Fira Sans"/>
                <a:ea typeface="Fira Sans"/>
                <a:cs typeface="Fira Sans"/>
                <a:sym typeface="Fira Sans"/>
              </a:rPr>
              <a:t>columns </a:t>
            </a:r>
            <a:r>
              <a:rPr b="0" i="0" lang="en" sz="1200" u="none" cap="none" strike="noStrike">
                <a:solidFill>
                  <a:srgbClr val="000000"/>
                </a:solidFill>
                <a:latin typeface="Fira Sans"/>
                <a:ea typeface="Fira Sans"/>
                <a:cs typeface="Fira Sans"/>
                <a:sym typeface="Fira Sans"/>
              </a:rPr>
              <a:t>and </a:t>
            </a:r>
            <a:r>
              <a:rPr b="1" i="1" lang="en" sz="1200" u="none" cap="none" strike="noStrike">
                <a:solidFill>
                  <a:srgbClr val="000000"/>
                </a:solidFill>
                <a:latin typeface="Fira Sans"/>
                <a:ea typeface="Fira Sans"/>
                <a:cs typeface="Fira Sans"/>
                <a:sym typeface="Fira Sans"/>
              </a:rPr>
              <a:t>rows</a:t>
            </a:r>
            <a:r>
              <a:rPr b="0" i="0" lang="en" sz="1200" u="none" cap="none" strike="noStrike">
                <a:solidFill>
                  <a:srgbClr val="000000"/>
                </a:solidFill>
                <a:latin typeface="Fira Sans"/>
                <a:ea typeface="Fira Sans"/>
                <a:cs typeface="Fira Sans"/>
                <a:sym typeface="Fira Sans"/>
              </a:rPr>
              <a:t>. Relational database technology provides the most efficient and flexible way to access structured information.</a:t>
            </a:r>
            <a:endParaRPr b="0" i="0" sz="1200" u="none" cap="none" strike="noStrike">
              <a:solidFill>
                <a:srgbClr val="000000"/>
              </a:solidFill>
              <a:latin typeface="Fira Sans"/>
              <a:ea typeface="Fira Sans"/>
              <a:cs typeface="Fira Sans"/>
              <a:sym typeface="Fira Sans"/>
            </a:endParaRPr>
          </a:p>
        </p:txBody>
      </p:sp>
      <p:sp>
        <p:nvSpPr>
          <p:cNvPr id="170" name="Google Shape;170;p5"/>
          <p:cNvSpPr txBox="1"/>
          <p:nvPr/>
        </p:nvSpPr>
        <p:spPr>
          <a:xfrm>
            <a:off x="871900" y="3406950"/>
            <a:ext cx="8129400" cy="585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Fira Sans"/>
                <a:ea typeface="Fira Sans"/>
                <a:cs typeface="Fira Sans"/>
                <a:sym typeface="Fira Sans"/>
              </a:rPr>
              <a:t>relationships between records are predefined in a one to one manner, between 'parent and child' nodes. They require the user to pass a hierarchy in order to access needed data. Hierarchical database model resembles a tree structure, similar to a folder architecture in your computer system</a:t>
            </a:r>
            <a:endParaRPr b="0" i="0" sz="1200" u="none" cap="none" strike="noStrike">
              <a:solidFill>
                <a:srgbClr val="000000"/>
              </a:solidFill>
              <a:latin typeface="Fira Sans"/>
              <a:ea typeface="Fira Sans"/>
              <a:cs typeface="Fira Sans"/>
              <a:sym typeface="Fira Sans"/>
            </a:endParaRPr>
          </a:p>
        </p:txBody>
      </p:sp>
      <p:sp>
        <p:nvSpPr>
          <p:cNvPr id="171" name="Google Shape;171;p5"/>
          <p:cNvSpPr txBox="1"/>
          <p:nvPr/>
        </p:nvSpPr>
        <p:spPr>
          <a:xfrm>
            <a:off x="871914" y="2064136"/>
            <a:ext cx="7901400" cy="253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Fira Sans Extra Condensed"/>
                <a:ea typeface="Fira Sans Extra Condensed"/>
                <a:cs typeface="Fira Sans Extra Condensed"/>
                <a:sym typeface="Fira Sans Extra Condensed"/>
              </a:rPr>
              <a:t>NoSQL or Non Relational Databases </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172" name="Google Shape;172;p5"/>
          <p:cNvSpPr txBox="1"/>
          <p:nvPr/>
        </p:nvSpPr>
        <p:spPr>
          <a:xfrm>
            <a:off x="871914" y="2317449"/>
            <a:ext cx="6742500" cy="504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Fira Sans"/>
                <a:ea typeface="Fira Sans"/>
                <a:cs typeface="Fira Sans"/>
                <a:sym typeface="Fira Sans"/>
              </a:rPr>
              <a:t>allows </a:t>
            </a:r>
            <a:r>
              <a:rPr b="1" i="1" lang="en" sz="1200" u="none" cap="none" strike="noStrike">
                <a:solidFill>
                  <a:srgbClr val="000000"/>
                </a:solidFill>
                <a:latin typeface="Fira Sans"/>
                <a:ea typeface="Fira Sans"/>
                <a:cs typeface="Fira Sans"/>
                <a:sym typeface="Fira Sans"/>
              </a:rPr>
              <a:t>unstructured </a:t>
            </a:r>
            <a:r>
              <a:rPr b="0" i="0" lang="en" sz="1200" u="none" cap="none" strike="noStrike">
                <a:solidFill>
                  <a:srgbClr val="000000"/>
                </a:solidFill>
                <a:latin typeface="Fira Sans"/>
                <a:ea typeface="Fira Sans"/>
                <a:cs typeface="Fira Sans"/>
                <a:sym typeface="Fira Sans"/>
              </a:rPr>
              <a:t>and </a:t>
            </a:r>
            <a:r>
              <a:rPr b="1" i="1" lang="en" sz="1200" u="none" cap="none" strike="noStrike">
                <a:solidFill>
                  <a:srgbClr val="000000"/>
                </a:solidFill>
                <a:latin typeface="Fira Sans"/>
                <a:ea typeface="Fira Sans"/>
                <a:cs typeface="Fira Sans"/>
                <a:sym typeface="Fira Sans"/>
              </a:rPr>
              <a:t>semistructured </a:t>
            </a:r>
            <a:r>
              <a:rPr b="0" i="0" lang="en" sz="1200" u="none" cap="none" strike="noStrike">
                <a:solidFill>
                  <a:srgbClr val="000000"/>
                </a:solidFill>
                <a:latin typeface="Fira Sans"/>
                <a:ea typeface="Fira Sans"/>
                <a:cs typeface="Fira Sans"/>
                <a:sym typeface="Fira Sans"/>
              </a:rPr>
              <a:t>data to be stored and manipulated. NoSQL databases grew popular as </a:t>
            </a:r>
            <a:r>
              <a:rPr b="0" i="1" lang="en" sz="1200" u="none" cap="none" strike="noStrike">
                <a:solidFill>
                  <a:srgbClr val="000000"/>
                </a:solidFill>
                <a:latin typeface="Fira Sans"/>
                <a:ea typeface="Fira Sans"/>
                <a:cs typeface="Fira Sans"/>
                <a:sym typeface="Fira Sans"/>
              </a:rPr>
              <a:t>web applications</a:t>
            </a:r>
            <a:r>
              <a:rPr b="0" i="0" lang="en" sz="1200" u="none" cap="none" strike="noStrike">
                <a:solidFill>
                  <a:srgbClr val="000000"/>
                </a:solidFill>
                <a:latin typeface="Fira Sans"/>
                <a:ea typeface="Fira Sans"/>
                <a:cs typeface="Fira Sans"/>
                <a:sym typeface="Fira Sans"/>
              </a:rPr>
              <a:t> became more common and more complex.</a:t>
            </a:r>
            <a:endParaRPr b="0" i="0" sz="1200" u="none" cap="none" strike="noStrike">
              <a:solidFill>
                <a:srgbClr val="000000"/>
              </a:solidFill>
              <a:latin typeface="Fira Sans"/>
              <a:ea typeface="Fira Sans"/>
              <a:cs typeface="Fira Sans"/>
              <a:sym typeface="Fira Sans"/>
            </a:endParaRPr>
          </a:p>
        </p:txBody>
      </p:sp>
      <p:cxnSp>
        <p:nvCxnSpPr>
          <p:cNvPr id="173" name="Google Shape;173;p5"/>
          <p:cNvCxnSpPr/>
          <p:nvPr/>
        </p:nvCxnSpPr>
        <p:spPr>
          <a:xfrm>
            <a:off x="639400" y="2919266"/>
            <a:ext cx="0" cy="933000"/>
          </a:xfrm>
          <a:prstGeom prst="straightConnector1">
            <a:avLst/>
          </a:prstGeom>
          <a:noFill/>
          <a:ln cap="flat" cmpd="sng" w="38100">
            <a:solidFill>
              <a:schemeClr val="accent6"/>
            </a:solidFill>
            <a:prstDash val="solid"/>
            <a:round/>
            <a:headEnd len="sm" w="sm" type="none"/>
            <a:tailEnd len="sm" w="sm" type="none"/>
          </a:ln>
        </p:spPr>
      </p:cxnSp>
      <p:sp>
        <p:nvSpPr>
          <p:cNvPr id="174" name="Google Shape;174;p5"/>
          <p:cNvSpPr txBox="1"/>
          <p:nvPr/>
        </p:nvSpPr>
        <p:spPr>
          <a:xfrm>
            <a:off x="871914" y="728575"/>
            <a:ext cx="2454900" cy="253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Fira Sans"/>
                <a:ea typeface="Fira Sans"/>
                <a:cs typeface="Fira Sans"/>
                <a:sym typeface="Fira Sans"/>
              </a:rPr>
              <a:t>01</a:t>
            </a:r>
            <a:endParaRPr b="1" i="0" sz="1800" u="none" cap="none" strike="noStrike">
              <a:solidFill>
                <a:schemeClr val="dk1"/>
              </a:solidFill>
              <a:latin typeface="Fira Sans"/>
              <a:ea typeface="Fira Sans"/>
              <a:cs typeface="Fira Sans"/>
              <a:sym typeface="Fira Sans"/>
            </a:endParaRPr>
          </a:p>
        </p:txBody>
      </p:sp>
      <p:sp>
        <p:nvSpPr>
          <p:cNvPr id="175" name="Google Shape;175;p5"/>
          <p:cNvSpPr txBox="1"/>
          <p:nvPr/>
        </p:nvSpPr>
        <p:spPr>
          <a:xfrm>
            <a:off x="871914" y="1818070"/>
            <a:ext cx="2454900" cy="253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Fira Sans"/>
                <a:ea typeface="Fira Sans"/>
                <a:cs typeface="Fira Sans"/>
                <a:sym typeface="Fira Sans"/>
              </a:rPr>
              <a:t>02</a:t>
            </a:r>
            <a:endParaRPr b="1" i="0" sz="1800" u="none" cap="none" strike="noStrike">
              <a:solidFill>
                <a:schemeClr val="dk1"/>
              </a:solidFill>
              <a:latin typeface="Fira Sans"/>
              <a:ea typeface="Fira Sans"/>
              <a:cs typeface="Fira Sans"/>
              <a:sym typeface="Fira Sans"/>
            </a:endParaRPr>
          </a:p>
        </p:txBody>
      </p:sp>
      <p:sp>
        <p:nvSpPr>
          <p:cNvPr id="176" name="Google Shape;176;p5"/>
          <p:cNvSpPr txBox="1"/>
          <p:nvPr/>
        </p:nvSpPr>
        <p:spPr>
          <a:xfrm>
            <a:off x="871914" y="2907564"/>
            <a:ext cx="2454900" cy="253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Fira Sans"/>
                <a:ea typeface="Fira Sans"/>
                <a:cs typeface="Fira Sans"/>
                <a:sym typeface="Fira Sans"/>
              </a:rPr>
              <a:t>03</a:t>
            </a:r>
            <a:endParaRPr b="1" i="0" sz="1800" u="none" cap="none" strike="noStrike">
              <a:solidFill>
                <a:schemeClr val="dk1"/>
              </a:solidFill>
              <a:latin typeface="Fira Sans"/>
              <a:ea typeface="Fira Sans"/>
              <a:cs typeface="Fira Sans"/>
              <a:sym typeface="Fira Sans"/>
            </a:endParaRPr>
          </a:p>
        </p:txBody>
      </p:sp>
      <p:sp>
        <p:nvSpPr>
          <p:cNvPr id="177" name="Google Shape;177;p5"/>
          <p:cNvSpPr txBox="1"/>
          <p:nvPr/>
        </p:nvSpPr>
        <p:spPr>
          <a:xfrm>
            <a:off x="889084" y="4104223"/>
            <a:ext cx="2515500" cy="2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Fira Sans"/>
                <a:ea typeface="Fira Sans"/>
                <a:cs typeface="Fira Sans"/>
                <a:sym typeface="Fira Sans"/>
              </a:rPr>
              <a:t>04</a:t>
            </a:r>
            <a:endParaRPr b="1" i="0" sz="1800" u="none" cap="none" strike="noStrike">
              <a:solidFill>
                <a:schemeClr val="dk1"/>
              </a:solidFill>
              <a:latin typeface="Fira Sans"/>
              <a:ea typeface="Fira Sans"/>
              <a:cs typeface="Fira Sans"/>
              <a:sym typeface="Fira Sans"/>
            </a:endParaRPr>
          </a:p>
        </p:txBody>
      </p:sp>
      <p:cxnSp>
        <p:nvCxnSpPr>
          <p:cNvPr id="178" name="Google Shape;178;p5"/>
          <p:cNvCxnSpPr/>
          <p:nvPr/>
        </p:nvCxnSpPr>
        <p:spPr>
          <a:xfrm>
            <a:off x="639400" y="1836620"/>
            <a:ext cx="0" cy="933000"/>
          </a:xfrm>
          <a:prstGeom prst="straightConnector1">
            <a:avLst/>
          </a:prstGeom>
          <a:noFill/>
          <a:ln cap="flat" cmpd="sng" w="38100">
            <a:solidFill>
              <a:schemeClr val="accent2"/>
            </a:solidFill>
            <a:prstDash val="solid"/>
            <a:round/>
            <a:headEnd len="sm" w="sm" type="none"/>
            <a:tailEnd len="sm" w="sm" type="none"/>
          </a:ln>
        </p:spPr>
      </p:cxnSp>
      <p:cxnSp>
        <p:nvCxnSpPr>
          <p:cNvPr id="179" name="Google Shape;179;p5"/>
          <p:cNvCxnSpPr/>
          <p:nvPr/>
        </p:nvCxnSpPr>
        <p:spPr>
          <a:xfrm>
            <a:off x="639400" y="753975"/>
            <a:ext cx="0" cy="933000"/>
          </a:xfrm>
          <a:prstGeom prst="straightConnector1">
            <a:avLst/>
          </a:prstGeom>
          <a:noFill/>
          <a:ln cap="flat" cmpd="sng" w="38100">
            <a:solidFill>
              <a:schemeClr val="accent1"/>
            </a:solidFill>
            <a:prstDash val="solid"/>
            <a:round/>
            <a:headEnd len="sm" w="sm" type="none"/>
            <a:tailEnd len="sm" w="sm" type="none"/>
          </a:ln>
        </p:spPr>
      </p:cxnSp>
      <p:cxnSp>
        <p:nvCxnSpPr>
          <p:cNvPr id="180" name="Google Shape;180;p5"/>
          <p:cNvCxnSpPr/>
          <p:nvPr/>
        </p:nvCxnSpPr>
        <p:spPr>
          <a:xfrm>
            <a:off x="639400" y="4125754"/>
            <a:ext cx="0" cy="790800"/>
          </a:xfrm>
          <a:prstGeom prst="straightConnector1">
            <a:avLst/>
          </a:prstGeom>
          <a:noFill/>
          <a:ln cap="flat" cmpd="sng" w="38100">
            <a:solidFill>
              <a:schemeClr val="accent5"/>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6"/>
          <p:cNvSpPr txBox="1"/>
          <p:nvPr>
            <p:ph type="title"/>
          </p:nvPr>
        </p:nvSpPr>
        <p:spPr>
          <a:xfrm>
            <a:off x="457200" y="182825"/>
            <a:ext cx="8229600" cy="51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Fira Sans Extra Condensed"/>
                <a:ea typeface="Fira Sans Extra Condensed"/>
                <a:cs typeface="Fira Sans Extra Condensed"/>
                <a:sym typeface="Fira Sans Extra Condensed"/>
              </a:rPr>
              <a:t>Relational Databases</a:t>
            </a:r>
            <a:endParaRPr>
              <a:latin typeface="Fira Sans Extra Condensed"/>
              <a:ea typeface="Fira Sans Extra Condensed"/>
              <a:cs typeface="Fira Sans Extra Condensed"/>
              <a:sym typeface="Fira Sans Extra Condensed"/>
            </a:endParaRPr>
          </a:p>
        </p:txBody>
      </p:sp>
      <p:pic>
        <p:nvPicPr>
          <p:cNvPr id="186" name="Google Shape;186;p6"/>
          <p:cNvPicPr preferRelativeResize="0"/>
          <p:nvPr/>
        </p:nvPicPr>
        <p:blipFill rotWithShape="1">
          <a:blip r:embed="rId3">
            <a:alphaModFix/>
          </a:blip>
          <a:srcRect b="0" l="0" r="0" t="0"/>
          <a:stretch/>
        </p:blipFill>
        <p:spPr>
          <a:xfrm>
            <a:off x="4607200" y="991325"/>
            <a:ext cx="4536800" cy="4152175"/>
          </a:xfrm>
          <a:prstGeom prst="rect">
            <a:avLst/>
          </a:prstGeom>
          <a:noFill/>
          <a:ln>
            <a:noFill/>
          </a:ln>
        </p:spPr>
      </p:pic>
      <p:sp>
        <p:nvSpPr>
          <p:cNvPr id="187" name="Google Shape;187;p6"/>
          <p:cNvSpPr txBox="1"/>
          <p:nvPr/>
        </p:nvSpPr>
        <p:spPr>
          <a:xfrm>
            <a:off x="153525" y="697625"/>
            <a:ext cx="4268400" cy="427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 relational database is a collection of data items with </a:t>
            </a:r>
            <a:r>
              <a:rPr b="1" i="0" lang="en" sz="1400" u="none" cap="none" strike="noStrike">
                <a:solidFill>
                  <a:srgbClr val="000000"/>
                </a:solidFill>
                <a:latin typeface="Roboto"/>
                <a:ea typeface="Roboto"/>
                <a:cs typeface="Roboto"/>
                <a:sym typeface="Roboto"/>
              </a:rPr>
              <a:t>pre-defined relationships </a:t>
            </a:r>
            <a:r>
              <a:rPr b="0" i="0" lang="en" sz="1400" u="none" cap="none" strike="noStrike">
                <a:solidFill>
                  <a:srgbClr val="000000"/>
                </a:solidFill>
                <a:latin typeface="Roboto"/>
                <a:ea typeface="Roboto"/>
                <a:cs typeface="Roboto"/>
                <a:sym typeface="Roboto"/>
              </a:rPr>
              <a:t>between them. These items are organized as a set of </a:t>
            </a:r>
            <a:r>
              <a:rPr b="1" i="0" lang="en" sz="1400" u="none" cap="none" strike="noStrike">
                <a:solidFill>
                  <a:srgbClr val="000000"/>
                </a:solidFill>
                <a:latin typeface="Roboto"/>
                <a:ea typeface="Roboto"/>
                <a:cs typeface="Roboto"/>
                <a:sym typeface="Roboto"/>
              </a:rPr>
              <a:t>tables </a:t>
            </a:r>
            <a:r>
              <a:rPr b="0" i="0" lang="en" sz="1400" u="none" cap="none" strike="noStrike">
                <a:solidFill>
                  <a:srgbClr val="000000"/>
                </a:solidFill>
                <a:latin typeface="Roboto"/>
                <a:ea typeface="Roboto"/>
                <a:cs typeface="Roboto"/>
                <a:sym typeface="Roboto"/>
              </a:rPr>
              <a:t>with </a:t>
            </a:r>
            <a:r>
              <a:rPr b="1" i="0" lang="en" sz="1400" u="none" cap="none" strike="noStrike">
                <a:solidFill>
                  <a:srgbClr val="000000"/>
                </a:solidFill>
                <a:latin typeface="Roboto"/>
                <a:ea typeface="Roboto"/>
                <a:cs typeface="Roboto"/>
                <a:sym typeface="Roboto"/>
              </a:rPr>
              <a:t>columns </a:t>
            </a:r>
            <a:r>
              <a:rPr b="0" i="0" lang="en" sz="1400" u="none" cap="none" strike="noStrike">
                <a:solidFill>
                  <a:srgbClr val="000000"/>
                </a:solidFill>
                <a:latin typeface="Roboto"/>
                <a:ea typeface="Roboto"/>
                <a:cs typeface="Roboto"/>
                <a:sym typeface="Roboto"/>
              </a:rPr>
              <a:t>and </a:t>
            </a:r>
            <a:r>
              <a:rPr b="1" i="0" lang="en" sz="1400" u="none" cap="none" strike="noStrike">
                <a:solidFill>
                  <a:srgbClr val="000000"/>
                </a:solidFill>
                <a:latin typeface="Roboto"/>
                <a:ea typeface="Roboto"/>
                <a:cs typeface="Roboto"/>
                <a:sym typeface="Roboto"/>
              </a:rPr>
              <a:t>rows</a:t>
            </a:r>
            <a:r>
              <a:rPr b="0" i="0" lang="en"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Tables are used to hold information about the objects to be represented in the database.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 Each column in a table holds a certain kind of data and a field stores the actual value of an attribute. The rows in the table represent a collection of related values of one object or entity.</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Each row in a table could be marked with a unique identifier called a primary key, and rows among multiple tables can be made related using foreign keys. This data can be accessed in many different ways without reorganizing the database tables themselves.</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7"/>
          <p:cNvSpPr/>
          <p:nvPr/>
        </p:nvSpPr>
        <p:spPr>
          <a:xfrm>
            <a:off x="2261550" y="1384275"/>
            <a:ext cx="2254200" cy="3930000"/>
          </a:xfrm>
          <a:prstGeom prst="roundRect">
            <a:avLst>
              <a:gd fmla="val 11451"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7"/>
          <p:cNvSpPr/>
          <p:nvPr/>
        </p:nvSpPr>
        <p:spPr>
          <a:xfrm>
            <a:off x="3761300" y="987275"/>
            <a:ext cx="754500" cy="786900"/>
          </a:xfrm>
          <a:prstGeom prst="ellipse">
            <a:avLst/>
          </a:prstGeom>
          <a:solidFill>
            <a:schemeClr val="accent2"/>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7"/>
          <p:cNvSpPr/>
          <p:nvPr/>
        </p:nvSpPr>
        <p:spPr>
          <a:xfrm>
            <a:off x="4515800" y="1384275"/>
            <a:ext cx="2254200" cy="3930000"/>
          </a:xfrm>
          <a:prstGeom prst="roundRect">
            <a:avLst>
              <a:gd fmla="val 11451"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7"/>
          <p:cNvSpPr/>
          <p:nvPr/>
        </p:nvSpPr>
        <p:spPr>
          <a:xfrm>
            <a:off x="5978363" y="988024"/>
            <a:ext cx="754500" cy="785400"/>
          </a:xfrm>
          <a:prstGeom prst="ellipse">
            <a:avLst/>
          </a:prstGeom>
          <a:solidFill>
            <a:schemeClr val="accent3"/>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7"/>
          <p:cNvSpPr/>
          <p:nvPr/>
        </p:nvSpPr>
        <p:spPr>
          <a:xfrm>
            <a:off x="6788675" y="1384275"/>
            <a:ext cx="2355300" cy="3930000"/>
          </a:xfrm>
          <a:prstGeom prst="roundRect">
            <a:avLst>
              <a:gd fmla="val 11451"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8389500" y="987263"/>
            <a:ext cx="754500" cy="786900"/>
          </a:xfrm>
          <a:prstGeom prst="ellipse">
            <a:avLst/>
          </a:prstGeom>
          <a:solidFill>
            <a:schemeClr val="accent4"/>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7"/>
          <p:cNvSpPr/>
          <p:nvPr/>
        </p:nvSpPr>
        <p:spPr>
          <a:xfrm>
            <a:off x="113550" y="1384275"/>
            <a:ext cx="2148000" cy="3930000"/>
          </a:xfrm>
          <a:prstGeom prst="roundRect">
            <a:avLst>
              <a:gd fmla="val 11451"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7"/>
          <p:cNvSpPr txBox="1"/>
          <p:nvPr>
            <p:ph type="title"/>
          </p:nvPr>
        </p:nvSpPr>
        <p:spPr>
          <a:xfrm>
            <a:off x="457200" y="253025"/>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Aspects of Relational Databases</a:t>
            </a:r>
            <a:endParaRPr>
              <a:solidFill>
                <a:schemeClr val="dk1"/>
              </a:solidFill>
            </a:endParaRPr>
          </a:p>
        </p:txBody>
      </p:sp>
      <p:sp>
        <p:nvSpPr>
          <p:cNvPr id="200" name="Google Shape;200;p7"/>
          <p:cNvSpPr txBox="1"/>
          <p:nvPr/>
        </p:nvSpPr>
        <p:spPr>
          <a:xfrm>
            <a:off x="225825" y="1572225"/>
            <a:ext cx="1955100" cy="67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Structured Query Language</a:t>
            </a:r>
            <a:endParaRPr b="1" i="0" sz="1400" u="none" cap="none" strike="noStrike">
              <a:solidFill>
                <a:schemeClr val="dk1"/>
              </a:solidFill>
              <a:latin typeface="Fira Sans Extra Condensed"/>
              <a:ea typeface="Fira Sans Extra Condensed"/>
              <a:cs typeface="Fira Sans Extra Condensed"/>
              <a:sym typeface="Fira Sans Extra Condensed"/>
            </a:endParaRPr>
          </a:p>
        </p:txBody>
      </p:sp>
      <p:sp>
        <p:nvSpPr>
          <p:cNvPr id="201" name="Google Shape;201;p7"/>
          <p:cNvSpPr txBox="1"/>
          <p:nvPr/>
        </p:nvSpPr>
        <p:spPr>
          <a:xfrm>
            <a:off x="168575" y="2223333"/>
            <a:ext cx="1854600" cy="2849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chemeClr val="dk1"/>
                </a:solidFill>
                <a:latin typeface="Roboto"/>
                <a:ea typeface="Roboto"/>
                <a:cs typeface="Roboto"/>
                <a:sym typeface="Roboto"/>
              </a:rPr>
              <a:t>Is the primary language used to communicate with Relational Databases. SQL is used to add, update or delete rows of data, retrieving subsets of data for transaction processing and analytics applications, and to manage all aspects of the database.</a:t>
            </a:r>
            <a:endParaRPr b="0" i="0" sz="1200" u="none" cap="none" strike="noStrike">
              <a:solidFill>
                <a:schemeClr val="dk1"/>
              </a:solidFill>
              <a:latin typeface="Roboto"/>
              <a:ea typeface="Roboto"/>
              <a:cs typeface="Roboto"/>
              <a:sym typeface="Roboto"/>
            </a:endParaRPr>
          </a:p>
        </p:txBody>
      </p:sp>
      <p:sp>
        <p:nvSpPr>
          <p:cNvPr id="202" name="Google Shape;202;p7"/>
          <p:cNvSpPr/>
          <p:nvPr/>
        </p:nvSpPr>
        <p:spPr>
          <a:xfrm>
            <a:off x="1544450" y="988020"/>
            <a:ext cx="753000" cy="7854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rial"/>
              <a:buNone/>
            </a:pPr>
            <a:r>
              <a:rPr b="1" i="0" lang="en" sz="1800" u="none" cap="none" strike="noStrike">
                <a:solidFill>
                  <a:schemeClr val="dk1"/>
                </a:solidFill>
                <a:latin typeface="Fira Sans Extra Condensed"/>
                <a:ea typeface="Fira Sans Extra Condensed"/>
                <a:cs typeface="Fira Sans Extra Condensed"/>
                <a:sym typeface="Fira Sans Extra Condensed"/>
              </a:rPr>
              <a:t>SQL</a:t>
            </a:r>
            <a:endParaRPr b="0" i="0" sz="1000" u="none" cap="none" strike="noStrike">
              <a:solidFill>
                <a:srgbClr val="000000"/>
              </a:solidFill>
              <a:latin typeface="Arial"/>
              <a:ea typeface="Arial"/>
              <a:cs typeface="Arial"/>
              <a:sym typeface="Arial"/>
            </a:endParaRPr>
          </a:p>
        </p:txBody>
      </p:sp>
      <p:grpSp>
        <p:nvGrpSpPr>
          <p:cNvPr id="203" name="Google Shape;203;p7"/>
          <p:cNvGrpSpPr/>
          <p:nvPr/>
        </p:nvGrpSpPr>
        <p:grpSpPr>
          <a:xfrm>
            <a:off x="8590853" y="1210421"/>
            <a:ext cx="351786" cy="340261"/>
            <a:chOff x="-62511900" y="4129100"/>
            <a:chExt cx="304050" cy="282000"/>
          </a:xfrm>
        </p:grpSpPr>
        <p:sp>
          <p:nvSpPr>
            <p:cNvPr id="204" name="Google Shape;204;p7"/>
            <p:cNvSpPr/>
            <p:nvPr/>
          </p:nvSpPr>
          <p:spPr>
            <a:xfrm>
              <a:off x="-62414225" y="4203925"/>
              <a:ext cx="206375" cy="207175"/>
            </a:xfrm>
            <a:custGeom>
              <a:rect b="b" l="l" r="r" t="t"/>
              <a:pathLst>
                <a:path extrusionOk="0" h="8287" w="8255">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7"/>
            <p:cNvSpPr/>
            <p:nvPr/>
          </p:nvSpPr>
          <p:spPr>
            <a:xfrm>
              <a:off x="-62511100" y="4129100"/>
              <a:ext cx="159900" cy="74850"/>
            </a:xfrm>
            <a:custGeom>
              <a:rect b="b" l="l" r="r" t="t"/>
              <a:pathLst>
                <a:path extrusionOk="0" h="2994" w="6396">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7"/>
            <p:cNvSpPr/>
            <p:nvPr/>
          </p:nvSpPr>
          <p:spPr>
            <a:xfrm>
              <a:off x="-62511100" y="4207075"/>
              <a:ext cx="110275" cy="59875"/>
            </a:xfrm>
            <a:custGeom>
              <a:rect b="b" l="l" r="r" t="t"/>
              <a:pathLst>
                <a:path extrusionOk="0" h="2395" w="4411">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7"/>
            <p:cNvSpPr/>
            <p:nvPr/>
          </p:nvSpPr>
          <p:spPr>
            <a:xfrm>
              <a:off x="-62511100" y="4329950"/>
              <a:ext cx="106350" cy="59875"/>
            </a:xfrm>
            <a:custGeom>
              <a:rect b="b" l="l" r="r" t="t"/>
              <a:pathLst>
                <a:path extrusionOk="0" h="2395" w="4254">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7"/>
            <p:cNvSpPr/>
            <p:nvPr/>
          </p:nvSpPr>
          <p:spPr>
            <a:xfrm>
              <a:off x="-62511900" y="4268500"/>
              <a:ext cx="78000" cy="60675"/>
            </a:xfrm>
            <a:custGeom>
              <a:rect b="b" l="l" r="r" t="t"/>
              <a:pathLst>
                <a:path extrusionOk="0" h="2427" w="312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 name="Google Shape;209;p7"/>
          <p:cNvGrpSpPr/>
          <p:nvPr/>
        </p:nvGrpSpPr>
        <p:grpSpPr>
          <a:xfrm>
            <a:off x="3955368" y="1189070"/>
            <a:ext cx="366364" cy="383035"/>
            <a:chOff x="-61784125" y="3377700"/>
            <a:chExt cx="316650" cy="317450"/>
          </a:xfrm>
        </p:grpSpPr>
        <p:sp>
          <p:nvSpPr>
            <p:cNvPr id="210" name="Google Shape;210;p7"/>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7"/>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7"/>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7"/>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7"/>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7"/>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7"/>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7" name="Google Shape;217;p7"/>
          <p:cNvGrpSpPr/>
          <p:nvPr/>
        </p:nvGrpSpPr>
        <p:grpSpPr>
          <a:xfrm>
            <a:off x="6172443" y="1161715"/>
            <a:ext cx="366364" cy="382305"/>
            <a:chOff x="-61783350" y="3743950"/>
            <a:chExt cx="316650" cy="317450"/>
          </a:xfrm>
        </p:grpSpPr>
        <p:sp>
          <p:nvSpPr>
            <p:cNvPr id="218" name="Google Shape;218;p7"/>
            <p:cNvSpPr/>
            <p:nvPr/>
          </p:nvSpPr>
          <p:spPr>
            <a:xfrm>
              <a:off x="-61783350" y="3743950"/>
              <a:ext cx="316650" cy="317450"/>
            </a:xfrm>
            <a:custGeom>
              <a:rect b="b" l="l" r="r" t="t"/>
              <a:pathLst>
                <a:path extrusionOk="0" h="12698" w="12666">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7"/>
            <p:cNvSpPr/>
            <p:nvPr/>
          </p:nvSpPr>
          <p:spPr>
            <a:xfrm>
              <a:off x="-61739225" y="3833750"/>
              <a:ext cx="272525" cy="149675"/>
            </a:xfrm>
            <a:custGeom>
              <a:rect b="b" l="l" r="r" t="t"/>
              <a:pathLst>
                <a:path extrusionOk="0" h="5987" w="10901">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 name="Google Shape;220;p7"/>
          <p:cNvSpPr txBox="1"/>
          <p:nvPr/>
        </p:nvSpPr>
        <p:spPr>
          <a:xfrm>
            <a:off x="2424188" y="1457825"/>
            <a:ext cx="2059500" cy="67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Data Integrity</a:t>
            </a:r>
            <a:endParaRPr b="1" i="0" sz="1400" u="none" cap="none" strike="noStrike">
              <a:solidFill>
                <a:schemeClr val="dk1"/>
              </a:solidFill>
              <a:latin typeface="Fira Sans Extra Condensed"/>
              <a:ea typeface="Fira Sans Extra Condensed"/>
              <a:cs typeface="Fira Sans Extra Condensed"/>
              <a:sym typeface="Fira Sans Extra Condensed"/>
            </a:endParaRPr>
          </a:p>
        </p:txBody>
      </p:sp>
      <p:sp>
        <p:nvSpPr>
          <p:cNvPr id="221" name="Google Shape;221;p7"/>
          <p:cNvSpPr txBox="1"/>
          <p:nvPr/>
        </p:nvSpPr>
        <p:spPr>
          <a:xfrm>
            <a:off x="2357924" y="1971075"/>
            <a:ext cx="2148000" cy="3165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chemeClr val="dk1"/>
                </a:solidFill>
                <a:latin typeface="Roboto"/>
                <a:ea typeface="Roboto"/>
                <a:cs typeface="Roboto"/>
                <a:sym typeface="Roboto"/>
              </a:rPr>
              <a:t>Is the overall completeness, accuracy and consistency of data. Relational databases use a set of constraints to enforce data integrity in the database. These include primary Keys, Foreign Keys, ‘Not NULL’ constraint, ‘Unique’ constraint, ‘Default’ constraint and ‘Check’ constraints. These integrity constraints help enforce business rules on data in the tables to ensure the accuracy and reliability of the data.</a:t>
            </a:r>
            <a:endParaRPr b="0" i="0" sz="1200" u="none" cap="none" strike="noStrike">
              <a:solidFill>
                <a:schemeClr val="dk1"/>
              </a:solidFill>
              <a:latin typeface="Roboto"/>
              <a:ea typeface="Roboto"/>
              <a:cs typeface="Roboto"/>
              <a:sym typeface="Roboto"/>
            </a:endParaRPr>
          </a:p>
        </p:txBody>
      </p:sp>
      <p:sp>
        <p:nvSpPr>
          <p:cNvPr id="222" name="Google Shape;222;p7"/>
          <p:cNvSpPr txBox="1"/>
          <p:nvPr/>
        </p:nvSpPr>
        <p:spPr>
          <a:xfrm>
            <a:off x="4723200" y="1457825"/>
            <a:ext cx="2059500" cy="67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Transactions</a:t>
            </a:r>
            <a:endParaRPr b="1" i="0" sz="1400" u="none" cap="none" strike="noStrike">
              <a:solidFill>
                <a:schemeClr val="dk1"/>
              </a:solidFill>
              <a:latin typeface="Fira Sans Extra Condensed"/>
              <a:ea typeface="Fira Sans Extra Condensed"/>
              <a:cs typeface="Fira Sans Extra Condensed"/>
              <a:sym typeface="Fira Sans Extra Condensed"/>
            </a:endParaRPr>
          </a:p>
        </p:txBody>
      </p:sp>
      <p:sp>
        <p:nvSpPr>
          <p:cNvPr id="223" name="Google Shape;223;p7"/>
          <p:cNvSpPr txBox="1"/>
          <p:nvPr/>
        </p:nvSpPr>
        <p:spPr>
          <a:xfrm>
            <a:off x="4596871" y="1971063"/>
            <a:ext cx="2191800" cy="3165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chemeClr val="dk1"/>
                </a:solidFill>
                <a:latin typeface="Roboto"/>
                <a:ea typeface="Roboto"/>
                <a:cs typeface="Roboto"/>
                <a:sym typeface="Roboto"/>
              </a:rPr>
              <a:t>transaction is one or more SQL statements that are executed as a sequence of operations that form a single logical unit of work. Relational databases follow “</a:t>
            </a:r>
            <a:r>
              <a:rPr b="1" i="0" lang="en" sz="1200" u="none" cap="none" strike="noStrike">
                <a:solidFill>
                  <a:schemeClr val="dk1"/>
                </a:solidFill>
                <a:latin typeface="Roboto"/>
                <a:ea typeface="Roboto"/>
                <a:cs typeface="Roboto"/>
                <a:sym typeface="Roboto"/>
              </a:rPr>
              <a:t>all-or-nothing”</a:t>
            </a:r>
            <a:r>
              <a:rPr b="0" i="0" lang="en" sz="1200" u="none" cap="none" strike="noStrike">
                <a:solidFill>
                  <a:schemeClr val="dk1"/>
                </a:solidFill>
                <a:latin typeface="Roboto"/>
                <a:ea typeface="Roboto"/>
                <a:cs typeface="Roboto"/>
                <a:sym typeface="Roboto"/>
              </a:rPr>
              <a:t> approach when executing transactions, meaning that the entire transaction must complete as a single unit &amp; be written to the database (COMMIT)</a:t>
            </a:r>
            <a:r>
              <a:rPr b="0" i="0" lang="en" sz="1050" u="none" cap="none" strike="noStrike">
                <a:solidFill>
                  <a:srgbClr val="333333"/>
                </a:solidFill>
                <a:latin typeface="Arial"/>
                <a:ea typeface="Arial"/>
                <a:cs typeface="Arial"/>
                <a:sym typeface="Arial"/>
              </a:rPr>
              <a:t> </a:t>
            </a:r>
            <a:r>
              <a:rPr b="0" i="0" lang="en" sz="1200" u="none" cap="none" strike="noStrike">
                <a:solidFill>
                  <a:schemeClr val="dk1"/>
                </a:solidFill>
                <a:latin typeface="Roboto"/>
                <a:ea typeface="Roboto"/>
                <a:cs typeface="Roboto"/>
                <a:sym typeface="Roboto"/>
              </a:rPr>
              <a:t>or none of the individual components of the transaction should go through (ROLLBACK)</a:t>
            </a:r>
            <a:endParaRPr b="0" i="0" sz="1200" u="none" cap="none" strike="noStrike">
              <a:solidFill>
                <a:schemeClr val="dk1"/>
              </a:solidFill>
              <a:latin typeface="Roboto"/>
              <a:ea typeface="Roboto"/>
              <a:cs typeface="Roboto"/>
              <a:sym typeface="Roboto"/>
            </a:endParaRPr>
          </a:p>
        </p:txBody>
      </p:sp>
      <p:sp>
        <p:nvSpPr>
          <p:cNvPr id="224" name="Google Shape;224;p7"/>
          <p:cNvSpPr txBox="1"/>
          <p:nvPr/>
        </p:nvSpPr>
        <p:spPr>
          <a:xfrm>
            <a:off x="6875225" y="1457825"/>
            <a:ext cx="2059500" cy="67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ACID Compliance</a:t>
            </a:r>
            <a:endParaRPr b="1" i="0" sz="1400" u="none" cap="none" strike="noStrike">
              <a:solidFill>
                <a:schemeClr val="dk1"/>
              </a:solidFill>
              <a:latin typeface="Fira Sans Extra Condensed"/>
              <a:ea typeface="Fira Sans Extra Condensed"/>
              <a:cs typeface="Fira Sans Extra Condensed"/>
              <a:sym typeface="Fira Sans Extra Condensed"/>
            </a:endParaRPr>
          </a:p>
        </p:txBody>
      </p:sp>
      <p:sp>
        <p:nvSpPr>
          <p:cNvPr id="225" name="Google Shape;225;p7"/>
          <p:cNvSpPr txBox="1"/>
          <p:nvPr/>
        </p:nvSpPr>
        <p:spPr>
          <a:xfrm>
            <a:off x="6847025" y="1971075"/>
            <a:ext cx="2297100" cy="3343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 sz="1200" u="none" cap="none" strike="noStrike">
                <a:solidFill>
                  <a:schemeClr val="dk1"/>
                </a:solidFill>
                <a:latin typeface="Roboto"/>
                <a:ea typeface="Roboto"/>
                <a:cs typeface="Roboto"/>
                <a:sym typeface="Roboto"/>
              </a:rPr>
              <a:t>transactions must be ACID compliant, meaning  Atomic, Consistent, Isolated and Durable to ensure data integrity.</a:t>
            </a:r>
            <a:r>
              <a:rPr b="1" i="0" lang="en" sz="1200" u="none" cap="none" strike="noStrike">
                <a:solidFill>
                  <a:schemeClr val="dk1"/>
                </a:solidFill>
                <a:latin typeface="Roboto"/>
                <a:ea typeface="Roboto"/>
                <a:cs typeface="Roboto"/>
                <a:sym typeface="Roboto"/>
              </a:rPr>
              <a:t>Atomicity</a:t>
            </a:r>
            <a:r>
              <a:rPr b="0" i="0" lang="en" sz="1200" u="none" cap="none" strike="noStrike">
                <a:solidFill>
                  <a:schemeClr val="dk1"/>
                </a:solidFill>
                <a:latin typeface="Roboto"/>
                <a:ea typeface="Roboto"/>
                <a:cs typeface="Roboto"/>
                <a:sym typeface="Roboto"/>
              </a:rPr>
              <a:t>: transaction as a whole be successfully executed or if a part of the transaction fails, then the entire transaction be invalidated. </a:t>
            </a:r>
            <a:r>
              <a:rPr b="1" i="0" lang="en" sz="1200" u="none" cap="none" strike="noStrike">
                <a:solidFill>
                  <a:schemeClr val="dk1"/>
                </a:solidFill>
                <a:latin typeface="Roboto"/>
                <a:ea typeface="Roboto"/>
                <a:cs typeface="Roboto"/>
                <a:sym typeface="Roboto"/>
              </a:rPr>
              <a:t>Consistency: </a:t>
            </a:r>
            <a:r>
              <a:rPr b="0" i="0" lang="en" sz="1200" u="none" cap="none" strike="noStrike">
                <a:solidFill>
                  <a:schemeClr val="dk1"/>
                </a:solidFill>
                <a:latin typeface="Roboto"/>
                <a:ea typeface="Roboto"/>
                <a:cs typeface="Roboto"/>
                <a:sym typeface="Roboto"/>
              </a:rPr>
              <a:t>data must adhere to all defined rules, and restrictions. </a:t>
            </a:r>
            <a:r>
              <a:rPr b="1" i="0" lang="en" sz="1200" u="none" cap="none" strike="noStrike">
                <a:solidFill>
                  <a:schemeClr val="dk1"/>
                </a:solidFill>
                <a:latin typeface="Roboto"/>
                <a:ea typeface="Roboto"/>
                <a:cs typeface="Roboto"/>
                <a:sym typeface="Roboto"/>
              </a:rPr>
              <a:t>Isolation </a:t>
            </a:r>
            <a:r>
              <a:rPr b="0" i="0" lang="en" sz="1200" u="none" cap="none" strike="noStrike">
                <a:solidFill>
                  <a:schemeClr val="dk1"/>
                </a:solidFill>
                <a:latin typeface="Roboto"/>
                <a:ea typeface="Roboto"/>
                <a:cs typeface="Roboto"/>
                <a:sym typeface="Roboto"/>
              </a:rPr>
              <a:t>ensures that each transaction is independent. </a:t>
            </a:r>
            <a:r>
              <a:rPr b="1" i="0" lang="en" sz="1200" u="none" cap="none" strike="noStrike">
                <a:solidFill>
                  <a:schemeClr val="dk1"/>
                </a:solidFill>
                <a:latin typeface="Roboto"/>
                <a:ea typeface="Roboto"/>
                <a:cs typeface="Roboto"/>
                <a:sym typeface="Roboto"/>
              </a:rPr>
              <a:t>Durability: </a:t>
            </a:r>
            <a:r>
              <a:rPr b="0" i="0" lang="en" sz="1200" u="none" cap="none" strike="noStrike">
                <a:solidFill>
                  <a:schemeClr val="dk1"/>
                </a:solidFill>
                <a:latin typeface="Roboto"/>
                <a:ea typeface="Roboto"/>
                <a:cs typeface="Roboto"/>
                <a:sym typeface="Roboto"/>
              </a:rPr>
              <a:t> changes made to the database are permanent.</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8"/>
          <p:cNvSpPr/>
          <p:nvPr/>
        </p:nvSpPr>
        <p:spPr>
          <a:xfrm>
            <a:off x="3510250" y="926425"/>
            <a:ext cx="5487900" cy="39612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8"/>
          <p:cNvSpPr/>
          <p:nvPr/>
        </p:nvSpPr>
        <p:spPr>
          <a:xfrm>
            <a:off x="1999600" y="192875"/>
            <a:ext cx="4826100" cy="450000"/>
          </a:xfrm>
          <a:prstGeom prst="roundRect">
            <a:avLst>
              <a:gd fmla="val 16667" name="adj"/>
            </a:avLst>
          </a:prstGeom>
          <a:solidFill>
            <a:schemeClr val="lt2"/>
          </a:solidFill>
          <a:ln cap="flat" cmpd="sng" w="9525">
            <a:solidFill>
              <a:srgbClr val="AAAA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8"/>
          <p:cNvSpPr txBox="1"/>
          <p:nvPr>
            <p:ph type="title"/>
          </p:nvPr>
        </p:nvSpPr>
        <p:spPr>
          <a:xfrm>
            <a:off x="105775" y="1074725"/>
            <a:ext cx="3477300" cy="59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solidFill>
                  <a:schemeClr val="accent2"/>
                </a:solidFill>
              </a:rPr>
              <a:t>What is data modeling?</a:t>
            </a:r>
            <a:endParaRPr sz="2500">
              <a:solidFill>
                <a:schemeClr val="accent2"/>
              </a:solidFill>
            </a:endParaRPr>
          </a:p>
        </p:txBody>
      </p:sp>
      <p:sp>
        <p:nvSpPr>
          <p:cNvPr id="233" name="Google Shape;233;p8"/>
          <p:cNvSpPr/>
          <p:nvPr/>
        </p:nvSpPr>
        <p:spPr>
          <a:xfrm>
            <a:off x="2157350" y="235813"/>
            <a:ext cx="1109100" cy="3714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2</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234" name="Google Shape;234;p8"/>
          <p:cNvSpPr txBox="1"/>
          <p:nvPr>
            <p:ph type="title"/>
          </p:nvPr>
        </p:nvSpPr>
        <p:spPr>
          <a:xfrm>
            <a:off x="3319626" y="196525"/>
            <a:ext cx="3603300" cy="45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800"/>
              <a:t>Data Modeling and Database Design</a:t>
            </a:r>
            <a:endParaRPr sz="1800"/>
          </a:p>
        </p:txBody>
      </p:sp>
      <p:pic>
        <p:nvPicPr>
          <p:cNvPr id="235" name="Google Shape;235;p8"/>
          <p:cNvPicPr preferRelativeResize="0"/>
          <p:nvPr/>
        </p:nvPicPr>
        <p:blipFill rotWithShape="1">
          <a:blip r:embed="rId3">
            <a:alphaModFix amt="70000"/>
          </a:blip>
          <a:srcRect b="0" l="0" r="0" t="0"/>
          <a:stretch/>
        </p:blipFill>
        <p:spPr>
          <a:xfrm>
            <a:off x="3655975" y="719175"/>
            <a:ext cx="5488026" cy="4034301"/>
          </a:xfrm>
          <a:prstGeom prst="rect">
            <a:avLst/>
          </a:prstGeom>
          <a:noFill/>
          <a:ln>
            <a:noFill/>
          </a:ln>
          <a:effectLst>
            <a:outerShdw blurRad="57150" rotWithShape="0" algn="bl" dir="7800000" dist="400050">
              <a:schemeClr val="accent1">
                <a:alpha val="49803"/>
              </a:schemeClr>
            </a:outerShdw>
          </a:effectLst>
        </p:spPr>
      </p:pic>
      <p:sp>
        <p:nvSpPr>
          <p:cNvPr id="236" name="Google Shape;236;p8"/>
          <p:cNvSpPr txBox="1"/>
          <p:nvPr/>
        </p:nvSpPr>
        <p:spPr>
          <a:xfrm>
            <a:off x="178675" y="2825500"/>
            <a:ext cx="33315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It is the process of creating a </a:t>
            </a:r>
            <a:r>
              <a:rPr b="0" i="1" lang="en" sz="1400" u="none" cap="none" strike="noStrike">
                <a:solidFill>
                  <a:srgbClr val="000000"/>
                </a:solidFill>
                <a:latin typeface="Roboto"/>
                <a:ea typeface="Roboto"/>
                <a:cs typeface="Roboto"/>
                <a:sym typeface="Roboto"/>
              </a:rPr>
              <a:t>visual representation</a:t>
            </a:r>
            <a:r>
              <a:rPr b="0" i="0" lang="en" sz="1400" u="none" cap="none" strike="noStrike">
                <a:solidFill>
                  <a:srgbClr val="000000"/>
                </a:solidFill>
                <a:latin typeface="Roboto"/>
                <a:ea typeface="Roboto"/>
                <a:cs typeface="Roboto"/>
                <a:sym typeface="Roboto"/>
              </a:rPr>
              <a:t> of data elements and structures and the connection between them. The goal is to illustrate the types of data used and stored within the database, the relationships among these data types, the ways the data can be grouped and organized and its formats and attributes.</a:t>
            </a:r>
            <a:endParaRPr b="0" i="0" sz="1400" u="none" cap="none" strike="noStrike">
              <a:solidFill>
                <a:srgbClr val="000000"/>
              </a:solidFill>
              <a:latin typeface="Roboto"/>
              <a:ea typeface="Roboto"/>
              <a:cs typeface="Roboto"/>
              <a:sym typeface="Roboto"/>
            </a:endParaRPr>
          </a:p>
        </p:txBody>
      </p:sp>
      <p:sp>
        <p:nvSpPr>
          <p:cNvPr id="237" name="Google Shape;237;p8"/>
          <p:cNvSpPr txBox="1"/>
          <p:nvPr/>
        </p:nvSpPr>
        <p:spPr>
          <a:xfrm>
            <a:off x="257175" y="1778800"/>
            <a:ext cx="3144300" cy="1046700"/>
          </a:xfrm>
          <a:prstGeom prst="rect">
            <a:avLst/>
          </a:prstGeom>
          <a:solidFill>
            <a:schemeClr val="lt2"/>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The process of analysing data </a:t>
            </a:r>
            <a:r>
              <a:rPr b="1" i="0" lang="en" sz="1400" u="none" cap="none" strike="noStrike">
                <a:solidFill>
                  <a:srgbClr val="000000"/>
                </a:solidFill>
                <a:latin typeface="Roboto"/>
                <a:ea typeface="Roboto"/>
                <a:cs typeface="Roboto"/>
                <a:sym typeface="Roboto"/>
              </a:rPr>
              <a:t>requirements </a:t>
            </a:r>
            <a:r>
              <a:rPr b="0" i="0" lang="en" sz="1400" u="none" cap="none" strike="noStrike">
                <a:solidFill>
                  <a:srgbClr val="000000"/>
                </a:solidFill>
                <a:latin typeface="Roboto"/>
                <a:ea typeface="Roboto"/>
                <a:cs typeface="Roboto"/>
                <a:sym typeface="Roboto"/>
              </a:rPr>
              <a:t>and identifying the objects/entities to be used in a database</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9"/>
          <p:cNvSpPr txBox="1"/>
          <p:nvPr>
            <p:ph type="title"/>
          </p:nvPr>
        </p:nvSpPr>
        <p:spPr>
          <a:xfrm>
            <a:off x="457200" y="185575"/>
            <a:ext cx="8229600" cy="49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Roboto"/>
                <a:ea typeface="Roboto"/>
                <a:cs typeface="Roboto"/>
                <a:sym typeface="Roboto"/>
              </a:rPr>
              <a:t>Data Modeling Process</a:t>
            </a:r>
            <a:endParaRPr>
              <a:latin typeface="Roboto"/>
              <a:ea typeface="Roboto"/>
              <a:cs typeface="Roboto"/>
              <a:sym typeface="Roboto"/>
            </a:endParaRPr>
          </a:p>
        </p:txBody>
      </p:sp>
      <p:sp>
        <p:nvSpPr>
          <p:cNvPr id="243" name="Google Shape;243;p9"/>
          <p:cNvSpPr/>
          <p:nvPr/>
        </p:nvSpPr>
        <p:spPr>
          <a:xfrm flipH="1">
            <a:off x="7653363" y="3772363"/>
            <a:ext cx="25" cy="14775"/>
          </a:xfrm>
          <a:custGeom>
            <a:rect b="b" l="l" r="r" t="t"/>
            <a:pathLst>
              <a:path extrusionOk="0" h="591" w="1">
                <a:moveTo>
                  <a:pt x="1" y="1"/>
                </a:moveTo>
                <a:lnTo>
                  <a:pt x="1" y="254"/>
                </a:lnTo>
                <a:lnTo>
                  <a:pt x="1" y="590"/>
                </a:lnTo>
                <a:close/>
              </a:path>
            </a:pathLst>
          </a:custGeom>
          <a:solidFill>
            <a:srgbClr val="DCDC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9"/>
          <p:cNvSpPr/>
          <p:nvPr/>
        </p:nvSpPr>
        <p:spPr>
          <a:xfrm>
            <a:off x="1471562" y="2896063"/>
            <a:ext cx="25" cy="14775"/>
          </a:xfrm>
          <a:custGeom>
            <a:rect b="b" l="l" r="r" t="t"/>
            <a:pathLst>
              <a:path extrusionOk="0" h="591" w="1">
                <a:moveTo>
                  <a:pt x="1" y="1"/>
                </a:moveTo>
                <a:lnTo>
                  <a:pt x="1" y="254"/>
                </a:lnTo>
                <a:lnTo>
                  <a:pt x="1" y="590"/>
                </a:lnTo>
                <a:close/>
              </a:path>
            </a:pathLst>
          </a:custGeom>
          <a:solidFill>
            <a:srgbClr val="DCDC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9"/>
          <p:cNvSpPr/>
          <p:nvPr/>
        </p:nvSpPr>
        <p:spPr>
          <a:xfrm flipH="1">
            <a:off x="7662888" y="1991188"/>
            <a:ext cx="25" cy="14775"/>
          </a:xfrm>
          <a:custGeom>
            <a:rect b="b" l="l" r="r" t="t"/>
            <a:pathLst>
              <a:path extrusionOk="0" h="591" w="1">
                <a:moveTo>
                  <a:pt x="1" y="1"/>
                </a:moveTo>
                <a:lnTo>
                  <a:pt x="1" y="254"/>
                </a:lnTo>
                <a:lnTo>
                  <a:pt x="1" y="590"/>
                </a:lnTo>
                <a:close/>
              </a:path>
            </a:pathLst>
          </a:custGeom>
          <a:solidFill>
            <a:srgbClr val="DCDC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9"/>
          <p:cNvSpPr/>
          <p:nvPr/>
        </p:nvSpPr>
        <p:spPr>
          <a:xfrm>
            <a:off x="1471562" y="1086313"/>
            <a:ext cx="25" cy="14775"/>
          </a:xfrm>
          <a:custGeom>
            <a:rect b="b" l="l" r="r" t="t"/>
            <a:pathLst>
              <a:path extrusionOk="0" h="591" w="1">
                <a:moveTo>
                  <a:pt x="1" y="1"/>
                </a:moveTo>
                <a:lnTo>
                  <a:pt x="1" y="254"/>
                </a:lnTo>
                <a:lnTo>
                  <a:pt x="1" y="590"/>
                </a:lnTo>
                <a:close/>
              </a:path>
            </a:pathLst>
          </a:custGeom>
          <a:solidFill>
            <a:srgbClr val="DCDC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7" name="Google Shape;247;p9"/>
          <p:cNvGrpSpPr/>
          <p:nvPr/>
        </p:nvGrpSpPr>
        <p:grpSpPr>
          <a:xfrm>
            <a:off x="457200" y="2841850"/>
            <a:ext cx="4421962" cy="854475"/>
            <a:chOff x="457200" y="2854375"/>
            <a:chExt cx="4421962" cy="854475"/>
          </a:xfrm>
        </p:grpSpPr>
        <p:grpSp>
          <p:nvGrpSpPr>
            <p:cNvPr id="248" name="Google Shape;248;p9"/>
            <p:cNvGrpSpPr/>
            <p:nvPr/>
          </p:nvGrpSpPr>
          <p:grpSpPr>
            <a:xfrm>
              <a:off x="2154975" y="2854375"/>
              <a:ext cx="2638500" cy="651600"/>
              <a:chOff x="2154975" y="2854375"/>
              <a:chExt cx="2638500" cy="651600"/>
            </a:xfrm>
          </p:grpSpPr>
          <p:sp>
            <p:nvSpPr>
              <p:cNvPr id="249" name="Google Shape;249;p9"/>
              <p:cNvSpPr/>
              <p:nvPr/>
            </p:nvSpPr>
            <p:spPr>
              <a:xfrm>
                <a:off x="2154975" y="2854375"/>
                <a:ext cx="2638500" cy="651600"/>
              </a:xfrm>
              <a:prstGeom prst="roundRect">
                <a:avLst>
                  <a:gd fmla="val 50000" name="adj"/>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9"/>
              <p:cNvSpPr txBox="1"/>
              <p:nvPr/>
            </p:nvSpPr>
            <p:spPr>
              <a:xfrm>
                <a:off x="2240375" y="2914850"/>
                <a:ext cx="2016600" cy="5583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Fira Sans"/>
                    <a:ea typeface="Fira Sans"/>
                    <a:cs typeface="Fira Sans"/>
                    <a:sym typeface="Fira Sans"/>
                  </a:rPr>
                  <a:t>Describes the internal schemas, tables, columns, keys &amp; relationships</a:t>
                </a:r>
                <a:endParaRPr b="0" i="0" sz="1200" u="none" cap="none" strike="noStrike">
                  <a:solidFill>
                    <a:srgbClr val="000000"/>
                  </a:solidFill>
                  <a:latin typeface="Fira Sans"/>
                  <a:ea typeface="Fira Sans"/>
                  <a:cs typeface="Fira Sans"/>
                  <a:sym typeface="Fira Sans"/>
                </a:endParaRPr>
              </a:p>
            </p:txBody>
          </p:sp>
        </p:grpSp>
        <p:grpSp>
          <p:nvGrpSpPr>
            <p:cNvPr id="251" name="Google Shape;251;p9"/>
            <p:cNvGrpSpPr/>
            <p:nvPr/>
          </p:nvGrpSpPr>
          <p:grpSpPr>
            <a:xfrm>
              <a:off x="457200" y="2953400"/>
              <a:ext cx="1697700" cy="481200"/>
              <a:chOff x="457200" y="2953400"/>
              <a:chExt cx="1697700" cy="481200"/>
            </a:xfrm>
          </p:grpSpPr>
          <p:grpSp>
            <p:nvGrpSpPr>
              <p:cNvPr id="252" name="Google Shape;252;p9"/>
              <p:cNvGrpSpPr/>
              <p:nvPr/>
            </p:nvGrpSpPr>
            <p:grpSpPr>
              <a:xfrm>
                <a:off x="457200" y="2953400"/>
                <a:ext cx="1536000" cy="481200"/>
                <a:chOff x="457200" y="2953400"/>
                <a:chExt cx="1536000" cy="481200"/>
              </a:xfrm>
            </p:grpSpPr>
            <p:sp>
              <p:nvSpPr>
                <p:cNvPr id="253" name="Google Shape;253;p9"/>
                <p:cNvSpPr/>
                <p:nvPr/>
              </p:nvSpPr>
              <p:spPr>
                <a:xfrm>
                  <a:off x="457200" y="2953400"/>
                  <a:ext cx="1536000" cy="481200"/>
                </a:xfrm>
                <a:prstGeom prst="roundRect">
                  <a:avLst>
                    <a:gd fmla="val 50000" name="adj"/>
                  </a:avLst>
                </a:prstGeom>
                <a:solidFill>
                  <a:srgbClr val="B33F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9"/>
                <p:cNvSpPr txBox="1"/>
                <p:nvPr/>
              </p:nvSpPr>
              <p:spPr>
                <a:xfrm>
                  <a:off x="721413" y="3070175"/>
                  <a:ext cx="10098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700" u="none" cap="none" strike="noStrike">
                      <a:solidFill>
                        <a:srgbClr val="FFFFFF"/>
                      </a:solidFill>
                      <a:latin typeface="Fira Sans Extra Condensed Medium"/>
                      <a:ea typeface="Fira Sans Extra Condensed Medium"/>
                      <a:cs typeface="Fira Sans Extra Condensed Medium"/>
                      <a:sym typeface="Fira Sans Extra Condensed Medium"/>
                    </a:rPr>
                    <a:t>Physical</a:t>
                  </a:r>
                  <a:endParaRPr b="0" i="0" sz="17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cxnSp>
            <p:nvCxnSpPr>
              <p:cNvPr id="255" name="Google Shape;255;p9"/>
              <p:cNvCxnSpPr>
                <a:stCxn id="253" idx="3"/>
                <a:endCxn id="249" idx="1"/>
              </p:cNvCxnSpPr>
              <p:nvPr/>
            </p:nvCxnSpPr>
            <p:spPr>
              <a:xfrm flipH="1" rot="10800000">
                <a:off x="1993200" y="3180200"/>
                <a:ext cx="161700" cy="13800"/>
              </a:xfrm>
              <a:prstGeom prst="straightConnector1">
                <a:avLst/>
              </a:prstGeom>
              <a:noFill/>
              <a:ln cap="flat" cmpd="sng" w="9525">
                <a:solidFill>
                  <a:srgbClr val="B33F62"/>
                </a:solidFill>
                <a:prstDash val="solid"/>
                <a:round/>
                <a:headEnd len="sm" w="sm" type="none"/>
                <a:tailEnd len="sm" w="sm" type="none"/>
              </a:ln>
            </p:spPr>
          </p:cxnSp>
        </p:grpSp>
        <p:grpSp>
          <p:nvGrpSpPr>
            <p:cNvPr id="256" name="Google Shape;256;p9"/>
            <p:cNvGrpSpPr/>
            <p:nvPr/>
          </p:nvGrpSpPr>
          <p:grpSpPr>
            <a:xfrm>
              <a:off x="4285262" y="2854375"/>
              <a:ext cx="593900" cy="854475"/>
              <a:chOff x="4285262" y="2854375"/>
              <a:chExt cx="593900" cy="854475"/>
            </a:xfrm>
          </p:grpSpPr>
          <p:sp>
            <p:nvSpPr>
              <p:cNvPr id="257" name="Google Shape;257;p9"/>
              <p:cNvSpPr/>
              <p:nvPr/>
            </p:nvSpPr>
            <p:spPr>
              <a:xfrm>
                <a:off x="4285262" y="2924125"/>
                <a:ext cx="521750" cy="524150"/>
              </a:xfrm>
              <a:custGeom>
                <a:rect b="b" l="l" r="r" t="t"/>
                <a:pathLst>
                  <a:path extrusionOk="0" h="20966" w="20870">
                    <a:moveTo>
                      <a:pt x="10447" y="1"/>
                    </a:moveTo>
                    <a:cubicBezTo>
                      <a:pt x="4675" y="1"/>
                      <a:pt x="0" y="4652"/>
                      <a:pt x="0" y="10424"/>
                    </a:cubicBezTo>
                    <a:cubicBezTo>
                      <a:pt x="0" y="16291"/>
                      <a:pt x="4675" y="20966"/>
                      <a:pt x="10447" y="20966"/>
                    </a:cubicBezTo>
                    <a:cubicBezTo>
                      <a:pt x="16219" y="20966"/>
                      <a:pt x="20869" y="16291"/>
                      <a:pt x="20869" y="10424"/>
                    </a:cubicBezTo>
                    <a:cubicBezTo>
                      <a:pt x="20869" y="4652"/>
                      <a:pt x="16219" y="1"/>
                      <a:pt x="10447" y="1"/>
                    </a:cubicBezTo>
                    <a:close/>
                  </a:path>
                </a:pathLst>
              </a:custGeom>
              <a:solidFill>
                <a:srgbClr val="FCAA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p:nvPr/>
            </p:nvSpPr>
            <p:spPr>
              <a:xfrm>
                <a:off x="4541662" y="2854375"/>
                <a:ext cx="337500" cy="819875"/>
              </a:xfrm>
              <a:custGeom>
                <a:rect b="b" l="l" r="r" t="t"/>
                <a:pathLst>
                  <a:path extrusionOk="0" h="32795" w="13500">
                    <a:moveTo>
                      <a:pt x="191" y="0"/>
                    </a:moveTo>
                    <a:lnTo>
                      <a:pt x="191" y="406"/>
                    </a:lnTo>
                    <a:cubicBezTo>
                      <a:pt x="3768" y="406"/>
                      <a:pt x="6941" y="1789"/>
                      <a:pt x="9326" y="4174"/>
                    </a:cubicBezTo>
                    <a:cubicBezTo>
                      <a:pt x="11615" y="6464"/>
                      <a:pt x="13118" y="9731"/>
                      <a:pt x="13118" y="13214"/>
                    </a:cubicBezTo>
                    <a:cubicBezTo>
                      <a:pt x="13118" y="16791"/>
                      <a:pt x="11615" y="20083"/>
                      <a:pt x="9326" y="22348"/>
                    </a:cubicBezTo>
                    <a:cubicBezTo>
                      <a:pt x="6941" y="24733"/>
                      <a:pt x="3768" y="26141"/>
                      <a:pt x="191" y="26141"/>
                    </a:cubicBezTo>
                    <a:lnTo>
                      <a:pt x="0" y="26141"/>
                    </a:lnTo>
                    <a:lnTo>
                      <a:pt x="0" y="32795"/>
                    </a:lnTo>
                    <a:lnTo>
                      <a:pt x="382" y="32795"/>
                    </a:lnTo>
                    <a:lnTo>
                      <a:pt x="382" y="26521"/>
                    </a:lnTo>
                    <a:lnTo>
                      <a:pt x="382" y="26521"/>
                    </a:lnTo>
                    <a:cubicBezTo>
                      <a:pt x="7640" y="26419"/>
                      <a:pt x="13499" y="20496"/>
                      <a:pt x="13499" y="13214"/>
                    </a:cubicBezTo>
                    <a:cubicBezTo>
                      <a:pt x="13499" y="5963"/>
                      <a:pt x="7537" y="0"/>
                      <a:pt x="191" y="0"/>
                    </a:cubicBezTo>
                    <a:close/>
                  </a:path>
                </a:pathLst>
              </a:custGeom>
              <a:solidFill>
                <a:srgbClr val="B33F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9"/>
              <p:cNvSpPr/>
              <p:nvPr/>
            </p:nvSpPr>
            <p:spPr>
              <a:xfrm>
                <a:off x="4342487" y="2983775"/>
                <a:ext cx="407875" cy="404875"/>
              </a:xfrm>
              <a:custGeom>
                <a:rect b="b" l="l" r="r" t="t"/>
                <a:pathLst>
                  <a:path extrusionOk="0" h="16195" w="16315">
                    <a:moveTo>
                      <a:pt x="8158" y="0"/>
                    </a:moveTo>
                    <a:cubicBezTo>
                      <a:pt x="3674" y="0"/>
                      <a:pt x="1" y="3578"/>
                      <a:pt x="1" y="8038"/>
                    </a:cubicBezTo>
                    <a:cubicBezTo>
                      <a:pt x="1" y="12617"/>
                      <a:pt x="3674" y="16194"/>
                      <a:pt x="8158" y="16194"/>
                    </a:cubicBezTo>
                    <a:cubicBezTo>
                      <a:pt x="12618" y="16194"/>
                      <a:pt x="16315" y="12617"/>
                      <a:pt x="16315" y="8038"/>
                    </a:cubicBezTo>
                    <a:cubicBezTo>
                      <a:pt x="16315" y="3578"/>
                      <a:pt x="12618" y="0"/>
                      <a:pt x="8158" y="0"/>
                    </a:cubicBezTo>
                    <a:close/>
                  </a:path>
                </a:pathLst>
              </a:custGeom>
              <a:solidFill>
                <a:srgbClr val="B33F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p:nvPr/>
            </p:nvSpPr>
            <p:spPr>
              <a:xfrm>
                <a:off x="4518987" y="3656950"/>
                <a:ext cx="54875" cy="51900"/>
              </a:xfrm>
              <a:custGeom>
                <a:rect b="b" l="l" r="r" t="t"/>
                <a:pathLst>
                  <a:path extrusionOk="0" h="2076" w="2195">
                    <a:moveTo>
                      <a:pt x="1098" y="0"/>
                    </a:moveTo>
                    <a:cubicBezTo>
                      <a:pt x="502" y="0"/>
                      <a:pt x="1" y="501"/>
                      <a:pt x="1" y="1097"/>
                    </a:cubicBezTo>
                    <a:cubicBezTo>
                      <a:pt x="1" y="1694"/>
                      <a:pt x="502" y="2075"/>
                      <a:pt x="1098" y="2075"/>
                    </a:cubicBezTo>
                    <a:cubicBezTo>
                      <a:pt x="1694" y="2075"/>
                      <a:pt x="2195" y="1694"/>
                      <a:pt x="2195" y="1097"/>
                    </a:cubicBezTo>
                    <a:cubicBezTo>
                      <a:pt x="2195" y="501"/>
                      <a:pt x="1694" y="0"/>
                      <a:pt x="1098" y="0"/>
                    </a:cubicBezTo>
                    <a:close/>
                  </a:path>
                </a:pathLst>
              </a:custGeom>
              <a:solidFill>
                <a:srgbClr val="B33F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9"/>
              <p:cNvSpPr/>
              <p:nvPr/>
            </p:nvSpPr>
            <p:spPr>
              <a:xfrm>
                <a:off x="4449237" y="3187100"/>
                <a:ext cx="218850" cy="69775"/>
              </a:xfrm>
              <a:custGeom>
                <a:rect b="b" l="l" r="r" t="t"/>
                <a:pathLst>
                  <a:path extrusionOk="0" h="2791" w="8754">
                    <a:moveTo>
                      <a:pt x="2791" y="310"/>
                    </a:moveTo>
                    <a:cubicBezTo>
                      <a:pt x="2982" y="501"/>
                      <a:pt x="3101" y="692"/>
                      <a:pt x="3196" y="906"/>
                    </a:cubicBezTo>
                    <a:cubicBezTo>
                      <a:pt x="2982" y="1097"/>
                      <a:pt x="2791" y="1407"/>
                      <a:pt x="2695" y="1884"/>
                    </a:cubicBezTo>
                    <a:lnTo>
                      <a:pt x="310" y="1884"/>
                    </a:lnTo>
                    <a:cubicBezTo>
                      <a:pt x="406" y="1002"/>
                      <a:pt x="811" y="501"/>
                      <a:pt x="907" y="310"/>
                    </a:cubicBezTo>
                    <a:cubicBezTo>
                      <a:pt x="1213" y="543"/>
                      <a:pt x="1524" y="623"/>
                      <a:pt x="1806" y="623"/>
                    </a:cubicBezTo>
                    <a:cubicBezTo>
                      <a:pt x="2246" y="623"/>
                      <a:pt x="2616" y="426"/>
                      <a:pt x="2791" y="310"/>
                    </a:cubicBezTo>
                    <a:close/>
                    <a:moveTo>
                      <a:pt x="7871" y="310"/>
                    </a:moveTo>
                    <a:cubicBezTo>
                      <a:pt x="8348" y="811"/>
                      <a:pt x="8348" y="1598"/>
                      <a:pt x="8467" y="1884"/>
                    </a:cubicBezTo>
                    <a:lnTo>
                      <a:pt x="6082" y="1884"/>
                    </a:lnTo>
                    <a:cubicBezTo>
                      <a:pt x="5963" y="1598"/>
                      <a:pt x="5867" y="1193"/>
                      <a:pt x="5677" y="906"/>
                    </a:cubicBezTo>
                    <a:cubicBezTo>
                      <a:pt x="5772" y="596"/>
                      <a:pt x="5867" y="405"/>
                      <a:pt x="5963" y="310"/>
                    </a:cubicBezTo>
                    <a:cubicBezTo>
                      <a:pt x="6279" y="543"/>
                      <a:pt x="6592" y="623"/>
                      <a:pt x="6874" y="623"/>
                    </a:cubicBezTo>
                    <a:cubicBezTo>
                      <a:pt x="7315" y="623"/>
                      <a:pt x="7682" y="426"/>
                      <a:pt x="7871" y="310"/>
                    </a:cubicBezTo>
                    <a:close/>
                    <a:moveTo>
                      <a:pt x="5367" y="1002"/>
                    </a:moveTo>
                    <a:cubicBezTo>
                      <a:pt x="5772" y="1503"/>
                      <a:pt x="5867" y="2194"/>
                      <a:pt x="5867" y="2480"/>
                    </a:cubicBezTo>
                    <a:lnTo>
                      <a:pt x="2886" y="2480"/>
                    </a:lnTo>
                    <a:cubicBezTo>
                      <a:pt x="2886" y="1693"/>
                      <a:pt x="3292" y="1193"/>
                      <a:pt x="3482" y="1002"/>
                    </a:cubicBezTo>
                    <a:cubicBezTo>
                      <a:pt x="3799" y="1234"/>
                      <a:pt x="4111" y="1314"/>
                      <a:pt x="4392" y="1314"/>
                    </a:cubicBezTo>
                    <a:cubicBezTo>
                      <a:pt x="4831" y="1314"/>
                      <a:pt x="5192" y="1118"/>
                      <a:pt x="5367" y="1002"/>
                    </a:cubicBezTo>
                    <a:close/>
                    <a:moveTo>
                      <a:pt x="811" y="0"/>
                    </a:moveTo>
                    <a:cubicBezTo>
                      <a:pt x="811" y="95"/>
                      <a:pt x="119" y="692"/>
                      <a:pt x="0" y="2003"/>
                    </a:cubicBezTo>
                    <a:cubicBezTo>
                      <a:pt x="0" y="2099"/>
                      <a:pt x="119" y="2099"/>
                      <a:pt x="119" y="2099"/>
                    </a:cubicBezTo>
                    <a:lnTo>
                      <a:pt x="215" y="2194"/>
                    </a:lnTo>
                    <a:lnTo>
                      <a:pt x="2600" y="2194"/>
                    </a:lnTo>
                    <a:lnTo>
                      <a:pt x="2600" y="2695"/>
                    </a:lnTo>
                    <a:lnTo>
                      <a:pt x="2600" y="2791"/>
                    </a:lnTo>
                    <a:lnTo>
                      <a:pt x="6082" y="2791"/>
                    </a:lnTo>
                    <a:cubicBezTo>
                      <a:pt x="6082" y="2791"/>
                      <a:pt x="6177" y="2791"/>
                      <a:pt x="6177" y="2695"/>
                    </a:cubicBezTo>
                    <a:lnTo>
                      <a:pt x="6177" y="2194"/>
                    </a:lnTo>
                    <a:lnTo>
                      <a:pt x="8563" y="2194"/>
                    </a:lnTo>
                    <a:cubicBezTo>
                      <a:pt x="8658" y="2194"/>
                      <a:pt x="8753" y="2099"/>
                      <a:pt x="8753" y="2003"/>
                    </a:cubicBezTo>
                    <a:cubicBezTo>
                      <a:pt x="8753" y="2003"/>
                      <a:pt x="8753" y="692"/>
                      <a:pt x="7966" y="0"/>
                    </a:cubicBezTo>
                    <a:lnTo>
                      <a:pt x="7752" y="0"/>
                    </a:lnTo>
                    <a:cubicBezTo>
                      <a:pt x="7752" y="0"/>
                      <a:pt x="7359" y="307"/>
                      <a:pt x="6865" y="307"/>
                    </a:cubicBezTo>
                    <a:cubicBezTo>
                      <a:pt x="6617" y="307"/>
                      <a:pt x="6344" y="231"/>
                      <a:pt x="6082" y="0"/>
                    </a:cubicBezTo>
                    <a:lnTo>
                      <a:pt x="5867" y="0"/>
                    </a:lnTo>
                    <a:cubicBezTo>
                      <a:pt x="5867" y="0"/>
                      <a:pt x="5677" y="310"/>
                      <a:pt x="5367" y="692"/>
                    </a:cubicBezTo>
                    <a:lnTo>
                      <a:pt x="5271" y="692"/>
                    </a:lnTo>
                    <a:cubicBezTo>
                      <a:pt x="5208" y="692"/>
                      <a:pt x="4837" y="1010"/>
                      <a:pt x="4356" y="1010"/>
                    </a:cubicBezTo>
                    <a:cubicBezTo>
                      <a:pt x="4116" y="1010"/>
                      <a:pt x="3848" y="930"/>
                      <a:pt x="3578" y="692"/>
                    </a:cubicBezTo>
                    <a:lnTo>
                      <a:pt x="3387" y="692"/>
                    </a:lnTo>
                    <a:cubicBezTo>
                      <a:pt x="3292" y="405"/>
                      <a:pt x="3196" y="215"/>
                      <a:pt x="2982" y="0"/>
                    </a:cubicBezTo>
                    <a:lnTo>
                      <a:pt x="2791" y="0"/>
                    </a:lnTo>
                    <a:cubicBezTo>
                      <a:pt x="2727" y="0"/>
                      <a:pt x="2356" y="307"/>
                      <a:pt x="1847" y="307"/>
                    </a:cubicBezTo>
                    <a:cubicBezTo>
                      <a:pt x="1593" y="307"/>
                      <a:pt x="1304" y="231"/>
                      <a:pt x="100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p:nvPr/>
            </p:nvSpPr>
            <p:spPr>
              <a:xfrm>
                <a:off x="4459362" y="3112550"/>
                <a:ext cx="198575" cy="89475"/>
              </a:xfrm>
              <a:custGeom>
                <a:rect b="b" l="l" r="r" t="t"/>
                <a:pathLst>
                  <a:path extrusionOk="0" h="3579" w="7943">
                    <a:moveTo>
                      <a:pt x="1503" y="311"/>
                    </a:moveTo>
                    <a:cubicBezTo>
                      <a:pt x="2100" y="311"/>
                      <a:pt x="2577" y="907"/>
                      <a:pt x="2577" y="1503"/>
                    </a:cubicBezTo>
                    <a:cubicBezTo>
                      <a:pt x="2577" y="1789"/>
                      <a:pt x="2481" y="2100"/>
                      <a:pt x="2290" y="2290"/>
                    </a:cubicBezTo>
                    <a:cubicBezTo>
                      <a:pt x="1980" y="2481"/>
                      <a:pt x="1789" y="2600"/>
                      <a:pt x="1503" y="2600"/>
                    </a:cubicBezTo>
                    <a:cubicBezTo>
                      <a:pt x="788" y="2600"/>
                      <a:pt x="311" y="2100"/>
                      <a:pt x="311" y="1503"/>
                    </a:cubicBezTo>
                    <a:cubicBezTo>
                      <a:pt x="311" y="1193"/>
                      <a:pt x="502" y="907"/>
                      <a:pt x="692" y="692"/>
                    </a:cubicBezTo>
                    <a:cubicBezTo>
                      <a:pt x="907" y="502"/>
                      <a:pt x="1193" y="311"/>
                      <a:pt x="1503" y="311"/>
                    </a:cubicBezTo>
                    <a:close/>
                    <a:moveTo>
                      <a:pt x="6464" y="311"/>
                    </a:moveTo>
                    <a:cubicBezTo>
                      <a:pt x="7156" y="311"/>
                      <a:pt x="7657" y="907"/>
                      <a:pt x="7657" y="1503"/>
                    </a:cubicBezTo>
                    <a:cubicBezTo>
                      <a:pt x="7657" y="1789"/>
                      <a:pt x="7561" y="2100"/>
                      <a:pt x="7251" y="2290"/>
                    </a:cubicBezTo>
                    <a:cubicBezTo>
                      <a:pt x="7060" y="2481"/>
                      <a:pt x="6750" y="2600"/>
                      <a:pt x="6464" y="2600"/>
                    </a:cubicBezTo>
                    <a:cubicBezTo>
                      <a:pt x="5868" y="2600"/>
                      <a:pt x="5367" y="2100"/>
                      <a:pt x="5367" y="1503"/>
                    </a:cubicBezTo>
                    <a:cubicBezTo>
                      <a:pt x="5367" y="1193"/>
                      <a:pt x="5462" y="907"/>
                      <a:pt x="5677" y="692"/>
                    </a:cubicBezTo>
                    <a:cubicBezTo>
                      <a:pt x="5963" y="502"/>
                      <a:pt x="6154" y="311"/>
                      <a:pt x="6464" y="311"/>
                    </a:cubicBezTo>
                    <a:close/>
                    <a:moveTo>
                      <a:pt x="3984" y="1002"/>
                    </a:moveTo>
                    <a:cubicBezTo>
                      <a:pt x="4580" y="1002"/>
                      <a:pt x="5081" y="1503"/>
                      <a:pt x="5081" y="2195"/>
                    </a:cubicBezTo>
                    <a:cubicBezTo>
                      <a:pt x="5081" y="2481"/>
                      <a:pt x="4962" y="2696"/>
                      <a:pt x="4771" y="2887"/>
                    </a:cubicBezTo>
                    <a:cubicBezTo>
                      <a:pt x="4580" y="3197"/>
                      <a:pt x="4270" y="3292"/>
                      <a:pt x="3984" y="3292"/>
                    </a:cubicBezTo>
                    <a:cubicBezTo>
                      <a:pt x="3387" y="3292"/>
                      <a:pt x="2887" y="2791"/>
                      <a:pt x="2887" y="2195"/>
                    </a:cubicBezTo>
                    <a:cubicBezTo>
                      <a:pt x="2887" y="1885"/>
                      <a:pt x="2982" y="1599"/>
                      <a:pt x="3173" y="1408"/>
                    </a:cubicBezTo>
                    <a:cubicBezTo>
                      <a:pt x="3387" y="1098"/>
                      <a:pt x="3674" y="1002"/>
                      <a:pt x="3984" y="1002"/>
                    </a:cubicBezTo>
                    <a:close/>
                    <a:moveTo>
                      <a:pt x="1503" y="1"/>
                    </a:moveTo>
                    <a:cubicBezTo>
                      <a:pt x="1098" y="1"/>
                      <a:pt x="692" y="215"/>
                      <a:pt x="502" y="502"/>
                    </a:cubicBezTo>
                    <a:cubicBezTo>
                      <a:pt x="191" y="692"/>
                      <a:pt x="1" y="1098"/>
                      <a:pt x="1" y="1503"/>
                    </a:cubicBezTo>
                    <a:cubicBezTo>
                      <a:pt x="1" y="2290"/>
                      <a:pt x="692" y="2887"/>
                      <a:pt x="1503" y="2887"/>
                    </a:cubicBezTo>
                    <a:cubicBezTo>
                      <a:pt x="1789" y="2887"/>
                      <a:pt x="2195" y="2791"/>
                      <a:pt x="2481" y="2481"/>
                    </a:cubicBezTo>
                    <a:cubicBezTo>
                      <a:pt x="2481" y="2481"/>
                      <a:pt x="2481" y="2386"/>
                      <a:pt x="2577" y="2386"/>
                    </a:cubicBezTo>
                    <a:cubicBezTo>
                      <a:pt x="2696" y="3077"/>
                      <a:pt x="3292" y="3578"/>
                      <a:pt x="3984" y="3578"/>
                    </a:cubicBezTo>
                    <a:cubicBezTo>
                      <a:pt x="4365" y="3578"/>
                      <a:pt x="4675" y="3387"/>
                      <a:pt x="4962" y="3197"/>
                    </a:cubicBezTo>
                    <a:cubicBezTo>
                      <a:pt x="5176" y="2887"/>
                      <a:pt x="5367" y="2600"/>
                      <a:pt x="5367" y="2290"/>
                    </a:cubicBezTo>
                    <a:cubicBezTo>
                      <a:pt x="5677" y="2696"/>
                      <a:pt x="6059" y="2887"/>
                      <a:pt x="6464" y="2887"/>
                    </a:cubicBezTo>
                    <a:cubicBezTo>
                      <a:pt x="6870" y="2887"/>
                      <a:pt x="7251" y="2791"/>
                      <a:pt x="7561" y="2481"/>
                    </a:cubicBezTo>
                    <a:cubicBezTo>
                      <a:pt x="7752" y="2195"/>
                      <a:pt x="7943" y="1885"/>
                      <a:pt x="7943" y="1503"/>
                    </a:cubicBezTo>
                    <a:cubicBezTo>
                      <a:pt x="7943" y="692"/>
                      <a:pt x="7251" y="1"/>
                      <a:pt x="6464" y="1"/>
                    </a:cubicBezTo>
                    <a:cubicBezTo>
                      <a:pt x="6154" y="1"/>
                      <a:pt x="5772" y="215"/>
                      <a:pt x="5462" y="502"/>
                    </a:cubicBezTo>
                    <a:cubicBezTo>
                      <a:pt x="5272" y="692"/>
                      <a:pt x="5176" y="1002"/>
                      <a:pt x="5081" y="1289"/>
                    </a:cubicBezTo>
                    <a:cubicBezTo>
                      <a:pt x="4866" y="907"/>
                      <a:pt x="4485" y="692"/>
                      <a:pt x="3984" y="692"/>
                    </a:cubicBezTo>
                    <a:cubicBezTo>
                      <a:pt x="3578" y="692"/>
                      <a:pt x="3292" y="907"/>
                      <a:pt x="2982" y="1098"/>
                    </a:cubicBezTo>
                    <a:cubicBezTo>
                      <a:pt x="2887" y="1193"/>
                      <a:pt x="2887" y="1193"/>
                      <a:pt x="2887" y="1289"/>
                    </a:cubicBezTo>
                    <a:cubicBezTo>
                      <a:pt x="2791" y="597"/>
                      <a:pt x="2195" y="1"/>
                      <a:pt x="1503"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3" name="Google Shape;263;p9"/>
          <p:cNvGrpSpPr/>
          <p:nvPr/>
        </p:nvGrpSpPr>
        <p:grpSpPr>
          <a:xfrm>
            <a:off x="4245912" y="1947450"/>
            <a:ext cx="4626638" cy="854475"/>
            <a:chOff x="4245912" y="1955200"/>
            <a:chExt cx="4626638" cy="854475"/>
          </a:xfrm>
        </p:grpSpPr>
        <p:grpSp>
          <p:nvGrpSpPr>
            <p:cNvPr id="264" name="Google Shape;264;p9"/>
            <p:cNvGrpSpPr/>
            <p:nvPr/>
          </p:nvGrpSpPr>
          <p:grpSpPr>
            <a:xfrm>
              <a:off x="4341000" y="1955200"/>
              <a:ext cx="2784900" cy="656400"/>
              <a:chOff x="4341000" y="1955200"/>
              <a:chExt cx="2784900" cy="656400"/>
            </a:xfrm>
          </p:grpSpPr>
          <p:sp>
            <p:nvSpPr>
              <p:cNvPr id="265" name="Google Shape;265;p9"/>
              <p:cNvSpPr/>
              <p:nvPr/>
            </p:nvSpPr>
            <p:spPr>
              <a:xfrm flipH="1">
                <a:off x="4341000" y="1955200"/>
                <a:ext cx="2784900" cy="656400"/>
              </a:xfrm>
              <a:prstGeom prst="roundRect">
                <a:avLst>
                  <a:gd fmla="val 50000" name="adj"/>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9"/>
              <p:cNvSpPr txBox="1"/>
              <p:nvPr/>
            </p:nvSpPr>
            <p:spPr>
              <a:xfrm flipH="1">
                <a:off x="4801225" y="2001700"/>
                <a:ext cx="2277900" cy="5634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Fira Sans"/>
                    <a:ea typeface="Fira Sans"/>
                    <a:cs typeface="Fira Sans"/>
                    <a:sym typeface="Fira Sans"/>
                  </a:rPr>
                  <a:t>More detailed r/p and includes info for each object</a:t>
                </a:r>
                <a:endParaRPr b="0" i="0" sz="1200" u="none" cap="none" strike="noStrike">
                  <a:solidFill>
                    <a:srgbClr val="000000"/>
                  </a:solidFill>
                  <a:latin typeface="Fira Sans"/>
                  <a:ea typeface="Fira Sans"/>
                  <a:cs typeface="Fira Sans"/>
                  <a:sym typeface="Fira Sans"/>
                </a:endParaRPr>
              </a:p>
            </p:txBody>
          </p:sp>
        </p:grpSp>
        <p:grpSp>
          <p:nvGrpSpPr>
            <p:cNvPr id="267" name="Google Shape;267;p9"/>
            <p:cNvGrpSpPr/>
            <p:nvPr/>
          </p:nvGrpSpPr>
          <p:grpSpPr>
            <a:xfrm>
              <a:off x="7125950" y="2048525"/>
              <a:ext cx="1746600" cy="481200"/>
              <a:chOff x="7125950" y="2048525"/>
              <a:chExt cx="1746600" cy="481200"/>
            </a:xfrm>
          </p:grpSpPr>
          <p:grpSp>
            <p:nvGrpSpPr>
              <p:cNvPr id="268" name="Google Shape;268;p9"/>
              <p:cNvGrpSpPr/>
              <p:nvPr/>
            </p:nvGrpSpPr>
            <p:grpSpPr>
              <a:xfrm>
                <a:off x="7260650" y="2048525"/>
                <a:ext cx="1611900" cy="481200"/>
                <a:chOff x="7260650" y="2048525"/>
                <a:chExt cx="1611900" cy="481200"/>
              </a:xfrm>
            </p:grpSpPr>
            <p:sp>
              <p:nvSpPr>
                <p:cNvPr id="269" name="Google Shape;269;p9"/>
                <p:cNvSpPr/>
                <p:nvPr/>
              </p:nvSpPr>
              <p:spPr>
                <a:xfrm flipH="1">
                  <a:off x="7260650" y="2048525"/>
                  <a:ext cx="1611900" cy="481200"/>
                </a:xfrm>
                <a:prstGeom prst="roundRect">
                  <a:avLst>
                    <a:gd fmla="val 50000" name="adj"/>
                  </a:avLst>
                </a:prstGeom>
                <a:solidFill>
                  <a:srgbClr val="7B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9"/>
                <p:cNvSpPr txBox="1"/>
                <p:nvPr/>
              </p:nvSpPr>
              <p:spPr>
                <a:xfrm flipH="1">
                  <a:off x="7561712" y="2174825"/>
                  <a:ext cx="10098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700" u="none" cap="none" strike="noStrike">
                      <a:solidFill>
                        <a:srgbClr val="FFFFFF"/>
                      </a:solidFill>
                      <a:latin typeface="Fira Sans Extra Condensed Medium"/>
                      <a:ea typeface="Fira Sans Extra Condensed Medium"/>
                      <a:cs typeface="Fira Sans Extra Condensed Medium"/>
                      <a:sym typeface="Fira Sans Extra Condensed Medium"/>
                    </a:rPr>
                    <a:t>Logical</a:t>
                  </a:r>
                  <a:endParaRPr b="0" i="0" sz="17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cxnSp>
            <p:nvCxnSpPr>
              <p:cNvPr id="271" name="Google Shape;271;p9"/>
              <p:cNvCxnSpPr>
                <a:stCxn id="269" idx="3"/>
                <a:endCxn id="265" idx="1"/>
              </p:cNvCxnSpPr>
              <p:nvPr/>
            </p:nvCxnSpPr>
            <p:spPr>
              <a:xfrm rot="10800000">
                <a:off x="7125950" y="2283425"/>
                <a:ext cx="134700" cy="5700"/>
              </a:xfrm>
              <a:prstGeom prst="straightConnector1">
                <a:avLst/>
              </a:prstGeom>
              <a:noFill/>
              <a:ln cap="flat" cmpd="sng" w="9525">
                <a:solidFill>
                  <a:srgbClr val="7B1E7A"/>
                </a:solidFill>
                <a:prstDash val="solid"/>
                <a:round/>
                <a:headEnd len="sm" w="sm" type="none"/>
                <a:tailEnd len="sm" w="sm" type="none"/>
              </a:ln>
            </p:spPr>
          </p:cxnSp>
        </p:grpSp>
        <p:grpSp>
          <p:nvGrpSpPr>
            <p:cNvPr id="272" name="Google Shape;272;p9"/>
            <p:cNvGrpSpPr/>
            <p:nvPr/>
          </p:nvGrpSpPr>
          <p:grpSpPr>
            <a:xfrm>
              <a:off x="4245912" y="1955200"/>
              <a:ext cx="596275" cy="854475"/>
              <a:chOff x="4245912" y="1955200"/>
              <a:chExt cx="596275" cy="854475"/>
            </a:xfrm>
          </p:grpSpPr>
          <p:sp>
            <p:nvSpPr>
              <p:cNvPr id="273" name="Google Shape;273;p9"/>
              <p:cNvSpPr/>
              <p:nvPr/>
            </p:nvSpPr>
            <p:spPr>
              <a:xfrm>
                <a:off x="4318062" y="2024375"/>
                <a:ext cx="524125" cy="524150"/>
              </a:xfrm>
              <a:custGeom>
                <a:rect b="b" l="l" r="r" t="t"/>
                <a:pathLst>
                  <a:path extrusionOk="0" h="20966" w="20965">
                    <a:moveTo>
                      <a:pt x="10423" y="1"/>
                    </a:moveTo>
                    <a:cubicBezTo>
                      <a:pt x="4651" y="1"/>
                      <a:pt x="0" y="4675"/>
                      <a:pt x="0" y="10447"/>
                    </a:cubicBezTo>
                    <a:cubicBezTo>
                      <a:pt x="0" y="16314"/>
                      <a:pt x="4651" y="20965"/>
                      <a:pt x="10423" y="20965"/>
                    </a:cubicBezTo>
                    <a:cubicBezTo>
                      <a:pt x="16195" y="20965"/>
                      <a:pt x="20965" y="16314"/>
                      <a:pt x="20965" y="10447"/>
                    </a:cubicBezTo>
                    <a:cubicBezTo>
                      <a:pt x="20965" y="4675"/>
                      <a:pt x="16195" y="1"/>
                      <a:pt x="10423" y="1"/>
                    </a:cubicBezTo>
                    <a:close/>
                  </a:path>
                </a:pathLst>
              </a:custGeom>
              <a:solidFill>
                <a:srgbClr val="F196A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9"/>
              <p:cNvSpPr/>
              <p:nvPr/>
            </p:nvSpPr>
            <p:spPr>
              <a:xfrm>
                <a:off x="4245912" y="1955200"/>
                <a:ext cx="337500" cy="819900"/>
              </a:xfrm>
              <a:custGeom>
                <a:rect b="b" l="l" r="r" t="t"/>
                <a:pathLst>
                  <a:path extrusionOk="0" h="32796" w="13500">
                    <a:moveTo>
                      <a:pt x="13309" y="1"/>
                    </a:moveTo>
                    <a:cubicBezTo>
                      <a:pt x="5963" y="1"/>
                      <a:pt x="0" y="5964"/>
                      <a:pt x="0" y="13214"/>
                    </a:cubicBezTo>
                    <a:cubicBezTo>
                      <a:pt x="0" y="20496"/>
                      <a:pt x="5860" y="26419"/>
                      <a:pt x="13118" y="26521"/>
                    </a:cubicBezTo>
                    <a:lnTo>
                      <a:pt x="13118" y="26521"/>
                    </a:lnTo>
                    <a:lnTo>
                      <a:pt x="13118" y="32795"/>
                    </a:lnTo>
                    <a:lnTo>
                      <a:pt x="13500" y="32795"/>
                    </a:lnTo>
                    <a:lnTo>
                      <a:pt x="13500" y="26117"/>
                    </a:lnTo>
                    <a:lnTo>
                      <a:pt x="13309" y="26117"/>
                    </a:lnTo>
                    <a:cubicBezTo>
                      <a:pt x="9731" y="26117"/>
                      <a:pt x="6559" y="24734"/>
                      <a:pt x="4174" y="22349"/>
                    </a:cubicBezTo>
                    <a:cubicBezTo>
                      <a:pt x="1884" y="20059"/>
                      <a:pt x="382" y="16792"/>
                      <a:pt x="382" y="13214"/>
                    </a:cubicBezTo>
                    <a:cubicBezTo>
                      <a:pt x="382" y="9732"/>
                      <a:pt x="1884" y="6441"/>
                      <a:pt x="4174" y="4175"/>
                    </a:cubicBezTo>
                    <a:cubicBezTo>
                      <a:pt x="6559" y="1790"/>
                      <a:pt x="9731" y="383"/>
                      <a:pt x="13309" y="383"/>
                    </a:cubicBezTo>
                    <a:lnTo>
                      <a:pt x="13309" y="1"/>
                    </a:lnTo>
                    <a:close/>
                  </a:path>
                </a:pathLst>
              </a:custGeom>
              <a:solidFill>
                <a:srgbClr val="7B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9"/>
              <p:cNvSpPr/>
              <p:nvPr/>
            </p:nvSpPr>
            <p:spPr>
              <a:xfrm>
                <a:off x="4374687" y="2084000"/>
                <a:ext cx="407875" cy="404900"/>
              </a:xfrm>
              <a:custGeom>
                <a:rect b="b" l="l" r="r" t="t"/>
                <a:pathLst>
                  <a:path extrusionOk="0" h="16196" w="16315">
                    <a:moveTo>
                      <a:pt x="8158" y="1"/>
                    </a:moveTo>
                    <a:cubicBezTo>
                      <a:pt x="3698" y="1"/>
                      <a:pt x="1" y="3578"/>
                      <a:pt x="1" y="8062"/>
                    </a:cubicBezTo>
                    <a:cubicBezTo>
                      <a:pt x="1" y="12618"/>
                      <a:pt x="3698" y="16195"/>
                      <a:pt x="8158" y="16195"/>
                    </a:cubicBezTo>
                    <a:cubicBezTo>
                      <a:pt x="12642" y="16195"/>
                      <a:pt x="16315" y="12618"/>
                      <a:pt x="16315" y="8062"/>
                    </a:cubicBezTo>
                    <a:cubicBezTo>
                      <a:pt x="16315" y="3578"/>
                      <a:pt x="12642" y="1"/>
                      <a:pt x="8158" y="1"/>
                    </a:cubicBezTo>
                    <a:close/>
                  </a:path>
                </a:pathLst>
              </a:custGeom>
              <a:solidFill>
                <a:srgbClr val="7B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9"/>
              <p:cNvSpPr/>
              <p:nvPr/>
            </p:nvSpPr>
            <p:spPr>
              <a:xfrm>
                <a:off x="4551187" y="2757175"/>
                <a:ext cx="54875" cy="52500"/>
              </a:xfrm>
              <a:custGeom>
                <a:rect b="b" l="l" r="r" t="t"/>
                <a:pathLst>
                  <a:path extrusionOk="0" h="2100" w="2195">
                    <a:moveTo>
                      <a:pt x="1098" y="1"/>
                    </a:moveTo>
                    <a:cubicBezTo>
                      <a:pt x="501" y="1"/>
                      <a:pt x="1" y="502"/>
                      <a:pt x="1" y="1098"/>
                    </a:cubicBezTo>
                    <a:cubicBezTo>
                      <a:pt x="1" y="1694"/>
                      <a:pt x="501" y="2100"/>
                      <a:pt x="1098" y="2100"/>
                    </a:cubicBezTo>
                    <a:cubicBezTo>
                      <a:pt x="1694" y="2100"/>
                      <a:pt x="2195" y="1694"/>
                      <a:pt x="2195" y="1098"/>
                    </a:cubicBezTo>
                    <a:cubicBezTo>
                      <a:pt x="2195" y="502"/>
                      <a:pt x="1694" y="1"/>
                      <a:pt x="1098" y="1"/>
                    </a:cubicBezTo>
                    <a:close/>
                  </a:path>
                </a:pathLst>
              </a:custGeom>
              <a:solidFill>
                <a:srgbClr val="7B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9"/>
              <p:cNvSpPr/>
              <p:nvPr/>
            </p:nvSpPr>
            <p:spPr>
              <a:xfrm>
                <a:off x="4506462" y="2216425"/>
                <a:ext cx="159225" cy="138300"/>
              </a:xfrm>
              <a:custGeom>
                <a:rect b="b" l="l" r="r" t="t"/>
                <a:pathLst>
                  <a:path extrusionOk="0" h="5532" w="6369">
                    <a:moveTo>
                      <a:pt x="4883" y="357"/>
                    </a:moveTo>
                    <a:cubicBezTo>
                      <a:pt x="4984" y="357"/>
                      <a:pt x="5083" y="365"/>
                      <a:pt x="5176" y="380"/>
                    </a:cubicBezTo>
                    <a:cubicBezTo>
                      <a:pt x="5773" y="571"/>
                      <a:pt x="6059" y="976"/>
                      <a:pt x="6059" y="1573"/>
                    </a:cubicBezTo>
                    <a:cubicBezTo>
                      <a:pt x="6059" y="2264"/>
                      <a:pt x="5582" y="3051"/>
                      <a:pt x="4580" y="4053"/>
                    </a:cubicBezTo>
                    <a:cubicBezTo>
                      <a:pt x="3984" y="4649"/>
                      <a:pt x="3388" y="5055"/>
                      <a:pt x="3197" y="5246"/>
                    </a:cubicBezTo>
                    <a:cubicBezTo>
                      <a:pt x="2982" y="5055"/>
                      <a:pt x="2386" y="4649"/>
                      <a:pt x="1790" y="4053"/>
                    </a:cubicBezTo>
                    <a:cubicBezTo>
                      <a:pt x="812" y="3051"/>
                      <a:pt x="311" y="2264"/>
                      <a:pt x="311" y="1573"/>
                    </a:cubicBezTo>
                    <a:cubicBezTo>
                      <a:pt x="311" y="976"/>
                      <a:pt x="693" y="571"/>
                      <a:pt x="1193" y="380"/>
                    </a:cubicBezTo>
                    <a:lnTo>
                      <a:pt x="1599" y="380"/>
                    </a:lnTo>
                    <a:cubicBezTo>
                      <a:pt x="2100" y="380"/>
                      <a:pt x="2696" y="571"/>
                      <a:pt x="3078" y="1167"/>
                    </a:cubicBezTo>
                    <a:cubicBezTo>
                      <a:pt x="3078" y="1263"/>
                      <a:pt x="3197" y="1263"/>
                      <a:pt x="3197" y="1263"/>
                    </a:cubicBezTo>
                    <a:cubicBezTo>
                      <a:pt x="3292" y="1263"/>
                      <a:pt x="3292" y="1263"/>
                      <a:pt x="3388" y="1167"/>
                    </a:cubicBezTo>
                    <a:cubicBezTo>
                      <a:pt x="3729" y="584"/>
                      <a:pt x="4342" y="357"/>
                      <a:pt x="4883" y="357"/>
                    </a:cubicBezTo>
                    <a:close/>
                    <a:moveTo>
                      <a:pt x="1668" y="0"/>
                    </a:moveTo>
                    <a:cubicBezTo>
                      <a:pt x="1499" y="0"/>
                      <a:pt x="1337" y="24"/>
                      <a:pt x="1193" y="70"/>
                    </a:cubicBezTo>
                    <a:cubicBezTo>
                      <a:pt x="406" y="285"/>
                      <a:pt x="1" y="881"/>
                      <a:pt x="1" y="1573"/>
                    </a:cubicBezTo>
                    <a:cubicBezTo>
                      <a:pt x="1" y="3361"/>
                      <a:pt x="2982" y="5436"/>
                      <a:pt x="3078" y="5532"/>
                    </a:cubicBezTo>
                    <a:lnTo>
                      <a:pt x="3292" y="5532"/>
                    </a:lnTo>
                    <a:cubicBezTo>
                      <a:pt x="3388" y="5436"/>
                      <a:pt x="6369" y="3361"/>
                      <a:pt x="6369" y="1573"/>
                    </a:cubicBezTo>
                    <a:cubicBezTo>
                      <a:pt x="6369" y="881"/>
                      <a:pt x="5963" y="285"/>
                      <a:pt x="5272" y="70"/>
                    </a:cubicBezTo>
                    <a:cubicBezTo>
                      <a:pt x="5105" y="24"/>
                      <a:pt x="4926" y="0"/>
                      <a:pt x="4743" y="0"/>
                    </a:cubicBezTo>
                    <a:cubicBezTo>
                      <a:pt x="4168" y="0"/>
                      <a:pt x="3559" y="237"/>
                      <a:pt x="3197" y="762"/>
                    </a:cubicBezTo>
                    <a:cubicBezTo>
                      <a:pt x="2817" y="237"/>
                      <a:pt x="2203" y="0"/>
                      <a:pt x="166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8" name="Google Shape;278;p9"/>
          <p:cNvGrpSpPr/>
          <p:nvPr/>
        </p:nvGrpSpPr>
        <p:grpSpPr>
          <a:xfrm>
            <a:off x="457200" y="1050675"/>
            <a:ext cx="4421962" cy="856850"/>
            <a:chOff x="457200" y="1050675"/>
            <a:chExt cx="4421962" cy="856850"/>
          </a:xfrm>
        </p:grpSpPr>
        <p:grpSp>
          <p:nvGrpSpPr>
            <p:cNvPr id="279" name="Google Shape;279;p9"/>
            <p:cNvGrpSpPr/>
            <p:nvPr/>
          </p:nvGrpSpPr>
          <p:grpSpPr>
            <a:xfrm>
              <a:off x="2154975" y="1050675"/>
              <a:ext cx="2638500" cy="653100"/>
              <a:chOff x="2154975" y="1050675"/>
              <a:chExt cx="2638500" cy="653100"/>
            </a:xfrm>
          </p:grpSpPr>
          <p:sp>
            <p:nvSpPr>
              <p:cNvPr id="280" name="Google Shape;280;p9"/>
              <p:cNvSpPr/>
              <p:nvPr/>
            </p:nvSpPr>
            <p:spPr>
              <a:xfrm>
                <a:off x="2154975" y="1050675"/>
                <a:ext cx="2638500" cy="653100"/>
              </a:xfrm>
              <a:prstGeom prst="roundRect">
                <a:avLst>
                  <a:gd fmla="val 50000" name="adj"/>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9"/>
              <p:cNvSpPr txBox="1"/>
              <p:nvPr/>
            </p:nvSpPr>
            <p:spPr>
              <a:xfrm>
                <a:off x="2308450" y="1086325"/>
                <a:ext cx="1976700" cy="5922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Fira Sans"/>
                    <a:ea typeface="Fira Sans"/>
                    <a:cs typeface="Fira Sans"/>
                    <a:sym typeface="Fira Sans"/>
                  </a:rPr>
                  <a:t>High level model showing the r/p b/n objects</a:t>
                </a:r>
                <a:endParaRPr b="0" i="0" sz="1700" u="none" cap="none" strike="noStrike">
                  <a:solidFill>
                    <a:srgbClr val="FF33B7"/>
                  </a:solidFill>
                  <a:latin typeface="Fira Sans Medium"/>
                  <a:ea typeface="Fira Sans Medium"/>
                  <a:cs typeface="Fira Sans Medium"/>
                  <a:sym typeface="Fira Sans Medium"/>
                </a:endParaRPr>
              </a:p>
            </p:txBody>
          </p:sp>
        </p:grpSp>
        <p:grpSp>
          <p:nvGrpSpPr>
            <p:cNvPr id="282" name="Google Shape;282;p9"/>
            <p:cNvGrpSpPr/>
            <p:nvPr/>
          </p:nvGrpSpPr>
          <p:grpSpPr>
            <a:xfrm>
              <a:off x="4285262" y="1050675"/>
              <a:ext cx="593900" cy="856850"/>
              <a:chOff x="4285262" y="1050675"/>
              <a:chExt cx="593900" cy="856850"/>
            </a:xfrm>
          </p:grpSpPr>
          <p:sp>
            <p:nvSpPr>
              <p:cNvPr id="283" name="Google Shape;283;p9"/>
              <p:cNvSpPr/>
              <p:nvPr/>
            </p:nvSpPr>
            <p:spPr>
              <a:xfrm>
                <a:off x="4285262" y="1120450"/>
                <a:ext cx="521750" cy="524125"/>
              </a:xfrm>
              <a:custGeom>
                <a:rect b="b" l="l" r="r" t="t"/>
                <a:pathLst>
                  <a:path extrusionOk="0" h="20965" w="20870">
                    <a:moveTo>
                      <a:pt x="10447" y="0"/>
                    </a:moveTo>
                    <a:cubicBezTo>
                      <a:pt x="4675" y="0"/>
                      <a:pt x="0" y="4770"/>
                      <a:pt x="0" y="10518"/>
                    </a:cubicBezTo>
                    <a:cubicBezTo>
                      <a:pt x="0" y="16290"/>
                      <a:pt x="4675" y="20965"/>
                      <a:pt x="10447" y="20965"/>
                    </a:cubicBezTo>
                    <a:cubicBezTo>
                      <a:pt x="16219" y="20965"/>
                      <a:pt x="20869" y="16290"/>
                      <a:pt x="20869" y="10518"/>
                    </a:cubicBezTo>
                    <a:cubicBezTo>
                      <a:pt x="20869" y="4770"/>
                      <a:pt x="16219" y="0"/>
                      <a:pt x="10447" y="0"/>
                    </a:cubicBezTo>
                    <a:close/>
                  </a:path>
                </a:pathLst>
              </a:custGeom>
              <a:solidFill>
                <a:srgbClr val="997D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9"/>
              <p:cNvSpPr/>
              <p:nvPr/>
            </p:nvSpPr>
            <p:spPr>
              <a:xfrm>
                <a:off x="4541662" y="1050675"/>
                <a:ext cx="337500" cy="822275"/>
              </a:xfrm>
              <a:custGeom>
                <a:rect b="b" l="l" r="r" t="t"/>
                <a:pathLst>
                  <a:path extrusionOk="0" h="32891" w="13500">
                    <a:moveTo>
                      <a:pt x="191" y="1"/>
                    </a:moveTo>
                    <a:lnTo>
                      <a:pt x="191" y="406"/>
                    </a:lnTo>
                    <a:cubicBezTo>
                      <a:pt x="3768" y="406"/>
                      <a:pt x="6941" y="1790"/>
                      <a:pt x="9326" y="4175"/>
                    </a:cubicBezTo>
                    <a:cubicBezTo>
                      <a:pt x="11615" y="6464"/>
                      <a:pt x="13118" y="9732"/>
                      <a:pt x="13118" y="13309"/>
                    </a:cubicBezTo>
                    <a:cubicBezTo>
                      <a:pt x="13118" y="16887"/>
                      <a:pt x="11615" y="20083"/>
                      <a:pt x="9326" y="22468"/>
                    </a:cubicBezTo>
                    <a:cubicBezTo>
                      <a:pt x="6941" y="24734"/>
                      <a:pt x="3768" y="26236"/>
                      <a:pt x="191" y="26236"/>
                    </a:cubicBezTo>
                    <a:lnTo>
                      <a:pt x="0" y="26236"/>
                    </a:lnTo>
                    <a:lnTo>
                      <a:pt x="0" y="32891"/>
                    </a:lnTo>
                    <a:lnTo>
                      <a:pt x="382" y="32891"/>
                    </a:lnTo>
                    <a:lnTo>
                      <a:pt x="382" y="26640"/>
                    </a:lnTo>
                    <a:lnTo>
                      <a:pt x="382" y="26640"/>
                    </a:lnTo>
                    <a:cubicBezTo>
                      <a:pt x="7640" y="26538"/>
                      <a:pt x="13499" y="20615"/>
                      <a:pt x="13499" y="13309"/>
                    </a:cubicBezTo>
                    <a:cubicBezTo>
                      <a:pt x="13499" y="5963"/>
                      <a:pt x="7537" y="1"/>
                      <a:pt x="191" y="1"/>
                    </a:cubicBezTo>
                    <a:close/>
                  </a:path>
                </a:pathLst>
              </a:custGeom>
              <a:solidFill>
                <a:srgbClr val="451E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9"/>
              <p:cNvSpPr/>
              <p:nvPr/>
            </p:nvSpPr>
            <p:spPr>
              <a:xfrm>
                <a:off x="4342487" y="1180075"/>
                <a:ext cx="407875" cy="407275"/>
              </a:xfrm>
              <a:custGeom>
                <a:rect b="b" l="l" r="r" t="t"/>
                <a:pathLst>
                  <a:path extrusionOk="0" h="16291" w="16315">
                    <a:moveTo>
                      <a:pt x="8158" y="0"/>
                    </a:moveTo>
                    <a:cubicBezTo>
                      <a:pt x="3674" y="0"/>
                      <a:pt x="1" y="3673"/>
                      <a:pt x="1" y="8133"/>
                    </a:cubicBezTo>
                    <a:cubicBezTo>
                      <a:pt x="1" y="12617"/>
                      <a:pt x="3674" y="16290"/>
                      <a:pt x="8158" y="16290"/>
                    </a:cubicBezTo>
                    <a:cubicBezTo>
                      <a:pt x="12618" y="16290"/>
                      <a:pt x="16315" y="12617"/>
                      <a:pt x="16315" y="8133"/>
                    </a:cubicBezTo>
                    <a:cubicBezTo>
                      <a:pt x="16315" y="3673"/>
                      <a:pt x="12618" y="0"/>
                      <a:pt x="8158" y="0"/>
                    </a:cubicBezTo>
                    <a:close/>
                  </a:path>
                </a:pathLst>
              </a:custGeom>
              <a:solidFill>
                <a:srgbClr val="451E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9"/>
              <p:cNvSpPr/>
              <p:nvPr/>
            </p:nvSpPr>
            <p:spPr>
              <a:xfrm>
                <a:off x="4518987" y="1853250"/>
                <a:ext cx="54875" cy="54275"/>
              </a:xfrm>
              <a:custGeom>
                <a:rect b="b" l="l" r="r" t="t"/>
                <a:pathLst>
                  <a:path extrusionOk="0" h="2171" w="2195">
                    <a:moveTo>
                      <a:pt x="1098" y="1"/>
                    </a:moveTo>
                    <a:cubicBezTo>
                      <a:pt x="502" y="1"/>
                      <a:pt x="1" y="501"/>
                      <a:pt x="1" y="1098"/>
                    </a:cubicBezTo>
                    <a:cubicBezTo>
                      <a:pt x="1" y="1694"/>
                      <a:pt x="502" y="2171"/>
                      <a:pt x="1098" y="2171"/>
                    </a:cubicBezTo>
                    <a:cubicBezTo>
                      <a:pt x="1694" y="2171"/>
                      <a:pt x="2195" y="1694"/>
                      <a:pt x="2195" y="1098"/>
                    </a:cubicBezTo>
                    <a:cubicBezTo>
                      <a:pt x="2195" y="501"/>
                      <a:pt x="1694" y="1"/>
                      <a:pt x="1098" y="1"/>
                    </a:cubicBezTo>
                    <a:close/>
                  </a:path>
                </a:pathLst>
              </a:custGeom>
              <a:solidFill>
                <a:srgbClr val="451E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9"/>
              <p:cNvSpPr/>
              <p:nvPr/>
            </p:nvSpPr>
            <p:spPr>
              <a:xfrm>
                <a:off x="4434312" y="1272425"/>
                <a:ext cx="196800" cy="185525"/>
              </a:xfrm>
              <a:custGeom>
                <a:rect b="b" l="l" r="r" t="t"/>
                <a:pathLst>
                  <a:path extrusionOk="0" h="7421" w="7872">
                    <a:moveTo>
                      <a:pt x="7029" y="288"/>
                    </a:moveTo>
                    <a:cubicBezTo>
                      <a:pt x="7284" y="288"/>
                      <a:pt x="7530" y="527"/>
                      <a:pt x="7466" y="862"/>
                    </a:cubicBezTo>
                    <a:cubicBezTo>
                      <a:pt x="7275" y="766"/>
                      <a:pt x="6965" y="576"/>
                      <a:pt x="6679" y="480"/>
                    </a:cubicBezTo>
                    <a:cubicBezTo>
                      <a:pt x="6774" y="346"/>
                      <a:pt x="6902" y="288"/>
                      <a:pt x="7029" y="288"/>
                    </a:cubicBezTo>
                    <a:close/>
                    <a:moveTo>
                      <a:pt x="6464" y="766"/>
                    </a:moveTo>
                    <a:cubicBezTo>
                      <a:pt x="6870" y="862"/>
                      <a:pt x="7156" y="957"/>
                      <a:pt x="7466" y="1077"/>
                    </a:cubicBezTo>
                    <a:cubicBezTo>
                      <a:pt x="6870" y="2555"/>
                      <a:pt x="6274" y="3939"/>
                      <a:pt x="5677" y="5346"/>
                    </a:cubicBezTo>
                    <a:cubicBezTo>
                      <a:pt x="5582" y="5441"/>
                      <a:pt x="5582" y="5632"/>
                      <a:pt x="5487" y="5727"/>
                    </a:cubicBezTo>
                    <a:lnTo>
                      <a:pt x="4580" y="5441"/>
                    </a:lnTo>
                    <a:cubicBezTo>
                      <a:pt x="5176" y="4058"/>
                      <a:pt x="5773" y="2651"/>
                      <a:pt x="6274" y="1267"/>
                    </a:cubicBezTo>
                    <a:cubicBezTo>
                      <a:pt x="6369" y="1077"/>
                      <a:pt x="6464" y="862"/>
                      <a:pt x="6464" y="766"/>
                    </a:cubicBezTo>
                    <a:close/>
                    <a:moveTo>
                      <a:pt x="4580" y="5727"/>
                    </a:moveTo>
                    <a:cubicBezTo>
                      <a:pt x="4771" y="5847"/>
                      <a:pt x="4986" y="5942"/>
                      <a:pt x="5272" y="6037"/>
                    </a:cubicBezTo>
                    <a:cubicBezTo>
                      <a:pt x="5081" y="6133"/>
                      <a:pt x="4986" y="6324"/>
                      <a:pt x="4890" y="6443"/>
                    </a:cubicBezTo>
                    <a:cubicBezTo>
                      <a:pt x="4771" y="6443"/>
                      <a:pt x="4676" y="6324"/>
                      <a:pt x="4580" y="6324"/>
                    </a:cubicBezTo>
                    <a:lnTo>
                      <a:pt x="4580" y="5727"/>
                    </a:lnTo>
                    <a:close/>
                    <a:moveTo>
                      <a:pt x="7035" y="0"/>
                    </a:moveTo>
                    <a:cubicBezTo>
                      <a:pt x="6721" y="0"/>
                      <a:pt x="6414" y="182"/>
                      <a:pt x="6274" y="480"/>
                    </a:cubicBezTo>
                    <a:cubicBezTo>
                      <a:pt x="5677" y="1959"/>
                      <a:pt x="5081" y="3342"/>
                      <a:pt x="4485" y="4845"/>
                    </a:cubicBezTo>
                    <a:cubicBezTo>
                      <a:pt x="4485" y="5036"/>
                      <a:pt x="4389" y="5250"/>
                      <a:pt x="4294" y="5441"/>
                    </a:cubicBezTo>
                    <a:lnTo>
                      <a:pt x="4294" y="5537"/>
                    </a:lnTo>
                    <a:lnTo>
                      <a:pt x="4294" y="5942"/>
                    </a:lnTo>
                    <a:lnTo>
                      <a:pt x="4294" y="6037"/>
                    </a:lnTo>
                    <a:lnTo>
                      <a:pt x="4294" y="7039"/>
                    </a:lnTo>
                    <a:lnTo>
                      <a:pt x="216" y="7039"/>
                    </a:lnTo>
                    <a:cubicBezTo>
                      <a:pt x="1" y="7039"/>
                      <a:pt x="1" y="7421"/>
                      <a:pt x="216" y="7421"/>
                    </a:cubicBezTo>
                    <a:lnTo>
                      <a:pt x="7466" y="7421"/>
                    </a:lnTo>
                    <a:cubicBezTo>
                      <a:pt x="7657" y="7421"/>
                      <a:pt x="7657" y="7039"/>
                      <a:pt x="7466" y="7039"/>
                    </a:cubicBezTo>
                    <a:lnTo>
                      <a:pt x="4676" y="7039"/>
                    </a:lnTo>
                    <a:lnTo>
                      <a:pt x="5582" y="6133"/>
                    </a:lnTo>
                    <a:lnTo>
                      <a:pt x="5677" y="6037"/>
                    </a:lnTo>
                    <a:cubicBezTo>
                      <a:pt x="6274" y="4535"/>
                      <a:pt x="6870" y="3151"/>
                      <a:pt x="7466" y="1673"/>
                    </a:cubicBezTo>
                    <a:cubicBezTo>
                      <a:pt x="7562" y="1458"/>
                      <a:pt x="7657" y="1267"/>
                      <a:pt x="7752" y="1077"/>
                    </a:cubicBezTo>
                    <a:cubicBezTo>
                      <a:pt x="7872" y="671"/>
                      <a:pt x="7752" y="266"/>
                      <a:pt x="7371" y="75"/>
                    </a:cubicBezTo>
                    <a:cubicBezTo>
                      <a:pt x="7263" y="24"/>
                      <a:pt x="7149" y="0"/>
                      <a:pt x="70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8" name="Google Shape;288;p9"/>
            <p:cNvGrpSpPr/>
            <p:nvPr/>
          </p:nvGrpSpPr>
          <p:grpSpPr>
            <a:xfrm>
              <a:off x="457200" y="1143650"/>
              <a:ext cx="1697700" cy="481200"/>
              <a:chOff x="457200" y="1143650"/>
              <a:chExt cx="1697700" cy="481200"/>
            </a:xfrm>
          </p:grpSpPr>
          <p:grpSp>
            <p:nvGrpSpPr>
              <p:cNvPr id="289" name="Google Shape;289;p9"/>
              <p:cNvGrpSpPr/>
              <p:nvPr/>
            </p:nvGrpSpPr>
            <p:grpSpPr>
              <a:xfrm>
                <a:off x="457200" y="1143650"/>
                <a:ext cx="1587600" cy="481200"/>
                <a:chOff x="457200" y="1143650"/>
                <a:chExt cx="1587600" cy="481200"/>
              </a:xfrm>
            </p:grpSpPr>
            <p:sp>
              <p:nvSpPr>
                <p:cNvPr id="290" name="Google Shape;290;p9"/>
                <p:cNvSpPr/>
                <p:nvPr/>
              </p:nvSpPr>
              <p:spPr>
                <a:xfrm>
                  <a:off x="457200" y="1143650"/>
                  <a:ext cx="1587600" cy="481200"/>
                </a:xfrm>
                <a:prstGeom prst="roundRect">
                  <a:avLst>
                    <a:gd fmla="val 50000" name="adj"/>
                  </a:avLst>
                </a:prstGeom>
                <a:solidFill>
                  <a:srgbClr val="451E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9"/>
                <p:cNvSpPr txBox="1"/>
                <p:nvPr/>
              </p:nvSpPr>
              <p:spPr>
                <a:xfrm>
                  <a:off x="721427" y="1260425"/>
                  <a:ext cx="11697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700" u="none" cap="none" strike="noStrike">
                      <a:solidFill>
                        <a:srgbClr val="FFFFFF"/>
                      </a:solidFill>
                      <a:latin typeface="Fira Sans Extra Condensed Medium"/>
                      <a:ea typeface="Fira Sans Extra Condensed Medium"/>
                      <a:cs typeface="Fira Sans Extra Condensed Medium"/>
                      <a:sym typeface="Fira Sans Extra Condensed Medium"/>
                    </a:rPr>
                    <a:t>Conceptual</a:t>
                  </a:r>
                  <a:endParaRPr b="0" i="0" sz="17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cxnSp>
            <p:nvCxnSpPr>
              <p:cNvPr id="292" name="Google Shape;292;p9"/>
              <p:cNvCxnSpPr>
                <a:stCxn id="290" idx="3"/>
                <a:endCxn id="280" idx="1"/>
              </p:cNvCxnSpPr>
              <p:nvPr/>
            </p:nvCxnSpPr>
            <p:spPr>
              <a:xfrm flipH="1" rot="10800000">
                <a:off x="2044800" y="1377350"/>
                <a:ext cx="110100" cy="6900"/>
              </a:xfrm>
              <a:prstGeom prst="straightConnector1">
                <a:avLst/>
              </a:prstGeom>
              <a:noFill/>
              <a:ln cap="flat" cmpd="sng" w="9525">
                <a:solidFill>
                  <a:srgbClr val="451E7B"/>
                </a:solidFill>
                <a:prstDash val="solid"/>
                <a:round/>
                <a:headEnd len="sm" w="sm" type="none"/>
                <a:tailEnd len="sm" w="sm" type="none"/>
              </a:ln>
            </p:spPr>
          </p:cxnSp>
        </p:grpSp>
      </p:grpSp>
      <p:sp>
        <p:nvSpPr>
          <p:cNvPr id="293" name="Google Shape;293;p9"/>
          <p:cNvSpPr/>
          <p:nvPr/>
        </p:nvSpPr>
        <p:spPr>
          <a:xfrm flipH="1">
            <a:off x="4564835" y="3711350"/>
            <a:ext cx="364365" cy="854508"/>
          </a:xfrm>
          <a:custGeom>
            <a:rect b="b" l="l" r="r" t="t"/>
            <a:pathLst>
              <a:path extrusionOk="0" h="32891" w="13500">
                <a:moveTo>
                  <a:pt x="13309" y="0"/>
                </a:moveTo>
                <a:cubicBezTo>
                  <a:pt x="5963" y="0"/>
                  <a:pt x="0" y="5963"/>
                  <a:pt x="0" y="13309"/>
                </a:cubicBezTo>
                <a:cubicBezTo>
                  <a:pt x="0" y="20615"/>
                  <a:pt x="5860" y="26538"/>
                  <a:pt x="13118" y="26640"/>
                </a:cubicBezTo>
                <a:lnTo>
                  <a:pt x="13118" y="26640"/>
                </a:lnTo>
                <a:lnTo>
                  <a:pt x="13118" y="32890"/>
                </a:lnTo>
                <a:lnTo>
                  <a:pt x="13500" y="32890"/>
                </a:lnTo>
                <a:lnTo>
                  <a:pt x="13500" y="26236"/>
                </a:lnTo>
                <a:lnTo>
                  <a:pt x="13309" y="26236"/>
                </a:lnTo>
                <a:cubicBezTo>
                  <a:pt x="9731" y="26236"/>
                  <a:pt x="6559" y="24757"/>
                  <a:pt x="4174" y="22467"/>
                </a:cubicBezTo>
                <a:cubicBezTo>
                  <a:pt x="1884" y="20082"/>
                  <a:pt x="382" y="16886"/>
                  <a:pt x="382" y="13309"/>
                </a:cubicBezTo>
                <a:cubicBezTo>
                  <a:pt x="382" y="9731"/>
                  <a:pt x="1884" y="6559"/>
                  <a:pt x="4174" y="4174"/>
                </a:cubicBezTo>
                <a:cubicBezTo>
                  <a:pt x="6559" y="1884"/>
                  <a:pt x="9731" y="406"/>
                  <a:pt x="13309" y="406"/>
                </a:cubicBezTo>
                <a:lnTo>
                  <a:pt x="13309" y="0"/>
                </a:lnTo>
                <a:close/>
              </a:path>
            </a:pathLst>
          </a:custGeom>
          <a:solidFill>
            <a:srgbClr val="F95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4" name="Google Shape;294;p9"/>
          <p:cNvGrpSpPr/>
          <p:nvPr/>
        </p:nvGrpSpPr>
        <p:grpSpPr>
          <a:xfrm>
            <a:off x="4050562" y="4581060"/>
            <a:ext cx="1114371" cy="562479"/>
            <a:chOff x="-2571737" y="2403625"/>
            <a:chExt cx="292225" cy="291425"/>
          </a:xfrm>
        </p:grpSpPr>
        <p:sp>
          <p:nvSpPr>
            <p:cNvPr id="295" name="Google Shape;295;p9"/>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9"/>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9"/>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9"/>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9"/>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9"/>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9"/>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 name="Google Shape;302;p9"/>
          <p:cNvGrpSpPr/>
          <p:nvPr/>
        </p:nvGrpSpPr>
        <p:grpSpPr>
          <a:xfrm>
            <a:off x="4245900" y="3704074"/>
            <a:ext cx="596287" cy="901551"/>
            <a:chOff x="4245900" y="3704074"/>
            <a:chExt cx="596287" cy="901551"/>
          </a:xfrm>
        </p:grpSpPr>
        <p:sp>
          <p:nvSpPr>
            <p:cNvPr id="303" name="Google Shape;303;p9"/>
            <p:cNvSpPr/>
            <p:nvPr/>
          </p:nvSpPr>
          <p:spPr>
            <a:xfrm>
              <a:off x="4245900" y="3704074"/>
              <a:ext cx="337500" cy="854508"/>
            </a:xfrm>
            <a:custGeom>
              <a:rect b="b" l="l" r="r" t="t"/>
              <a:pathLst>
                <a:path extrusionOk="0" h="32891" w="13500">
                  <a:moveTo>
                    <a:pt x="13309" y="0"/>
                  </a:moveTo>
                  <a:cubicBezTo>
                    <a:pt x="5963" y="0"/>
                    <a:pt x="0" y="5963"/>
                    <a:pt x="0" y="13309"/>
                  </a:cubicBezTo>
                  <a:cubicBezTo>
                    <a:pt x="0" y="20615"/>
                    <a:pt x="5860" y="26538"/>
                    <a:pt x="13118" y="26640"/>
                  </a:cubicBezTo>
                  <a:lnTo>
                    <a:pt x="13118" y="26640"/>
                  </a:lnTo>
                  <a:lnTo>
                    <a:pt x="13118" y="32890"/>
                  </a:lnTo>
                  <a:lnTo>
                    <a:pt x="13500" y="32890"/>
                  </a:lnTo>
                  <a:lnTo>
                    <a:pt x="13500" y="26236"/>
                  </a:lnTo>
                  <a:lnTo>
                    <a:pt x="13309" y="26236"/>
                  </a:lnTo>
                  <a:cubicBezTo>
                    <a:pt x="9731" y="26236"/>
                    <a:pt x="6559" y="24757"/>
                    <a:pt x="4174" y="22467"/>
                  </a:cubicBezTo>
                  <a:cubicBezTo>
                    <a:pt x="1884" y="20082"/>
                    <a:pt x="382" y="16886"/>
                    <a:pt x="382" y="13309"/>
                  </a:cubicBezTo>
                  <a:cubicBezTo>
                    <a:pt x="382" y="9731"/>
                    <a:pt x="1884" y="6559"/>
                    <a:pt x="4174" y="4174"/>
                  </a:cubicBezTo>
                  <a:cubicBezTo>
                    <a:pt x="6559" y="1884"/>
                    <a:pt x="9731" y="406"/>
                    <a:pt x="13309" y="406"/>
                  </a:cubicBezTo>
                  <a:lnTo>
                    <a:pt x="13309" y="0"/>
                  </a:lnTo>
                  <a:close/>
                </a:path>
              </a:pathLst>
            </a:custGeom>
            <a:solidFill>
              <a:srgbClr val="F95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9"/>
            <p:cNvSpPr/>
            <p:nvPr/>
          </p:nvSpPr>
          <p:spPr>
            <a:xfrm>
              <a:off x="4551187" y="4551325"/>
              <a:ext cx="54875" cy="54300"/>
            </a:xfrm>
            <a:custGeom>
              <a:rect b="b" l="l" r="r" t="t"/>
              <a:pathLst>
                <a:path extrusionOk="0" h="2172" w="2195">
                  <a:moveTo>
                    <a:pt x="1098" y="1"/>
                  </a:moveTo>
                  <a:cubicBezTo>
                    <a:pt x="501" y="1"/>
                    <a:pt x="1" y="502"/>
                    <a:pt x="1" y="1098"/>
                  </a:cubicBezTo>
                  <a:cubicBezTo>
                    <a:pt x="1" y="1694"/>
                    <a:pt x="501" y="2171"/>
                    <a:pt x="1098" y="2171"/>
                  </a:cubicBezTo>
                  <a:cubicBezTo>
                    <a:pt x="1694" y="2171"/>
                    <a:pt x="2195" y="1694"/>
                    <a:pt x="2195" y="1098"/>
                  </a:cubicBezTo>
                  <a:cubicBezTo>
                    <a:pt x="2195" y="502"/>
                    <a:pt x="1694" y="1"/>
                    <a:pt x="1098" y="1"/>
                  </a:cubicBezTo>
                  <a:close/>
                </a:path>
              </a:pathLst>
            </a:custGeom>
            <a:solidFill>
              <a:srgbClr val="F95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9"/>
            <p:cNvSpPr/>
            <p:nvPr/>
          </p:nvSpPr>
          <p:spPr>
            <a:xfrm>
              <a:off x="4318062" y="3808400"/>
              <a:ext cx="524125" cy="521750"/>
            </a:xfrm>
            <a:custGeom>
              <a:rect b="b" l="l" r="r" t="t"/>
              <a:pathLst>
                <a:path extrusionOk="0" h="20870" w="20965">
                  <a:moveTo>
                    <a:pt x="10423" y="0"/>
                  </a:moveTo>
                  <a:cubicBezTo>
                    <a:pt x="4651" y="0"/>
                    <a:pt x="0" y="4675"/>
                    <a:pt x="0" y="10423"/>
                  </a:cubicBezTo>
                  <a:cubicBezTo>
                    <a:pt x="0" y="16195"/>
                    <a:pt x="4651" y="20869"/>
                    <a:pt x="10423" y="20869"/>
                  </a:cubicBezTo>
                  <a:cubicBezTo>
                    <a:pt x="16195" y="20869"/>
                    <a:pt x="20965" y="16195"/>
                    <a:pt x="20965" y="10423"/>
                  </a:cubicBezTo>
                  <a:cubicBezTo>
                    <a:pt x="20965" y="4675"/>
                    <a:pt x="16195" y="0"/>
                    <a:pt x="10423" y="0"/>
                  </a:cubicBezTo>
                  <a:close/>
                </a:path>
              </a:pathLst>
            </a:custGeom>
            <a:solidFill>
              <a:srgbClr val="FCAA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9"/>
            <p:cNvSpPr/>
            <p:nvPr/>
          </p:nvSpPr>
          <p:spPr>
            <a:xfrm>
              <a:off x="4318050" y="3783175"/>
              <a:ext cx="524119" cy="521760"/>
            </a:xfrm>
            <a:custGeom>
              <a:rect b="b" l="l" r="r" t="t"/>
              <a:pathLst>
                <a:path extrusionOk="0" h="16291" w="16315">
                  <a:moveTo>
                    <a:pt x="8158" y="1"/>
                  </a:moveTo>
                  <a:cubicBezTo>
                    <a:pt x="3698" y="1"/>
                    <a:pt x="1" y="3674"/>
                    <a:pt x="1" y="8134"/>
                  </a:cubicBezTo>
                  <a:cubicBezTo>
                    <a:pt x="1" y="12618"/>
                    <a:pt x="3698" y="16291"/>
                    <a:pt x="8158" y="16291"/>
                  </a:cubicBezTo>
                  <a:cubicBezTo>
                    <a:pt x="12642" y="16291"/>
                    <a:pt x="16315" y="12618"/>
                    <a:pt x="16315" y="8134"/>
                  </a:cubicBezTo>
                  <a:cubicBezTo>
                    <a:pt x="16315" y="3674"/>
                    <a:pt x="12642" y="1"/>
                    <a:pt x="8158" y="1"/>
                  </a:cubicBezTo>
                  <a:close/>
                </a:path>
              </a:pathLst>
            </a:custGeom>
            <a:solidFill>
              <a:srgbClr val="F95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9"/>
            <p:cNvSpPr/>
            <p:nvPr/>
          </p:nvSpPr>
          <p:spPr>
            <a:xfrm>
              <a:off x="4463259" y="3952960"/>
              <a:ext cx="207656" cy="207058"/>
            </a:xfrm>
            <a:custGeom>
              <a:rect b="b" l="l" r="r" t="t"/>
              <a:pathLst>
                <a:path extrusionOk="0" h="6465" w="6464">
                  <a:moveTo>
                    <a:pt x="3172" y="311"/>
                  </a:moveTo>
                  <a:cubicBezTo>
                    <a:pt x="4770" y="311"/>
                    <a:pt x="6058" y="1599"/>
                    <a:pt x="6058" y="3173"/>
                  </a:cubicBezTo>
                  <a:cubicBezTo>
                    <a:pt x="6058" y="4771"/>
                    <a:pt x="4770" y="6059"/>
                    <a:pt x="3172" y="6059"/>
                  </a:cubicBezTo>
                  <a:cubicBezTo>
                    <a:pt x="1598" y="6059"/>
                    <a:pt x="310" y="4771"/>
                    <a:pt x="310" y="3173"/>
                  </a:cubicBezTo>
                  <a:cubicBezTo>
                    <a:pt x="310" y="1599"/>
                    <a:pt x="1598" y="311"/>
                    <a:pt x="3172" y="311"/>
                  </a:cubicBezTo>
                  <a:close/>
                  <a:moveTo>
                    <a:pt x="3172" y="1"/>
                  </a:moveTo>
                  <a:cubicBezTo>
                    <a:pt x="1384" y="1"/>
                    <a:pt x="0" y="1384"/>
                    <a:pt x="0" y="3173"/>
                  </a:cubicBezTo>
                  <a:cubicBezTo>
                    <a:pt x="0" y="4962"/>
                    <a:pt x="1384" y="6464"/>
                    <a:pt x="3172" y="6464"/>
                  </a:cubicBezTo>
                  <a:cubicBezTo>
                    <a:pt x="4961" y="6464"/>
                    <a:pt x="6464" y="4962"/>
                    <a:pt x="6464" y="3173"/>
                  </a:cubicBezTo>
                  <a:cubicBezTo>
                    <a:pt x="6464" y="1384"/>
                    <a:pt x="4961" y="1"/>
                    <a:pt x="3172"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9"/>
            <p:cNvSpPr/>
            <p:nvPr/>
          </p:nvSpPr>
          <p:spPr>
            <a:xfrm>
              <a:off x="4545537" y="4009175"/>
              <a:ext cx="76950" cy="103775"/>
            </a:xfrm>
            <a:custGeom>
              <a:rect b="b" l="l" r="r" t="t"/>
              <a:pathLst>
                <a:path extrusionOk="0" h="4151" w="3078">
                  <a:moveTo>
                    <a:pt x="287" y="573"/>
                  </a:moveTo>
                  <a:lnTo>
                    <a:pt x="2576" y="2052"/>
                  </a:lnTo>
                  <a:lnTo>
                    <a:pt x="287" y="3554"/>
                  </a:lnTo>
                  <a:lnTo>
                    <a:pt x="287" y="573"/>
                  </a:lnTo>
                  <a:close/>
                  <a:moveTo>
                    <a:pt x="144" y="1"/>
                  </a:moveTo>
                  <a:cubicBezTo>
                    <a:pt x="120" y="1"/>
                    <a:pt x="96" y="25"/>
                    <a:pt x="96" y="72"/>
                  </a:cubicBezTo>
                  <a:cubicBezTo>
                    <a:pt x="0" y="72"/>
                    <a:pt x="0" y="168"/>
                    <a:pt x="0" y="168"/>
                  </a:cubicBezTo>
                  <a:lnTo>
                    <a:pt x="0" y="3960"/>
                  </a:lnTo>
                  <a:cubicBezTo>
                    <a:pt x="0" y="3960"/>
                    <a:pt x="0" y="4055"/>
                    <a:pt x="96" y="4055"/>
                  </a:cubicBezTo>
                  <a:lnTo>
                    <a:pt x="96" y="4151"/>
                  </a:lnTo>
                  <a:lnTo>
                    <a:pt x="191" y="4055"/>
                  </a:lnTo>
                  <a:lnTo>
                    <a:pt x="2982" y="2266"/>
                  </a:lnTo>
                  <a:cubicBezTo>
                    <a:pt x="3077" y="2171"/>
                    <a:pt x="3077" y="2171"/>
                    <a:pt x="3077" y="2052"/>
                  </a:cubicBezTo>
                  <a:cubicBezTo>
                    <a:pt x="3077" y="1956"/>
                    <a:pt x="3077" y="1956"/>
                    <a:pt x="2982" y="1956"/>
                  </a:cubicBezTo>
                  <a:lnTo>
                    <a:pt x="191" y="72"/>
                  </a:lnTo>
                  <a:cubicBezTo>
                    <a:pt x="191" y="25"/>
                    <a:pt x="167" y="1"/>
                    <a:pt x="14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9" name="Google Shape;309;p9"/>
          <p:cNvGrpSpPr/>
          <p:nvPr/>
        </p:nvGrpSpPr>
        <p:grpSpPr>
          <a:xfrm>
            <a:off x="3975883" y="4451489"/>
            <a:ext cx="1317681" cy="199361"/>
            <a:chOff x="7250937" y="3829700"/>
            <a:chExt cx="1295400" cy="481200"/>
          </a:xfrm>
        </p:grpSpPr>
        <p:sp>
          <p:nvSpPr>
            <p:cNvPr id="310" name="Google Shape;310;p9"/>
            <p:cNvSpPr/>
            <p:nvPr/>
          </p:nvSpPr>
          <p:spPr>
            <a:xfrm flipH="1">
              <a:off x="7250937" y="3829700"/>
              <a:ext cx="1295400" cy="481200"/>
            </a:xfrm>
            <a:prstGeom prst="roundRect">
              <a:avLst>
                <a:gd fmla="val 50000" name="adj"/>
              </a:avLst>
            </a:prstGeom>
            <a:solidFill>
              <a:srgbClr val="F95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9"/>
            <p:cNvSpPr txBox="1"/>
            <p:nvPr/>
          </p:nvSpPr>
          <p:spPr>
            <a:xfrm flipH="1">
              <a:off x="7393737" y="3946475"/>
              <a:ext cx="1009800" cy="228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FFFFFF"/>
                  </a:solidFill>
                  <a:latin typeface="Fira Sans Extra Condensed Medium"/>
                  <a:ea typeface="Fira Sans Extra Condensed Medium"/>
                  <a:cs typeface="Fira Sans Extra Condensed Medium"/>
                  <a:sym typeface="Fira Sans Extra Condensed Medium"/>
                </a:rPr>
                <a:t>Database</a:t>
              </a:r>
              <a:endParaRPr b="0" i="0" sz="17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0"/>
          <p:cNvSpPr/>
          <p:nvPr/>
        </p:nvSpPr>
        <p:spPr>
          <a:xfrm>
            <a:off x="1085787" y="1123163"/>
            <a:ext cx="25" cy="14775"/>
          </a:xfrm>
          <a:custGeom>
            <a:rect b="b" l="l" r="r" t="t"/>
            <a:pathLst>
              <a:path extrusionOk="0" h="591" w="1">
                <a:moveTo>
                  <a:pt x="1" y="1"/>
                </a:moveTo>
                <a:lnTo>
                  <a:pt x="1" y="254"/>
                </a:lnTo>
                <a:lnTo>
                  <a:pt x="1" y="590"/>
                </a:lnTo>
                <a:close/>
              </a:path>
            </a:pathLst>
          </a:custGeom>
          <a:solidFill>
            <a:srgbClr val="DCDC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7" name="Google Shape;317;p10"/>
          <p:cNvGrpSpPr/>
          <p:nvPr/>
        </p:nvGrpSpPr>
        <p:grpSpPr>
          <a:xfrm>
            <a:off x="71402" y="1223838"/>
            <a:ext cx="3948103" cy="481200"/>
            <a:chOff x="457200" y="1186988"/>
            <a:chExt cx="4173912" cy="481200"/>
          </a:xfrm>
        </p:grpSpPr>
        <p:sp>
          <p:nvSpPr>
            <p:cNvPr id="318" name="Google Shape;318;p10"/>
            <p:cNvSpPr/>
            <p:nvPr/>
          </p:nvSpPr>
          <p:spPr>
            <a:xfrm>
              <a:off x="4434312" y="1272425"/>
              <a:ext cx="196800" cy="185525"/>
            </a:xfrm>
            <a:custGeom>
              <a:rect b="b" l="l" r="r" t="t"/>
              <a:pathLst>
                <a:path extrusionOk="0" h="7421" w="7872">
                  <a:moveTo>
                    <a:pt x="7029" y="288"/>
                  </a:moveTo>
                  <a:cubicBezTo>
                    <a:pt x="7284" y="288"/>
                    <a:pt x="7530" y="527"/>
                    <a:pt x="7466" y="862"/>
                  </a:cubicBezTo>
                  <a:cubicBezTo>
                    <a:pt x="7275" y="766"/>
                    <a:pt x="6965" y="576"/>
                    <a:pt x="6679" y="480"/>
                  </a:cubicBezTo>
                  <a:cubicBezTo>
                    <a:pt x="6774" y="346"/>
                    <a:pt x="6902" y="288"/>
                    <a:pt x="7029" y="288"/>
                  </a:cubicBezTo>
                  <a:close/>
                  <a:moveTo>
                    <a:pt x="6464" y="766"/>
                  </a:moveTo>
                  <a:cubicBezTo>
                    <a:pt x="6870" y="862"/>
                    <a:pt x="7156" y="957"/>
                    <a:pt x="7466" y="1077"/>
                  </a:cubicBezTo>
                  <a:cubicBezTo>
                    <a:pt x="6870" y="2555"/>
                    <a:pt x="6274" y="3939"/>
                    <a:pt x="5677" y="5346"/>
                  </a:cubicBezTo>
                  <a:cubicBezTo>
                    <a:pt x="5582" y="5441"/>
                    <a:pt x="5582" y="5632"/>
                    <a:pt x="5487" y="5727"/>
                  </a:cubicBezTo>
                  <a:lnTo>
                    <a:pt x="4580" y="5441"/>
                  </a:lnTo>
                  <a:cubicBezTo>
                    <a:pt x="5176" y="4058"/>
                    <a:pt x="5773" y="2651"/>
                    <a:pt x="6274" y="1267"/>
                  </a:cubicBezTo>
                  <a:cubicBezTo>
                    <a:pt x="6369" y="1077"/>
                    <a:pt x="6464" y="862"/>
                    <a:pt x="6464" y="766"/>
                  </a:cubicBezTo>
                  <a:close/>
                  <a:moveTo>
                    <a:pt x="4580" y="5727"/>
                  </a:moveTo>
                  <a:cubicBezTo>
                    <a:pt x="4771" y="5847"/>
                    <a:pt x="4986" y="5942"/>
                    <a:pt x="5272" y="6037"/>
                  </a:cubicBezTo>
                  <a:cubicBezTo>
                    <a:pt x="5081" y="6133"/>
                    <a:pt x="4986" y="6324"/>
                    <a:pt x="4890" y="6443"/>
                  </a:cubicBezTo>
                  <a:cubicBezTo>
                    <a:pt x="4771" y="6443"/>
                    <a:pt x="4676" y="6324"/>
                    <a:pt x="4580" y="6324"/>
                  </a:cubicBezTo>
                  <a:lnTo>
                    <a:pt x="4580" y="5727"/>
                  </a:lnTo>
                  <a:close/>
                  <a:moveTo>
                    <a:pt x="7035" y="0"/>
                  </a:moveTo>
                  <a:cubicBezTo>
                    <a:pt x="6721" y="0"/>
                    <a:pt x="6414" y="182"/>
                    <a:pt x="6274" y="480"/>
                  </a:cubicBezTo>
                  <a:cubicBezTo>
                    <a:pt x="5677" y="1959"/>
                    <a:pt x="5081" y="3342"/>
                    <a:pt x="4485" y="4845"/>
                  </a:cubicBezTo>
                  <a:cubicBezTo>
                    <a:pt x="4485" y="5036"/>
                    <a:pt x="4389" y="5250"/>
                    <a:pt x="4294" y="5441"/>
                  </a:cubicBezTo>
                  <a:lnTo>
                    <a:pt x="4294" y="5537"/>
                  </a:lnTo>
                  <a:lnTo>
                    <a:pt x="4294" y="5942"/>
                  </a:lnTo>
                  <a:lnTo>
                    <a:pt x="4294" y="6037"/>
                  </a:lnTo>
                  <a:lnTo>
                    <a:pt x="4294" y="7039"/>
                  </a:lnTo>
                  <a:lnTo>
                    <a:pt x="216" y="7039"/>
                  </a:lnTo>
                  <a:cubicBezTo>
                    <a:pt x="1" y="7039"/>
                    <a:pt x="1" y="7421"/>
                    <a:pt x="216" y="7421"/>
                  </a:cubicBezTo>
                  <a:lnTo>
                    <a:pt x="7466" y="7421"/>
                  </a:lnTo>
                  <a:cubicBezTo>
                    <a:pt x="7657" y="7421"/>
                    <a:pt x="7657" y="7039"/>
                    <a:pt x="7466" y="7039"/>
                  </a:cubicBezTo>
                  <a:lnTo>
                    <a:pt x="4676" y="7039"/>
                  </a:lnTo>
                  <a:lnTo>
                    <a:pt x="5582" y="6133"/>
                  </a:lnTo>
                  <a:lnTo>
                    <a:pt x="5677" y="6037"/>
                  </a:lnTo>
                  <a:cubicBezTo>
                    <a:pt x="6274" y="4535"/>
                    <a:pt x="6870" y="3151"/>
                    <a:pt x="7466" y="1673"/>
                  </a:cubicBezTo>
                  <a:cubicBezTo>
                    <a:pt x="7562" y="1458"/>
                    <a:pt x="7657" y="1267"/>
                    <a:pt x="7752" y="1077"/>
                  </a:cubicBezTo>
                  <a:cubicBezTo>
                    <a:pt x="7872" y="671"/>
                    <a:pt x="7752" y="266"/>
                    <a:pt x="7371" y="75"/>
                  </a:cubicBezTo>
                  <a:cubicBezTo>
                    <a:pt x="7263" y="24"/>
                    <a:pt x="7149" y="0"/>
                    <a:pt x="70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9" name="Google Shape;319;p10"/>
            <p:cNvGrpSpPr/>
            <p:nvPr/>
          </p:nvGrpSpPr>
          <p:grpSpPr>
            <a:xfrm>
              <a:off x="457200" y="1186988"/>
              <a:ext cx="2088300" cy="481200"/>
              <a:chOff x="457200" y="1186988"/>
              <a:chExt cx="2088300" cy="481200"/>
            </a:xfrm>
          </p:grpSpPr>
          <p:grpSp>
            <p:nvGrpSpPr>
              <p:cNvPr id="320" name="Google Shape;320;p10"/>
              <p:cNvGrpSpPr/>
              <p:nvPr/>
            </p:nvGrpSpPr>
            <p:grpSpPr>
              <a:xfrm>
                <a:off x="457200" y="1186988"/>
                <a:ext cx="1587600" cy="481200"/>
                <a:chOff x="457200" y="1186988"/>
                <a:chExt cx="1587600" cy="481200"/>
              </a:xfrm>
            </p:grpSpPr>
            <p:sp>
              <p:nvSpPr>
                <p:cNvPr id="321" name="Google Shape;321;p10"/>
                <p:cNvSpPr/>
                <p:nvPr/>
              </p:nvSpPr>
              <p:spPr>
                <a:xfrm>
                  <a:off x="457200" y="1186988"/>
                  <a:ext cx="1587600" cy="481200"/>
                </a:xfrm>
                <a:prstGeom prst="roundRect">
                  <a:avLst>
                    <a:gd fmla="val 50000" name="adj"/>
                  </a:avLst>
                </a:prstGeom>
                <a:solidFill>
                  <a:srgbClr val="451E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0"/>
                <p:cNvSpPr txBox="1"/>
                <p:nvPr/>
              </p:nvSpPr>
              <p:spPr>
                <a:xfrm>
                  <a:off x="517670" y="1303650"/>
                  <a:ext cx="13410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700" u="none" cap="none" strike="noStrike">
                      <a:solidFill>
                        <a:srgbClr val="FFFFFF"/>
                      </a:solidFill>
                      <a:latin typeface="Fira Sans Extra Condensed Medium"/>
                      <a:ea typeface="Fira Sans Extra Condensed Medium"/>
                      <a:cs typeface="Fira Sans Extra Condensed Medium"/>
                      <a:sym typeface="Fira Sans Extra Condensed Medium"/>
                    </a:rPr>
                    <a:t>Conceptual Data Model</a:t>
                  </a:r>
                  <a:endParaRPr b="0" i="0" sz="17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cxnSp>
            <p:nvCxnSpPr>
              <p:cNvPr id="323" name="Google Shape;323;p10"/>
              <p:cNvCxnSpPr>
                <a:stCxn id="321" idx="3"/>
              </p:cNvCxnSpPr>
              <p:nvPr/>
            </p:nvCxnSpPr>
            <p:spPr>
              <a:xfrm>
                <a:off x="2044800" y="1427588"/>
                <a:ext cx="500700" cy="3600"/>
              </a:xfrm>
              <a:prstGeom prst="straightConnector1">
                <a:avLst/>
              </a:prstGeom>
              <a:noFill/>
              <a:ln cap="flat" cmpd="sng" w="9525">
                <a:solidFill>
                  <a:srgbClr val="451E7B"/>
                </a:solidFill>
                <a:prstDash val="solid"/>
                <a:round/>
                <a:headEnd len="sm" w="sm" type="none"/>
                <a:tailEnd len="sm" w="sm" type="none"/>
              </a:ln>
            </p:spPr>
          </p:cxnSp>
        </p:grpSp>
      </p:grpSp>
      <p:sp>
        <p:nvSpPr>
          <p:cNvPr id="324" name="Google Shape;324;p10"/>
          <p:cNvSpPr/>
          <p:nvPr/>
        </p:nvSpPr>
        <p:spPr>
          <a:xfrm>
            <a:off x="1800225" y="1194900"/>
            <a:ext cx="1816200" cy="539100"/>
          </a:xfrm>
          <a:prstGeom prst="rect">
            <a:avLst/>
          </a:prstGeom>
          <a:solidFill>
            <a:srgbClr val="4A2E9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Student</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cxnSp>
        <p:nvCxnSpPr>
          <p:cNvPr id="325" name="Google Shape;325;p10"/>
          <p:cNvCxnSpPr>
            <a:stCxn id="324" idx="3"/>
            <a:endCxn id="326" idx="1"/>
          </p:cNvCxnSpPr>
          <p:nvPr/>
        </p:nvCxnSpPr>
        <p:spPr>
          <a:xfrm>
            <a:off x="3616425" y="1464450"/>
            <a:ext cx="403200" cy="0"/>
          </a:xfrm>
          <a:prstGeom prst="straightConnector1">
            <a:avLst/>
          </a:prstGeom>
          <a:noFill/>
          <a:ln cap="flat" cmpd="sng" w="9525">
            <a:solidFill>
              <a:schemeClr val="accent5"/>
            </a:solidFill>
            <a:prstDash val="solid"/>
            <a:round/>
            <a:headEnd len="sm" w="sm" type="none"/>
            <a:tailEnd len="sm" w="sm" type="none"/>
          </a:ln>
        </p:spPr>
      </p:cxnSp>
      <p:sp>
        <p:nvSpPr>
          <p:cNvPr id="326" name="Google Shape;326;p10"/>
          <p:cNvSpPr/>
          <p:nvPr/>
        </p:nvSpPr>
        <p:spPr>
          <a:xfrm>
            <a:off x="4019499" y="1194900"/>
            <a:ext cx="2019000" cy="539100"/>
          </a:xfrm>
          <a:prstGeom prst="rect">
            <a:avLst/>
          </a:prstGeom>
          <a:solidFill>
            <a:srgbClr val="4A2E9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Course</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327" name="Google Shape;327;p10"/>
          <p:cNvSpPr/>
          <p:nvPr/>
        </p:nvSpPr>
        <p:spPr>
          <a:xfrm>
            <a:off x="6141750" y="0"/>
            <a:ext cx="3002400" cy="1774800"/>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0"/>
          <p:cNvSpPr txBox="1"/>
          <p:nvPr/>
        </p:nvSpPr>
        <p:spPr>
          <a:xfrm>
            <a:off x="6485448" y="-1"/>
            <a:ext cx="1934100" cy="420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accent4"/>
                </a:solidFill>
                <a:latin typeface="Fira Sans Extra Condensed"/>
                <a:ea typeface="Fira Sans Extra Condensed"/>
                <a:cs typeface="Fira Sans Extra Condensed"/>
                <a:sym typeface="Fira Sans Extra Condensed"/>
              </a:rPr>
              <a:t>School Database</a:t>
            </a:r>
            <a:endParaRPr b="1" i="0" sz="1600" u="none" cap="none" strike="noStrike">
              <a:solidFill>
                <a:schemeClr val="accent4"/>
              </a:solidFill>
              <a:latin typeface="Fira Sans Extra Condensed"/>
              <a:ea typeface="Fira Sans Extra Condensed"/>
              <a:cs typeface="Fira Sans Extra Condensed"/>
              <a:sym typeface="Fira Sans Extra Condensed"/>
            </a:endParaRPr>
          </a:p>
        </p:txBody>
      </p:sp>
      <p:sp>
        <p:nvSpPr>
          <p:cNvPr id="329" name="Google Shape;329;p10"/>
          <p:cNvSpPr txBox="1"/>
          <p:nvPr/>
        </p:nvSpPr>
        <p:spPr>
          <a:xfrm>
            <a:off x="6193625" y="380850"/>
            <a:ext cx="2689200" cy="135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First identify all possible objects or tables we need to build the school database and show the relationships between the objects. For the sake of example, let’s assume we only need student and course tables</a:t>
            </a:r>
            <a:endParaRPr b="0" i="0" sz="1200" u="none" cap="none" strike="noStrike">
              <a:solidFill>
                <a:srgbClr val="000000"/>
              </a:solidFill>
              <a:latin typeface="Roboto"/>
              <a:ea typeface="Roboto"/>
              <a:cs typeface="Roboto"/>
              <a:sym typeface="Roboto"/>
            </a:endParaRPr>
          </a:p>
        </p:txBody>
      </p:sp>
      <p:sp>
        <p:nvSpPr>
          <p:cNvPr id="330" name="Google Shape;330;p10"/>
          <p:cNvSpPr/>
          <p:nvPr/>
        </p:nvSpPr>
        <p:spPr>
          <a:xfrm>
            <a:off x="6141750" y="1594160"/>
            <a:ext cx="3002400" cy="1774800"/>
          </a:xfrm>
          <a:prstGeom prst="rect">
            <a:avLst/>
          </a:prstGeom>
          <a:solidFill>
            <a:srgbClr val="E6E6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0"/>
          <p:cNvSpPr/>
          <p:nvPr/>
        </p:nvSpPr>
        <p:spPr>
          <a:xfrm>
            <a:off x="6141750" y="3368827"/>
            <a:ext cx="3002400" cy="1774800"/>
          </a:xfrm>
          <a:prstGeom prst="rect">
            <a:avLst/>
          </a:prstGeom>
          <a:solidFill>
            <a:srgbClr val="DADA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0"/>
          <p:cNvSpPr/>
          <p:nvPr/>
        </p:nvSpPr>
        <p:spPr>
          <a:xfrm>
            <a:off x="1085787" y="2325688"/>
            <a:ext cx="25" cy="14775"/>
          </a:xfrm>
          <a:custGeom>
            <a:rect b="b" l="l" r="r" t="t"/>
            <a:pathLst>
              <a:path extrusionOk="0" h="591" w="1">
                <a:moveTo>
                  <a:pt x="1" y="1"/>
                </a:moveTo>
                <a:lnTo>
                  <a:pt x="1" y="254"/>
                </a:lnTo>
                <a:lnTo>
                  <a:pt x="1" y="590"/>
                </a:lnTo>
                <a:close/>
              </a:path>
            </a:pathLst>
          </a:custGeom>
          <a:solidFill>
            <a:srgbClr val="DCDC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3" name="Google Shape;333;p10"/>
          <p:cNvGrpSpPr/>
          <p:nvPr/>
        </p:nvGrpSpPr>
        <p:grpSpPr>
          <a:xfrm>
            <a:off x="71302" y="2316063"/>
            <a:ext cx="3948204" cy="481200"/>
            <a:chOff x="457094" y="1076688"/>
            <a:chExt cx="4174018" cy="481200"/>
          </a:xfrm>
        </p:grpSpPr>
        <p:sp>
          <p:nvSpPr>
            <p:cNvPr id="334" name="Google Shape;334;p10"/>
            <p:cNvSpPr/>
            <p:nvPr/>
          </p:nvSpPr>
          <p:spPr>
            <a:xfrm>
              <a:off x="4434312" y="1272425"/>
              <a:ext cx="196800" cy="185525"/>
            </a:xfrm>
            <a:custGeom>
              <a:rect b="b" l="l" r="r" t="t"/>
              <a:pathLst>
                <a:path extrusionOk="0" h="7421" w="7872">
                  <a:moveTo>
                    <a:pt x="7029" y="288"/>
                  </a:moveTo>
                  <a:cubicBezTo>
                    <a:pt x="7284" y="288"/>
                    <a:pt x="7530" y="527"/>
                    <a:pt x="7466" y="862"/>
                  </a:cubicBezTo>
                  <a:cubicBezTo>
                    <a:pt x="7275" y="766"/>
                    <a:pt x="6965" y="576"/>
                    <a:pt x="6679" y="480"/>
                  </a:cubicBezTo>
                  <a:cubicBezTo>
                    <a:pt x="6774" y="346"/>
                    <a:pt x="6902" y="288"/>
                    <a:pt x="7029" y="288"/>
                  </a:cubicBezTo>
                  <a:close/>
                  <a:moveTo>
                    <a:pt x="6464" y="766"/>
                  </a:moveTo>
                  <a:cubicBezTo>
                    <a:pt x="6870" y="862"/>
                    <a:pt x="7156" y="957"/>
                    <a:pt x="7466" y="1077"/>
                  </a:cubicBezTo>
                  <a:cubicBezTo>
                    <a:pt x="6870" y="2555"/>
                    <a:pt x="6274" y="3939"/>
                    <a:pt x="5677" y="5346"/>
                  </a:cubicBezTo>
                  <a:cubicBezTo>
                    <a:pt x="5582" y="5441"/>
                    <a:pt x="5582" y="5632"/>
                    <a:pt x="5487" y="5727"/>
                  </a:cubicBezTo>
                  <a:lnTo>
                    <a:pt x="4580" y="5441"/>
                  </a:lnTo>
                  <a:cubicBezTo>
                    <a:pt x="5176" y="4058"/>
                    <a:pt x="5773" y="2651"/>
                    <a:pt x="6274" y="1267"/>
                  </a:cubicBezTo>
                  <a:cubicBezTo>
                    <a:pt x="6369" y="1077"/>
                    <a:pt x="6464" y="862"/>
                    <a:pt x="6464" y="766"/>
                  </a:cubicBezTo>
                  <a:close/>
                  <a:moveTo>
                    <a:pt x="4580" y="5727"/>
                  </a:moveTo>
                  <a:cubicBezTo>
                    <a:pt x="4771" y="5847"/>
                    <a:pt x="4986" y="5942"/>
                    <a:pt x="5272" y="6037"/>
                  </a:cubicBezTo>
                  <a:cubicBezTo>
                    <a:pt x="5081" y="6133"/>
                    <a:pt x="4986" y="6324"/>
                    <a:pt x="4890" y="6443"/>
                  </a:cubicBezTo>
                  <a:cubicBezTo>
                    <a:pt x="4771" y="6443"/>
                    <a:pt x="4676" y="6324"/>
                    <a:pt x="4580" y="6324"/>
                  </a:cubicBezTo>
                  <a:lnTo>
                    <a:pt x="4580" y="5727"/>
                  </a:lnTo>
                  <a:close/>
                  <a:moveTo>
                    <a:pt x="7035" y="0"/>
                  </a:moveTo>
                  <a:cubicBezTo>
                    <a:pt x="6721" y="0"/>
                    <a:pt x="6414" y="182"/>
                    <a:pt x="6274" y="480"/>
                  </a:cubicBezTo>
                  <a:cubicBezTo>
                    <a:pt x="5677" y="1959"/>
                    <a:pt x="5081" y="3342"/>
                    <a:pt x="4485" y="4845"/>
                  </a:cubicBezTo>
                  <a:cubicBezTo>
                    <a:pt x="4485" y="5036"/>
                    <a:pt x="4389" y="5250"/>
                    <a:pt x="4294" y="5441"/>
                  </a:cubicBezTo>
                  <a:lnTo>
                    <a:pt x="4294" y="5537"/>
                  </a:lnTo>
                  <a:lnTo>
                    <a:pt x="4294" y="5942"/>
                  </a:lnTo>
                  <a:lnTo>
                    <a:pt x="4294" y="6037"/>
                  </a:lnTo>
                  <a:lnTo>
                    <a:pt x="4294" y="7039"/>
                  </a:lnTo>
                  <a:lnTo>
                    <a:pt x="216" y="7039"/>
                  </a:lnTo>
                  <a:cubicBezTo>
                    <a:pt x="1" y="7039"/>
                    <a:pt x="1" y="7421"/>
                    <a:pt x="216" y="7421"/>
                  </a:cubicBezTo>
                  <a:lnTo>
                    <a:pt x="7466" y="7421"/>
                  </a:lnTo>
                  <a:cubicBezTo>
                    <a:pt x="7657" y="7421"/>
                    <a:pt x="7657" y="7039"/>
                    <a:pt x="7466" y="7039"/>
                  </a:cubicBezTo>
                  <a:lnTo>
                    <a:pt x="4676" y="7039"/>
                  </a:lnTo>
                  <a:lnTo>
                    <a:pt x="5582" y="6133"/>
                  </a:lnTo>
                  <a:lnTo>
                    <a:pt x="5677" y="6037"/>
                  </a:lnTo>
                  <a:cubicBezTo>
                    <a:pt x="6274" y="4535"/>
                    <a:pt x="6870" y="3151"/>
                    <a:pt x="7466" y="1673"/>
                  </a:cubicBezTo>
                  <a:cubicBezTo>
                    <a:pt x="7562" y="1458"/>
                    <a:pt x="7657" y="1267"/>
                    <a:pt x="7752" y="1077"/>
                  </a:cubicBezTo>
                  <a:cubicBezTo>
                    <a:pt x="7872" y="671"/>
                    <a:pt x="7752" y="266"/>
                    <a:pt x="7371" y="75"/>
                  </a:cubicBezTo>
                  <a:cubicBezTo>
                    <a:pt x="7263" y="24"/>
                    <a:pt x="7149" y="0"/>
                    <a:pt x="70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5" name="Google Shape;335;p10"/>
            <p:cNvGrpSpPr/>
            <p:nvPr/>
          </p:nvGrpSpPr>
          <p:grpSpPr>
            <a:xfrm>
              <a:off x="457094" y="1076688"/>
              <a:ext cx="1827900" cy="481200"/>
              <a:chOff x="457094" y="1076688"/>
              <a:chExt cx="1827900" cy="481200"/>
            </a:xfrm>
          </p:grpSpPr>
          <p:grpSp>
            <p:nvGrpSpPr>
              <p:cNvPr id="336" name="Google Shape;336;p10"/>
              <p:cNvGrpSpPr/>
              <p:nvPr/>
            </p:nvGrpSpPr>
            <p:grpSpPr>
              <a:xfrm>
                <a:off x="457094" y="1076688"/>
                <a:ext cx="1587600" cy="481200"/>
                <a:chOff x="457094" y="1076688"/>
                <a:chExt cx="1587600" cy="481200"/>
              </a:xfrm>
            </p:grpSpPr>
            <p:sp>
              <p:nvSpPr>
                <p:cNvPr id="337" name="Google Shape;337;p10"/>
                <p:cNvSpPr/>
                <p:nvPr/>
              </p:nvSpPr>
              <p:spPr>
                <a:xfrm>
                  <a:off x="457094" y="1076688"/>
                  <a:ext cx="1587600" cy="481200"/>
                </a:xfrm>
                <a:prstGeom prst="roundRect">
                  <a:avLst>
                    <a:gd fmla="val 50000" name="adj"/>
                  </a:avLst>
                </a:prstGeom>
                <a:solidFill>
                  <a:srgbClr val="7B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0"/>
                <p:cNvSpPr txBox="1"/>
                <p:nvPr/>
              </p:nvSpPr>
              <p:spPr>
                <a:xfrm>
                  <a:off x="689119" y="1203000"/>
                  <a:ext cx="12672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700" u="none" cap="none" strike="noStrike">
                      <a:solidFill>
                        <a:srgbClr val="FFFFFF"/>
                      </a:solidFill>
                      <a:latin typeface="Fira Sans Extra Condensed Medium"/>
                      <a:ea typeface="Fira Sans Extra Condensed Medium"/>
                      <a:cs typeface="Fira Sans Extra Condensed Medium"/>
                      <a:sym typeface="Fira Sans Extra Condensed Medium"/>
                    </a:rPr>
                    <a:t>Logical Data Model</a:t>
                  </a:r>
                  <a:endParaRPr b="0" i="0" sz="17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cxnSp>
            <p:nvCxnSpPr>
              <p:cNvPr id="339" name="Google Shape;339;p10"/>
              <p:cNvCxnSpPr>
                <a:stCxn id="337" idx="3"/>
                <a:endCxn id="340" idx="1"/>
              </p:cNvCxnSpPr>
              <p:nvPr/>
            </p:nvCxnSpPr>
            <p:spPr>
              <a:xfrm flipH="1" rot="10800000">
                <a:off x="2044694" y="1313388"/>
                <a:ext cx="240300" cy="3900"/>
              </a:xfrm>
              <a:prstGeom prst="straightConnector1">
                <a:avLst/>
              </a:prstGeom>
              <a:noFill/>
              <a:ln cap="flat" cmpd="sng" w="9525">
                <a:solidFill>
                  <a:srgbClr val="451E7B"/>
                </a:solidFill>
                <a:prstDash val="solid"/>
                <a:round/>
                <a:headEnd len="sm" w="sm" type="none"/>
                <a:tailEnd len="sm" w="sm" type="none"/>
              </a:ln>
            </p:spPr>
          </p:cxnSp>
        </p:grpSp>
      </p:grpSp>
      <p:sp>
        <p:nvSpPr>
          <p:cNvPr id="340" name="Google Shape;340;p10"/>
          <p:cNvSpPr/>
          <p:nvPr/>
        </p:nvSpPr>
        <p:spPr>
          <a:xfrm>
            <a:off x="1800225" y="1876375"/>
            <a:ext cx="1816200" cy="1353000"/>
          </a:xfrm>
          <a:prstGeom prst="rect">
            <a:avLst/>
          </a:prstGeom>
          <a:solidFill>
            <a:srgbClr val="7B1E7A">
              <a:alpha val="36862"/>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Student id</a:t>
            </a:r>
            <a:endParaRPr b="1" i="0" sz="14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Name</a:t>
            </a:r>
            <a:endParaRPr b="1" i="0" sz="14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Dob</a:t>
            </a:r>
            <a:endParaRPr b="1" i="0" sz="14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Enrollment date</a:t>
            </a:r>
            <a:endParaRPr b="1" i="0" sz="14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Active </a:t>
            </a:r>
            <a:endParaRPr b="1" i="0" sz="1400" u="none" cap="none" strike="noStrike">
              <a:solidFill>
                <a:schemeClr val="dk1"/>
              </a:solidFill>
              <a:latin typeface="Fira Sans Extra Condensed"/>
              <a:ea typeface="Fira Sans Extra Condensed"/>
              <a:cs typeface="Fira Sans Extra Condensed"/>
              <a:sym typeface="Fira Sans Extra Condensed"/>
            </a:endParaRPr>
          </a:p>
        </p:txBody>
      </p:sp>
      <p:sp>
        <p:nvSpPr>
          <p:cNvPr id="341" name="Google Shape;341;p10"/>
          <p:cNvSpPr/>
          <p:nvPr/>
        </p:nvSpPr>
        <p:spPr>
          <a:xfrm>
            <a:off x="4019450" y="1876625"/>
            <a:ext cx="2019000" cy="1353000"/>
          </a:xfrm>
          <a:prstGeom prst="rect">
            <a:avLst/>
          </a:prstGeom>
          <a:solidFill>
            <a:srgbClr val="7B1E7A">
              <a:alpha val="36862"/>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Course id</a:t>
            </a:r>
            <a:endParaRPr b="1" i="0" sz="14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Title </a:t>
            </a:r>
            <a:endParaRPr b="1" i="0" sz="14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Prerequisite</a:t>
            </a:r>
            <a:endParaRPr b="1" i="0" sz="14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Level </a:t>
            </a:r>
            <a:endParaRPr b="1" i="0" sz="1400" u="none" cap="none" strike="noStrike">
              <a:solidFill>
                <a:schemeClr val="dk1"/>
              </a:solidFill>
              <a:latin typeface="Fira Sans Extra Condensed"/>
              <a:ea typeface="Fira Sans Extra Condensed"/>
              <a:cs typeface="Fira Sans Extra Condensed"/>
              <a:sym typeface="Fira Sans Extra Condensed"/>
            </a:endParaRPr>
          </a:p>
        </p:txBody>
      </p:sp>
      <p:sp>
        <p:nvSpPr>
          <p:cNvPr id="342" name="Google Shape;342;p10"/>
          <p:cNvSpPr/>
          <p:nvPr/>
        </p:nvSpPr>
        <p:spPr>
          <a:xfrm>
            <a:off x="1085787" y="3975388"/>
            <a:ext cx="25" cy="14775"/>
          </a:xfrm>
          <a:custGeom>
            <a:rect b="b" l="l" r="r" t="t"/>
            <a:pathLst>
              <a:path extrusionOk="0" h="591" w="1">
                <a:moveTo>
                  <a:pt x="1" y="1"/>
                </a:moveTo>
                <a:lnTo>
                  <a:pt x="1" y="254"/>
                </a:lnTo>
                <a:lnTo>
                  <a:pt x="1" y="590"/>
                </a:lnTo>
                <a:close/>
              </a:path>
            </a:pathLst>
          </a:custGeom>
          <a:solidFill>
            <a:srgbClr val="DCDC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3" name="Google Shape;343;p10"/>
          <p:cNvGrpSpPr/>
          <p:nvPr/>
        </p:nvGrpSpPr>
        <p:grpSpPr>
          <a:xfrm>
            <a:off x="71402" y="3890838"/>
            <a:ext cx="3948103" cy="481200"/>
            <a:chOff x="457200" y="1001763"/>
            <a:chExt cx="4173912" cy="481200"/>
          </a:xfrm>
        </p:grpSpPr>
        <p:sp>
          <p:nvSpPr>
            <p:cNvPr id="344" name="Google Shape;344;p10"/>
            <p:cNvSpPr/>
            <p:nvPr/>
          </p:nvSpPr>
          <p:spPr>
            <a:xfrm>
              <a:off x="4434312" y="1272425"/>
              <a:ext cx="196800" cy="185525"/>
            </a:xfrm>
            <a:custGeom>
              <a:rect b="b" l="l" r="r" t="t"/>
              <a:pathLst>
                <a:path extrusionOk="0" h="7421" w="7872">
                  <a:moveTo>
                    <a:pt x="7029" y="288"/>
                  </a:moveTo>
                  <a:cubicBezTo>
                    <a:pt x="7284" y="288"/>
                    <a:pt x="7530" y="527"/>
                    <a:pt x="7466" y="862"/>
                  </a:cubicBezTo>
                  <a:cubicBezTo>
                    <a:pt x="7275" y="766"/>
                    <a:pt x="6965" y="576"/>
                    <a:pt x="6679" y="480"/>
                  </a:cubicBezTo>
                  <a:cubicBezTo>
                    <a:pt x="6774" y="346"/>
                    <a:pt x="6902" y="288"/>
                    <a:pt x="7029" y="288"/>
                  </a:cubicBezTo>
                  <a:close/>
                  <a:moveTo>
                    <a:pt x="6464" y="766"/>
                  </a:moveTo>
                  <a:cubicBezTo>
                    <a:pt x="6870" y="862"/>
                    <a:pt x="7156" y="957"/>
                    <a:pt x="7466" y="1077"/>
                  </a:cubicBezTo>
                  <a:cubicBezTo>
                    <a:pt x="6870" y="2555"/>
                    <a:pt x="6274" y="3939"/>
                    <a:pt x="5677" y="5346"/>
                  </a:cubicBezTo>
                  <a:cubicBezTo>
                    <a:pt x="5582" y="5441"/>
                    <a:pt x="5582" y="5632"/>
                    <a:pt x="5487" y="5727"/>
                  </a:cubicBezTo>
                  <a:lnTo>
                    <a:pt x="4580" y="5441"/>
                  </a:lnTo>
                  <a:cubicBezTo>
                    <a:pt x="5176" y="4058"/>
                    <a:pt x="5773" y="2651"/>
                    <a:pt x="6274" y="1267"/>
                  </a:cubicBezTo>
                  <a:cubicBezTo>
                    <a:pt x="6369" y="1077"/>
                    <a:pt x="6464" y="862"/>
                    <a:pt x="6464" y="766"/>
                  </a:cubicBezTo>
                  <a:close/>
                  <a:moveTo>
                    <a:pt x="4580" y="5727"/>
                  </a:moveTo>
                  <a:cubicBezTo>
                    <a:pt x="4771" y="5847"/>
                    <a:pt x="4986" y="5942"/>
                    <a:pt x="5272" y="6037"/>
                  </a:cubicBezTo>
                  <a:cubicBezTo>
                    <a:pt x="5081" y="6133"/>
                    <a:pt x="4986" y="6324"/>
                    <a:pt x="4890" y="6443"/>
                  </a:cubicBezTo>
                  <a:cubicBezTo>
                    <a:pt x="4771" y="6443"/>
                    <a:pt x="4676" y="6324"/>
                    <a:pt x="4580" y="6324"/>
                  </a:cubicBezTo>
                  <a:lnTo>
                    <a:pt x="4580" y="5727"/>
                  </a:lnTo>
                  <a:close/>
                  <a:moveTo>
                    <a:pt x="7035" y="0"/>
                  </a:moveTo>
                  <a:cubicBezTo>
                    <a:pt x="6721" y="0"/>
                    <a:pt x="6414" y="182"/>
                    <a:pt x="6274" y="480"/>
                  </a:cubicBezTo>
                  <a:cubicBezTo>
                    <a:pt x="5677" y="1959"/>
                    <a:pt x="5081" y="3342"/>
                    <a:pt x="4485" y="4845"/>
                  </a:cubicBezTo>
                  <a:cubicBezTo>
                    <a:pt x="4485" y="5036"/>
                    <a:pt x="4389" y="5250"/>
                    <a:pt x="4294" y="5441"/>
                  </a:cubicBezTo>
                  <a:lnTo>
                    <a:pt x="4294" y="5537"/>
                  </a:lnTo>
                  <a:lnTo>
                    <a:pt x="4294" y="5942"/>
                  </a:lnTo>
                  <a:lnTo>
                    <a:pt x="4294" y="6037"/>
                  </a:lnTo>
                  <a:lnTo>
                    <a:pt x="4294" y="7039"/>
                  </a:lnTo>
                  <a:lnTo>
                    <a:pt x="216" y="7039"/>
                  </a:lnTo>
                  <a:cubicBezTo>
                    <a:pt x="1" y="7039"/>
                    <a:pt x="1" y="7421"/>
                    <a:pt x="216" y="7421"/>
                  </a:cubicBezTo>
                  <a:lnTo>
                    <a:pt x="7466" y="7421"/>
                  </a:lnTo>
                  <a:cubicBezTo>
                    <a:pt x="7657" y="7421"/>
                    <a:pt x="7657" y="7039"/>
                    <a:pt x="7466" y="7039"/>
                  </a:cubicBezTo>
                  <a:lnTo>
                    <a:pt x="4676" y="7039"/>
                  </a:lnTo>
                  <a:lnTo>
                    <a:pt x="5582" y="6133"/>
                  </a:lnTo>
                  <a:lnTo>
                    <a:pt x="5677" y="6037"/>
                  </a:lnTo>
                  <a:cubicBezTo>
                    <a:pt x="6274" y="4535"/>
                    <a:pt x="6870" y="3151"/>
                    <a:pt x="7466" y="1673"/>
                  </a:cubicBezTo>
                  <a:cubicBezTo>
                    <a:pt x="7562" y="1458"/>
                    <a:pt x="7657" y="1267"/>
                    <a:pt x="7752" y="1077"/>
                  </a:cubicBezTo>
                  <a:cubicBezTo>
                    <a:pt x="7872" y="671"/>
                    <a:pt x="7752" y="266"/>
                    <a:pt x="7371" y="75"/>
                  </a:cubicBezTo>
                  <a:cubicBezTo>
                    <a:pt x="7263" y="24"/>
                    <a:pt x="7149" y="0"/>
                    <a:pt x="703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5" name="Google Shape;345;p10"/>
            <p:cNvGrpSpPr/>
            <p:nvPr/>
          </p:nvGrpSpPr>
          <p:grpSpPr>
            <a:xfrm>
              <a:off x="457200" y="1001763"/>
              <a:ext cx="1821900" cy="481200"/>
              <a:chOff x="457200" y="1001763"/>
              <a:chExt cx="1821900" cy="481200"/>
            </a:xfrm>
          </p:grpSpPr>
          <p:grpSp>
            <p:nvGrpSpPr>
              <p:cNvPr id="346" name="Google Shape;346;p10"/>
              <p:cNvGrpSpPr/>
              <p:nvPr/>
            </p:nvGrpSpPr>
            <p:grpSpPr>
              <a:xfrm>
                <a:off x="457200" y="1001763"/>
                <a:ext cx="1587600" cy="481200"/>
                <a:chOff x="457200" y="1001763"/>
                <a:chExt cx="1587600" cy="481200"/>
              </a:xfrm>
            </p:grpSpPr>
            <p:sp>
              <p:nvSpPr>
                <p:cNvPr id="347" name="Google Shape;347;p10"/>
                <p:cNvSpPr/>
                <p:nvPr/>
              </p:nvSpPr>
              <p:spPr>
                <a:xfrm>
                  <a:off x="457200" y="1001763"/>
                  <a:ext cx="1587600" cy="481200"/>
                </a:xfrm>
                <a:prstGeom prst="roundRect">
                  <a:avLst>
                    <a:gd fmla="val 50000" name="adj"/>
                  </a:avLst>
                </a:prstGeom>
                <a:solidFill>
                  <a:srgbClr val="B33F6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0"/>
                <p:cNvSpPr txBox="1"/>
                <p:nvPr/>
              </p:nvSpPr>
              <p:spPr>
                <a:xfrm>
                  <a:off x="666151" y="1118425"/>
                  <a:ext cx="13128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0" lang="en" sz="1700" u="none" cap="none" strike="noStrike">
                      <a:solidFill>
                        <a:srgbClr val="FFFFFF"/>
                      </a:solidFill>
                      <a:latin typeface="Fira Sans Extra Condensed Medium"/>
                      <a:ea typeface="Fira Sans Extra Condensed Medium"/>
                      <a:cs typeface="Fira Sans Extra Condensed Medium"/>
                      <a:sym typeface="Fira Sans Extra Condensed Medium"/>
                    </a:rPr>
                    <a:t>Physical Data Model</a:t>
                  </a:r>
                  <a:endParaRPr b="0" i="0" sz="17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grpSp>
          <p:cxnSp>
            <p:nvCxnSpPr>
              <p:cNvPr id="349" name="Google Shape;349;p10"/>
              <p:cNvCxnSpPr>
                <a:stCxn id="347" idx="3"/>
                <a:endCxn id="350" idx="1"/>
              </p:cNvCxnSpPr>
              <p:nvPr/>
            </p:nvCxnSpPr>
            <p:spPr>
              <a:xfrm>
                <a:off x="2044800" y="1242363"/>
                <a:ext cx="234300" cy="0"/>
              </a:xfrm>
              <a:prstGeom prst="straightConnector1">
                <a:avLst/>
              </a:prstGeom>
              <a:noFill/>
              <a:ln cap="flat" cmpd="sng" w="9525">
                <a:solidFill>
                  <a:srgbClr val="451E7B"/>
                </a:solidFill>
                <a:prstDash val="solid"/>
                <a:round/>
                <a:headEnd len="sm" w="sm" type="none"/>
                <a:tailEnd len="sm" w="sm" type="none"/>
              </a:ln>
            </p:spPr>
          </p:cxnSp>
        </p:grpSp>
      </p:grpSp>
      <p:sp>
        <p:nvSpPr>
          <p:cNvPr id="350" name="Google Shape;350;p10"/>
          <p:cNvSpPr/>
          <p:nvPr/>
        </p:nvSpPr>
        <p:spPr>
          <a:xfrm>
            <a:off x="1794700" y="3383700"/>
            <a:ext cx="1816200" cy="1495500"/>
          </a:xfrm>
          <a:prstGeom prst="rect">
            <a:avLst/>
          </a:prstGeom>
          <a:solidFill>
            <a:srgbClr val="B33F62">
              <a:alpha val="4509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student_id</a:t>
            </a:r>
            <a:r>
              <a:rPr b="1" i="0" lang="en" sz="1400" u="none" cap="none" strike="noStrike">
                <a:solidFill>
                  <a:schemeClr val="lt1"/>
                </a:solidFill>
                <a:latin typeface="Fira Sans Extra Condensed"/>
                <a:ea typeface="Fira Sans Extra Condensed"/>
                <a:cs typeface="Fira Sans Extra Condensed"/>
                <a:sym typeface="Fira Sans Extra Condensed"/>
              </a:rPr>
              <a:t> INT(10)</a:t>
            </a:r>
            <a:endParaRPr b="1" i="0" sz="1400" u="none" cap="none" strike="noStrike">
              <a:solidFill>
                <a:schemeClr val="lt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name </a:t>
            </a:r>
            <a:r>
              <a:rPr b="1" i="0" lang="en" sz="1400" u="none" cap="none" strike="noStrike">
                <a:solidFill>
                  <a:schemeClr val="lt1"/>
                </a:solidFill>
                <a:latin typeface="Fira Sans Extra Condensed"/>
                <a:ea typeface="Fira Sans Extra Condensed"/>
                <a:cs typeface="Fira Sans Extra Condensed"/>
                <a:sym typeface="Fira Sans Extra Condensed"/>
              </a:rPr>
              <a:t>VARCHAR(50)</a:t>
            </a:r>
            <a:endParaRPr b="1" i="0" sz="1400" u="none" cap="none" strike="noStrike">
              <a:solidFill>
                <a:schemeClr val="lt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dob </a:t>
            </a:r>
            <a:r>
              <a:rPr b="1" i="0" lang="en" sz="1400" u="none" cap="none" strike="noStrike">
                <a:solidFill>
                  <a:schemeClr val="lt1"/>
                </a:solidFill>
                <a:latin typeface="Fira Sans Extra Condensed"/>
                <a:ea typeface="Fira Sans Extra Condensed"/>
                <a:cs typeface="Fira Sans Extra Condensed"/>
                <a:sym typeface="Fira Sans Extra Condensed"/>
              </a:rPr>
              <a:t>DATE</a:t>
            </a:r>
            <a:endParaRPr b="1" i="0" sz="1400" u="none" cap="none" strike="noStrike">
              <a:solidFill>
                <a:schemeClr val="lt1"/>
              </a:solidFill>
              <a:latin typeface="Fira Sans Extra Condensed"/>
              <a:ea typeface="Fira Sans Extra Condensed"/>
              <a:cs typeface="Fira Sans Extra Condensed"/>
              <a:sym typeface="Fira Sans Extra Condensed"/>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enrollment_date </a:t>
            </a:r>
            <a:r>
              <a:rPr b="1" i="0" lang="en" sz="1400" u="none" cap="none" strike="noStrike">
                <a:solidFill>
                  <a:schemeClr val="lt1"/>
                </a:solidFill>
                <a:latin typeface="Fira Sans Extra Condensed"/>
                <a:ea typeface="Fira Sans Extra Condensed"/>
                <a:cs typeface="Fira Sans Extra Condensed"/>
                <a:sym typeface="Fira Sans Extra Condensed"/>
              </a:rPr>
              <a:t>DATE</a:t>
            </a:r>
            <a:endParaRPr b="1" i="0" sz="1400" u="none" cap="none" strike="noStrike">
              <a:solidFill>
                <a:schemeClr val="lt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Active </a:t>
            </a:r>
            <a:r>
              <a:rPr b="1" i="0" lang="en" sz="1400" u="none" cap="none" strike="noStrike">
                <a:solidFill>
                  <a:schemeClr val="lt1"/>
                </a:solidFill>
                <a:latin typeface="Fira Sans Extra Condensed"/>
                <a:ea typeface="Fira Sans Extra Condensed"/>
                <a:cs typeface="Fira Sans Extra Condensed"/>
                <a:sym typeface="Fira Sans Extra Condensed"/>
              </a:rPr>
              <a:t>BOOLEAN</a:t>
            </a:r>
            <a:endParaRPr b="1" i="0" sz="1400" u="none" cap="none" strike="noStrike">
              <a:solidFill>
                <a:schemeClr val="dk1"/>
              </a:solidFill>
              <a:latin typeface="Fira Sans Extra Condensed"/>
              <a:ea typeface="Fira Sans Extra Condensed"/>
              <a:cs typeface="Fira Sans Extra Condensed"/>
              <a:sym typeface="Fira Sans Extra Condensed"/>
            </a:endParaRPr>
          </a:p>
        </p:txBody>
      </p:sp>
      <p:sp>
        <p:nvSpPr>
          <p:cNvPr id="351" name="Google Shape;351;p10"/>
          <p:cNvSpPr/>
          <p:nvPr/>
        </p:nvSpPr>
        <p:spPr>
          <a:xfrm>
            <a:off x="4019450" y="3383825"/>
            <a:ext cx="2019000" cy="1495500"/>
          </a:xfrm>
          <a:prstGeom prst="rect">
            <a:avLst/>
          </a:prstGeom>
          <a:solidFill>
            <a:srgbClr val="B33F62">
              <a:alpha val="4509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course_id </a:t>
            </a:r>
            <a:r>
              <a:rPr b="1" i="0" lang="en" sz="1400" u="none" cap="none" strike="noStrike">
                <a:solidFill>
                  <a:schemeClr val="lt1"/>
                </a:solidFill>
                <a:latin typeface="Fira Sans Extra Condensed"/>
                <a:ea typeface="Fira Sans Extra Condensed"/>
                <a:cs typeface="Fira Sans Extra Condensed"/>
                <a:sym typeface="Fira Sans Extra Condensed"/>
              </a:rPr>
              <a:t>CHAR(10)</a:t>
            </a:r>
            <a:endParaRPr b="1" i="0" sz="1400" u="none" cap="none" strike="noStrike">
              <a:solidFill>
                <a:schemeClr val="lt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title </a:t>
            </a:r>
            <a:r>
              <a:rPr b="1" i="0" lang="en" sz="1400" u="none" cap="none" strike="noStrike">
                <a:solidFill>
                  <a:schemeClr val="lt1"/>
                </a:solidFill>
                <a:latin typeface="Fira Sans Extra Condensed"/>
                <a:ea typeface="Fira Sans Extra Condensed"/>
                <a:cs typeface="Fira Sans Extra Condensed"/>
                <a:sym typeface="Fira Sans Extra Condensed"/>
              </a:rPr>
              <a:t>VARCHAR(50) </a:t>
            </a:r>
            <a:endParaRPr b="1" i="0" sz="1400" u="none" cap="none" strike="noStrike">
              <a:solidFill>
                <a:schemeClr val="lt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prerequisite </a:t>
            </a:r>
            <a:r>
              <a:rPr b="1" i="0" lang="en" sz="1400" u="none" cap="none" strike="noStrike">
                <a:solidFill>
                  <a:schemeClr val="lt1"/>
                </a:solidFill>
                <a:latin typeface="Fira Sans Extra Condensed"/>
                <a:ea typeface="Fira Sans Extra Condensed"/>
                <a:cs typeface="Fira Sans Extra Condensed"/>
                <a:sym typeface="Fira Sans Extra Condensed"/>
              </a:rPr>
              <a:t>CHAR(10)</a:t>
            </a:r>
            <a:endParaRPr b="1" i="0" sz="1400" u="none" cap="none" strike="noStrike">
              <a:solidFill>
                <a:schemeClr val="lt1"/>
              </a:solidFill>
              <a:latin typeface="Fira Sans Extra Condensed"/>
              <a:ea typeface="Fira Sans Extra Condensed"/>
              <a:cs typeface="Fira Sans Extra Condensed"/>
              <a:sym typeface="Fira Sans Extra Condensed"/>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Fira Sans Extra Condensed"/>
                <a:ea typeface="Fira Sans Extra Condensed"/>
                <a:cs typeface="Fira Sans Extra Condensed"/>
                <a:sym typeface="Fira Sans Extra Condensed"/>
              </a:rPr>
              <a:t>level </a:t>
            </a:r>
            <a:r>
              <a:rPr b="1" i="0" lang="en" sz="1400" u="none" cap="none" strike="noStrike">
                <a:solidFill>
                  <a:schemeClr val="lt1"/>
                </a:solidFill>
                <a:latin typeface="Fira Sans Extra Condensed"/>
                <a:ea typeface="Fira Sans Extra Condensed"/>
                <a:cs typeface="Fira Sans Extra Condensed"/>
                <a:sym typeface="Fira Sans Extra Condensed"/>
              </a:rPr>
              <a:t>CHAR(10)</a:t>
            </a:r>
            <a:endParaRPr b="1" i="0" sz="1400" u="none" cap="none" strike="noStrike">
              <a:solidFill>
                <a:schemeClr val="lt1"/>
              </a:solidFill>
              <a:latin typeface="Fira Sans Extra Condensed"/>
              <a:ea typeface="Fira Sans Extra Condensed"/>
              <a:cs typeface="Fira Sans Extra Condensed"/>
              <a:sym typeface="Fira Sans Extra Condensed"/>
            </a:endParaRPr>
          </a:p>
        </p:txBody>
      </p:sp>
      <p:sp>
        <p:nvSpPr>
          <p:cNvPr id="352" name="Google Shape;352;p10"/>
          <p:cNvSpPr txBox="1"/>
          <p:nvPr>
            <p:ph type="title"/>
          </p:nvPr>
        </p:nvSpPr>
        <p:spPr>
          <a:xfrm>
            <a:off x="457200" y="185575"/>
            <a:ext cx="5581200" cy="49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Roboto"/>
                <a:ea typeface="Roboto"/>
                <a:cs typeface="Roboto"/>
                <a:sym typeface="Roboto"/>
              </a:rPr>
              <a:t>Example Data Model</a:t>
            </a:r>
            <a:endParaRPr>
              <a:latin typeface="Roboto"/>
              <a:ea typeface="Roboto"/>
              <a:cs typeface="Roboto"/>
              <a:sym typeface="Roboto"/>
            </a:endParaRPr>
          </a:p>
        </p:txBody>
      </p:sp>
      <p:sp>
        <p:nvSpPr>
          <p:cNvPr id="353" name="Google Shape;353;p10"/>
          <p:cNvSpPr txBox="1"/>
          <p:nvPr/>
        </p:nvSpPr>
        <p:spPr>
          <a:xfrm>
            <a:off x="6244775" y="1895313"/>
            <a:ext cx="2689200" cy="135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Now, let’s show the objects at a more detailed level by including more information about our tables by including attributes/columns/fields about the tables</a:t>
            </a:r>
            <a:endParaRPr b="0" i="0" sz="1200" u="none" cap="none" strike="noStrike">
              <a:solidFill>
                <a:srgbClr val="000000"/>
              </a:solidFill>
              <a:latin typeface="Roboto"/>
              <a:ea typeface="Roboto"/>
              <a:cs typeface="Roboto"/>
              <a:sym typeface="Roboto"/>
            </a:endParaRPr>
          </a:p>
        </p:txBody>
      </p:sp>
      <p:sp>
        <p:nvSpPr>
          <p:cNvPr id="354" name="Google Shape;354;p10"/>
          <p:cNvSpPr txBox="1"/>
          <p:nvPr/>
        </p:nvSpPr>
        <p:spPr>
          <a:xfrm>
            <a:off x="6298350" y="3526188"/>
            <a:ext cx="2689200" cy="135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Now, it’s time to get down to the nitty-gritty by further defining the actual column names, data types, keys and relationships  which will later be translated into production database</a:t>
            </a:r>
            <a:endParaRPr b="0" i="0" sz="12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par>
                                <p:cTn fill="hold" nodeType="with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1"/>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Why Use Data Model?</a:t>
            </a:r>
            <a:endParaRPr>
              <a:solidFill>
                <a:schemeClr val="dk1"/>
              </a:solidFill>
            </a:endParaRPr>
          </a:p>
        </p:txBody>
      </p:sp>
      <p:sp>
        <p:nvSpPr>
          <p:cNvPr id="360" name="Google Shape;360;p11"/>
          <p:cNvSpPr/>
          <p:nvPr/>
        </p:nvSpPr>
        <p:spPr>
          <a:xfrm>
            <a:off x="1089488" y="3980461"/>
            <a:ext cx="689400" cy="689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1"/>
          <p:cNvSpPr/>
          <p:nvPr/>
        </p:nvSpPr>
        <p:spPr>
          <a:xfrm>
            <a:off x="1089438" y="3010300"/>
            <a:ext cx="689400" cy="6894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1"/>
          <p:cNvSpPr/>
          <p:nvPr/>
        </p:nvSpPr>
        <p:spPr>
          <a:xfrm>
            <a:off x="1089500" y="2095588"/>
            <a:ext cx="689400" cy="689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1"/>
          <p:cNvSpPr/>
          <p:nvPr/>
        </p:nvSpPr>
        <p:spPr>
          <a:xfrm>
            <a:off x="1089488" y="1176786"/>
            <a:ext cx="689400" cy="6894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1"/>
          <p:cNvSpPr txBox="1"/>
          <p:nvPr/>
        </p:nvSpPr>
        <p:spPr>
          <a:xfrm>
            <a:off x="1909700" y="1148625"/>
            <a:ext cx="1718100" cy="34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accent1"/>
                </a:solidFill>
                <a:latin typeface="Fira Sans Extra Condensed"/>
                <a:ea typeface="Fira Sans Extra Condensed"/>
                <a:cs typeface="Fira Sans Extra Condensed"/>
                <a:sym typeface="Fira Sans Extra Condensed"/>
              </a:rPr>
              <a:t>accuracy</a:t>
            </a:r>
            <a:endParaRPr b="1" i="0" sz="1800" u="none" cap="none" strike="noStrike">
              <a:solidFill>
                <a:schemeClr val="accent1"/>
              </a:solidFill>
              <a:latin typeface="Fira Sans Extra Condensed"/>
              <a:ea typeface="Fira Sans Extra Condensed"/>
              <a:cs typeface="Fira Sans Extra Condensed"/>
              <a:sym typeface="Fira Sans Extra Condensed"/>
            </a:endParaRPr>
          </a:p>
        </p:txBody>
      </p:sp>
      <p:sp>
        <p:nvSpPr>
          <p:cNvPr id="365" name="Google Shape;365;p11"/>
          <p:cNvSpPr txBox="1"/>
          <p:nvPr/>
        </p:nvSpPr>
        <p:spPr>
          <a:xfrm>
            <a:off x="1909700" y="1418175"/>
            <a:ext cx="6397500" cy="43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make certain that data objects  are represented accurately.</a:t>
            </a:r>
            <a:endParaRPr b="0" i="0" sz="1400" u="none" cap="none" strike="noStrike">
              <a:solidFill>
                <a:srgbClr val="000000"/>
              </a:solidFill>
              <a:latin typeface="Roboto"/>
              <a:ea typeface="Roboto"/>
              <a:cs typeface="Roboto"/>
              <a:sym typeface="Roboto"/>
            </a:endParaRPr>
          </a:p>
        </p:txBody>
      </p:sp>
      <p:sp>
        <p:nvSpPr>
          <p:cNvPr id="366" name="Google Shape;366;p11"/>
          <p:cNvSpPr txBox="1"/>
          <p:nvPr/>
        </p:nvSpPr>
        <p:spPr>
          <a:xfrm>
            <a:off x="1909700" y="1989625"/>
            <a:ext cx="1718100" cy="43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2"/>
                </a:solidFill>
                <a:latin typeface="Fira Sans Extra Condensed"/>
                <a:ea typeface="Fira Sans Extra Condensed"/>
                <a:cs typeface="Fira Sans Extra Condensed"/>
                <a:sym typeface="Fira Sans Extra Condensed"/>
              </a:rPr>
              <a:t>relationship</a:t>
            </a:r>
            <a:endParaRPr b="1" i="0" sz="1600" u="none" cap="none" strike="noStrike">
              <a:solidFill>
                <a:schemeClr val="accent2"/>
              </a:solidFill>
              <a:latin typeface="Fira Sans Extra Condensed"/>
              <a:ea typeface="Fira Sans Extra Condensed"/>
              <a:cs typeface="Fira Sans Extra Condensed"/>
              <a:sym typeface="Fira Sans Extra Condensed"/>
            </a:endParaRPr>
          </a:p>
        </p:txBody>
      </p:sp>
      <p:sp>
        <p:nvSpPr>
          <p:cNvPr id="367" name="Google Shape;367;p11"/>
          <p:cNvSpPr txBox="1"/>
          <p:nvPr/>
        </p:nvSpPr>
        <p:spPr>
          <a:xfrm>
            <a:off x="1909700" y="2380175"/>
            <a:ext cx="6397500" cy="43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defining the relationship between tables, primary and foreign keys, and stored procedures.</a:t>
            </a:r>
            <a:endParaRPr b="0" i="0" sz="1400" u="none" cap="none" strike="noStrike">
              <a:solidFill>
                <a:srgbClr val="000000"/>
              </a:solidFill>
              <a:latin typeface="Roboto"/>
              <a:ea typeface="Roboto"/>
              <a:cs typeface="Roboto"/>
              <a:sym typeface="Roboto"/>
            </a:endParaRPr>
          </a:p>
        </p:txBody>
      </p:sp>
      <p:sp>
        <p:nvSpPr>
          <p:cNvPr id="368" name="Google Shape;368;p11"/>
          <p:cNvSpPr txBox="1"/>
          <p:nvPr/>
        </p:nvSpPr>
        <p:spPr>
          <a:xfrm>
            <a:off x="1909700" y="3014825"/>
            <a:ext cx="2339700" cy="25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3"/>
                </a:solidFill>
                <a:latin typeface="Fira Sans Extra Condensed"/>
                <a:ea typeface="Fira Sans Extra Condensed"/>
                <a:cs typeface="Fira Sans Extra Condensed"/>
                <a:sym typeface="Fira Sans Extra Condensed"/>
              </a:rPr>
              <a:t>Identify data sources</a:t>
            </a:r>
            <a:endParaRPr b="1" i="0" sz="1600" u="none" cap="none" strike="noStrike">
              <a:solidFill>
                <a:schemeClr val="accent3"/>
              </a:solidFill>
              <a:latin typeface="Fira Sans Extra Condensed"/>
              <a:ea typeface="Fira Sans Extra Condensed"/>
              <a:cs typeface="Fira Sans Extra Condensed"/>
              <a:sym typeface="Fira Sans Extra Condensed"/>
            </a:endParaRPr>
          </a:p>
        </p:txBody>
      </p:sp>
      <p:sp>
        <p:nvSpPr>
          <p:cNvPr id="369" name="Google Shape;369;p11"/>
          <p:cNvSpPr txBox="1"/>
          <p:nvPr/>
        </p:nvSpPr>
        <p:spPr>
          <a:xfrm>
            <a:off x="1909704" y="3296800"/>
            <a:ext cx="5121000" cy="43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recognize correct sources of data to populate the model</a:t>
            </a:r>
            <a:endParaRPr b="0" i="0" sz="1400" u="none" cap="none" strike="noStrike">
              <a:solidFill>
                <a:srgbClr val="000000"/>
              </a:solidFill>
              <a:latin typeface="Roboto"/>
              <a:ea typeface="Roboto"/>
              <a:cs typeface="Roboto"/>
              <a:sym typeface="Roboto"/>
            </a:endParaRPr>
          </a:p>
        </p:txBody>
      </p:sp>
      <p:sp>
        <p:nvSpPr>
          <p:cNvPr id="370" name="Google Shape;370;p11"/>
          <p:cNvSpPr txBox="1"/>
          <p:nvPr/>
        </p:nvSpPr>
        <p:spPr>
          <a:xfrm>
            <a:off x="1909700" y="3980450"/>
            <a:ext cx="1614300" cy="25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accent4"/>
                </a:solidFill>
                <a:latin typeface="Fira Sans Extra Condensed"/>
                <a:ea typeface="Fira Sans Extra Condensed"/>
                <a:cs typeface="Fira Sans Extra Condensed"/>
                <a:sym typeface="Fira Sans Extra Condensed"/>
              </a:rPr>
              <a:t>Blue print</a:t>
            </a:r>
            <a:endParaRPr b="1" i="0" sz="1600" u="none" cap="none" strike="noStrike">
              <a:solidFill>
                <a:schemeClr val="accent4"/>
              </a:solidFill>
              <a:latin typeface="Fira Sans Extra Condensed"/>
              <a:ea typeface="Fira Sans Extra Condensed"/>
              <a:cs typeface="Fira Sans Extra Condensed"/>
              <a:sym typeface="Fira Sans Extra Condensed"/>
            </a:endParaRPr>
          </a:p>
        </p:txBody>
      </p:sp>
      <p:sp>
        <p:nvSpPr>
          <p:cNvPr id="371" name="Google Shape;371;p11"/>
          <p:cNvSpPr txBox="1"/>
          <p:nvPr/>
        </p:nvSpPr>
        <p:spPr>
          <a:xfrm>
            <a:off x="1909705" y="4232975"/>
            <a:ext cx="5972100" cy="43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Serves as a blueprint to build the actual database </a:t>
            </a:r>
            <a:endParaRPr b="0" i="0" sz="1400" u="none" cap="none" strike="noStrike">
              <a:solidFill>
                <a:srgbClr val="000000"/>
              </a:solidFill>
              <a:latin typeface="Roboto"/>
              <a:ea typeface="Roboto"/>
              <a:cs typeface="Roboto"/>
              <a:sym typeface="Roboto"/>
            </a:endParaRPr>
          </a:p>
        </p:txBody>
      </p:sp>
      <p:grpSp>
        <p:nvGrpSpPr>
          <p:cNvPr id="372" name="Google Shape;372;p11"/>
          <p:cNvGrpSpPr/>
          <p:nvPr/>
        </p:nvGrpSpPr>
        <p:grpSpPr>
          <a:xfrm>
            <a:off x="1307521" y="1327065"/>
            <a:ext cx="253265" cy="339253"/>
            <a:chOff x="3938800" y="4399275"/>
            <a:chExt cx="359700" cy="481825"/>
          </a:xfrm>
        </p:grpSpPr>
        <p:sp>
          <p:nvSpPr>
            <p:cNvPr id="373" name="Google Shape;373;p11"/>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374" name="Google Shape;374;p11"/>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375" name="Google Shape;375;p11"/>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376" name="Google Shape;376;p11"/>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377" name="Google Shape;377;p11"/>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378" name="Google Shape;378;p11"/>
          <p:cNvGrpSpPr/>
          <p:nvPr/>
        </p:nvGrpSpPr>
        <p:grpSpPr>
          <a:xfrm>
            <a:off x="1258640" y="3180434"/>
            <a:ext cx="350995" cy="349133"/>
            <a:chOff x="2404875" y="3955825"/>
            <a:chExt cx="296950" cy="295375"/>
          </a:xfrm>
        </p:grpSpPr>
        <p:sp>
          <p:nvSpPr>
            <p:cNvPr id="379" name="Google Shape;379;p11"/>
            <p:cNvSpPr/>
            <p:nvPr/>
          </p:nvSpPr>
          <p:spPr>
            <a:xfrm>
              <a:off x="2404875" y="3955825"/>
              <a:ext cx="219775" cy="224500"/>
            </a:xfrm>
            <a:custGeom>
              <a:rect b="b" l="l" r="r" t="t"/>
              <a:pathLst>
                <a:path extrusionOk="0" h="8980" w="8791">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1"/>
            <p:cNvSpPr/>
            <p:nvPr/>
          </p:nvSpPr>
          <p:spPr>
            <a:xfrm>
              <a:off x="2510400" y="4024075"/>
              <a:ext cx="191425" cy="87575"/>
            </a:xfrm>
            <a:custGeom>
              <a:rect b="b" l="l" r="r" t="t"/>
              <a:pathLst>
                <a:path extrusionOk="0" h="3503" w="7657">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1"/>
            <p:cNvSpPr/>
            <p:nvPr/>
          </p:nvSpPr>
          <p:spPr>
            <a:xfrm>
              <a:off x="2424550" y="4188175"/>
              <a:ext cx="189050" cy="63025"/>
            </a:xfrm>
            <a:custGeom>
              <a:rect b="b" l="l" r="r" t="t"/>
              <a:pathLst>
                <a:path extrusionOk="0" h="2521" w="7562">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11"/>
            <p:cNvSpPr/>
            <p:nvPr/>
          </p:nvSpPr>
          <p:spPr>
            <a:xfrm>
              <a:off x="2457625" y="4007025"/>
              <a:ext cx="115025" cy="122100"/>
            </a:xfrm>
            <a:custGeom>
              <a:rect b="b" l="l" r="r" t="t"/>
              <a:pathLst>
                <a:path extrusionOk="0" h="4884" w="4601">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3" name="Google Shape;383;p11"/>
          <p:cNvGrpSpPr/>
          <p:nvPr/>
        </p:nvGrpSpPr>
        <p:grpSpPr>
          <a:xfrm>
            <a:off x="1223245" y="4102118"/>
            <a:ext cx="421914" cy="420759"/>
            <a:chOff x="-2571737" y="2403625"/>
            <a:chExt cx="292225" cy="291425"/>
          </a:xfrm>
        </p:grpSpPr>
        <p:sp>
          <p:nvSpPr>
            <p:cNvPr id="384" name="Google Shape;384;p11"/>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1"/>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1"/>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1"/>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1"/>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1"/>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1"/>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1" name="Google Shape;391;p11"/>
          <p:cNvGrpSpPr/>
          <p:nvPr/>
        </p:nvGrpSpPr>
        <p:grpSpPr>
          <a:xfrm>
            <a:off x="1251018" y="2254593"/>
            <a:ext cx="366364" cy="367290"/>
            <a:chOff x="-61784125" y="3377700"/>
            <a:chExt cx="316650" cy="317450"/>
          </a:xfrm>
        </p:grpSpPr>
        <p:sp>
          <p:nvSpPr>
            <p:cNvPr id="392" name="Google Shape;392;p11"/>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1"/>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1"/>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1"/>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1"/>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1"/>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1"/>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4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25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2"/>
          <p:cNvSpPr txBox="1"/>
          <p:nvPr>
            <p:ph type="title"/>
          </p:nvPr>
        </p:nvSpPr>
        <p:spPr>
          <a:xfrm>
            <a:off x="457200" y="14190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The Software Development Life Cycle</a:t>
            </a:r>
            <a:endParaRPr/>
          </a:p>
        </p:txBody>
      </p:sp>
      <p:sp>
        <p:nvSpPr>
          <p:cNvPr id="404" name="Google Shape;404;p12"/>
          <p:cNvSpPr txBox="1"/>
          <p:nvPr/>
        </p:nvSpPr>
        <p:spPr>
          <a:xfrm>
            <a:off x="457200" y="1059400"/>
            <a:ext cx="3300900" cy="363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 core aspect of software development is the subdivision of the development process into a series of phases, or steps, each of which focuses on one aspect of the development. The collection of these steps is sometimes referred to as the</a:t>
            </a:r>
            <a:r>
              <a:rPr b="1" i="0" lang="en" sz="1400" u="none" cap="none" strike="noStrike">
                <a:solidFill>
                  <a:srgbClr val="000000"/>
                </a:solidFill>
                <a:latin typeface="Roboto"/>
                <a:ea typeface="Roboto"/>
                <a:cs typeface="Roboto"/>
                <a:sym typeface="Roboto"/>
              </a:rPr>
              <a:t> software development life cycle (SDLC)</a:t>
            </a:r>
            <a:r>
              <a:rPr b="0" i="0" lang="en" sz="1400" u="none" cap="none" strike="noStrike">
                <a:solidFill>
                  <a:srgbClr val="000000"/>
                </a:solidFill>
                <a:latin typeface="Roboto"/>
                <a:ea typeface="Roboto"/>
                <a:cs typeface="Roboto"/>
                <a:sym typeface="Roboto"/>
              </a:rPr>
              <a:t>. Database development, like any other computer system development, also follows the same life cycle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To this effect, we  use the </a:t>
            </a:r>
            <a:r>
              <a:rPr b="1" i="0" lang="en" sz="1400" u="none" cap="none" strike="noStrike">
                <a:solidFill>
                  <a:srgbClr val="000000"/>
                </a:solidFill>
                <a:latin typeface="Roboto"/>
                <a:ea typeface="Roboto"/>
                <a:cs typeface="Roboto"/>
                <a:sym typeface="Roboto"/>
              </a:rPr>
              <a:t>waterfall </a:t>
            </a:r>
            <a:r>
              <a:rPr b="0" i="0" lang="en" sz="1400" u="none" cap="none" strike="noStrike">
                <a:solidFill>
                  <a:srgbClr val="000000"/>
                </a:solidFill>
                <a:latin typeface="Roboto"/>
                <a:ea typeface="Roboto"/>
                <a:cs typeface="Roboto"/>
                <a:sym typeface="Roboto"/>
              </a:rPr>
              <a:t>process as a means of identifying the tasks that are required, together with the input and output for each activity.</a:t>
            </a:r>
            <a:endParaRPr b="0" i="0" sz="1400" u="none" cap="none" strike="noStrike">
              <a:solidFill>
                <a:srgbClr val="000000"/>
              </a:solidFill>
              <a:latin typeface="Roboto"/>
              <a:ea typeface="Roboto"/>
              <a:cs typeface="Roboto"/>
              <a:sym typeface="Roboto"/>
            </a:endParaRPr>
          </a:p>
        </p:txBody>
      </p:sp>
      <p:pic>
        <p:nvPicPr>
          <p:cNvPr id="405" name="Google Shape;405;p12"/>
          <p:cNvPicPr preferRelativeResize="0"/>
          <p:nvPr/>
        </p:nvPicPr>
        <p:blipFill rotWithShape="1">
          <a:blip r:embed="rId3">
            <a:alphaModFix/>
          </a:blip>
          <a:srcRect b="0" l="0" r="0" t="0"/>
          <a:stretch/>
        </p:blipFill>
        <p:spPr>
          <a:xfrm>
            <a:off x="3959975" y="1162349"/>
            <a:ext cx="5016276" cy="3426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3"/>
          <p:cNvSpPr txBox="1"/>
          <p:nvPr>
            <p:ph type="title"/>
          </p:nvPr>
        </p:nvSpPr>
        <p:spPr>
          <a:xfrm>
            <a:off x="457200" y="207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Requirements Gathering</a:t>
            </a:r>
            <a:endParaRPr/>
          </a:p>
        </p:txBody>
      </p:sp>
      <p:sp>
        <p:nvSpPr>
          <p:cNvPr id="411" name="Google Shape;411;p13"/>
          <p:cNvSpPr txBox="1"/>
          <p:nvPr/>
        </p:nvSpPr>
        <p:spPr>
          <a:xfrm>
            <a:off x="457200" y="1341750"/>
            <a:ext cx="5283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Before you start your work and get your hands dirty in database designing, it is very important to gather the complete requirements of the system.</a:t>
            </a:r>
            <a:endParaRPr b="0" i="0" sz="1400" u="none" cap="none" strike="noStrike">
              <a:solidFill>
                <a:srgbClr val="000000"/>
              </a:solidFill>
              <a:latin typeface="Roboto"/>
              <a:ea typeface="Roboto"/>
              <a:cs typeface="Roboto"/>
              <a:sym typeface="Roboto"/>
            </a:endParaRPr>
          </a:p>
        </p:txBody>
      </p:sp>
      <p:sp>
        <p:nvSpPr>
          <p:cNvPr id="412" name="Google Shape;412;p13"/>
          <p:cNvSpPr txBox="1"/>
          <p:nvPr/>
        </p:nvSpPr>
        <p:spPr>
          <a:xfrm>
            <a:off x="5624550" y="765500"/>
            <a:ext cx="3519600" cy="1262100"/>
          </a:xfrm>
          <a:prstGeom prst="rect">
            <a:avLst/>
          </a:prstGeom>
          <a:solidFill>
            <a:srgbClr val="EC3A3B"/>
          </a:solid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Roboto"/>
                <a:ea typeface="Roboto"/>
                <a:cs typeface="Roboto"/>
                <a:sym typeface="Roboto"/>
              </a:rPr>
              <a:t>REMEMBER:  when developing a system from the start, it is always easier to design things according to the </a:t>
            </a:r>
            <a:r>
              <a:rPr b="1" i="0" lang="en" sz="1400" u="none" cap="none" strike="noStrike">
                <a:solidFill>
                  <a:schemeClr val="lt1"/>
                </a:solidFill>
                <a:latin typeface="Roboto"/>
                <a:ea typeface="Roboto"/>
                <a:cs typeface="Roboto"/>
                <a:sym typeface="Roboto"/>
              </a:rPr>
              <a:t>system requirements</a:t>
            </a:r>
            <a:r>
              <a:rPr b="0" i="0" lang="en" sz="1400" u="none" cap="none" strike="noStrike">
                <a:solidFill>
                  <a:schemeClr val="lt1"/>
                </a:solidFill>
                <a:latin typeface="Roboto"/>
                <a:ea typeface="Roboto"/>
                <a:cs typeface="Roboto"/>
                <a:sym typeface="Roboto"/>
              </a:rPr>
              <a:t> than  changing things in the existing system once it’s built!</a:t>
            </a:r>
            <a:endParaRPr b="0" i="0" sz="1400" u="none" cap="none" strike="noStrike">
              <a:solidFill>
                <a:schemeClr val="lt1"/>
              </a:solidFill>
              <a:latin typeface="Roboto"/>
              <a:ea typeface="Roboto"/>
              <a:cs typeface="Roboto"/>
              <a:sym typeface="Roboto"/>
            </a:endParaRPr>
          </a:p>
        </p:txBody>
      </p:sp>
      <p:sp>
        <p:nvSpPr>
          <p:cNvPr id="413" name="Google Shape;413;p13"/>
          <p:cNvSpPr txBox="1"/>
          <p:nvPr/>
        </p:nvSpPr>
        <p:spPr>
          <a:xfrm>
            <a:off x="457200" y="2173050"/>
            <a:ext cx="86088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Requirements gathering</a:t>
            </a:r>
            <a:r>
              <a:rPr b="0" i="0" lang="en" sz="1400" u="none" cap="none" strike="noStrike">
                <a:solidFill>
                  <a:srgbClr val="000000"/>
                </a:solidFill>
                <a:latin typeface="Roboto"/>
                <a:ea typeface="Roboto"/>
                <a:cs typeface="Roboto"/>
                <a:sym typeface="Roboto"/>
              </a:rPr>
              <a:t> is the very first and crucial step in database development. You have to gather requirements by interviewing stakeholders or end users of the database and by reviewing documents to understand the proposed system and obtain and document the data and functional requirements. This step is very important because  if once you have built the database and if  you there is something missing or not properly built, then it would be so difficult and very costly  to change the things in the existing system.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You have 2 information sources to gather requirements:</a:t>
            </a:r>
            <a:endParaRPr b="0" i="0" sz="1400" u="none" cap="none" strike="noStrike">
              <a:solidFill>
                <a:srgbClr val="000000"/>
              </a:solidFill>
              <a:latin typeface="Roboto"/>
              <a:ea typeface="Roboto"/>
              <a:cs typeface="Roboto"/>
              <a:sym typeface="Roboto"/>
            </a:endParaRPr>
          </a:p>
        </p:txBody>
      </p:sp>
      <p:sp>
        <p:nvSpPr>
          <p:cNvPr id="414" name="Google Shape;414;p13"/>
          <p:cNvSpPr txBox="1"/>
          <p:nvPr/>
        </p:nvSpPr>
        <p:spPr>
          <a:xfrm>
            <a:off x="457200" y="765500"/>
            <a:ext cx="5283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accent4"/>
                </a:solidFill>
                <a:latin typeface="Fira Sans Extra Condensed SemiBold"/>
                <a:ea typeface="Fira Sans Extra Condensed SemiBold"/>
                <a:cs typeface="Fira Sans Extra Condensed SemiBold"/>
                <a:sym typeface="Fira Sans Extra Condensed SemiBold"/>
              </a:rPr>
              <a:t>Measure twice, cut once!</a:t>
            </a:r>
            <a:endParaRPr b="0" i="0" sz="2500" u="none" cap="none" strike="noStrike">
              <a:solidFill>
                <a:schemeClr val="accent4"/>
              </a:solidFill>
              <a:latin typeface="Fira Sans Extra Condensed SemiBold"/>
              <a:ea typeface="Fira Sans Extra Condensed SemiBold"/>
              <a:cs typeface="Fira Sans Extra Condensed SemiBold"/>
              <a:sym typeface="Fira Sans Extra Condensed SemiBold"/>
            </a:endParaRPr>
          </a:p>
        </p:txBody>
      </p:sp>
      <p:sp>
        <p:nvSpPr>
          <p:cNvPr id="415" name="Google Shape;415;p13"/>
          <p:cNvSpPr txBox="1"/>
          <p:nvPr/>
        </p:nvSpPr>
        <p:spPr>
          <a:xfrm>
            <a:off x="2286575" y="4067725"/>
            <a:ext cx="5283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Fira Sans Extra Condensed SemiBold"/>
                <a:ea typeface="Fira Sans Extra Condensed SemiBold"/>
                <a:cs typeface="Fira Sans Extra Condensed SemiBold"/>
                <a:sym typeface="Fira Sans Extra Condensed SemiBold"/>
              </a:rPr>
              <a:t>1. Stakeholders/people via interviews</a:t>
            </a:r>
            <a:endParaRPr b="0" i="0" sz="1600" u="none" cap="none" strike="noStrike">
              <a:solidFill>
                <a:schemeClr val="accent4"/>
              </a:solidFill>
              <a:latin typeface="Fira Sans Extra Condensed SemiBold"/>
              <a:ea typeface="Fira Sans Extra Condensed SemiBold"/>
              <a:cs typeface="Fira Sans Extra Condensed SemiBold"/>
              <a:sym typeface="Fira Sans Extra Condensed SemiBold"/>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Fira Sans Extra Condensed SemiBold"/>
                <a:ea typeface="Fira Sans Extra Condensed SemiBold"/>
                <a:cs typeface="Fira Sans Extra Condensed SemiBold"/>
                <a:sym typeface="Fira Sans Extra Condensed SemiBold"/>
              </a:rPr>
              <a:t>2. Documentations</a:t>
            </a:r>
            <a:endParaRPr b="0" i="0" sz="1600" u="none" cap="none" strike="noStrike">
              <a:solidFill>
                <a:schemeClr val="accent4"/>
              </a:solidFill>
              <a:latin typeface="Fira Sans Extra Condensed SemiBold"/>
              <a:ea typeface="Fira Sans Extra Condensed SemiBold"/>
              <a:cs typeface="Fira Sans Extra Condensed SemiBold"/>
              <a:sym typeface="Fira Sans Extra Condensed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19" name="Shape 419"/>
        <p:cNvGrpSpPr/>
        <p:nvPr/>
      </p:nvGrpSpPr>
      <p:grpSpPr>
        <a:xfrm>
          <a:off x="0" y="0"/>
          <a:ext cx="0" cy="0"/>
          <a:chOff x="0" y="0"/>
          <a:chExt cx="0" cy="0"/>
        </a:xfrm>
      </p:grpSpPr>
      <p:sp>
        <p:nvSpPr>
          <p:cNvPr id="420" name="Google Shape;420;p14"/>
          <p:cNvSpPr txBox="1"/>
          <p:nvPr>
            <p:ph idx="4294967295" type="title"/>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2500">
                <a:latin typeface="Arial"/>
                <a:ea typeface="Arial"/>
                <a:cs typeface="Arial"/>
                <a:sym typeface="Arial"/>
              </a:rPr>
              <a:t>Class Activity</a:t>
            </a:r>
            <a:endParaRPr sz="2500">
              <a:solidFill>
                <a:srgbClr val="FFFFFF"/>
              </a:solidFill>
              <a:latin typeface="Arial"/>
              <a:ea typeface="Arial"/>
              <a:cs typeface="Arial"/>
              <a:sym typeface="Arial"/>
            </a:endParaRPr>
          </a:p>
        </p:txBody>
      </p:sp>
      <p:sp>
        <p:nvSpPr>
          <p:cNvPr id="421" name="Google Shape;421;p14"/>
          <p:cNvSpPr txBox="1"/>
          <p:nvPr>
            <p:ph idx="4294967295" type="body"/>
          </p:nvPr>
        </p:nvSpPr>
        <p:spPr>
          <a:xfrm>
            <a:off x="706275" y="690275"/>
            <a:ext cx="7389300" cy="63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SzPts val="1800"/>
              <a:buNone/>
            </a:pPr>
            <a:r>
              <a:rPr lang="en" sz="1700">
                <a:solidFill>
                  <a:schemeClr val="accent6"/>
                </a:solidFill>
                <a:latin typeface="Arial"/>
                <a:ea typeface="Arial"/>
                <a:cs typeface="Arial"/>
                <a:sym typeface="Arial"/>
              </a:rPr>
              <a:t>Build a data model and design a database for Datanomics Academy!</a:t>
            </a:r>
            <a:endParaRPr sz="1700">
              <a:solidFill>
                <a:schemeClr val="accent6"/>
              </a:solidFill>
              <a:latin typeface="Arial"/>
              <a:ea typeface="Arial"/>
              <a:cs typeface="Arial"/>
              <a:sym typeface="Arial"/>
            </a:endParaRPr>
          </a:p>
          <a:p>
            <a:pPr indent="0" lvl="0" marL="0" marR="0" rtl="0" algn="l">
              <a:lnSpc>
                <a:spcPct val="115000"/>
              </a:lnSpc>
              <a:spcBef>
                <a:spcPts val="1400"/>
              </a:spcBef>
              <a:spcAft>
                <a:spcPts val="0"/>
              </a:spcAft>
              <a:buSzPts val="1800"/>
              <a:buNone/>
            </a:pPr>
            <a:r>
              <a:rPr b="1" lang="en" sz="1200">
                <a:solidFill>
                  <a:srgbClr val="869FB2"/>
                </a:solidFill>
                <a:latin typeface="Arial"/>
                <a:ea typeface="Arial"/>
                <a:cs typeface="Arial"/>
                <a:sym typeface="Arial"/>
              </a:rPr>
              <a:t>Requirement gathering:</a:t>
            </a:r>
            <a:endParaRPr b="1" sz="1200">
              <a:solidFill>
                <a:srgbClr val="869FB2"/>
              </a:solidFill>
              <a:latin typeface="Arial"/>
              <a:ea typeface="Arial"/>
              <a:cs typeface="Arial"/>
              <a:sym typeface="Arial"/>
            </a:endParaRPr>
          </a:p>
          <a:p>
            <a:pPr indent="-304800" lvl="0" marL="457200" rtl="0" algn="l">
              <a:lnSpc>
                <a:spcPct val="115000"/>
              </a:lnSpc>
              <a:spcBef>
                <a:spcPts val="400"/>
              </a:spcBef>
              <a:spcAft>
                <a:spcPts val="0"/>
              </a:spcAft>
              <a:buClr>
                <a:srgbClr val="FFFFFF"/>
              </a:buClr>
              <a:buSzPts val="1200"/>
              <a:buFont typeface="Arial"/>
              <a:buChar char="●"/>
            </a:pPr>
            <a:r>
              <a:rPr lang="en" sz="1200">
                <a:solidFill>
                  <a:srgbClr val="FFFFFF"/>
                </a:solidFill>
                <a:latin typeface="Arial"/>
                <a:ea typeface="Arial"/>
                <a:cs typeface="Arial"/>
                <a:sym typeface="Arial"/>
              </a:rPr>
              <a:t>Understand the needs and requirements of stakeholders </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Analyze and discuss the requirements </a:t>
            </a:r>
            <a:endParaRPr sz="1200">
              <a:solidFill>
                <a:srgbClr val="FFFFFF"/>
              </a:solidFill>
              <a:latin typeface="Arial"/>
              <a:ea typeface="Arial"/>
              <a:cs typeface="Arial"/>
              <a:sym typeface="Arial"/>
            </a:endParaRPr>
          </a:p>
          <a:p>
            <a:pPr indent="0" lvl="0" marL="0" rtl="0" algn="l">
              <a:lnSpc>
                <a:spcPct val="115000"/>
              </a:lnSpc>
              <a:spcBef>
                <a:spcPts val="1600"/>
              </a:spcBef>
              <a:spcAft>
                <a:spcPts val="0"/>
              </a:spcAft>
              <a:buSzPts val="1800"/>
              <a:buNone/>
            </a:pPr>
            <a:r>
              <a:rPr b="1" lang="en" sz="1200">
                <a:solidFill>
                  <a:srgbClr val="869FB2"/>
                </a:solidFill>
                <a:latin typeface="Arial"/>
                <a:ea typeface="Arial"/>
                <a:cs typeface="Arial"/>
                <a:sym typeface="Arial"/>
              </a:rPr>
              <a:t>Data modelling:</a:t>
            </a:r>
            <a:endParaRPr b="1" sz="1200">
              <a:solidFill>
                <a:srgbClr val="869FB2"/>
              </a:solidFill>
              <a:latin typeface="Arial"/>
              <a:ea typeface="Arial"/>
              <a:cs typeface="Arial"/>
              <a:sym typeface="Arial"/>
            </a:endParaRPr>
          </a:p>
          <a:p>
            <a:pPr indent="-304800" lvl="0" marL="457200" rtl="0" algn="l">
              <a:lnSpc>
                <a:spcPct val="115000"/>
              </a:lnSpc>
              <a:spcBef>
                <a:spcPts val="400"/>
              </a:spcBef>
              <a:spcAft>
                <a:spcPts val="0"/>
              </a:spcAft>
              <a:buClr>
                <a:srgbClr val="FFFFFF"/>
              </a:buClr>
              <a:buSzPts val="1200"/>
              <a:buFont typeface="Arial"/>
              <a:buChar char="●"/>
            </a:pPr>
            <a:r>
              <a:rPr lang="en" sz="1200">
                <a:solidFill>
                  <a:srgbClr val="FFFFFF"/>
                </a:solidFill>
                <a:latin typeface="Arial"/>
                <a:ea typeface="Arial"/>
                <a:cs typeface="Arial"/>
                <a:sym typeface="Arial"/>
              </a:rPr>
              <a:t>Identify all the requirement tables</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Identify all the columns for each tabel </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Determine size, or length, of the column in bytes</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Determine the constraints for each column</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Identify the keys–primary and foreign key </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Build the entity relationships diagram (ER diagram)</a:t>
            </a:r>
            <a:endParaRPr sz="1200">
              <a:solidFill>
                <a:srgbClr val="FFFFFF"/>
              </a:solidFill>
              <a:latin typeface="Arial"/>
              <a:ea typeface="Arial"/>
              <a:cs typeface="Arial"/>
              <a:sym typeface="Arial"/>
            </a:endParaRPr>
          </a:p>
          <a:p>
            <a:pPr indent="0" lvl="0" marL="0" rtl="0" algn="l">
              <a:lnSpc>
                <a:spcPct val="115000"/>
              </a:lnSpc>
              <a:spcBef>
                <a:spcPts val="1600"/>
              </a:spcBef>
              <a:spcAft>
                <a:spcPts val="0"/>
              </a:spcAft>
              <a:buClr>
                <a:schemeClr val="dk1"/>
              </a:buClr>
              <a:buSzPts val="1100"/>
              <a:buFont typeface="Arial"/>
              <a:buNone/>
            </a:pPr>
            <a:r>
              <a:rPr b="1" lang="en" sz="1400">
                <a:solidFill>
                  <a:srgbClr val="869FB2"/>
                </a:solidFill>
                <a:latin typeface="Arial"/>
                <a:ea typeface="Arial"/>
                <a:cs typeface="Arial"/>
                <a:sym typeface="Arial"/>
              </a:rPr>
              <a:t>Implementation: </a:t>
            </a:r>
            <a:r>
              <a:rPr lang="en" sz="1400">
                <a:solidFill>
                  <a:schemeClr val="lt1"/>
                </a:solidFill>
                <a:latin typeface="Arial"/>
                <a:ea typeface="Arial"/>
                <a:cs typeface="Arial"/>
                <a:sym typeface="Arial"/>
              </a:rPr>
              <a:t>NEXT  class activity</a:t>
            </a:r>
            <a:endParaRPr b="1" sz="1400">
              <a:solidFill>
                <a:srgbClr val="869FB2"/>
              </a:solidFill>
              <a:latin typeface="Arial"/>
              <a:ea typeface="Arial"/>
              <a:cs typeface="Arial"/>
              <a:sym typeface="Arial"/>
            </a:endParaRPr>
          </a:p>
          <a:p>
            <a:pPr indent="0" lvl="0" marL="457200" rtl="0" algn="l">
              <a:lnSpc>
                <a:spcPct val="115000"/>
              </a:lnSpc>
              <a:spcBef>
                <a:spcPts val="400"/>
              </a:spcBef>
              <a:spcAft>
                <a:spcPts val="0"/>
              </a:spcAft>
              <a:buSzPts val="1800"/>
              <a:buNone/>
            </a:pPr>
            <a:r>
              <a:t/>
            </a:r>
            <a:endParaRPr sz="1000">
              <a:solidFill>
                <a:schemeClr val="lt1"/>
              </a:solidFill>
              <a:latin typeface="Arial"/>
              <a:ea typeface="Arial"/>
              <a:cs typeface="Arial"/>
              <a:sym typeface="Arial"/>
            </a:endParaRPr>
          </a:p>
          <a:p>
            <a:pPr indent="0" lvl="0" marL="0" rtl="0" algn="l">
              <a:lnSpc>
                <a:spcPct val="115000"/>
              </a:lnSpc>
              <a:spcBef>
                <a:spcPts val="1600"/>
              </a:spcBef>
              <a:spcAft>
                <a:spcPts val="0"/>
              </a:spcAft>
              <a:buSzPts val="1800"/>
              <a:buNone/>
            </a:pPr>
            <a:r>
              <a:t/>
            </a:r>
            <a:endParaRPr sz="1000">
              <a:solidFill>
                <a:srgbClr val="FFFFFF"/>
              </a:solidFill>
              <a:latin typeface="Arial"/>
              <a:ea typeface="Arial"/>
              <a:cs typeface="Arial"/>
              <a:sym typeface="Arial"/>
            </a:endParaRPr>
          </a:p>
          <a:p>
            <a:pPr indent="0" lvl="0" marL="0" rtl="0" algn="l">
              <a:lnSpc>
                <a:spcPct val="115000"/>
              </a:lnSpc>
              <a:spcBef>
                <a:spcPts val="1600"/>
              </a:spcBef>
              <a:spcAft>
                <a:spcPts val="0"/>
              </a:spcAft>
              <a:buSzPts val="1800"/>
              <a:buNone/>
            </a:pPr>
            <a:r>
              <a:t/>
            </a:r>
            <a:endParaRPr sz="1000">
              <a:solidFill>
                <a:srgbClr val="FFFFFF"/>
              </a:solidFill>
              <a:latin typeface="Arial"/>
              <a:ea typeface="Arial"/>
              <a:cs typeface="Arial"/>
              <a:sym typeface="Arial"/>
            </a:endParaRPr>
          </a:p>
          <a:p>
            <a:pPr indent="0" lvl="0" marL="0" rtl="0" algn="ctr">
              <a:lnSpc>
                <a:spcPct val="115000"/>
              </a:lnSpc>
              <a:spcBef>
                <a:spcPts val="1600"/>
              </a:spcBef>
              <a:spcAft>
                <a:spcPts val="0"/>
              </a:spcAft>
              <a:buSzPts val="1800"/>
              <a:buNone/>
            </a:pPr>
            <a:r>
              <a:t/>
            </a:r>
            <a:endParaRPr sz="1000">
              <a:solidFill>
                <a:srgbClr val="435D74"/>
              </a:solidFill>
              <a:latin typeface="Arial"/>
              <a:ea typeface="Arial"/>
              <a:cs typeface="Arial"/>
              <a:sym typeface="Arial"/>
            </a:endParaRPr>
          </a:p>
          <a:p>
            <a:pPr indent="0" lvl="0" marL="0" rtl="0" algn="ctr">
              <a:lnSpc>
                <a:spcPct val="115000"/>
              </a:lnSpc>
              <a:spcBef>
                <a:spcPts val="1600"/>
              </a:spcBef>
              <a:spcAft>
                <a:spcPts val="0"/>
              </a:spcAft>
              <a:buSzPts val="1800"/>
              <a:buNone/>
            </a:pPr>
            <a:r>
              <a:t/>
            </a:r>
            <a:endParaRPr sz="1300">
              <a:solidFill>
                <a:srgbClr val="435D74"/>
              </a:solidFill>
              <a:latin typeface="Arial"/>
              <a:ea typeface="Arial"/>
              <a:cs typeface="Arial"/>
              <a:sym typeface="Arial"/>
            </a:endParaRPr>
          </a:p>
          <a:p>
            <a:pPr indent="0" lvl="0" marL="0" rtl="0" algn="l">
              <a:lnSpc>
                <a:spcPct val="115000"/>
              </a:lnSpc>
              <a:spcBef>
                <a:spcPts val="1600"/>
              </a:spcBef>
              <a:spcAft>
                <a:spcPts val="1600"/>
              </a:spcAft>
              <a:buSzPts val="1800"/>
              <a:buNone/>
            </a:pPr>
            <a:r>
              <a:t/>
            </a:r>
            <a:endParaRPr sz="1300">
              <a:solidFill>
                <a:srgbClr val="435D74"/>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5"/>
          <p:cNvSpPr/>
          <p:nvPr/>
        </p:nvSpPr>
        <p:spPr>
          <a:xfrm>
            <a:off x="2646750" y="192875"/>
            <a:ext cx="3889800" cy="450000"/>
          </a:xfrm>
          <a:prstGeom prst="roundRect">
            <a:avLst>
              <a:gd fmla="val 16667" name="adj"/>
            </a:avLst>
          </a:prstGeom>
          <a:solidFill>
            <a:schemeClr val="lt2"/>
          </a:solidFill>
          <a:ln cap="flat" cmpd="sng" w="9525">
            <a:solidFill>
              <a:srgbClr val="AAAA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5"/>
          <p:cNvSpPr/>
          <p:nvPr/>
        </p:nvSpPr>
        <p:spPr>
          <a:xfrm>
            <a:off x="2838500" y="235813"/>
            <a:ext cx="939600" cy="3714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3</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428" name="Google Shape;428;p15"/>
          <p:cNvSpPr txBox="1"/>
          <p:nvPr>
            <p:ph type="title"/>
          </p:nvPr>
        </p:nvSpPr>
        <p:spPr>
          <a:xfrm>
            <a:off x="3823025" y="196525"/>
            <a:ext cx="2788500" cy="45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800"/>
              <a:t>Databases Normalization</a:t>
            </a:r>
            <a:endParaRPr sz="1800"/>
          </a:p>
        </p:txBody>
      </p:sp>
      <p:sp>
        <p:nvSpPr>
          <p:cNvPr id="429" name="Google Shape;429;p15"/>
          <p:cNvSpPr txBox="1"/>
          <p:nvPr/>
        </p:nvSpPr>
        <p:spPr>
          <a:xfrm>
            <a:off x="368500" y="1208525"/>
            <a:ext cx="8660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Roboto"/>
                <a:ea typeface="Roboto"/>
                <a:cs typeface="Roboto"/>
                <a:sym typeface="Roboto"/>
              </a:rPr>
              <a:t>Normalization </a:t>
            </a:r>
            <a:r>
              <a:rPr b="0" i="0" lang="en" sz="1500" u="none" cap="none" strike="noStrike">
                <a:solidFill>
                  <a:srgbClr val="000000"/>
                </a:solidFill>
                <a:latin typeface="Roboto"/>
                <a:ea typeface="Roboto"/>
                <a:cs typeface="Roboto"/>
                <a:sym typeface="Roboto"/>
              </a:rPr>
              <a:t>is he process of efficiently organizing data in a database by  dividing larger tables into smaller tables and linkinging  them using relationships. Normalization helps us achieve two fundamental goals:</a:t>
            </a:r>
            <a:endParaRPr b="0" i="0" sz="15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430" name="Google Shape;430;p15"/>
          <p:cNvSpPr txBox="1"/>
          <p:nvPr/>
        </p:nvSpPr>
        <p:spPr>
          <a:xfrm>
            <a:off x="2286550" y="2439550"/>
            <a:ext cx="5283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Fira Sans Extra Condensed SemiBold"/>
                <a:ea typeface="Fira Sans Extra Condensed SemiBold"/>
                <a:cs typeface="Fira Sans Extra Condensed SemiBold"/>
                <a:sym typeface="Fira Sans Extra Condensed SemiBold"/>
              </a:rPr>
              <a:t>1. Reduce  redundant/duplicate data</a:t>
            </a:r>
            <a:endParaRPr b="0" i="0" sz="1600" u="none" cap="none" strike="noStrike">
              <a:solidFill>
                <a:schemeClr val="accent4"/>
              </a:solidFill>
              <a:latin typeface="Fira Sans Extra Condensed SemiBold"/>
              <a:ea typeface="Fira Sans Extra Condensed SemiBold"/>
              <a:cs typeface="Fira Sans Extra Condensed SemiBold"/>
              <a:sym typeface="Fira Sans Extra Condensed SemiBold"/>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Fira Sans Extra Condensed SemiBold"/>
                <a:ea typeface="Fira Sans Extra Condensed SemiBold"/>
                <a:cs typeface="Fira Sans Extra Condensed SemiBold"/>
                <a:sym typeface="Fira Sans Extra Condensed SemiBold"/>
              </a:rPr>
              <a:t>2. Eliminate insertion, deletion and update anomalies</a:t>
            </a:r>
            <a:endParaRPr b="0" i="0" sz="1600" u="none" cap="none" strike="noStrike">
              <a:solidFill>
                <a:schemeClr val="accent4"/>
              </a:solidFill>
              <a:latin typeface="Fira Sans Extra Condensed SemiBold"/>
              <a:ea typeface="Fira Sans Extra Condensed SemiBold"/>
              <a:cs typeface="Fira Sans Extra Condensed SemiBold"/>
              <a:sym typeface="Fira Sans Extra Condensed SemiBold"/>
            </a:endParaRPr>
          </a:p>
        </p:txBody>
      </p:sp>
      <p:sp>
        <p:nvSpPr>
          <p:cNvPr id="431" name="Google Shape;431;p15"/>
          <p:cNvSpPr txBox="1"/>
          <p:nvPr/>
        </p:nvSpPr>
        <p:spPr>
          <a:xfrm>
            <a:off x="368500" y="3424475"/>
            <a:ext cx="86604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Both goals are crucial as they reduce the amount of space a database consumes and ensure that data is logically stored, ultimately improving the database performance.</a:t>
            </a:r>
            <a:endParaRPr b="0" i="0" sz="15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16"/>
          <p:cNvSpPr/>
          <p:nvPr/>
        </p:nvSpPr>
        <p:spPr>
          <a:xfrm>
            <a:off x="5813437" y="2484835"/>
            <a:ext cx="1550100" cy="1164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6"/>
          <p:cNvSpPr/>
          <p:nvPr/>
        </p:nvSpPr>
        <p:spPr>
          <a:xfrm>
            <a:off x="4052468" y="2484835"/>
            <a:ext cx="1550100" cy="1164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6"/>
          <p:cNvSpPr/>
          <p:nvPr/>
        </p:nvSpPr>
        <p:spPr>
          <a:xfrm>
            <a:off x="5455930" y="2751429"/>
            <a:ext cx="569003" cy="659655"/>
          </a:xfrm>
          <a:custGeom>
            <a:rect b="b" l="l" r="r" t="t"/>
            <a:pathLst>
              <a:path extrusionOk="0" h="23419" w="15124">
                <a:moveTo>
                  <a:pt x="0" y="0"/>
                </a:moveTo>
                <a:lnTo>
                  <a:pt x="8128" y="11730"/>
                </a:lnTo>
                <a:lnTo>
                  <a:pt x="0" y="23418"/>
                </a:lnTo>
                <a:lnTo>
                  <a:pt x="7038" y="23418"/>
                </a:lnTo>
                <a:lnTo>
                  <a:pt x="15124" y="11730"/>
                </a:lnTo>
                <a:lnTo>
                  <a:pt x="703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6"/>
          <p:cNvSpPr/>
          <p:nvPr/>
        </p:nvSpPr>
        <p:spPr>
          <a:xfrm>
            <a:off x="5258361" y="2751429"/>
            <a:ext cx="569003" cy="659655"/>
          </a:xfrm>
          <a:custGeom>
            <a:rect b="b" l="l" r="r" t="t"/>
            <a:pathLst>
              <a:path extrusionOk="0" h="23419" w="15124">
                <a:moveTo>
                  <a:pt x="0" y="0"/>
                </a:moveTo>
                <a:lnTo>
                  <a:pt x="8086" y="11730"/>
                </a:lnTo>
                <a:lnTo>
                  <a:pt x="0" y="23418"/>
                </a:lnTo>
                <a:lnTo>
                  <a:pt x="7038" y="23418"/>
                </a:lnTo>
                <a:lnTo>
                  <a:pt x="15124" y="11730"/>
                </a:lnTo>
                <a:lnTo>
                  <a:pt x="703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6"/>
          <p:cNvSpPr/>
          <p:nvPr/>
        </p:nvSpPr>
        <p:spPr>
          <a:xfrm>
            <a:off x="2255167" y="2484835"/>
            <a:ext cx="1550100" cy="1164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6"/>
          <p:cNvSpPr/>
          <p:nvPr/>
        </p:nvSpPr>
        <p:spPr>
          <a:xfrm>
            <a:off x="3658629" y="2751429"/>
            <a:ext cx="569003" cy="659655"/>
          </a:xfrm>
          <a:custGeom>
            <a:rect b="b" l="l" r="r" t="t"/>
            <a:pathLst>
              <a:path extrusionOk="0" h="23419" w="15124">
                <a:moveTo>
                  <a:pt x="0" y="0"/>
                </a:moveTo>
                <a:lnTo>
                  <a:pt x="8128" y="11730"/>
                </a:lnTo>
                <a:lnTo>
                  <a:pt x="0" y="23418"/>
                </a:lnTo>
                <a:lnTo>
                  <a:pt x="7038" y="23418"/>
                </a:lnTo>
                <a:lnTo>
                  <a:pt x="15124" y="11730"/>
                </a:lnTo>
                <a:lnTo>
                  <a:pt x="703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6"/>
          <p:cNvSpPr/>
          <p:nvPr/>
        </p:nvSpPr>
        <p:spPr>
          <a:xfrm>
            <a:off x="3461061" y="2751429"/>
            <a:ext cx="569003" cy="659655"/>
          </a:xfrm>
          <a:custGeom>
            <a:rect b="b" l="l" r="r" t="t"/>
            <a:pathLst>
              <a:path extrusionOk="0" h="23419" w="15124">
                <a:moveTo>
                  <a:pt x="0" y="0"/>
                </a:moveTo>
                <a:lnTo>
                  <a:pt x="8086" y="11730"/>
                </a:lnTo>
                <a:lnTo>
                  <a:pt x="0" y="23418"/>
                </a:lnTo>
                <a:lnTo>
                  <a:pt x="7038" y="23418"/>
                </a:lnTo>
                <a:lnTo>
                  <a:pt x="15124" y="11730"/>
                </a:lnTo>
                <a:lnTo>
                  <a:pt x="7038"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6"/>
          <p:cNvSpPr txBox="1"/>
          <p:nvPr>
            <p:ph type="title"/>
          </p:nvPr>
        </p:nvSpPr>
        <p:spPr>
          <a:xfrm>
            <a:off x="472525" y="207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Levels of Normalization</a:t>
            </a:r>
            <a:endParaRPr/>
          </a:p>
        </p:txBody>
      </p:sp>
      <p:sp>
        <p:nvSpPr>
          <p:cNvPr id="444" name="Google Shape;444;p16"/>
          <p:cNvSpPr txBox="1"/>
          <p:nvPr/>
        </p:nvSpPr>
        <p:spPr>
          <a:xfrm>
            <a:off x="472525" y="1924200"/>
            <a:ext cx="1550100" cy="560700"/>
          </a:xfrm>
          <a:prstGeom prst="rect">
            <a:avLst/>
          </a:prstGeom>
          <a:noFill/>
          <a:ln>
            <a:noFill/>
          </a:ln>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Fira Sans Extra Condensed"/>
                <a:ea typeface="Fira Sans Extra Condensed"/>
                <a:cs typeface="Fira Sans Extra Condensed"/>
                <a:sym typeface="Fira Sans Extra Condensed"/>
              </a:rPr>
              <a:t>1NF</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445" name="Google Shape;445;p16"/>
          <p:cNvSpPr/>
          <p:nvPr/>
        </p:nvSpPr>
        <p:spPr>
          <a:xfrm>
            <a:off x="472554" y="2484835"/>
            <a:ext cx="1550100" cy="1164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6"/>
          <p:cNvSpPr/>
          <p:nvPr/>
        </p:nvSpPr>
        <p:spPr>
          <a:xfrm>
            <a:off x="1876016" y="2751429"/>
            <a:ext cx="569003" cy="659655"/>
          </a:xfrm>
          <a:custGeom>
            <a:rect b="b" l="l" r="r" t="t"/>
            <a:pathLst>
              <a:path extrusionOk="0" h="23419" w="15124">
                <a:moveTo>
                  <a:pt x="0" y="0"/>
                </a:moveTo>
                <a:lnTo>
                  <a:pt x="8128" y="11730"/>
                </a:lnTo>
                <a:lnTo>
                  <a:pt x="0" y="23418"/>
                </a:lnTo>
                <a:lnTo>
                  <a:pt x="7038" y="23418"/>
                </a:lnTo>
                <a:lnTo>
                  <a:pt x="15124" y="11730"/>
                </a:lnTo>
                <a:lnTo>
                  <a:pt x="703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6"/>
          <p:cNvSpPr/>
          <p:nvPr/>
        </p:nvSpPr>
        <p:spPr>
          <a:xfrm>
            <a:off x="1678447" y="2751429"/>
            <a:ext cx="569003" cy="659655"/>
          </a:xfrm>
          <a:custGeom>
            <a:rect b="b" l="l" r="r" t="t"/>
            <a:pathLst>
              <a:path extrusionOk="0" h="23419" w="15124">
                <a:moveTo>
                  <a:pt x="0" y="0"/>
                </a:moveTo>
                <a:lnTo>
                  <a:pt x="8086" y="11730"/>
                </a:lnTo>
                <a:lnTo>
                  <a:pt x="0" y="23418"/>
                </a:lnTo>
                <a:lnTo>
                  <a:pt x="7038" y="23418"/>
                </a:lnTo>
                <a:lnTo>
                  <a:pt x="15124" y="11730"/>
                </a:lnTo>
                <a:lnTo>
                  <a:pt x="7038"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6"/>
          <p:cNvSpPr txBox="1"/>
          <p:nvPr/>
        </p:nvSpPr>
        <p:spPr>
          <a:xfrm>
            <a:off x="333025" y="3857350"/>
            <a:ext cx="1922400" cy="1286100"/>
          </a:xfrm>
          <a:prstGeom prst="rect">
            <a:avLst/>
          </a:prstGeom>
          <a:noFill/>
          <a:ln>
            <a:noFill/>
          </a:ln>
        </p:spPr>
        <p:txBody>
          <a:bodyPr anchorCtr="0" anchor="t" bIns="91425" lIns="91425" spcFirstLastPara="1" rIns="91425" wrap="square" tIns="91425">
            <a:noAutofit/>
          </a:bodyPr>
          <a:lstStyle/>
          <a:p>
            <a:pPr indent="-190500" lvl="0" marL="457200" marR="0" rtl="0" algn="l">
              <a:lnSpc>
                <a:spcPct val="115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Each table cell should contain a single value.</a:t>
            </a:r>
            <a:endParaRPr b="0" i="0" sz="1200" u="none" cap="none" strike="noStrike">
              <a:solidFill>
                <a:schemeClr val="dk1"/>
              </a:solidFill>
              <a:latin typeface="Roboto"/>
              <a:ea typeface="Roboto"/>
              <a:cs typeface="Roboto"/>
              <a:sym typeface="Roboto"/>
            </a:endParaRPr>
          </a:p>
          <a:p>
            <a:pPr indent="-190500" lvl="0" marL="457200" marR="0" rtl="0" algn="ctr">
              <a:lnSpc>
                <a:spcPct val="115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Each record needs to be unique.</a:t>
            </a:r>
            <a:endParaRPr b="0" i="0" sz="1200" u="none" cap="none" strike="noStrike">
              <a:solidFill>
                <a:schemeClr val="dk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p:txBody>
      </p:sp>
      <p:sp>
        <p:nvSpPr>
          <p:cNvPr id="449" name="Google Shape;449;p16"/>
          <p:cNvSpPr txBox="1"/>
          <p:nvPr/>
        </p:nvSpPr>
        <p:spPr>
          <a:xfrm>
            <a:off x="2255139" y="1924200"/>
            <a:ext cx="1550100" cy="560700"/>
          </a:xfrm>
          <a:prstGeom prst="rect">
            <a:avLst/>
          </a:prstGeom>
          <a:noFill/>
          <a:ln>
            <a:noFill/>
          </a:ln>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Fira Sans Extra Condensed"/>
                <a:ea typeface="Fira Sans Extra Condensed"/>
                <a:cs typeface="Fira Sans Extra Condensed"/>
                <a:sym typeface="Fira Sans Extra Condensed"/>
              </a:rPr>
              <a:t>2NF</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450" name="Google Shape;450;p16"/>
          <p:cNvSpPr txBox="1"/>
          <p:nvPr/>
        </p:nvSpPr>
        <p:spPr>
          <a:xfrm>
            <a:off x="2311525" y="3735775"/>
            <a:ext cx="1550100" cy="1286100"/>
          </a:xfrm>
          <a:prstGeom prst="rect">
            <a:avLst/>
          </a:prstGeom>
          <a:noFill/>
          <a:ln>
            <a:noFill/>
          </a:ln>
        </p:spPr>
        <p:txBody>
          <a:bodyPr anchorCtr="0" anchor="t" bIns="91425" lIns="57150" spcFirstLastPara="1" rIns="91425" wrap="square" tIns="91425">
            <a:noAutofit/>
          </a:bodyPr>
          <a:lstStyle/>
          <a:p>
            <a:pPr indent="0" lvl="0" marL="0" marR="269714" rtl="0" algn="ctr">
              <a:lnSpc>
                <a:spcPct val="115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Be in 1NF</a:t>
            </a:r>
            <a:endParaRPr b="0" i="0" sz="1200" u="none" cap="none" strike="noStrike">
              <a:solidFill>
                <a:schemeClr val="dk1"/>
              </a:solidFill>
              <a:latin typeface="Roboto"/>
              <a:ea typeface="Roboto"/>
              <a:cs typeface="Roboto"/>
              <a:sym typeface="Roboto"/>
            </a:endParaRPr>
          </a:p>
          <a:p>
            <a:pPr indent="-171450" lvl="0" marL="171450" marR="0" rtl="0" algn="l">
              <a:lnSpc>
                <a:spcPct val="115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All the columns depend o</a:t>
            </a:r>
            <a:r>
              <a:rPr lang="en" sz="1200">
                <a:solidFill>
                  <a:schemeClr val="dk1"/>
                </a:solidFill>
                <a:latin typeface="Roboto"/>
                <a:ea typeface="Roboto"/>
                <a:cs typeface="Roboto"/>
                <a:sym typeface="Roboto"/>
              </a:rPr>
              <a:t>n</a:t>
            </a:r>
            <a:r>
              <a:rPr b="0" i="0" lang="en" sz="1200" u="none" cap="none" strike="noStrike">
                <a:solidFill>
                  <a:schemeClr val="dk1"/>
                </a:solidFill>
                <a:latin typeface="Roboto"/>
                <a:ea typeface="Roboto"/>
                <a:cs typeface="Roboto"/>
                <a:sym typeface="Roboto"/>
              </a:rPr>
              <a:t> the primary key</a:t>
            </a:r>
            <a:endParaRPr b="0" i="0" sz="1200" u="none" cap="none" strike="noStrike">
              <a:solidFill>
                <a:schemeClr val="dk1"/>
              </a:solidFill>
              <a:latin typeface="Roboto"/>
              <a:ea typeface="Roboto"/>
              <a:cs typeface="Roboto"/>
              <a:sym typeface="Roboto"/>
            </a:endParaRPr>
          </a:p>
        </p:txBody>
      </p:sp>
      <p:sp>
        <p:nvSpPr>
          <p:cNvPr id="451" name="Google Shape;451;p16"/>
          <p:cNvSpPr txBox="1"/>
          <p:nvPr/>
        </p:nvSpPr>
        <p:spPr>
          <a:xfrm>
            <a:off x="4052439" y="1924200"/>
            <a:ext cx="1550100" cy="560700"/>
          </a:xfrm>
          <a:prstGeom prst="rect">
            <a:avLst/>
          </a:prstGeom>
          <a:noFill/>
          <a:ln>
            <a:noFill/>
          </a:ln>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Fira Sans Extra Condensed"/>
                <a:ea typeface="Fira Sans Extra Condensed"/>
                <a:cs typeface="Fira Sans Extra Condensed"/>
                <a:sym typeface="Fira Sans Extra Condensed"/>
              </a:rPr>
              <a:t>3NF</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452" name="Google Shape;452;p16"/>
          <p:cNvSpPr txBox="1"/>
          <p:nvPr/>
        </p:nvSpPr>
        <p:spPr>
          <a:xfrm>
            <a:off x="4027450" y="3719650"/>
            <a:ext cx="1800000" cy="1067700"/>
          </a:xfrm>
          <a:prstGeom prst="rect">
            <a:avLst/>
          </a:prstGeom>
          <a:noFill/>
          <a:ln>
            <a:noFill/>
          </a:ln>
        </p:spPr>
        <p:txBody>
          <a:bodyPr anchorCtr="0" anchor="t" bIns="91425" lIns="91425" spcFirstLastPara="1" rIns="91425" wrap="square" tIns="91425">
            <a:noAutofit/>
          </a:bodyPr>
          <a:lstStyle/>
          <a:p>
            <a:pPr indent="-304800" lvl="0" marL="342900" marR="105255" rtl="0" algn="l">
              <a:lnSpc>
                <a:spcPct val="115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Be in 2NF</a:t>
            </a:r>
            <a:endParaRPr b="0" i="0" sz="1200" u="none" cap="none" strike="noStrike">
              <a:solidFill>
                <a:schemeClr val="dk1"/>
              </a:solidFill>
              <a:latin typeface="Roboto"/>
              <a:ea typeface="Roboto"/>
              <a:cs typeface="Roboto"/>
              <a:sym typeface="Roboto"/>
            </a:endParaRPr>
          </a:p>
          <a:p>
            <a:pPr indent="-304800" lvl="0" marL="342900" marR="0" rtl="0" algn="l">
              <a:lnSpc>
                <a:spcPct val="115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Contain non-transitively dependent columns</a:t>
            </a:r>
            <a:endParaRPr b="0" i="0" sz="1200" u="none" cap="none" strike="noStrike">
              <a:solidFill>
                <a:schemeClr val="dk1"/>
              </a:solidFill>
              <a:latin typeface="Roboto"/>
              <a:ea typeface="Roboto"/>
              <a:cs typeface="Roboto"/>
              <a:sym typeface="Roboto"/>
            </a:endParaRPr>
          </a:p>
        </p:txBody>
      </p:sp>
      <p:sp>
        <p:nvSpPr>
          <p:cNvPr id="453" name="Google Shape;453;p16"/>
          <p:cNvSpPr txBox="1"/>
          <p:nvPr/>
        </p:nvSpPr>
        <p:spPr>
          <a:xfrm>
            <a:off x="5813408" y="1924200"/>
            <a:ext cx="1550100" cy="560700"/>
          </a:xfrm>
          <a:prstGeom prst="rect">
            <a:avLst/>
          </a:prstGeom>
          <a:noFill/>
          <a:ln>
            <a:noFill/>
          </a:ln>
        </p:spPr>
        <p:txBody>
          <a:bodyPr anchorCtr="0" anchor="ctr" bIns="228600" lIns="228600" spcFirstLastPara="1" rIns="228600" wrap="square" tIns="22860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Fira Sans Extra Condensed"/>
                <a:ea typeface="Fira Sans Extra Condensed"/>
                <a:cs typeface="Fira Sans Extra Condensed"/>
                <a:sym typeface="Fira Sans Extra Condensed"/>
              </a:rPr>
              <a:t>4NF</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454" name="Google Shape;454;p16"/>
          <p:cNvSpPr txBox="1"/>
          <p:nvPr/>
        </p:nvSpPr>
        <p:spPr>
          <a:xfrm>
            <a:off x="5813541" y="3857353"/>
            <a:ext cx="1550100" cy="930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p:txBody>
      </p:sp>
      <p:grpSp>
        <p:nvGrpSpPr>
          <p:cNvPr id="455" name="Google Shape;455;p16"/>
          <p:cNvGrpSpPr/>
          <p:nvPr/>
        </p:nvGrpSpPr>
        <p:grpSpPr>
          <a:xfrm>
            <a:off x="6354461" y="2899941"/>
            <a:ext cx="485535" cy="363633"/>
            <a:chOff x="1492675" y="4992125"/>
            <a:chExt cx="481825" cy="481825"/>
          </a:xfrm>
        </p:grpSpPr>
        <p:sp>
          <p:nvSpPr>
            <p:cNvPr id="456" name="Google Shape;456;p16"/>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457" name="Google Shape;457;p16"/>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458" name="Google Shape;458;p16"/>
          <p:cNvGrpSpPr/>
          <p:nvPr/>
        </p:nvGrpSpPr>
        <p:grpSpPr>
          <a:xfrm>
            <a:off x="2815325" y="2899547"/>
            <a:ext cx="485649" cy="363588"/>
            <a:chOff x="-5251625" y="3272950"/>
            <a:chExt cx="292225" cy="292250"/>
          </a:xfrm>
        </p:grpSpPr>
        <p:sp>
          <p:nvSpPr>
            <p:cNvPr id="459" name="Google Shape;459;p16"/>
            <p:cNvSpPr/>
            <p:nvPr/>
          </p:nvSpPr>
          <p:spPr>
            <a:xfrm>
              <a:off x="-5156325" y="3462775"/>
              <a:ext cx="33900" cy="33100"/>
            </a:xfrm>
            <a:custGeom>
              <a:rect b="b" l="l" r="r" t="t"/>
              <a:pathLst>
                <a:path extrusionOk="0" h="1324" w="1356">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6"/>
            <p:cNvSpPr/>
            <p:nvPr/>
          </p:nvSpPr>
          <p:spPr>
            <a:xfrm>
              <a:off x="-5251625" y="3272950"/>
              <a:ext cx="292225" cy="292250"/>
            </a:xfrm>
            <a:custGeom>
              <a:rect b="b" l="l" r="r" t="t"/>
              <a:pathLst>
                <a:path extrusionOk="0" h="11690" w="11689">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6"/>
            <p:cNvSpPr/>
            <p:nvPr/>
          </p:nvSpPr>
          <p:spPr>
            <a:xfrm>
              <a:off x="-5011400" y="3350150"/>
              <a:ext cx="33900" cy="33875"/>
            </a:xfrm>
            <a:custGeom>
              <a:rect b="b" l="l" r="r" t="t"/>
              <a:pathLst>
                <a:path extrusionOk="0" h="1355" w="1356">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2" name="Google Shape;462;p16"/>
          <p:cNvGrpSpPr/>
          <p:nvPr/>
        </p:nvGrpSpPr>
        <p:grpSpPr>
          <a:xfrm>
            <a:off x="4599360" y="2899484"/>
            <a:ext cx="485663" cy="363584"/>
            <a:chOff x="-4475825" y="3612425"/>
            <a:chExt cx="293825" cy="291450"/>
          </a:xfrm>
        </p:grpSpPr>
        <p:sp>
          <p:nvSpPr>
            <p:cNvPr id="463" name="Google Shape;463;p16"/>
            <p:cNvSpPr/>
            <p:nvPr/>
          </p:nvSpPr>
          <p:spPr>
            <a:xfrm>
              <a:off x="-4349800" y="3664400"/>
              <a:ext cx="34675" cy="33100"/>
            </a:xfrm>
            <a:custGeom>
              <a:rect b="b" l="l" r="r" t="t"/>
              <a:pathLst>
                <a:path extrusionOk="0" h="1324" w="1387">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6"/>
            <p:cNvSpPr/>
            <p:nvPr/>
          </p:nvSpPr>
          <p:spPr>
            <a:xfrm>
              <a:off x="-4366325" y="3714800"/>
              <a:ext cx="68525" cy="34700"/>
            </a:xfrm>
            <a:custGeom>
              <a:rect b="b" l="l" r="r" t="t"/>
              <a:pathLst>
                <a:path extrusionOk="0" h="1388" w="2741">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6"/>
            <p:cNvSpPr/>
            <p:nvPr/>
          </p:nvSpPr>
          <p:spPr>
            <a:xfrm>
              <a:off x="-4475825" y="3612425"/>
              <a:ext cx="293825" cy="291450"/>
            </a:xfrm>
            <a:custGeom>
              <a:rect b="b" l="l" r="r" t="t"/>
              <a:pathLst>
                <a:path extrusionOk="0" h="11658" w="11753">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6" name="Google Shape;466;p16"/>
          <p:cNvGrpSpPr/>
          <p:nvPr/>
        </p:nvGrpSpPr>
        <p:grpSpPr>
          <a:xfrm>
            <a:off x="1018586" y="2915573"/>
            <a:ext cx="485707" cy="330486"/>
            <a:chOff x="-40745125" y="3632900"/>
            <a:chExt cx="318225" cy="289875"/>
          </a:xfrm>
        </p:grpSpPr>
        <p:sp>
          <p:nvSpPr>
            <p:cNvPr id="467" name="Google Shape;467;p16"/>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16"/>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16"/>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6"/>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6"/>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6"/>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16"/>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4" name="Google Shape;474;p16"/>
          <p:cNvSpPr/>
          <p:nvPr/>
        </p:nvSpPr>
        <p:spPr>
          <a:xfrm>
            <a:off x="7574375" y="2835224"/>
            <a:ext cx="358200" cy="4815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6"/>
          <p:cNvSpPr/>
          <p:nvPr/>
        </p:nvSpPr>
        <p:spPr>
          <a:xfrm>
            <a:off x="8014400" y="2817537"/>
            <a:ext cx="358200" cy="4815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6"/>
          <p:cNvSpPr/>
          <p:nvPr/>
        </p:nvSpPr>
        <p:spPr>
          <a:xfrm>
            <a:off x="8454425" y="2817537"/>
            <a:ext cx="358200" cy="4815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17"/>
          <p:cNvSpPr/>
          <p:nvPr/>
        </p:nvSpPr>
        <p:spPr>
          <a:xfrm>
            <a:off x="4770000" y="2143755"/>
            <a:ext cx="3916800" cy="2592900"/>
          </a:xfrm>
          <a:prstGeom prst="roundRect">
            <a:avLst>
              <a:gd fmla="val 7339" name="adj"/>
            </a:avLst>
          </a:prstGeom>
          <a:solidFill>
            <a:schemeClr val="l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7"/>
          <p:cNvSpPr/>
          <p:nvPr/>
        </p:nvSpPr>
        <p:spPr>
          <a:xfrm>
            <a:off x="5171900" y="1850175"/>
            <a:ext cx="3113100" cy="4794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7"/>
          <p:cNvSpPr txBox="1"/>
          <p:nvPr/>
        </p:nvSpPr>
        <p:spPr>
          <a:xfrm>
            <a:off x="5593075" y="1956762"/>
            <a:ext cx="2270700" cy="2664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Fira Sans Extra Condensed"/>
                <a:ea typeface="Fira Sans Extra Condensed"/>
                <a:cs typeface="Fira Sans Extra Condensed"/>
                <a:sym typeface="Fira Sans Extra Condensed"/>
              </a:rPr>
              <a:t>Client/Interface</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484" name="Google Shape;484;p17"/>
          <p:cNvSpPr/>
          <p:nvPr/>
        </p:nvSpPr>
        <p:spPr>
          <a:xfrm>
            <a:off x="5196450" y="2564550"/>
            <a:ext cx="1198800" cy="9735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7"/>
          <p:cNvSpPr/>
          <p:nvPr/>
        </p:nvSpPr>
        <p:spPr>
          <a:xfrm>
            <a:off x="7061550" y="2564550"/>
            <a:ext cx="1198800" cy="9735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7"/>
          <p:cNvSpPr/>
          <p:nvPr/>
        </p:nvSpPr>
        <p:spPr>
          <a:xfrm>
            <a:off x="6481050" y="2970919"/>
            <a:ext cx="494700" cy="160800"/>
          </a:xfrm>
          <a:prstGeom prst="leftRightArrow">
            <a:avLst>
              <a:gd fmla="val 50000" name="adj1"/>
              <a:gd fmla="val 50000" name="adj2"/>
            </a:avLst>
          </a:prstGeom>
          <a:solidFill>
            <a:schemeClr val="accent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7"/>
          <p:cNvSpPr/>
          <p:nvPr/>
        </p:nvSpPr>
        <p:spPr>
          <a:xfrm>
            <a:off x="473250" y="2143755"/>
            <a:ext cx="3916800" cy="2592900"/>
          </a:xfrm>
          <a:prstGeom prst="roundRect">
            <a:avLst>
              <a:gd fmla="val 7339"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17"/>
          <p:cNvSpPr txBox="1"/>
          <p:nvPr>
            <p:ph type="title"/>
          </p:nvPr>
        </p:nvSpPr>
        <p:spPr>
          <a:xfrm>
            <a:off x="457200" y="283125"/>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The Client-Server Model</a:t>
            </a:r>
            <a:endParaRPr>
              <a:solidFill>
                <a:schemeClr val="dk1"/>
              </a:solidFill>
            </a:endParaRPr>
          </a:p>
        </p:txBody>
      </p:sp>
      <p:sp>
        <p:nvSpPr>
          <p:cNvPr id="489" name="Google Shape;489;p17"/>
          <p:cNvSpPr txBox="1"/>
          <p:nvPr/>
        </p:nvSpPr>
        <p:spPr>
          <a:xfrm>
            <a:off x="604650" y="3692600"/>
            <a:ext cx="1941300" cy="8772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Fira Sans Extra Condensed"/>
                <a:ea typeface="Fira Sans Extra Condensed"/>
                <a:cs typeface="Fira Sans Extra Condensed"/>
                <a:sym typeface="Fira Sans Extra Condensed"/>
              </a:rPr>
              <a:t>Performs all relational database management tasks </a:t>
            </a:r>
            <a:endParaRPr b="0" i="0" sz="1400" u="none" cap="none" strike="noStrike">
              <a:solidFill>
                <a:srgbClr val="000000"/>
              </a:solidFill>
              <a:latin typeface="Fira Sans Extra Condensed"/>
              <a:ea typeface="Fira Sans Extra Condensed"/>
              <a:cs typeface="Fira Sans Extra Condensed"/>
              <a:sym typeface="Fira Sans Extra Condensed"/>
            </a:endParaRPr>
          </a:p>
        </p:txBody>
      </p:sp>
      <p:sp>
        <p:nvSpPr>
          <p:cNvPr id="490" name="Google Shape;490;p17"/>
          <p:cNvSpPr txBox="1"/>
          <p:nvPr/>
        </p:nvSpPr>
        <p:spPr>
          <a:xfrm>
            <a:off x="2469750" y="3773035"/>
            <a:ext cx="1788900" cy="6108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Fira Sans Extra Condensed"/>
                <a:ea typeface="Fira Sans Extra Condensed"/>
                <a:cs typeface="Fira Sans Extra Condensed"/>
                <a:sym typeface="Fira Sans Extra Condensed"/>
              </a:rPr>
              <a:t>Structures, stores and secures data</a:t>
            </a:r>
            <a:endParaRPr b="0" i="0" sz="1400" u="none" cap="none" strike="noStrike">
              <a:solidFill>
                <a:srgbClr val="000000"/>
              </a:solidFill>
              <a:latin typeface="Fira Sans Extra Condensed"/>
              <a:ea typeface="Fira Sans Extra Condensed"/>
              <a:cs typeface="Fira Sans Extra Condensed"/>
              <a:sym typeface="Fira Sans Extra Condensed"/>
            </a:endParaRPr>
          </a:p>
        </p:txBody>
      </p:sp>
      <p:sp>
        <p:nvSpPr>
          <p:cNvPr id="491" name="Google Shape;491;p17"/>
          <p:cNvSpPr txBox="1"/>
          <p:nvPr/>
        </p:nvSpPr>
        <p:spPr>
          <a:xfrm>
            <a:off x="5067900" y="3692612"/>
            <a:ext cx="1788900" cy="6912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Fira Sans Extra Condensed"/>
                <a:ea typeface="Fira Sans Extra Condensed"/>
                <a:cs typeface="Fira Sans Extra Condensed"/>
                <a:sym typeface="Fira Sans Extra Condensed"/>
              </a:rPr>
              <a:t>Allows users to connect and control activities</a:t>
            </a:r>
            <a:endParaRPr b="0" i="0" sz="1400" u="none" cap="none" strike="noStrike">
              <a:solidFill>
                <a:srgbClr val="000000"/>
              </a:solidFill>
              <a:latin typeface="Fira Sans Extra Condensed"/>
              <a:ea typeface="Fira Sans Extra Condensed"/>
              <a:cs typeface="Fira Sans Extra Condensed"/>
              <a:sym typeface="Fira Sans Extra Condensed"/>
            </a:endParaRPr>
          </a:p>
        </p:txBody>
      </p:sp>
      <p:sp>
        <p:nvSpPr>
          <p:cNvPr id="492" name="Google Shape;492;p17"/>
          <p:cNvSpPr txBox="1"/>
          <p:nvPr/>
        </p:nvSpPr>
        <p:spPr>
          <a:xfrm>
            <a:off x="6690300" y="3692623"/>
            <a:ext cx="1941300" cy="6912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Fira Sans Extra Condensed"/>
                <a:ea typeface="Fira Sans Extra Condensed"/>
                <a:cs typeface="Fira Sans Extra Condensed"/>
                <a:sym typeface="Fira Sans Extra Condensed"/>
              </a:rPr>
              <a:t>Can be text best, graphical or a custom written application </a:t>
            </a:r>
            <a:endParaRPr b="0" i="0" sz="1400" u="none" cap="none" strike="noStrike">
              <a:solidFill>
                <a:srgbClr val="000000"/>
              </a:solidFill>
              <a:latin typeface="Fira Sans Extra Condensed"/>
              <a:ea typeface="Fira Sans Extra Condensed"/>
              <a:cs typeface="Fira Sans Extra Condensed"/>
              <a:sym typeface="Fira Sans Extra Condensed"/>
            </a:endParaRPr>
          </a:p>
        </p:txBody>
      </p:sp>
      <p:sp>
        <p:nvSpPr>
          <p:cNvPr id="493" name="Google Shape;493;p17"/>
          <p:cNvSpPr/>
          <p:nvPr/>
        </p:nvSpPr>
        <p:spPr>
          <a:xfrm>
            <a:off x="875150" y="1850175"/>
            <a:ext cx="3113100" cy="479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7"/>
          <p:cNvSpPr txBox="1"/>
          <p:nvPr/>
        </p:nvSpPr>
        <p:spPr>
          <a:xfrm>
            <a:off x="1296350" y="1956762"/>
            <a:ext cx="2270700" cy="2664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Fira Sans Extra Condensed"/>
                <a:ea typeface="Fira Sans Extra Condensed"/>
                <a:cs typeface="Fira Sans Extra Condensed"/>
                <a:sym typeface="Fira Sans Extra Condensed"/>
              </a:rPr>
              <a:t>Database Server </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495" name="Google Shape;495;p17"/>
          <p:cNvSpPr/>
          <p:nvPr/>
        </p:nvSpPr>
        <p:spPr>
          <a:xfrm>
            <a:off x="899700" y="2564550"/>
            <a:ext cx="1198800" cy="9735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17"/>
          <p:cNvSpPr/>
          <p:nvPr/>
        </p:nvSpPr>
        <p:spPr>
          <a:xfrm>
            <a:off x="2764800" y="2564550"/>
            <a:ext cx="1198800" cy="9735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7"/>
          <p:cNvSpPr/>
          <p:nvPr/>
        </p:nvSpPr>
        <p:spPr>
          <a:xfrm>
            <a:off x="2184300" y="2970919"/>
            <a:ext cx="494700" cy="160800"/>
          </a:xfrm>
          <a:prstGeom prst="leftRightArrow">
            <a:avLst>
              <a:gd fmla="val 50000" name="adj1"/>
              <a:gd fmla="val 50000" name="adj2"/>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8" name="Google Shape;498;p17"/>
          <p:cNvGrpSpPr/>
          <p:nvPr/>
        </p:nvGrpSpPr>
        <p:grpSpPr>
          <a:xfrm>
            <a:off x="3154479" y="2895317"/>
            <a:ext cx="419443" cy="341465"/>
            <a:chOff x="-3771675" y="3971775"/>
            <a:chExt cx="291300" cy="292025"/>
          </a:xfrm>
        </p:grpSpPr>
        <p:sp>
          <p:nvSpPr>
            <p:cNvPr id="499" name="Google Shape;499;p17"/>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7"/>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7"/>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17"/>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7"/>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4" name="Google Shape;504;p17"/>
          <p:cNvGrpSpPr/>
          <p:nvPr/>
        </p:nvGrpSpPr>
        <p:grpSpPr>
          <a:xfrm>
            <a:off x="1310927" y="2895450"/>
            <a:ext cx="376345" cy="341580"/>
            <a:chOff x="2423775" y="3226875"/>
            <a:chExt cx="259925" cy="295000"/>
          </a:xfrm>
        </p:grpSpPr>
        <p:sp>
          <p:nvSpPr>
            <p:cNvPr id="505" name="Google Shape;505;p17"/>
            <p:cNvSpPr/>
            <p:nvPr/>
          </p:nvSpPr>
          <p:spPr>
            <a:xfrm>
              <a:off x="2509625" y="3365900"/>
              <a:ext cx="86650" cy="52000"/>
            </a:xfrm>
            <a:custGeom>
              <a:rect b="b" l="l" r="r" t="t"/>
              <a:pathLst>
                <a:path extrusionOk="0" h="2080" w="3466">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7"/>
            <p:cNvSpPr/>
            <p:nvPr/>
          </p:nvSpPr>
          <p:spPr>
            <a:xfrm>
              <a:off x="2534825" y="3313925"/>
              <a:ext cx="35475" cy="35450"/>
            </a:xfrm>
            <a:custGeom>
              <a:rect b="b" l="l" r="r" t="t"/>
              <a:pathLst>
                <a:path extrusionOk="0" h="1418" w="1419">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17"/>
            <p:cNvSpPr/>
            <p:nvPr/>
          </p:nvSpPr>
          <p:spPr>
            <a:xfrm>
              <a:off x="2423775" y="3226875"/>
              <a:ext cx="259925" cy="295000"/>
            </a:xfrm>
            <a:custGeom>
              <a:rect b="b" l="l" r="r" t="t"/>
              <a:pathLst>
                <a:path extrusionOk="0" h="11800" w="10397">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8" name="Google Shape;508;p17"/>
          <p:cNvGrpSpPr/>
          <p:nvPr/>
        </p:nvGrpSpPr>
        <p:grpSpPr>
          <a:xfrm>
            <a:off x="7445098" y="2895337"/>
            <a:ext cx="431703" cy="341579"/>
            <a:chOff x="946175" y="3253275"/>
            <a:chExt cx="298550" cy="296150"/>
          </a:xfrm>
        </p:grpSpPr>
        <p:sp>
          <p:nvSpPr>
            <p:cNvPr id="509" name="Google Shape;509;p17"/>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7"/>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7"/>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7"/>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7"/>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4" name="Google Shape;514;p17"/>
          <p:cNvGrpSpPr/>
          <p:nvPr/>
        </p:nvGrpSpPr>
        <p:grpSpPr>
          <a:xfrm>
            <a:off x="5585532" y="2895354"/>
            <a:ext cx="420635" cy="341572"/>
            <a:chOff x="946175" y="3619500"/>
            <a:chExt cx="296975" cy="293825"/>
          </a:xfrm>
        </p:grpSpPr>
        <p:sp>
          <p:nvSpPr>
            <p:cNvPr id="515" name="Google Shape;515;p17"/>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17"/>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7"/>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17"/>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7"/>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7"/>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1" name="Google Shape;521;p17"/>
          <p:cNvSpPr txBox="1"/>
          <p:nvPr/>
        </p:nvSpPr>
        <p:spPr>
          <a:xfrm>
            <a:off x="890100" y="999600"/>
            <a:ext cx="7363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Roboto"/>
                <a:ea typeface="Roboto"/>
                <a:cs typeface="Roboto"/>
                <a:sym typeface="Roboto"/>
              </a:rPr>
              <a:t>All relational database management systems operate on a client-server model–two components that work together to form a complete  system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8"/>
          <p:cNvSpPr txBox="1"/>
          <p:nvPr>
            <p:ph type="title"/>
          </p:nvPr>
        </p:nvSpPr>
        <p:spPr>
          <a:xfrm>
            <a:off x="457200" y="337475"/>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Database: Client and Server</a:t>
            </a:r>
            <a:endParaRPr/>
          </a:p>
        </p:txBody>
      </p:sp>
      <p:pic>
        <p:nvPicPr>
          <p:cNvPr id="527" name="Google Shape;527;p18"/>
          <p:cNvPicPr preferRelativeResize="0"/>
          <p:nvPr/>
        </p:nvPicPr>
        <p:blipFill rotWithShape="1">
          <a:blip r:embed="rId3">
            <a:alphaModFix/>
          </a:blip>
          <a:srcRect b="0" l="0" r="0" t="0"/>
          <a:stretch/>
        </p:blipFill>
        <p:spPr>
          <a:xfrm>
            <a:off x="0" y="1741462"/>
            <a:ext cx="4538166" cy="3348826"/>
          </a:xfrm>
          <a:prstGeom prst="rect">
            <a:avLst/>
          </a:prstGeom>
          <a:noFill/>
          <a:ln>
            <a:noFill/>
          </a:ln>
        </p:spPr>
      </p:pic>
      <p:pic>
        <p:nvPicPr>
          <p:cNvPr id="528" name="Google Shape;528;p18"/>
          <p:cNvPicPr preferRelativeResize="0"/>
          <p:nvPr/>
        </p:nvPicPr>
        <p:blipFill rotWithShape="1">
          <a:blip r:embed="rId4">
            <a:alphaModFix/>
          </a:blip>
          <a:srcRect b="0" l="0" r="0" t="0"/>
          <a:stretch/>
        </p:blipFill>
        <p:spPr>
          <a:xfrm>
            <a:off x="4884475" y="1688250"/>
            <a:ext cx="4259526" cy="3455250"/>
          </a:xfrm>
          <a:prstGeom prst="rect">
            <a:avLst/>
          </a:prstGeom>
          <a:noFill/>
          <a:ln>
            <a:noFill/>
          </a:ln>
        </p:spPr>
      </p:pic>
      <p:sp>
        <p:nvSpPr>
          <p:cNvPr id="529" name="Google Shape;529;p18"/>
          <p:cNvSpPr/>
          <p:nvPr/>
        </p:nvSpPr>
        <p:spPr>
          <a:xfrm>
            <a:off x="949175" y="1315275"/>
            <a:ext cx="3113100" cy="479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8"/>
          <p:cNvSpPr txBox="1"/>
          <p:nvPr/>
        </p:nvSpPr>
        <p:spPr>
          <a:xfrm>
            <a:off x="1370375" y="1421862"/>
            <a:ext cx="2270700" cy="2664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Fira Sans Extra Condensed"/>
                <a:ea typeface="Fira Sans Extra Condensed"/>
                <a:cs typeface="Fira Sans Extra Condensed"/>
                <a:sym typeface="Fira Sans Extra Condensed"/>
              </a:rPr>
              <a:t>Database Server </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
        <p:nvSpPr>
          <p:cNvPr id="531" name="Google Shape;531;p18"/>
          <p:cNvSpPr/>
          <p:nvPr/>
        </p:nvSpPr>
        <p:spPr>
          <a:xfrm>
            <a:off x="5457688" y="1315275"/>
            <a:ext cx="3113100" cy="4794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8"/>
          <p:cNvSpPr txBox="1"/>
          <p:nvPr/>
        </p:nvSpPr>
        <p:spPr>
          <a:xfrm>
            <a:off x="5878863" y="1421862"/>
            <a:ext cx="2270700" cy="2664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Fira Sans Extra Condensed"/>
                <a:ea typeface="Fira Sans Extra Condensed"/>
                <a:cs typeface="Fira Sans Extra Condensed"/>
                <a:sym typeface="Fira Sans Extra Condensed"/>
              </a:rPr>
              <a:t>Client/Interface</a:t>
            </a:r>
            <a:endParaRPr b="1" i="0" sz="1600" u="none" cap="none" strike="noStrike">
              <a:solidFill>
                <a:srgbClr val="000000"/>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19"/>
          <p:cNvSpPr/>
          <p:nvPr/>
        </p:nvSpPr>
        <p:spPr>
          <a:xfrm>
            <a:off x="3650325" y="892975"/>
            <a:ext cx="2058300" cy="6981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9"/>
          <p:cNvSpPr txBox="1"/>
          <p:nvPr>
            <p:ph type="title"/>
          </p:nvPr>
        </p:nvSpPr>
        <p:spPr>
          <a:xfrm>
            <a:off x="457200" y="127425"/>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Working with SQL</a:t>
            </a:r>
            <a:endParaRPr>
              <a:solidFill>
                <a:schemeClr val="dk1"/>
              </a:solidFill>
            </a:endParaRPr>
          </a:p>
        </p:txBody>
      </p:sp>
      <p:sp>
        <p:nvSpPr>
          <p:cNvPr id="539" name="Google Shape;539;p19"/>
          <p:cNvSpPr txBox="1"/>
          <p:nvPr/>
        </p:nvSpPr>
        <p:spPr>
          <a:xfrm>
            <a:off x="4311525" y="1012375"/>
            <a:ext cx="735900" cy="459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chemeClr val="dk1"/>
                </a:solidFill>
                <a:latin typeface="Fira Sans Extra Condensed"/>
                <a:ea typeface="Fira Sans Extra Condensed"/>
                <a:cs typeface="Fira Sans Extra Condensed"/>
                <a:sym typeface="Fira Sans Extra Condensed"/>
              </a:rPr>
              <a:t>SQL</a:t>
            </a:r>
            <a:endParaRPr b="1" i="0" sz="2100" u="none" cap="none" strike="noStrike">
              <a:solidFill>
                <a:schemeClr val="dk1"/>
              </a:solidFill>
              <a:latin typeface="Fira Sans Extra Condensed"/>
              <a:ea typeface="Fira Sans Extra Condensed"/>
              <a:cs typeface="Fira Sans Extra Condensed"/>
              <a:sym typeface="Fira Sans Extra Condensed"/>
            </a:endParaRPr>
          </a:p>
        </p:txBody>
      </p:sp>
      <p:pic>
        <p:nvPicPr>
          <p:cNvPr id="540" name="Google Shape;540;p19"/>
          <p:cNvPicPr preferRelativeResize="0"/>
          <p:nvPr/>
        </p:nvPicPr>
        <p:blipFill rotWithShape="1">
          <a:blip r:embed="rId3">
            <a:alphaModFix/>
          </a:blip>
          <a:srcRect b="0" l="0" r="0" t="0"/>
          <a:stretch/>
        </p:blipFill>
        <p:spPr>
          <a:xfrm>
            <a:off x="1585700" y="1875125"/>
            <a:ext cx="6187550" cy="3256126"/>
          </a:xfrm>
          <a:prstGeom prst="rect">
            <a:avLst/>
          </a:prstGeom>
          <a:noFill/>
          <a:ln>
            <a:noFill/>
          </a:ln>
        </p:spPr>
      </p:pic>
      <p:cxnSp>
        <p:nvCxnSpPr>
          <p:cNvPr id="541" name="Google Shape;541;p19"/>
          <p:cNvCxnSpPr>
            <a:stCxn id="540" idx="0"/>
            <a:endCxn id="540" idx="0"/>
          </p:cNvCxnSpPr>
          <p:nvPr/>
        </p:nvCxnSpPr>
        <p:spPr>
          <a:xfrm>
            <a:off x="4679475" y="1875125"/>
            <a:ext cx="0" cy="0"/>
          </a:xfrm>
          <a:prstGeom prst="straightConnector1">
            <a:avLst/>
          </a:prstGeom>
          <a:noFill/>
          <a:ln cap="flat" cmpd="sng" w="9525">
            <a:solidFill>
              <a:schemeClr val="dk2"/>
            </a:solidFill>
            <a:prstDash val="solid"/>
            <a:round/>
            <a:headEnd len="sm" w="sm" type="none"/>
            <a:tailEnd len="sm" w="sm" type="none"/>
          </a:ln>
        </p:spPr>
      </p:cxnSp>
      <p:cxnSp>
        <p:nvCxnSpPr>
          <p:cNvPr id="542" name="Google Shape;542;p19"/>
          <p:cNvCxnSpPr>
            <a:stCxn id="539" idx="2"/>
            <a:endCxn id="540" idx="0"/>
          </p:cNvCxnSpPr>
          <p:nvPr/>
        </p:nvCxnSpPr>
        <p:spPr>
          <a:xfrm>
            <a:off x="4679475" y="1471675"/>
            <a:ext cx="0" cy="403500"/>
          </a:xfrm>
          <a:prstGeom prst="straightConnector1">
            <a:avLst/>
          </a:prstGeom>
          <a:noFill/>
          <a:ln cap="flat" cmpd="sng" w="28575">
            <a:solidFill>
              <a:schemeClr val="dk2"/>
            </a:solidFill>
            <a:prstDash val="solid"/>
            <a:round/>
            <a:headEnd len="sm" w="sm" type="none"/>
            <a:tailEnd len="med" w="med" type="oval"/>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0"/>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SQL-DQL</a:t>
            </a:r>
            <a:endParaRPr>
              <a:solidFill>
                <a:schemeClr val="dk1"/>
              </a:solidFill>
            </a:endParaRPr>
          </a:p>
        </p:txBody>
      </p:sp>
      <p:sp>
        <p:nvSpPr>
          <p:cNvPr id="548" name="Google Shape;548;p20"/>
          <p:cNvSpPr/>
          <p:nvPr/>
        </p:nvSpPr>
        <p:spPr>
          <a:xfrm>
            <a:off x="606789" y="1511277"/>
            <a:ext cx="1260648" cy="282511"/>
          </a:xfrm>
          <a:custGeom>
            <a:rect b="b" l="l" r="r" t="t"/>
            <a:pathLst>
              <a:path extrusionOk="0" h="9443" w="39875">
                <a:moveTo>
                  <a:pt x="0" y="0"/>
                </a:moveTo>
                <a:lnTo>
                  <a:pt x="39874" y="0"/>
                </a:lnTo>
                <a:lnTo>
                  <a:pt x="39874" y="9442"/>
                </a:lnTo>
                <a:lnTo>
                  <a:pt x="0" y="9442"/>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20"/>
          <p:cNvSpPr/>
          <p:nvPr/>
        </p:nvSpPr>
        <p:spPr>
          <a:xfrm>
            <a:off x="606802" y="2040517"/>
            <a:ext cx="1260648" cy="282511"/>
          </a:xfrm>
          <a:custGeom>
            <a:rect b="b" l="l" r="r" t="t"/>
            <a:pathLst>
              <a:path extrusionOk="0" h="9443" w="39875">
                <a:moveTo>
                  <a:pt x="0" y="0"/>
                </a:moveTo>
                <a:lnTo>
                  <a:pt x="39874" y="0"/>
                </a:lnTo>
                <a:lnTo>
                  <a:pt x="39874" y="9442"/>
                </a:lnTo>
                <a:lnTo>
                  <a:pt x="0" y="9442"/>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0"/>
          <p:cNvSpPr/>
          <p:nvPr/>
        </p:nvSpPr>
        <p:spPr>
          <a:xfrm>
            <a:off x="606802" y="2573500"/>
            <a:ext cx="1260648" cy="282511"/>
          </a:xfrm>
          <a:custGeom>
            <a:rect b="b" l="l" r="r" t="t"/>
            <a:pathLst>
              <a:path extrusionOk="0" h="9443" w="39875">
                <a:moveTo>
                  <a:pt x="0" y="0"/>
                </a:moveTo>
                <a:lnTo>
                  <a:pt x="39874" y="0"/>
                </a:lnTo>
                <a:lnTo>
                  <a:pt x="39874" y="9442"/>
                </a:lnTo>
                <a:lnTo>
                  <a:pt x="0" y="9442"/>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20"/>
          <p:cNvSpPr/>
          <p:nvPr/>
        </p:nvSpPr>
        <p:spPr>
          <a:xfrm>
            <a:off x="606802" y="3104589"/>
            <a:ext cx="1260648" cy="282511"/>
          </a:xfrm>
          <a:custGeom>
            <a:rect b="b" l="l" r="r" t="t"/>
            <a:pathLst>
              <a:path extrusionOk="0" h="9443" w="39875">
                <a:moveTo>
                  <a:pt x="0" y="0"/>
                </a:moveTo>
                <a:lnTo>
                  <a:pt x="39874" y="0"/>
                </a:lnTo>
                <a:lnTo>
                  <a:pt x="39874" y="9442"/>
                </a:lnTo>
                <a:lnTo>
                  <a:pt x="0" y="9442"/>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p:nvPr/>
        </p:nvSpPr>
        <p:spPr>
          <a:xfrm>
            <a:off x="606802" y="3643541"/>
            <a:ext cx="1260648" cy="282511"/>
          </a:xfrm>
          <a:custGeom>
            <a:rect b="b" l="l" r="r" t="t"/>
            <a:pathLst>
              <a:path extrusionOk="0" h="9443" w="39875">
                <a:moveTo>
                  <a:pt x="0" y="0"/>
                </a:moveTo>
                <a:lnTo>
                  <a:pt x="39874" y="0"/>
                </a:lnTo>
                <a:lnTo>
                  <a:pt x="39874" y="9442"/>
                </a:lnTo>
                <a:lnTo>
                  <a:pt x="0" y="9442"/>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0"/>
          <p:cNvSpPr/>
          <p:nvPr/>
        </p:nvSpPr>
        <p:spPr>
          <a:xfrm>
            <a:off x="395775" y="2033348"/>
            <a:ext cx="1682700" cy="292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	WHERE</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554" name="Google Shape;554;p20"/>
          <p:cNvSpPr/>
          <p:nvPr/>
        </p:nvSpPr>
        <p:spPr>
          <a:xfrm>
            <a:off x="395775" y="1501047"/>
            <a:ext cx="1682700" cy="292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FROM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555" name="Google Shape;555;p20"/>
          <p:cNvSpPr/>
          <p:nvPr/>
        </p:nvSpPr>
        <p:spPr>
          <a:xfrm>
            <a:off x="395775" y="3103389"/>
            <a:ext cx="1682700" cy="292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LIMIT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556" name="Google Shape;556;p20"/>
          <p:cNvSpPr/>
          <p:nvPr/>
        </p:nvSpPr>
        <p:spPr>
          <a:xfrm>
            <a:off x="395775" y="2569726"/>
            <a:ext cx="1682700" cy="292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ORDER BY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557" name="Google Shape;557;p20"/>
          <p:cNvSpPr/>
          <p:nvPr/>
        </p:nvSpPr>
        <p:spPr>
          <a:xfrm>
            <a:off x="395775" y="3635658"/>
            <a:ext cx="1682700" cy="292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GROUP BY</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558" name="Google Shape;558;p20"/>
          <p:cNvSpPr txBox="1"/>
          <p:nvPr/>
        </p:nvSpPr>
        <p:spPr>
          <a:xfrm flipH="1">
            <a:off x="2303950" y="1951080"/>
            <a:ext cx="5311500" cy="46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used to filter rows from a table</a:t>
            </a:r>
            <a:endParaRPr b="0" i="0" sz="1200" u="none" cap="none" strike="noStrike">
              <a:solidFill>
                <a:srgbClr val="000000"/>
              </a:solidFill>
              <a:latin typeface="Roboto"/>
              <a:ea typeface="Roboto"/>
              <a:cs typeface="Roboto"/>
              <a:sym typeface="Roboto"/>
            </a:endParaRPr>
          </a:p>
        </p:txBody>
      </p:sp>
      <p:sp>
        <p:nvSpPr>
          <p:cNvPr id="559" name="Google Shape;559;p20"/>
          <p:cNvSpPr txBox="1"/>
          <p:nvPr/>
        </p:nvSpPr>
        <p:spPr>
          <a:xfrm flipH="1">
            <a:off x="2303950" y="1416050"/>
            <a:ext cx="5311500" cy="46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Used to specify table(s)</a:t>
            </a:r>
            <a:endParaRPr b="0" i="0" sz="1200" u="none" cap="none" strike="noStrike">
              <a:solidFill>
                <a:srgbClr val="000000"/>
              </a:solidFill>
              <a:latin typeface="Roboto"/>
              <a:ea typeface="Roboto"/>
              <a:cs typeface="Roboto"/>
              <a:sym typeface="Roboto"/>
            </a:endParaRPr>
          </a:p>
        </p:txBody>
      </p:sp>
      <p:sp>
        <p:nvSpPr>
          <p:cNvPr id="560" name="Google Shape;560;p20"/>
          <p:cNvSpPr txBox="1"/>
          <p:nvPr/>
        </p:nvSpPr>
        <p:spPr>
          <a:xfrm flipH="1">
            <a:off x="2303950" y="3553429"/>
            <a:ext cx="5311500" cy="46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used to group different rows into a single group</a:t>
            </a:r>
            <a:endParaRPr b="0" i="0" sz="1200" u="none" cap="none" strike="noStrike">
              <a:solidFill>
                <a:srgbClr val="000000"/>
              </a:solidFill>
              <a:latin typeface="Roboto"/>
              <a:ea typeface="Roboto"/>
              <a:cs typeface="Roboto"/>
              <a:sym typeface="Roboto"/>
            </a:endParaRPr>
          </a:p>
        </p:txBody>
      </p:sp>
      <p:sp>
        <p:nvSpPr>
          <p:cNvPr id="561" name="Google Shape;561;p20"/>
          <p:cNvSpPr txBox="1"/>
          <p:nvPr/>
        </p:nvSpPr>
        <p:spPr>
          <a:xfrm flipH="1">
            <a:off x="2303950" y="3021185"/>
            <a:ext cx="5311500" cy="46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used to select a subset of rows from the table</a:t>
            </a:r>
            <a:endParaRPr b="0" i="0" sz="1200" u="none" cap="none" strike="noStrike">
              <a:solidFill>
                <a:srgbClr val="000000"/>
              </a:solidFill>
              <a:latin typeface="Roboto"/>
              <a:ea typeface="Roboto"/>
              <a:cs typeface="Roboto"/>
              <a:sym typeface="Roboto"/>
            </a:endParaRPr>
          </a:p>
        </p:txBody>
      </p:sp>
      <p:sp>
        <p:nvSpPr>
          <p:cNvPr id="562" name="Google Shape;562;p20"/>
          <p:cNvSpPr txBox="1"/>
          <p:nvPr/>
        </p:nvSpPr>
        <p:spPr>
          <a:xfrm flipH="1">
            <a:off x="2303950" y="2486143"/>
            <a:ext cx="5311500" cy="46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Used to sort rows </a:t>
            </a:r>
            <a:endParaRPr b="0" i="0" sz="1200" u="none" cap="none" strike="noStrike">
              <a:solidFill>
                <a:srgbClr val="000000"/>
              </a:solidFill>
              <a:latin typeface="Roboto"/>
              <a:ea typeface="Roboto"/>
              <a:cs typeface="Roboto"/>
              <a:sym typeface="Roboto"/>
            </a:endParaRPr>
          </a:p>
        </p:txBody>
      </p:sp>
      <p:sp>
        <p:nvSpPr>
          <p:cNvPr id="563" name="Google Shape;563;p20"/>
          <p:cNvSpPr txBox="1"/>
          <p:nvPr/>
        </p:nvSpPr>
        <p:spPr>
          <a:xfrm>
            <a:off x="241800" y="538850"/>
            <a:ext cx="86604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The </a:t>
            </a:r>
            <a:r>
              <a:rPr b="1" i="0" lang="en" sz="1500" u="none" cap="none" strike="noStrike">
                <a:solidFill>
                  <a:srgbClr val="000000"/>
                </a:solidFill>
                <a:latin typeface="Roboto"/>
                <a:ea typeface="Roboto"/>
                <a:cs typeface="Roboto"/>
                <a:sym typeface="Roboto"/>
              </a:rPr>
              <a:t>SELECT </a:t>
            </a:r>
            <a:r>
              <a:rPr b="0" i="0" lang="en" sz="1500" u="none" cap="none" strike="noStrike">
                <a:solidFill>
                  <a:srgbClr val="000000"/>
                </a:solidFill>
                <a:latin typeface="Roboto"/>
                <a:ea typeface="Roboto"/>
                <a:cs typeface="Roboto"/>
                <a:sym typeface="Roboto"/>
              </a:rPr>
              <a:t>statement along with corresponding clauses make up the Data Query Language of SQL.  DQL statements are used to retrieve data out of the database to perform various analyses.  The following are the most commonly </a:t>
            </a:r>
            <a:r>
              <a:rPr b="1" i="0" lang="en" sz="1500" u="none" cap="none" strike="noStrike">
                <a:solidFill>
                  <a:srgbClr val="000000"/>
                </a:solidFill>
                <a:latin typeface="Roboto"/>
                <a:ea typeface="Roboto"/>
                <a:cs typeface="Roboto"/>
                <a:sym typeface="Roboto"/>
              </a:rPr>
              <a:t>clauses </a:t>
            </a:r>
            <a:r>
              <a:rPr b="0" i="0" lang="en" sz="1500" u="none" cap="none" strike="noStrike">
                <a:solidFill>
                  <a:srgbClr val="000000"/>
                </a:solidFill>
                <a:latin typeface="Roboto"/>
                <a:ea typeface="Roboto"/>
                <a:cs typeface="Roboto"/>
                <a:sym typeface="Roboto"/>
              </a:rPr>
              <a:t>that can be used with the SELECT statement:</a:t>
            </a:r>
            <a:endParaRPr b="0" i="0" sz="1500" u="none" cap="none" strike="noStrike">
              <a:solidFill>
                <a:srgbClr val="000000"/>
              </a:solidFill>
              <a:latin typeface="Roboto"/>
              <a:ea typeface="Roboto"/>
              <a:cs typeface="Roboto"/>
              <a:sym typeface="Roboto"/>
            </a:endParaRPr>
          </a:p>
        </p:txBody>
      </p:sp>
      <p:sp>
        <p:nvSpPr>
          <p:cNvPr id="564" name="Google Shape;564;p20"/>
          <p:cNvSpPr/>
          <p:nvPr/>
        </p:nvSpPr>
        <p:spPr>
          <a:xfrm>
            <a:off x="606802" y="4102264"/>
            <a:ext cx="1260648" cy="282511"/>
          </a:xfrm>
          <a:custGeom>
            <a:rect b="b" l="l" r="r" t="t"/>
            <a:pathLst>
              <a:path extrusionOk="0" h="9443" w="39875">
                <a:moveTo>
                  <a:pt x="0" y="0"/>
                </a:moveTo>
                <a:lnTo>
                  <a:pt x="39874" y="0"/>
                </a:lnTo>
                <a:lnTo>
                  <a:pt x="39874" y="9442"/>
                </a:lnTo>
                <a:lnTo>
                  <a:pt x="0" y="9442"/>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0"/>
          <p:cNvSpPr/>
          <p:nvPr/>
        </p:nvSpPr>
        <p:spPr>
          <a:xfrm>
            <a:off x="606802" y="4641216"/>
            <a:ext cx="1260648" cy="282511"/>
          </a:xfrm>
          <a:custGeom>
            <a:rect b="b" l="l" r="r" t="t"/>
            <a:pathLst>
              <a:path extrusionOk="0" h="9443" w="39875">
                <a:moveTo>
                  <a:pt x="0" y="0"/>
                </a:moveTo>
                <a:lnTo>
                  <a:pt x="39874" y="0"/>
                </a:lnTo>
                <a:lnTo>
                  <a:pt x="39874" y="9442"/>
                </a:lnTo>
                <a:lnTo>
                  <a:pt x="0" y="9442"/>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0"/>
          <p:cNvSpPr/>
          <p:nvPr/>
        </p:nvSpPr>
        <p:spPr>
          <a:xfrm>
            <a:off x="395775" y="4101064"/>
            <a:ext cx="1682700" cy="292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HAVING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567" name="Google Shape;567;p20"/>
          <p:cNvSpPr/>
          <p:nvPr/>
        </p:nvSpPr>
        <p:spPr>
          <a:xfrm>
            <a:off x="395775" y="4633333"/>
            <a:ext cx="1682700" cy="2928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FETCHD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568" name="Google Shape;568;p20"/>
          <p:cNvSpPr txBox="1"/>
          <p:nvPr/>
        </p:nvSpPr>
        <p:spPr>
          <a:xfrm flipH="1">
            <a:off x="2303950" y="4551104"/>
            <a:ext cx="5311500" cy="46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used to specifies the number of rows  to skip before any rows are retrieved</a:t>
            </a:r>
            <a:endParaRPr b="0" i="0" sz="1200" u="none" cap="none" strike="noStrike">
              <a:solidFill>
                <a:srgbClr val="000000"/>
              </a:solidFill>
              <a:latin typeface="Roboto"/>
              <a:ea typeface="Roboto"/>
              <a:cs typeface="Roboto"/>
              <a:sym typeface="Roboto"/>
            </a:endParaRPr>
          </a:p>
        </p:txBody>
      </p:sp>
      <p:sp>
        <p:nvSpPr>
          <p:cNvPr id="569" name="Google Shape;569;p20"/>
          <p:cNvSpPr txBox="1"/>
          <p:nvPr/>
        </p:nvSpPr>
        <p:spPr>
          <a:xfrm flipH="1">
            <a:off x="2303950" y="4018860"/>
            <a:ext cx="5311500" cy="462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used to filter rows from a table with specified attributes or features.</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1"/>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The WHERE Clause–the IN Operator</a:t>
            </a:r>
            <a:endParaRPr>
              <a:solidFill>
                <a:schemeClr val="dk1"/>
              </a:solidFill>
            </a:endParaRPr>
          </a:p>
        </p:txBody>
      </p:sp>
      <p:sp>
        <p:nvSpPr>
          <p:cNvPr id="575" name="Google Shape;575;p21"/>
          <p:cNvSpPr txBox="1"/>
          <p:nvPr/>
        </p:nvSpPr>
        <p:spPr>
          <a:xfrm>
            <a:off x="241800" y="1267350"/>
            <a:ext cx="86604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The </a:t>
            </a:r>
            <a:r>
              <a:rPr b="1" i="0" lang="en" sz="1500" u="none" cap="none" strike="noStrike">
                <a:solidFill>
                  <a:srgbClr val="000000"/>
                </a:solidFill>
                <a:latin typeface="Roboto"/>
                <a:ea typeface="Roboto"/>
                <a:cs typeface="Roboto"/>
                <a:sym typeface="Roboto"/>
              </a:rPr>
              <a:t>IN </a:t>
            </a:r>
            <a:r>
              <a:rPr b="0" i="0" lang="en" sz="1500" u="none" cap="none" strike="noStrike">
                <a:solidFill>
                  <a:srgbClr val="000000"/>
                </a:solidFill>
                <a:latin typeface="Roboto"/>
                <a:ea typeface="Roboto"/>
                <a:cs typeface="Roboto"/>
                <a:sym typeface="Roboto"/>
              </a:rPr>
              <a:t>operator is used to specify the list of values or sub query in the </a:t>
            </a:r>
            <a:r>
              <a:rPr b="1" i="0" lang="en" sz="1500" u="none" cap="none" strike="noStrike">
                <a:solidFill>
                  <a:srgbClr val="000000"/>
                </a:solidFill>
                <a:latin typeface="Roboto"/>
                <a:ea typeface="Roboto"/>
                <a:cs typeface="Roboto"/>
                <a:sym typeface="Roboto"/>
              </a:rPr>
              <a:t>WHERE </a:t>
            </a:r>
            <a:r>
              <a:rPr b="0" i="0" lang="en" sz="1500" u="none" cap="none" strike="noStrike">
                <a:solidFill>
                  <a:srgbClr val="000000"/>
                </a:solidFill>
                <a:latin typeface="Roboto"/>
                <a:ea typeface="Roboto"/>
                <a:cs typeface="Roboto"/>
                <a:sym typeface="Roboto"/>
              </a:rPr>
              <a:t>clause. </a:t>
            </a:r>
            <a:endParaRPr b="0" i="0" sz="1500" u="none" cap="none" strike="noStrike">
              <a:solidFill>
                <a:srgbClr val="000000"/>
              </a:solidFill>
              <a:latin typeface="Roboto"/>
              <a:ea typeface="Roboto"/>
              <a:cs typeface="Roboto"/>
              <a:sym typeface="Roboto"/>
            </a:endParaRPr>
          </a:p>
        </p:txBody>
      </p:sp>
      <p:sp>
        <p:nvSpPr>
          <p:cNvPr id="576" name="Google Shape;576;p21"/>
          <p:cNvSpPr txBox="1"/>
          <p:nvPr/>
        </p:nvSpPr>
        <p:spPr>
          <a:xfrm>
            <a:off x="986925" y="2333750"/>
            <a:ext cx="7047300" cy="789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100"/>
              </a:spcBef>
              <a:spcAft>
                <a:spcPts val="0"/>
              </a:spcAft>
              <a:buClr>
                <a:srgbClr val="000000"/>
              </a:buClr>
              <a:buSzPts val="1400"/>
              <a:buFont typeface="Arial"/>
              <a:buNone/>
            </a:pPr>
            <a:r>
              <a:rPr b="1" i="0" lang="en" sz="1400" u="none" cap="none" strike="noStrike">
                <a:solidFill>
                  <a:schemeClr val="accent5"/>
                </a:solidFill>
                <a:highlight>
                  <a:srgbClr val="FFFFFF"/>
                </a:highlight>
                <a:latin typeface="Roboto"/>
                <a:ea typeface="Roboto"/>
                <a:cs typeface="Roboto"/>
                <a:sym typeface="Roboto"/>
              </a:rPr>
              <a:t>A sub-query or list of values must be specified in the parenthesis </a:t>
            </a:r>
            <a:endParaRPr b="1" i="0" sz="1400" u="none" cap="none" strike="noStrike">
              <a:solidFill>
                <a:schemeClr val="accent5"/>
              </a:solidFill>
              <a:highlight>
                <a:srgbClr val="FFFFFF"/>
              </a:highlight>
              <a:latin typeface="Roboto"/>
              <a:ea typeface="Roboto"/>
              <a:cs typeface="Roboto"/>
              <a:sym typeface="Roboto"/>
            </a:endParaRPr>
          </a:p>
          <a:p>
            <a:pPr indent="0" lvl="0" marL="0" marR="0" rtl="0" algn="ctr">
              <a:lnSpc>
                <a:spcPct val="115000"/>
              </a:lnSpc>
              <a:spcBef>
                <a:spcPts val="1100"/>
              </a:spcBef>
              <a:spcAft>
                <a:spcPts val="1100"/>
              </a:spcAft>
              <a:buClr>
                <a:srgbClr val="000000"/>
              </a:buClr>
              <a:buSzPts val="1400"/>
              <a:buFont typeface="Arial"/>
              <a:buNone/>
            </a:pPr>
            <a:r>
              <a:rPr b="1" i="0" lang="en" sz="1400" u="none" cap="none" strike="noStrike">
                <a:solidFill>
                  <a:schemeClr val="dk1"/>
                </a:solidFill>
                <a:highlight>
                  <a:srgbClr val="FFFFFF"/>
                </a:highlight>
                <a:latin typeface="Roboto"/>
                <a:ea typeface="Roboto"/>
                <a:cs typeface="Roboto"/>
                <a:sym typeface="Roboto"/>
              </a:rPr>
              <a:t>e.g. IN (value1, value2, ...) or IN (Select query).</a:t>
            </a:r>
            <a:endParaRPr b="1" i="0" sz="1400" u="none" cap="none" strike="noStrike">
              <a:solidFill>
                <a:schemeClr val="dk1"/>
              </a:solidFill>
              <a:highlight>
                <a:srgbClr val="FFFFFF"/>
              </a:highlight>
              <a:latin typeface="Roboto"/>
              <a:ea typeface="Roboto"/>
              <a:cs typeface="Roboto"/>
              <a:sym typeface="Roboto"/>
            </a:endParaRPr>
          </a:p>
        </p:txBody>
      </p:sp>
      <p:sp>
        <p:nvSpPr>
          <p:cNvPr id="577" name="Google Shape;577;p21"/>
          <p:cNvSpPr txBox="1"/>
          <p:nvPr/>
        </p:nvSpPr>
        <p:spPr>
          <a:xfrm>
            <a:off x="547575" y="3453425"/>
            <a:ext cx="7926000" cy="789000"/>
          </a:xfrm>
          <a:prstGeom prst="rect">
            <a:avLst/>
          </a:prstGeom>
          <a:solidFill>
            <a:srgbClr val="E6E6E6"/>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1100"/>
              </a:spcBef>
              <a:spcAft>
                <a:spcPts val="0"/>
              </a:spcAft>
              <a:buClr>
                <a:srgbClr val="000000"/>
              </a:buClr>
              <a:buSzPts val="1400"/>
              <a:buFont typeface="Arial"/>
              <a:buNone/>
            </a:pPr>
            <a:r>
              <a:rPr b="0" i="0" lang="en" sz="1400" u="none" cap="none" strike="noStrike">
                <a:solidFill>
                  <a:schemeClr val="dk2"/>
                </a:solidFill>
                <a:highlight>
                  <a:srgbClr val="E6E6E6"/>
                </a:highlight>
                <a:latin typeface="Roboto"/>
                <a:ea typeface="Roboto"/>
                <a:cs typeface="Roboto"/>
                <a:sym typeface="Roboto"/>
              </a:rPr>
              <a:t>Use the </a:t>
            </a:r>
            <a:r>
              <a:rPr b="1" i="0" lang="en" sz="1400" u="none" cap="none" strike="noStrike">
                <a:solidFill>
                  <a:schemeClr val="accent6"/>
                </a:solidFill>
                <a:highlight>
                  <a:srgbClr val="E6E6E6"/>
                </a:highlight>
                <a:latin typeface="Roboto"/>
                <a:ea typeface="Roboto"/>
                <a:cs typeface="Roboto"/>
                <a:sym typeface="Roboto"/>
              </a:rPr>
              <a:t>NOT </a:t>
            </a:r>
            <a:r>
              <a:rPr b="0" i="0" lang="en" sz="1400" u="none" cap="none" strike="noStrike">
                <a:solidFill>
                  <a:schemeClr val="dk2"/>
                </a:solidFill>
                <a:highlight>
                  <a:srgbClr val="E6E6E6"/>
                </a:highlight>
                <a:latin typeface="Roboto"/>
                <a:ea typeface="Roboto"/>
                <a:cs typeface="Roboto"/>
                <a:sym typeface="Roboto"/>
              </a:rPr>
              <a:t>operator with the </a:t>
            </a:r>
            <a:r>
              <a:rPr b="1" i="0" lang="en" sz="1400" u="none" cap="none" strike="noStrike">
                <a:solidFill>
                  <a:schemeClr val="accent6"/>
                </a:solidFill>
                <a:highlight>
                  <a:srgbClr val="E6E6E6"/>
                </a:highlight>
                <a:latin typeface="Roboto"/>
                <a:ea typeface="Roboto"/>
                <a:cs typeface="Roboto"/>
                <a:sym typeface="Roboto"/>
              </a:rPr>
              <a:t>IN </a:t>
            </a:r>
            <a:r>
              <a:rPr b="0" i="0" lang="en" sz="1400" u="none" cap="none" strike="noStrike">
                <a:solidFill>
                  <a:schemeClr val="dk2"/>
                </a:solidFill>
                <a:highlight>
                  <a:srgbClr val="E6E6E6"/>
                </a:highlight>
                <a:latin typeface="Roboto"/>
                <a:ea typeface="Roboto"/>
                <a:cs typeface="Roboto"/>
                <a:sym typeface="Roboto"/>
              </a:rPr>
              <a:t>operator to filter records that </a:t>
            </a:r>
            <a:r>
              <a:rPr b="0" i="0" lang="en" sz="1400" u="none" cap="none" strike="noStrike">
                <a:solidFill>
                  <a:schemeClr val="accent6"/>
                </a:solidFill>
                <a:highlight>
                  <a:srgbClr val="E6E6E6"/>
                </a:highlight>
                <a:latin typeface="Roboto"/>
                <a:ea typeface="Roboto"/>
                <a:cs typeface="Roboto"/>
                <a:sym typeface="Roboto"/>
              </a:rPr>
              <a:t>do not</a:t>
            </a:r>
            <a:r>
              <a:rPr b="0" i="0" lang="en" sz="1400" u="none" cap="none" strike="noStrike">
                <a:solidFill>
                  <a:schemeClr val="dk2"/>
                </a:solidFill>
                <a:highlight>
                  <a:srgbClr val="E6E6E6"/>
                </a:highlight>
                <a:latin typeface="Roboto"/>
                <a:ea typeface="Roboto"/>
                <a:cs typeface="Roboto"/>
                <a:sym typeface="Roboto"/>
              </a:rPr>
              <a:t> fall in the specified values.</a:t>
            </a:r>
            <a:endParaRPr b="0" i="0" sz="1400" u="none" cap="none" strike="noStrike">
              <a:solidFill>
                <a:schemeClr val="dk2"/>
              </a:solidFill>
              <a:highlight>
                <a:srgbClr val="E6E6E6"/>
              </a:highlight>
              <a:latin typeface="Roboto"/>
              <a:ea typeface="Roboto"/>
              <a:cs typeface="Roboto"/>
              <a:sym typeface="Roboto"/>
            </a:endParaRPr>
          </a:p>
          <a:p>
            <a:pPr indent="0" lvl="0" marL="0" marR="0" rtl="0" algn="ctr">
              <a:lnSpc>
                <a:spcPct val="115000"/>
              </a:lnSpc>
              <a:spcBef>
                <a:spcPts val="1100"/>
              </a:spcBef>
              <a:spcAft>
                <a:spcPts val="1100"/>
              </a:spcAft>
              <a:buClr>
                <a:srgbClr val="000000"/>
              </a:buClr>
              <a:buSzPts val="1400"/>
              <a:buFont typeface="Arial"/>
              <a:buNone/>
            </a:pPr>
            <a:r>
              <a:rPr b="0" i="0" lang="en" sz="1400" u="none" cap="none" strike="noStrike">
                <a:solidFill>
                  <a:schemeClr val="dk2"/>
                </a:solidFill>
                <a:highlight>
                  <a:srgbClr val="E6E6E6"/>
                </a:highlight>
                <a:latin typeface="Roboto"/>
                <a:ea typeface="Roboto"/>
                <a:cs typeface="Roboto"/>
                <a:sym typeface="Roboto"/>
              </a:rPr>
              <a:t>e.g. </a:t>
            </a:r>
            <a:r>
              <a:rPr b="0" i="0" lang="en" sz="1400" u="none" cap="none" strike="noStrike">
                <a:solidFill>
                  <a:srgbClr val="B33F62"/>
                </a:solidFill>
                <a:highlight>
                  <a:srgbClr val="E6E6E6"/>
                </a:highlight>
                <a:latin typeface="Roboto"/>
                <a:ea typeface="Roboto"/>
                <a:cs typeface="Roboto"/>
                <a:sym typeface="Roboto"/>
              </a:rPr>
              <a:t>NOT IN (value1, value2, ...) or IN (Select query)</a:t>
            </a:r>
            <a:r>
              <a:rPr b="0" i="0" lang="en" sz="1400" u="none" cap="none" strike="noStrike">
                <a:solidFill>
                  <a:schemeClr val="dk2"/>
                </a:solidFill>
                <a:highlight>
                  <a:srgbClr val="E6E6E6"/>
                </a:highlight>
                <a:latin typeface="Roboto"/>
                <a:ea typeface="Roboto"/>
                <a:cs typeface="Roboto"/>
                <a:sym typeface="Roboto"/>
              </a:rPr>
              <a:t>.</a:t>
            </a:r>
            <a:endParaRPr b="0" i="0" sz="1400" u="none" cap="none" strike="noStrike">
              <a:solidFill>
                <a:schemeClr val="dk2"/>
              </a:solidFill>
              <a:highlight>
                <a:srgbClr val="E6E6E6"/>
              </a:highlight>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22"/>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The WHERE Clause–the BETWEEN Operator</a:t>
            </a:r>
            <a:endParaRPr>
              <a:solidFill>
                <a:schemeClr val="dk1"/>
              </a:solidFill>
            </a:endParaRPr>
          </a:p>
        </p:txBody>
      </p:sp>
      <p:sp>
        <p:nvSpPr>
          <p:cNvPr id="583" name="Google Shape;583;p22"/>
          <p:cNvSpPr txBox="1"/>
          <p:nvPr/>
        </p:nvSpPr>
        <p:spPr>
          <a:xfrm>
            <a:off x="241800" y="1267350"/>
            <a:ext cx="86604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The </a:t>
            </a:r>
            <a:r>
              <a:rPr b="1" i="0" lang="en" sz="1500" u="none" cap="none" strike="noStrike">
                <a:solidFill>
                  <a:srgbClr val="000000"/>
                </a:solidFill>
                <a:latin typeface="Roboto"/>
                <a:ea typeface="Roboto"/>
                <a:cs typeface="Roboto"/>
                <a:sym typeface="Roboto"/>
              </a:rPr>
              <a:t>BETWEEN </a:t>
            </a:r>
            <a:r>
              <a:rPr b="0" i="0" lang="en" sz="1500" u="none" cap="none" strike="noStrike">
                <a:solidFill>
                  <a:srgbClr val="000000"/>
                </a:solidFill>
                <a:latin typeface="Roboto"/>
                <a:ea typeface="Roboto"/>
                <a:cs typeface="Roboto"/>
                <a:sym typeface="Roboto"/>
              </a:rPr>
              <a:t>operator is used in the </a:t>
            </a:r>
            <a:r>
              <a:rPr b="1" i="0" lang="en" sz="1500" u="none" cap="none" strike="noStrike">
                <a:solidFill>
                  <a:srgbClr val="000000"/>
                </a:solidFill>
                <a:latin typeface="Roboto"/>
                <a:ea typeface="Roboto"/>
                <a:cs typeface="Roboto"/>
                <a:sym typeface="Roboto"/>
              </a:rPr>
              <a:t>WHERE </a:t>
            </a:r>
            <a:r>
              <a:rPr b="0" i="0" lang="en" sz="1500" u="none" cap="none" strike="noStrike">
                <a:solidFill>
                  <a:srgbClr val="000000"/>
                </a:solidFill>
                <a:latin typeface="Roboto"/>
                <a:ea typeface="Roboto"/>
                <a:cs typeface="Roboto"/>
                <a:sym typeface="Roboto"/>
              </a:rPr>
              <a:t>conditions to filter records within the specified </a:t>
            </a:r>
            <a:r>
              <a:rPr b="0" i="1" lang="en" sz="1500" u="none" cap="none" strike="noStrike">
                <a:solidFill>
                  <a:srgbClr val="000000"/>
                </a:solidFill>
                <a:latin typeface="Roboto"/>
                <a:ea typeface="Roboto"/>
                <a:cs typeface="Roboto"/>
                <a:sym typeface="Roboto"/>
              </a:rPr>
              <a:t>range</a:t>
            </a:r>
            <a:r>
              <a:rPr b="0" i="0" lang="en" sz="1500" u="none" cap="none" strike="noStrike">
                <a:solidFill>
                  <a:srgbClr val="000000"/>
                </a:solidFill>
                <a:latin typeface="Roboto"/>
                <a:ea typeface="Roboto"/>
                <a:cs typeface="Roboto"/>
                <a:sym typeface="Roboto"/>
              </a:rPr>
              <a:t>. The range of values can be strings, numbers, or dates. </a:t>
            </a:r>
            <a:endParaRPr b="0" i="0" sz="1500" u="none" cap="none" strike="noStrike">
              <a:solidFill>
                <a:srgbClr val="000000"/>
              </a:solidFill>
              <a:latin typeface="Roboto"/>
              <a:ea typeface="Roboto"/>
              <a:cs typeface="Roboto"/>
              <a:sym typeface="Roboto"/>
            </a:endParaRPr>
          </a:p>
        </p:txBody>
      </p:sp>
      <p:sp>
        <p:nvSpPr>
          <p:cNvPr id="584" name="Google Shape;584;p22"/>
          <p:cNvSpPr txBox="1"/>
          <p:nvPr/>
        </p:nvSpPr>
        <p:spPr>
          <a:xfrm>
            <a:off x="1120850" y="2118800"/>
            <a:ext cx="7047300" cy="789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100"/>
              </a:spcBef>
              <a:spcAft>
                <a:spcPts val="0"/>
              </a:spcAft>
              <a:buClr>
                <a:srgbClr val="000000"/>
              </a:buClr>
              <a:buSzPts val="1400"/>
              <a:buFont typeface="Arial"/>
              <a:buNone/>
            </a:pPr>
            <a:r>
              <a:rPr b="1" i="0" lang="en" sz="1400" u="none" cap="none" strike="noStrike">
                <a:solidFill>
                  <a:schemeClr val="accent5"/>
                </a:solidFill>
                <a:highlight>
                  <a:srgbClr val="FFFFFF"/>
                </a:highlight>
                <a:latin typeface="Roboto"/>
                <a:ea typeface="Roboto"/>
                <a:cs typeface="Roboto"/>
                <a:sym typeface="Roboto"/>
              </a:rPr>
              <a:t>The range of values must be specified with the </a:t>
            </a:r>
            <a:r>
              <a:rPr b="1" i="0" lang="en" sz="1400" u="none" cap="none" strike="noStrike">
                <a:solidFill>
                  <a:schemeClr val="accent6"/>
                </a:solidFill>
                <a:highlight>
                  <a:srgbClr val="FFFFFF"/>
                </a:highlight>
                <a:latin typeface="Roboto"/>
                <a:ea typeface="Roboto"/>
                <a:cs typeface="Roboto"/>
                <a:sym typeface="Roboto"/>
              </a:rPr>
              <a:t>AND </a:t>
            </a:r>
            <a:r>
              <a:rPr b="1" i="0" lang="en" sz="1400" u="none" cap="none" strike="noStrike">
                <a:solidFill>
                  <a:schemeClr val="accent5"/>
                </a:solidFill>
                <a:highlight>
                  <a:srgbClr val="FFFFFF"/>
                </a:highlight>
                <a:latin typeface="Roboto"/>
                <a:ea typeface="Roboto"/>
                <a:cs typeface="Roboto"/>
                <a:sym typeface="Roboto"/>
              </a:rPr>
              <a:t>operator.</a:t>
            </a:r>
            <a:endParaRPr b="0" i="0" sz="1400" u="none" cap="none" strike="noStrike">
              <a:solidFill>
                <a:srgbClr val="B33F62"/>
              </a:solidFill>
              <a:highlight>
                <a:srgbClr val="FFFFFF"/>
              </a:highlight>
              <a:latin typeface="Roboto"/>
              <a:ea typeface="Roboto"/>
              <a:cs typeface="Roboto"/>
              <a:sym typeface="Roboto"/>
            </a:endParaRPr>
          </a:p>
          <a:p>
            <a:pPr indent="0" lvl="0" marL="0" marR="0" rtl="0" algn="ctr">
              <a:lnSpc>
                <a:spcPct val="115000"/>
              </a:lnSpc>
              <a:spcBef>
                <a:spcPts val="1100"/>
              </a:spcBef>
              <a:spcAft>
                <a:spcPts val="1100"/>
              </a:spcAft>
              <a:buClr>
                <a:srgbClr val="000000"/>
              </a:buClr>
              <a:buSzPts val="1400"/>
              <a:buFont typeface="Arial"/>
              <a:buNone/>
            </a:pPr>
            <a:r>
              <a:rPr b="0" i="0" lang="en" sz="1400" u="none" cap="none" strike="noStrike">
                <a:solidFill>
                  <a:srgbClr val="B33F62"/>
                </a:solidFill>
                <a:highlight>
                  <a:srgbClr val="FFFFFF"/>
                </a:highlight>
                <a:latin typeface="Roboto"/>
                <a:ea typeface="Roboto"/>
                <a:cs typeface="Roboto"/>
                <a:sym typeface="Roboto"/>
              </a:rPr>
              <a:t>WHERE column BETWEEN begin_value AND end_value</a:t>
            </a:r>
            <a:r>
              <a:rPr b="1" i="0" lang="en" sz="1400" u="none" cap="none" strike="noStrike">
                <a:solidFill>
                  <a:schemeClr val="dk1"/>
                </a:solidFill>
                <a:highlight>
                  <a:srgbClr val="FFFFFF"/>
                </a:highlight>
                <a:latin typeface="Roboto"/>
                <a:ea typeface="Roboto"/>
                <a:cs typeface="Roboto"/>
                <a:sym typeface="Roboto"/>
              </a:rPr>
              <a:t>	</a:t>
            </a:r>
            <a:endParaRPr b="1" i="0" sz="1400" u="none" cap="none" strike="noStrike">
              <a:solidFill>
                <a:schemeClr val="dk1"/>
              </a:solidFill>
              <a:highlight>
                <a:srgbClr val="FFFFFF"/>
              </a:highlight>
              <a:latin typeface="Roboto"/>
              <a:ea typeface="Roboto"/>
              <a:cs typeface="Roboto"/>
              <a:sym typeface="Roboto"/>
            </a:endParaRPr>
          </a:p>
        </p:txBody>
      </p:sp>
      <p:sp>
        <p:nvSpPr>
          <p:cNvPr id="585" name="Google Shape;585;p22"/>
          <p:cNvSpPr txBox="1"/>
          <p:nvPr/>
        </p:nvSpPr>
        <p:spPr>
          <a:xfrm>
            <a:off x="710550" y="3235600"/>
            <a:ext cx="7722900" cy="1511100"/>
          </a:xfrm>
          <a:prstGeom prst="rect">
            <a:avLst/>
          </a:prstGeom>
          <a:solidFill>
            <a:srgbClr val="E6E6E6"/>
          </a:solid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000000"/>
                </a:solidFill>
                <a:highlight>
                  <a:srgbClr val="E6E6E6"/>
                </a:highlight>
                <a:latin typeface="Arial"/>
                <a:ea typeface="Arial"/>
                <a:cs typeface="Arial"/>
                <a:sym typeface="Arial"/>
              </a:rPr>
              <a:t>If the value is greater than </a:t>
            </a:r>
            <a:r>
              <a:rPr b="1" i="0" lang="en" sz="1400" u="none" cap="none" strike="noStrike">
                <a:solidFill>
                  <a:schemeClr val="accent6"/>
                </a:solidFill>
                <a:highlight>
                  <a:srgbClr val="E6E6E6"/>
                </a:highlight>
                <a:latin typeface="Arial"/>
                <a:ea typeface="Arial"/>
                <a:cs typeface="Arial"/>
                <a:sym typeface="Arial"/>
              </a:rPr>
              <a:t>or equal</a:t>
            </a:r>
            <a:r>
              <a:rPr b="0" i="0" lang="en" sz="1400" u="none" cap="none" strike="noStrike">
                <a:solidFill>
                  <a:srgbClr val="000000"/>
                </a:solidFill>
                <a:highlight>
                  <a:srgbClr val="E6E6E6"/>
                </a:highlight>
                <a:latin typeface="Arial"/>
                <a:ea typeface="Arial"/>
                <a:cs typeface="Arial"/>
                <a:sym typeface="Arial"/>
              </a:rPr>
              <a:t> to the low value and less than </a:t>
            </a:r>
            <a:r>
              <a:rPr b="1" i="0" lang="en" sz="1400" u="none" cap="none" strike="noStrike">
                <a:solidFill>
                  <a:schemeClr val="accent6"/>
                </a:solidFill>
                <a:highlight>
                  <a:srgbClr val="E6E6E6"/>
                </a:highlight>
                <a:latin typeface="Arial"/>
                <a:ea typeface="Arial"/>
                <a:cs typeface="Arial"/>
                <a:sym typeface="Arial"/>
              </a:rPr>
              <a:t>or equal </a:t>
            </a:r>
            <a:r>
              <a:rPr b="0" i="0" lang="en" sz="1400" u="none" cap="none" strike="noStrike">
                <a:solidFill>
                  <a:srgbClr val="000000"/>
                </a:solidFill>
                <a:highlight>
                  <a:srgbClr val="E6E6E6"/>
                </a:highlight>
                <a:latin typeface="Arial"/>
                <a:ea typeface="Arial"/>
                <a:cs typeface="Arial"/>
                <a:sym typeface="Arial"/>
              </a:rPr>
              <a:t>to the high value, the expression returns true, otherwise, it returns false. Which means, the BETWEEN operator could also be rewritten as :</a:t>
            </a:r>
            <a:endParaRPr b="0" i="0" sz="1400" u="none" cap="none" strike="noStrike">
              <a:solidFill>
                <a:srgbClr val="000000"/>
              </a:solidFill>
              <a:highlight>
                <a:srgbClr val="E6E6E6"/>
              </a:highlight>
              <a:latin typeface="Arial"/>
              <a:ea typeface="Arial"/>
              <a:cs typeface="Arial"/>
              <a:sym typeface="Arial"/>
            </a:endParaRPr>
          </a:p>
          <a:p>
            <a:pPr indent="0" lvl="0" marL="0" marR="0" rtl="0" algn="ctr">
              <a:lnSpc>
                <a:spcPct val="115000"/>
              </a:lnSpc>
              <a:spcBef>
                <a:spcPts val="1100"/>
              </a:spcBef>
              <a:spcAft>
                <a:spcPts val="1100"/>
              </a:spcAft>
              <a:buClr>
                <a:srgbClr val="000000"/>
              </a:buClr>
              <a:buSzPts val="1400"/>
              <a:buFont typeface="Arial"/>
              <a:buNone/>
            </a:pPr>
            <a:r>
              <a:rPr b="0" i="0" lang="en" sz="1400" u="none" cap="none" strike="noStrike">
                <a:solidFill>
                  <a:srgbClr val="B33F62"/>
                </a:solidFill>
                <a:highlight>
                  <a:srgbClr val="FFFFFF"/>
                </a:highlight>
                <a:latin typeface="Roboto"/>
                <a:ea typeface="Roboto"/>
                <a:cs typeface="Roboto"/>
                <a:sym typeface="Roboto"/>
              </a:rPr>
              <a:t>WHERE column begin_value&gt;= AND column &lt;= end_value</a:t>
            </a:r>
            <a:endParaRPr b="0" i="0" sz="1400" u="none" cap="none" strike="noStrike">
              <a:solidFill>
                <a:srgbClr val="000000"/>
              </a:solidFill>
              <a:highlight>
                <a:srgbClr val="E6E6E6"/>
              </a:highlight>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23"/>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The WHERE Clause–the LIKE Operator</a:t>
            </a:r>
            <a:endParaRPr>
              <a:solidFill>
                <a:schemeClr val="dk1"/>
              </a:solidFill>
            </a:endParaRPr>
          </a:p>
        </p:txBody>
      </p:sp>
      <p:sp>
        <p:nvSpPr>
          <p:cNvPr id="591" name="Google Shape;591;p23"/>
          <p:cNvSpPr txBox="1"/>
          <p:nvPr/>
        </p:nvSpPr>
        <p:spPr>
          <a:xfrm>
            <a:off x="241800" y="1267350"/>
            <a:ext cx="86604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The </a:t>
            </a:r>
            <a:r>
              <a:rPr b="1" i="0" lang="en" sz="1500" u="none" cap="none" strike="noStrike">
                <a:solidFill>
                  <a:srgbClr val="000000"/>
                </a:solidFill>
                <a:latin typeface="Roboto"/>
                <a:ea typeface="Roboto"/>
                <a:cs typeface="Roboto"/>
                <a:sym typeface="Roboto"/>
              </a:rPr>
              <a:t>LIKE </a:t>
            </a:r>
            <a:r>
              <a:rPr b="0" i="0" lang="en" sz="1500" u="none" cap="none" strike="noStrike">
                <a:solidFill>
                  <a:srgbClr val="000000"/>
                </a:solidFill>
                <a:latin typeface="Roboto"/>
                <a:ea typeface="Roboto"/>
                <a:cs typeface="Roboto"/>
                <a:sym typeface="Roboto"/>
              </a:rPr>
              <a:t>operator is used in a </a:t>
            </a:r>
            <a:r>
              <a:rPr b="1" i="0" lang="en" sz="1500" u="none" cap="none" strike="noStrike">
                <a:solidFill>
                  <a:srgbClr val="000000"/>
                </a:solidFill>
                <a:latin typeface="Roboto"/>
                <a:ea typeface="Roboto"/>
                <a:cs typeface="Roboto"/>
                <a:sym typeface="Roboto"/>
              </a:rPr>
              <a:t>WHERE </a:t>
            </a:r>
            <a:r>
              <a:rPr b="0" i="0" lang="en" sz="1500" u="none" cap="none" strike="noStrike">
                <a:solidFill>
                  <a:srgbClr val="000000"/>
                </a:solidFill>
                <a:latin typeface="Roboto"/>
                <a:ea typeface="Roboto"/>
                <a:cs typeface="Roboto"/>
                <a:sym typeface="Roboto"/>
              </a:rPr>
              <a:t>clause to search for a specified </a:t>
            </a:r>
            <a:r>
              <a:rPr b="0" i="1" lang="en" sz="1500" u="none" cap="none" strike="noStrike">
                <a:solidFill>
                  <a:schemeClr val="accent6"/>
                </a:solidFill>
                <a:latin typeface="Roboto"/>
                <a:ea typeface="Roboto"/>
                <a:cs typeface="Roboto"/>
                <a:sym typeface="Roboto"/>
              </a:rPr>
              <a:t>pattern </a:t>
            </a:r>
            <a:r>
              <a:rPr b="0" i="0" lang="en" sz="1500" u="none" cap="none" strike="noStrike">
                <a:solidFill>
                  <a:srgbClr val="000000"/>
                </a:solidFill>
                <a:latin typeface="Roboto"/>
                <a:ea typeface="Roboto"/>
                <a:cs typeface="Roboto"/>
                <a:sym typeface="Roboto"/>
              </a:rPr>
              <a:t>in a column.</a:t>
            </a:r>
            <a:endParaRPr b="0" i="0" sz="1500" u="none" cap="none" strike="noStrike">
              <a:solidFill>
                <a:srgbClr val="000000"/>
              </a:solidFill>
              <a:latin typeface="Roboto"/>
              <a:ea typeface="Roboto"/>
              <a:cs typeface="Roboto"/>
              <a:sym typeface="Roboto"/>
            </a:endParaRPr>
          </a:p>
        </p:txBody>
      </p:sp>
      <p:sp>
        <p:nvSpPr>
          <p:cNvPr id="592" name="Google Shape;592;p23"/>
          <p:cNvSpPr txBox="1"/>
          <p:nvPr/>
        </p:nvSpPr>
        <p:spPr>
          <a:xfrm>
            <a:off x="1331900" y="2333775"/>
            <a:ext cx="7047300" cy="107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400"/>
              <a:buFont typeface="Arial"/>
              <a:buNone/>
            </a:pPr>
            <a:r>
              <a:rPr b="1" i="0" lang="en" sz="1400" u="none" cap="none" strike="noStrike">
                <a:solidFill>
                  <a:schemeClr val="accent5"/>
                </a:solidFill>
                <a:highlight>
                  <a:srgbClr val="FFFFFF"/>
                </a:highlight>
                <a:latin typeface="Roboto"/>
                <a:ea typeface="Roboto"/>
                <a:cs typeface="Roboto"/>
                <a:sym typeface="Roboto"/>
              </a:rPr>
              <a:t>There are two wildcards often used in conjunction with the LIKE operator:</a:t>
            </a:r>
            <a:endParaRPr b="1" i="0" sz="1400" u="none" cap="none" strike="noStrike">
              <a:solidFill>
                <a:schemeClr val="accent5"/>
              </a:solidFill>
              <a:highlight>
                <a:srgbClr val="FFFFFF"/>
              </a:highlight>
              <a:latin typeface="Roboto"/>
              <a:ea typeface="Roboto"/>
              <a:cs typeface="Roboto"/>
              <a:sym typeface="Roboto"/>
            </a:endParaRPr>
          </a:p>
          <a:p>
            <a:pPr indent="-317500" lvl="0" marL="457200" marR="0" rtl="0" algn="l">
              <a:lnSpc>
                <a:spcPct val="115000"/>
              </a:lnSpc>
              <a:spcBef>
                <a:spcPts val="1400"/>
              </a:spcBef>
              <a:spcAft>
                <a:spcPts val="0"/>
              </a:spcAft>
              <a:buClr>
                <a:schemeClr val="dk1"/>
              </a:buClr>
              <a:buSzPts val="1400"/>
              <a:buFont typeface="Roboto"/>
              <a:buAutoNum type="arabicPeriod"/>
            </a:pPr>
            <a:r>
              <a:rPr b="0" i="0" lang="en" sz="1400" u="none" cap="none" strike="noStrike">
                <a:solidFill>
                  <a:schemeClr val="dk1"/>
                </a:solidFill>
                <a:highlight>
                  <a:srgbClr val="FFFFFF"/>
                </a:highlight>
                <a:latin typeface="Roboto"/>
                <a:ea typeface="Roboto"/>
                <a:cs typeface="Roboto"/>
                <a:sym typeface="Roboto"/>
              </a:rPr>
              <a:t> The percent sign (%) represents </a:t>
            </a:r>
            <a:r>
              <a:rPr b="1" i="0" lang="en" sz="1400" u="none" cap="none" strike="noStrike">
                <a:solidFill>
                  <a:schemeClr val="accent6"/>
                </a:solidFill>
                <a:highlight>
                  <a:srgbClr val="FFFFFF"/>
                </a:highlight>
                <a:latin typeface="Roboto"/>
                <a:ea typeface="Roboto"/>
                <a:cs typeface="Roboto"/>
                <a:sym typeface="Roboto"/>
              </a:rPr>
              <a:t>zero, one, or multiple</a:t>
            </a:r>
            <a:r>
              <a:rPr b="0" i="0" lang="en" sz="1400" u="none" cap="none" strike="noStrike">
                <a:solidFill>
                  <a:schemeClr val="dk1"/>
                </a:solidFill>
                <a:highlight>
                  <a:srgbClr val="FFFFFF"/>
                </a:highlight>
                <a:latin typeface="Roboto"/>
                <a:ea typeface="Roboto"/>
                <a:cs typeface="Roboto"/>
                <a:sym typeface="Roboto"/>
              </a:rPr>
              <a:t> characters</a:t>
            </a:r>
            <a:endParaRPr b="0" i="0" sz="1400" u="none" cap="none" strike="noStrike">
              <a:solidFill>
                <a:schemeClr val="dk1"/>
              </a:solidFill>
              <a:highlight>
                <a:srgbClr val="FFFFFF"/>
              </a:highlight>
              <a:latin typeface="Roboto"/>
              <a:ea typeface="Roboto"/>
              <a:cs typeface="Roboto"/>
              <a:sym typeface="Roboto"/>
            </a:endParaRPr>
          </a:p>
          <a:p>
            <a:pPr indent="-317500" lvl="0" marL="457200" marR="0" rtl="0" algn="l">
              <a:lnSpc>
                <a:spcPct val="115000"/>
              </a:lnSpc>
              <a:spcBef>
                <a:spcPts val="0"/>
              </a:spcBef>
              <a:spcAft>
                <a:spcPts val="0"/>
              </a:spcAft>
              <a:buClr>
                <a:schemeClr val="dk1"/>
              </a:buClr>
              <a:buSzPts val="1400"/>
              <a:buFont typeface="Roboto"/>
              <a:buAutoNum type="arabicPeriod"/>
            </a:pPr>
            <a:r>
              <a:rPr b="0" i="0" lang="en" sz="1400" u="none" cap="none" strike="noStrike">
                <a:solidFill>
                  <a:schemeClr val="dk1"/>
                </a:solidFill>
                <a:highlight>
                  <a:srgbClr val="FFFFFF"/>
                </a:highlight>
                <a:latin typeface="Roboto"/>
                <a:ea typeface="Roboto"/>
                <a:cs typeface="Roboto"/>
                <a:sym typeface="Roboto"/>
              </a:rPr>
              <a:t> The underscore sign (_) represents </a:t>
            </a:r>
            <a:r>
              <a:rPr b="1" i="0" lang="en" sz="1400" u="none" cap="none" strike="noStrike">
                <a:solidFill>
                  <a:schemeClr val="accent6"/>
                </a:solidFill>
                <a:highlight>
                  <a:srgbClr val="FFFFFF"/>
                </a:highlight>
                <a:latin typeface="Roboto"/>
                <a:ea typeface="Roboto"/>
                <a:cs typeface="Roboto"/>
                <a:sym typeface="Roboto"/>
              </a:rPr>
              <a:t>one</a:t>
            </a:r>
            <a:r>
              <a:rPr b="0" i="0" lang="en" sz="1400" u="none" cap="none" strike="noStrike">
                <a:solidFill>
                  <a:schemeClr val="dk1"/>
                </a:solidFill>
                <a:highlight>
                  <a:srgbClr val="FFFFFF"/>
                </a:highlight>
                <a:latin typeface="Roboto"/>
                <a:ea typeface="Roboto"/>
                <a:cs typeface="Roboto"/>
                <a:sym typeface="Roboto"/>
              </a:rPr>
              <a:t>, single character</a:t>
            </a:r>
            <a:endParaRPr b="0" i="0" sz="1400" u="none" cap="none" strike="noStrike">
              <a:solidFill>
                <a:schemeClr val="dk1"/>
              </a:solidFill>
              <a:highlight>
                <a:srgbClr val="FFFFFF"/>
              </a:highlight>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24"/>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The WHERE Clause–the IS NULL Operator</a:t>
            </a:r>
            <a:endParaRPr>
              <a:solidFill>
                <a:schemeClr val="dk1"/>
              </a:solidFill>
            </a:endParaRPr>
          </a:p>
        </p:txBody>
      </p:sp>
      <p:sp>
        <p:nvSpPr>
          <p:cNvPr id="598" name="Google Shape;598;p24"/>
          <p:cNvSpPr txBox="1"/>
          <p:nvPr/>
        </p:nvSpPr>
        <p:spPr>
          <a:xfrm>
            <a:off x="241800" y="1267350"/>
            <a:ext cx="86604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IS NULL operator evaluates true if the value in a column  is NULL or false if it is not.</a:t>
            </a:r>
            <a:endParaRPr b="0" i="0" sz="15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Roboto"/>
              <a:ea typeface="Roboto"/>
              <a:cs typeface="Roboto"/>
              <a:sym typeface="Roboto"/>
            </a:endParaRPr>
          </a:p>
        </p:txBody>
      </p:sp>
      <p:sp>
        <p:nvSpPr>
          <p:cNvPr id="599" name="Google Shape;599;p24"/>
          <p:cNvSpPr txBox="1"/>
          <p:nvPr/>
        </p:nvSpPr>
        <p:spPr>
          <a:xfrm>
            <a:off x="1048350" y="2011325"/>
            <a:ext cx="7047300" cy="895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100"/>
              </a:spcBef>
              <a:spcAft>
                <a:spcPts val="1100"/>
              </a:spcAft>
              <a:buClr>
                <a:srgbClr val="000000"/>
              </a:buClr>
              <a:buSzPts val="1400"/>
              <a:buFont typeface="Arial"/>
              <a:buNone/>
            </a:pPr>
            <a:r>
              <a:rPr b="1" i="0" lang="en" sz="1400" u="none" cap="none" strike="noStrike">
                <a:solidFill>
                  <a:schemeClr val="accent5"/>
                </a:solidFill>
                <a:highlight>
                  <a:srgbClr val="FFFFFF"/>
                </a:highlight>
                <a:latin typeface="Roboto"/>
                <a:ea typeface="Roboto"/>
                <a:cs typeface="Roboto"/>
                <a:sym typeface="Roboto"/>
              </a:rPr>
              <a:t>NULL means missing information or not applicable. NULL is not a value, therefore, you cannot compare it with any other values like numbers or strings. The comparison of NULL with a value will always result in NULL, which means an unknown result.</a:t>
            </a:r>
            <a:endParaRPr b="1" i="0" sz="1400" u="none" cap="none" strike="noStrike">
              <a:solidFill>
                <a:schemeClr val="dk1"/>
              </a:solidFill>
              <a:highlight>
                <a:srgbClr val="FFFFFF"/>
              </a:highlight>
              <a:latin typeface="Roboto"/>
              <a:ea typeface="Roboto"/>
              <a:cs typeface="Roboto"/>
              <a:sym typeface="Roboto"/>
            </a:endParaRPr>
          </a:p>
        </p:txBody>
      </p:sp>
      <p:sp>
        <p:nvSpPr>
          <p:cNvPr id="600" name="Google Shape;600;p24"/>
          <p:cNvSpPr txBox="1"/>
          <p:nvPr/>
        </p:nvSpPr>
        <p:spPr>
          <a:xfrm>
            <a:off x="862950" y="3235600"/>
            <a:ext cx="7722900" cy="895800"/>
          </a:xfrm>
          <a:prstGeom prst="rect">
            <a:avLst/>
          </a:prstGeom>
          <a:solidFill>
            <a:srgbClr val="F9564F"/>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15000"/>
              </a:lnSpc>
              <a:spcBef>
                <a:spcPts val="1100"/>
              </a:spcBef>
              <a:spcAft>
                <a:spcPts val="1100"/>
              </a:spcAft>
              <a:buClr>
                <a:srgbClr val="000000"/>
              </a:buClr>
              <a:buSzPts val="1400"/>
              <a:buFont typeface="Arial"/>
              <a:buNone/>
            </a:pPr>
            <a:r>
              <a:rPr b="0" i="0" lang="en" sz="1400" u="none" cap="none" strike="noStrike">
                <a:solidFill>
                  <a:schemeClr val="lt1"/>
                </a:solidFill>
                <a:highlight>
                  <a:srgbClr val="F9564F"/>
                </a:highlight>
                <a:latin typeface="Arial"/>
                <a:ea typeface="Arial"/>
                <a:cs typeface="Arial"/>
                <a:sym typeface="Arial"/>
              </a:rPr>
              <a:t>In SQL </a:t>
            </a:r>
            <a:r>
              <a:rPr b="1" i="0" lang="en" sz="1400" u="none" cap="none" strike="noStrike">
                <a:solidFill>
                  <a:schemeClr val="lt1"/>
                </a:solidFill>
                <a:highlight>
                  <a:srgbClr val="F9564F"/>
                </a:highlight>
                <a:latin typeface="Arial"/>
                <a:ea typeface="Arial"/>
                <a:cs typeface="Arial"/>
                <a:sym typeface="Arial"/>
              </a:rPr>
              <a:t>NULL</a:t>
            </a:r>
            <a:r>
              <a:rPr b="0" i="0" lang="en" sz="1400" u="none" cap="none" strike="noStrike">
                <a:solidFill>
                  <a:schemeClr val="lt1"/>
                </a:solidFill>
                <a:highlight>
                  <a:srgbClr val="F9564F"/>
                </a:highlight>
                <a:latin typeface="Arial"/>
                <a:ea typeface="Arial"/>
                <a:cs typeface="Arial"/>
                <a:sym typeface="Arial"/>
              </a:rPr>
              <a:t>, </a:t>
            </a:r>
            <a:r>
              <a:rPr b="1" i="0" lang="en" sz="1400" u="none" cap="none" strike="noStrike">
                <a:solidFill>
                  <a:schemeClr val="lt1"/>
                </a:solidFill>
                <a:highlight>
                  <a:srgbClr val="F9564F"/>
                </a:highlight>
                <a:latin typeface="Arial"/>
                <a:ea typeface="Arial"/>
                <a:cs typeface="Arial"/>
                <a:sym typeface="Arial"/>
              </a:rPr>
              <a:t>0</a:t>
            </a:r>
            <a:r>
              <a:rPr b="0" i="0" lang="en" sz="1400" u="none" cap="none" strike="noStrike">
                <a:solidFill>
                  <a:schemeClr val="lt1"/>
                </a:solidFill>
                <a:highlight>
                  <a:srgbClr val="F9564F"/>
                </a:highlight>
                <a:latin typeface="Arial"/>
                <a:ea typeface="Arial"/>
                <a:cs typeface="Arial"/>
                <a:sym typeface="Arial"/>
              </a:rPr>
              <a:t>, and</a:t>
            </a:r>
            <a:r>
              <a:rPr b="1" i="0" lang="en" sz="1400" u="none" cap="none" strike="noStrike">
                <a:solidFill>
                  <a:schemeClr val="lt1"/>
                </a:solidFill>
                <a:highlight>
                  <a:srgbClr val="F9564F"/>
                </a:highlight>
                <a:latin typeface="Arial"/>
                <a:ea typeface="Arial"/>
                <a:cs typeface="Arial"/>
                <a:sym typeface="Arial"/>
              </a:rPr>
              <a:t> blank </a:t>
            </a:r>
            <a:r>
              <a:rPr b="0" i="0" lang="en" sz="1400" u="none" cap="none" strike="noStrike">
                <a:solidFill>
                  <a:schemeClr val="lt1"/>
                </a:solidFill>
                <a:highlight>
                  <a:srgbClr val="F9564F"/>
                </a:highlight>
                <a:latin typeface="Arial"/>
                <a:ea typeface="Arial"/>
                <a:cs typeface="Arial"/>
                <a:sym typeface="Arial"/>
              </a:rPr>
              <a:t>represent completely different values and using these values incorrectly or choosing the wrong one can have enormous ramifications on the accuracy of your analysis</a:t>
            </a:r>
            <a:endParaRPr b="0" i="0" sz="1400" u="none" cap="none" strike="noStrike">
              <a:solidFill>
                <a:schemeClr val="lt1"/>
              </a:solidFill>
              <a:highlight>
                <a:srgbClr val="F9564F"/>
              </a:highlight>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25"/>
          <p:cNvSpPr txBox="1"/>
          <p:nvPr>
            <p:ph type="title"/>
          </p:nvPr>
        </p:nvSpPr>
        <p:spPr>
          <a:xfrm>
            <a:off x="512700" y="319375"/>
            <a:ext cx="8229600" cy="540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2300"/>
              </a:spcAft>
              <a:buSzPts val="3000"/>
              <a:buNone/>
            </a:pPr>
            <a:r>
              <a:rPr b="1" lang="en" sz="2650">
                <a:solidFill>
                  <a:schemeClr val="dk1"/>
                </a:solidFill>
                <a:latin typeface="Arial"/>
                <a:ea typeface="Arial"/>
                <a:cs typeface="Arial"/>
                <a:sym typeface="Arial"/>
              </a:rPr>
              <a:t>QUERYING SINGLE TABLE</a:t>
            </a:r>
            <a:endParaRPr/>
          </a:p>
        </p:txBody>
      </p:sp>
      <p:sp>
        <p:nvSpPr>
          <p:cNvPr id="606" name="Google Shape;606;p25"/>
          <p:cNvSpPr txBox="1"/>
          <p:nvPr/>
        </p:nvSpPr>
        <p:spPr>
          <a:xfrm>
            <a:off x="512700" y="1013350"/>
            <a:ext cx="8118600" cy="4365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0" i="0" lang="en" sz="1400" u="none" cap="none" strike="noStrike">
                <a:solidFill>
                  <a:srgbClr val="2D2D2D"/>
                </a:solidFill>
                <a:latin typeface="Roboto"/>
                <a:ea typeface="Roboto"/>
                <a:cs typeface="Roboto"/>
                <a:sym typeface="Roboto"/>
              </a:rPr>
              <a:t>Fetch </a:t>
            </a:r>
            <a:r>
              <a:rPr b="1" i="0" lang="en" sz="1400" u="none" cap="none" strike="noStrike">
                <a:solidFill>
                  <a:srgbClr val="2D2D2D"/>
                </a:solidFill>
                <a:latin typeface="Roboto"/>
                <a:ea typeface="Roboto"/>
                <a:cs typeface="Roboto"/>
                <a:sym typeface="Roboto"/>
              </a:rPr>
              <a:t>all columns</a:t>
            </a:r>
            <a:r>
              <a:rPr b="0" i="0" lang="en" sz="1400" u="none" cap="none" strike="noStrike">
                <a:solidFill>
                  <a:srgbClr val="2D2D2D"/>
                </a:solidFill>
                <a:latin typeface="Roboto"/>
                <a:ea typeface="Roboto"/>
                <a:cs typeface="Roboto"/>
                <a:sym typeface="Roboto"/>
              </a:rPr>
              <a:t> from the </a:t>
            </a:r>
            <a:r>
              <a:rPr b="0" i="0" lang="en" sz="1400" u="none" cap="none" strike="noStrike">
                <a:solidFill>
                  <a:srgbClr val="4424A9"/>
                </a:solidFill>
                <a:highlight>
                  <a:srgbClr val="EEF5FF"/>
                </a:highlight>
                <a:latin typeface="Roboto"/>
                <a:ea typeface="Roboto"/>
                <a:cs typeface="Roboto"/>
                <a:sym typeface="Roboto"/>
              </a:rPr>
              <a:t>country</a:t>
            </a:r>
            <a:r>
              <a:rPr b="0" i="0" lang="en" sz="1400" u="none" cap="none" strike="noStrike">
                <a:solidFill>
                  <a:srgbClr val="2D2D2D"/>
                </a:solidFill>
                <a:latin typeface="Roboto"/>
                <a:ea typeface="Roboto"/>
                <a:cs typeface="Roboto"/>
                <a:sym typeface="Roboto"/>
              </a:rPr>
              <a:t> table:</a:t>
            </a:r>
            <a:endParaRPr b="0" i="0" sz="1400" u="none" cap="none" strike="noStrike">
              <a:solidFill>
                <a:srgbClr val="2D2D2D"/>
              </a:solidFill>
              <a:latin typeface="Roboto"/>
              <a:ea typeface="Roboto"/>
              <a:cs typeface="Roboto"/>
              <a:sym typeface="Roboto"/>
            </a:endParaRPr>
          </a:p>
          <a:p>
            <a:pPr indent="0" lvl="0" marL="457200" marR="0" rtl="0" algn="l">
              <a:lnSpc>
                <a:spcPct val="100000"/>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country;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0" i="0" lang="en" sz="1450" u="none" cap="none" strike="noStrike">
                <a:solidFill>
                  <a:srgbClr val="2D2D2D"/>
                </a:solidFill>
                <a:latin typeface="Roboto"/>
                <a:ea typeface="Roboto"/>
                <a:cs typeface="Roboto"/>
                <a:sym typeface="Roboto"/>
              </a:rPr>
              <a:t>Fetch city_id and city columns from the city table:</a:t>
            </a:r>
            <a:endParaRPr b="0" i="0" sz="1450" u="none" cap="none" strike="noStrike">
              <a:solidFill>
                <a:srgbClr val="2D2D2D"/>
              </a:solidFill>
              <a:latin typeface="Roboto"/>
              <a:ea typeface="Roboto"/>
              <a:cs typeface="Roboto"/>
              <a:sym typeface="Roboto"/>
            </a:endParaRPr>
          </a:p>
          <a:p>
            <a:pPr indent="0" lvl="0" marL="457200" marR="0" rtl="0" algn="l">
              <a:lnSpc>
                <a:spcPct val="100000"/>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city_id, city</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0" i="0" lang="en" sz="1400" u="none" cap="none" strike="noStrike">
                <a:solidFill>
                  <a:srgbClr val="2D2D2D"/>
                </a:solidFill>
                <a:latin typeface="Roboto"/>
                <a:ea typeface="Roboto"/>
                <a:cs typeface="Roboto"/>
                <a:sym typeface="Roboto"/>
              </a:rPr>
              <a:t>Fetch film titles sorted by the </a:t>
            </a:r>
            <a:r>
              <a:rPr b="0" i="0" lang="en" sz="1400" u="none" cap="none" strike="noStrike">
                <a:solidFill>
                  <a:srgbClr val="4424A9"/>
                </a:solidFill>
                <a:highlight>
                  <a:srgbClr val="EEF5FF"/>
                </a:highlight>
                <a:latin typeface="Roboto"/>
                <a:ea typeface="Roboto"/>
                <a:cs typeface="Roboto"/>
                <a:sym typeface="Roboto"/>
              </a:rPr>
              <a:t>length </a:t>
            </a:r>
            <a:r>
              <a:rPr b="0" i="0" lang="en" sz="1400" u="none" cap="none" strike="noStrike">
                <a:solidFill>
                  <a:srgbClr val="2D2D2D"/>
                </a:solidFill>
                <a:latin typeface="Roboto"/>
                <a:ea typeface="Roboto"/>
                <a:cs typeface="Roboto"/>
                <a:sym typeface="Roboto"/>
              </a:rPr>
              <a:t>column in the default ASCending order:</a:t>
            </a:r>
            <a:endParaRPr b="0" i="0" sz="1400" u="none" cap="none" strike="noStrike">
              <a:solidFill>
                <a:srgbClr val="2D2D2D"/>
              </a:solidFill>
              <a:latin typeface="Roboto"/>
              <a:ea typeface="Roboto"/>
              <a:cs typeface="Roboto"/>
              <a:sym typeface="Roboto"/>
            </a:endParaRPr>
          </a:p>
          <a:p>
            <a:pPr indent="0" lvl="0" marL="457200" marR="0" rtl="0" algn="l">
              <a:lnSpc>
                <a:spcPct val="100000"/>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title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film</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ORDER BY length [ASC];</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0" i="0" lang="en" sz="1400" u="none" cap="none" strike="noStrike">
                <a:solidFill>
                  <a:srgbClr val="2D2D2D"/>
                </a:solidFill>
                <a:latin typeface="Arial"/>
                <a:ea typeface="Arial"/>
                <a:cs typeface="Arial"/>
                <a:sym typeface="Arial"/>
              </a:rPr>
              <a:t>Fetch </a:t>
            </a:r>
            <a:r>
              <a:rPr b="0" i="0" lang="en" sz="1400" u="none" cap="none" strike="noStrike">
                <a:solidFill>
                  <a:srgbClr val="2D2D2D"/>
                </a:solidFill>
                <a:latin typeface="Roboto"/>
                <a:ea typeface="Roboto"/>
                <a:cs typeface="Roboto"/>
                <a:sym typeface="Roboto"/>
              </a:rPr>
              <a:t>payments from the </a:t>
            </a:r>
            <a:r>
              <a:rPr b="0" i="0" lang="en" sz="1400" u="none" cap="none" strike="noStrike">
                <a:solidFill>
                  <a:srgbClr val="4424A9"/>
                </a:solidFill>
                <a:highlight>
                  <a:srgbClr val="EEF5FF"/>
                </a:highlight>
                <a:latin typeface="Roboto"/>
                <a:ea typeface="Roboto"/>
                <a:cs typeface="Roboto"/>
                <a:sym typeface="Roboto"/>
              </a:rPr>
              <a:t>payment </a:t>
            </a:r>
            <a:r>
              <a:rPr b="0" i="0" lang="en" sz="1400" u="none" cap="none" strike="noStrike">
                <a:solidFill>
                  <a:srgbClr val="2D2D2D"/>
                </a:solidFill>
                <a:latin typeface="Roboto"/>
                <a:ea typeface="Roboto"/>
                <a:cs typeface="Roboto"/>
                <a:sym typeface="Roboto"/>
              </a:rPr>
              <a:t>table sorted by the </a:t>
            </a:r>
            <a:r>
              <a:rPr b="0" i="0" lang="en" sz="1400" u="none" cap="none" strike="noStrike">
                <a:solidFill>
                  <a:srgbClr val="4424A9"/>
                </a:solidFill>
                <a:highlight>
                  <a:srgbClr val="EEF5FF"/>
                </a:highlight>
                <a:latin typeface="Roboto"/>
                <a:ea typeface="Roboto"/>
                <a:cs typeface="Roboto"/>
                <a:sym typeface="Roboto"/>
              </a:rPr>
              <a:t>amount </a:t>
            </a:r>
            <a:r>
              <a:rPr b="0" i="0" lang="en" sz="1400" u="none" cap="none" strike="noStrike">
                <a:solidFill>
                  <a:srgbClr val="2D2D2D"/>
                </a:solidFill>
                <a:latin typeface="Roboto"/>
                <a:ea typeface="Roboto"/>
                <a:cs typeface="Roboto"/>
                <a:sym typeface="Roboto"/>
              </a:rPr>
              <a:t>column</a:t>
            </a:r>
            <a:r>
              <a:rPr b="0" i="0" lang="en" sz="1400" u="none" cap="none" strike="noStrike">
                <a:solidFill>
                  <a:srgbClr val="2D2D2D"/>
                </a:solidFill>
                <a:latin typeface="Arial"/>
                <a:ea typeface="Arial"/>
                <a:cs typeface="Arial"/>
                <a:sym typeface="Arial"/>
              </a:rPr>
              <a:t> in the DESCending order:</a:t>
            </a:r>
            <a:endParaRPr b="0" i="0" sz="1400" u="none" cap="none" strike="noStrike">
              <a:solidFill>
                <a:srgbClr val="2D2D2D"/>
              </a:solidFill>
              <a:latin typeface="Arial"/>
              <a:ea typeface="Arial"/>
              <a:cs typeface="Arial"/>
              <a:sym typeface="Arial"/>
            </a:endParaRPr>
          </a:p>
          <a:p>
            <a:pPr indent="0" lvl="0" marL="457200" marR="0" rtl="0" algn="l">
              <a:lnSpc>
                <a:spcPct val="100000"/>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amount</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payment</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0"/>
              </a:spcBef>
              <a:spcAft>
                <a:spcPts val="0"/>
              </a:spcAft>
              <a:buClr>
                <a:schemeClr val="dk1"/>
              </a:buClr>
              <a:buSzPts val="1100"/>
              <a:buFont typeface="Arial"/>
              <a:buNone/>
            </a:pPr>
            <a:r>
              <a:rPr b="0" i="0" lang="en" sz="1000" u="none" cap="none" strike="noStrike">
                <a:solidFill>
                  <a:srgbClr val="333333"/>
                </a:solidFill>
                <a:highlight>
                  <a:srgbClr val="FFFFFF"/>
                </a:highlight>
                <a:latin typeface="Arial"/>
                <a:ea typeface="Arial"/>
                <a:cs typeface="Arial"/>
                <a:sym typeface="Arial"/>
              </a:rPr>
              <a:t>ORDER BY amount DESC;</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26"/>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Clr>
                <a:schemeClr val="dk1"/>
              </a:buClr>
              <a:buSzPts val="1100"/>
              <a:buFont typeface="Arial"/>
              <a:buNone/>
            </a:pPr>
            <a:r>
              <a:rPr b="1" lang="en" sz="2650">
                <a:solidFill>
                  <a:schemeClr val="dk1"/>
                </a:solidFill>
                <a:latin typeface="Arial"/>
                <a:ea typeface="Arial"/>
                <a:cs typeface="Arial"/>
                <a:sym typeface="Arial"/>
              </a:rPr>
              <a:t>ALIASES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12" name="Google Shape;612;p26"/>
          <p:cNvSpPr txBox="1"/>
          <p:nvPr/>
        </p:nvSpPr>
        <p:spPr>
          <a:xfrm>
            <a:off x="457200" y="1883400"/>
            <a:ext cx="8797800" cy="239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1" i="0" lang="en" sz="1350" u="none" cap="none" strike="noStrike">
                <a:solidFill>
                  <a:schemeClr val="dk1"/>
                </a:solidFill>
                <a:latin typeface="Arial"/>
                <a:ea typeface="Arial"/>
                <a:cs typeface="Arial"/>
                <a:sym typeface="Arial"/>
              </a:rPr>
              <a:t>COLUMNS ALIASES</a:t>
            </a:r>
            <a:endParaRPr b="1" i="0" sz="1350" u="none" cap="none" strike="noStrike">
              <a:solidFill>
                <a:schemeClr val="dk1"/>
              </a:solidFill>
              <a:latin typeface="Arial"/>
              <a:ea typeface="Arial"/>
              <a:cs typeface="Arial"/>
              <a:sym typeface="Arial"/>
            </a:endParaRPr>
          </a:p>
          <a:p>
            <a:pPr indent="0" lvl="0" marL="457200" marR="0" rtl="0" algn="l">
              <a:lnSpc>
                <a:spcPct val="100000"/>
              </a:lnSpc>
              <a:spcBef>
                <a:spcPts val="2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rental_duration </a:t>
            </a:r>
            <a:r>
              <a:rPr b="1" i="0" lang="en" sz="1000" u="none" cap="none" strike="noStrike">
                <a:solidFill>
                  <a:srgbClr val="333333"/>
                </a:solidFill>
                <a:highlight>
                  <a:srgbClr val="FFFFFF"/>
                </a:highlight>
                <a:latin typeface="Arial"/>
                <a:ea typeface="Arial"/>
                <a:cs typeface="Arial"/>
                <a:sym typeface="Arial"/>
              </a:rPr>
              <a:t>AS </a:t>
            </a:r>
            <a:r>
              <a:rPr b="0" i="0" lang="en" sz="1000" u="none" cap="none" strike="noStrike">
                <a:solidFill>
                  <a:srgbClr val="333333"/>
                </a:solidFill>
                <a:highlight>
                  <a:srgbClr val="FFFFFF"/>
                </a:highlight>
                <a:latin typeface="Arial"/>
                <a:ea typeface="Arial"/>
                <a:cs typeface="Arial"/>
                <a:sym typeface="Arial"/>
              </a:rPr>
              <a:t>duration</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film;</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0"/>
              </a:spcBef>
              <a:spcAft>
                <a:spcPts val="0"/>
              </a:spcAft>
              <a:buClr>
                <a:schemeClr val="dk1"/>
              </a:buClr>
              <a:buSzPts val="1100"/>
              <a:buFont typeface="Arial"/>
              <a:buNone/>
            </a:pPr>
            <a:r>
              <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350" u="none" cap="none" strike="noStrike">
                <a:solidFill>
                  <a:schemeClr val="dk1"/>
                </a:solidFill>
                <a:latin typeface="Arial"/>
                <a:ea typeface="Arial"/>
                <a:cs typeface="Arial"/>
                <a:sym typeface="Arial"/>
              </a:rPr>
              <a:t>TABLES ALIASES</a:t>
            </a:r>
            <a:endParaRPr b="1" i="0" sz="1350" u="none" cap="none" strike="noStrike">
              <a:solidFill>
                <a:schemeClr val="dk1"/>
              </a:solidFill>
              <a:latin typeface="Arial"/>
              <a:ea typeface="Arial"/>
              <a:cs typeface="Arial"/>
              <a:sym typeface="Arial"/>
            </a:endParaRPr>
          </a:p>
          <a:p>
            <a:pPr indent="0" lvl="0" marL="457200" marR="0" rtl="0" algn="l">
              <a:lnSpc>
                <a:spcPct val="100000"/>
              </a:lnSpc>
              <a:spcBef>
                <a:spcPts val="2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ci.city, co.country</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 </a:t>
            </a:r>
            <a:r>
              <a:rPr b="1" i="0" lang="en" sz="1000" u="none" cap="none" strike="noStrike">
                <a:solidFill>
                  <a:srgbClr val="333333"/>
                </a:solidFill>
                <a:highlight>
                  <a:srgbClr val="FFFFFF"/>
                </a:highlight>
                <a:latin typeface="Arial"/>
                <a:ea typeface="Arial"/>
                <a:cs typeface="Arial"/>
                <a:sym typeface="Arial"/>
              </a:rPr>
              <a:t>AS ci</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00000"/>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JOIN country </a:t>
            </a:r>
            <a:r>
              <a:rPr b="1" i="0" lang="en" sz="1000" u="none" cap="none" strike="noStrike">
                <a:solidFill>
                  <a:srgbClr val="333333"/>
                </a:solidFill>
                <a:highlight>
                  <a:srgbClr val="FFFFFF"/>
                </a:highlight>
                <a:latin typeface="Arial"/>
                <a:ea typeface="Arial"/>
                <a:cs typeface="Arial"/>
                <a:sym typeface="Arial"/>
              </a:rPr>
              <a:t>AS co</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0"/>
              </a:spcBef>
              <a:spcAft>
                <a:spcPts val="0"/>
              </a:spcAft>
              <a:buClr>
                <a:schemeClr val="dk1"/>
              </a:buClr>
              <a:buSzPts val="1100"/>
              <a:buFont typeface="Arial"/>
              <a:buNone/>
            </a:pPr>
            <a:r>
              <a:rPr b="0" i="0" lang="en" sz="1000" u="none" cap="none" strike="noStrike">
                <a:solidFill>
                  <a:srgbClr val="333333"/>
                </a:solidFill>
                <a:highlight>
                  <a:srgbClr val="FFFFFF"/>
                </a:highlight>
                <a:latin typeface="Arial"/>
                <a:ea typeface="Arial"/>
                <a:cs typeface="Arial"/>
                <a:sym typeface="Arial"/>
              </a:rPr>
              <a:t>  ON ci.country_id = co.country_id;</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613" name="Google Shape;613;p26"/>
          <p:cNvSpPr txBox="1"/>
          <p:nvPr/>
        </p:nvSpPr>
        <p:spPr>
          <a:xfrm>
            <a:off x="532200" y="962275"/>
            <a:ext cx="7751100" cy="844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0" i="0" lang="en" sz="1450" u="none" cap="none" strike="noStrike">
                <a:solidFill>
                  <a:schemeClr val="dk1"/>
                </a:solidFill>
                <a:highlight>
                  <a:srgbClr val="FFFFFF"/>
                </a:highlight>
                <a:latin typeface="Arial"/>
                <a:ea typeface="Arial"/>
                <a:cs typeface="Arial"/>
                <a:sym typeface="Arial"/>
              </a:rPr>
              <a:t>SQL aliases are used to give a table, or a column in a table, a temporary name.</a:t>
            </a:r>
            <a:endParaRPr b="0" i="0" sz="1450" u="none" cap="none" strike="noStrike">
              <a:solidFill>
                <a:schemeClr val="dk1"/>
              </a:solidFill>
              <a:highlight>
                <a:srgbClr val="FFFFFF"/>
              </a:highlight>
              <a:latin typeface="Arial"/>
              <a:ea typeface="Arial"/>
              <a:cs typeface="Arial"/>
              <a:sym typeface="Arial"/>
            </a:endParaRPr>
          </a:p>
          <a:p>
            <a:pPr indent="0" lvl="0" marL="0" marR="0" rtl="0" algn="l">
              <a:lnSpc>
                <a:spcPct val="115000"/>
              </a:lnSpc>
              <a:spcBef>
                <a:spcPts val="1400"/>
              </a:spcBef>
              <a:spcAft>
                <a:spcPts val="1400"/>
              </a:spcAft>
              <a:buClr>
                <a:srgbClr val="000000"/>
              </a:buClr>
              <a:buSzPts val="1450"/>
              <a:buFont typeface="Arial"/>
              <a:buNone/>
            </a:pPr>
            <a:r>
              <a:rPr b="0" i="0" lang="en" sz="1450" u="none" cap="none" strike="noStrike">
                <a:solidFill>
                  <a:schemeClr val="dk1"/>
                </a:solidFill>
                <a:highlight>
                  <a:srgbClr val="FFFFFF"/>
                </a:highlight>
                <a:latin typeface="Arial"/>
                <a:ea typeface="Arial"/>
                <a:cs typeface="Arial"/>
                <a:sym typeface="Arial"/>
              </a:rPr>
              <a:t>Aliases are often used to make column names more readable.</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27"/>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FILTERING THE OUTPUT</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19" name="Google Shape;619;p27"/>
          <p:cNvSpPr txBox="1"/>
          <p:nvPr/>
        </p:nvSpPr>
        <p:spPr>
          <a:xfrm>
            <a:off x="545800" y="783050"/>
            <a:ext cx="8797800" cy="3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COMPARISON OPERATORS</a:t>
            </a:r>
            <a:endParaRPr b="1" i="0" sz="1350" u="none" cap="none" strike="noStrike">
              <a:solidFill>
                <a:schemeClr val="dk1"/>
              </a:solidFill>
              <a:latin typeface="Arial"/>
              <a:ea typeface="Arial"/>
              <a:cs typeface="Arial"/>
              <a:sym typeface="Arial"/>
            </a:endParaRPr>
          </a:p>
          <a:p>
            <a:pPr indent="0" lvl="0" marL="457200" marR="0" rtl="0" algn="l">
              <a:lnSpc>
                <a:spcPct val="115000"/>
              </a:lnSpc>
              <a:spcBef>
                <a:spcPts val="2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Fetch names of cities that have a rating above 3:</a:t>
            </a:r>
            <a:endParaRPr b="0" i="0" sz="1350" u="none" cap="none" strike="noStrike">
              <a:solidFill>
                <a:srgbClr val="2D2D2D"/>
              </a:solidFill>
              <a:latin typeface="Arial"/>
              <a:ea typeface="Arial"/>
              <a:cs typeface="Arial"/>
              <a:sym typeface="Arial"/>
            </a:endParaRPr>
          </a:p>
          <a:p>
            <a:pPr indent="0" lvl="0" marL="914400" marR="0" rtl="0" algn="l">
              <a:lnSpc>
                <a:spcPct val="142857"/>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a:t>
            </a:r>
            <a:endParaRPr b="0" i="0" sz="1000" u="none" cap="none" strike="noStrike">
              <a:solidFill>
                <a:srgbClr val="333333"/>
              </a:solidFill>
              <a:highlight>
                <a:srgbClr val="FFFFFF"/>
              </a:highlight>
              <a:latin typeface="Arial"/>
              <a:ea typeface="Arial"/>
              <a:cs typeface="Arial"/>
              <a:sym typeface="Arial"/>
            </a:endParaRPr>
          </a:p>
          <a:p>
            <a:pPr indent="0" lvl="0" marL="9144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9144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city_id&gt; 3;</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15000"/>
              </a:lnSpc>
              <a:spcBef>
                <a:spcPts val="8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Fetch names of cities that are neither Berlin nor Madrid:</a:t>
            </a:r>
            <a:endParaRPr b="0" i="0" sz="1350" u="none" cap="none" strike="noStrike">
              <a:solidFill>
                <a:srgbClr val="2D2D2D"/>
              </a:solidFill>
              <a:latin typeface="Arial"/>
              <a:ea typeface="Arial"/>
              <a:cs typeface="Arial"/>
              <a:sym typeface="Arial"/>
            </a:endParaRPr>
          </a:p>
          <a:p>
            <a:pPr indent="0" lvl="0" marL="914400" marR="0" rtl="0" algn="l">
              <a:lnSpc>
                <a:spcPct val="142857"/>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a:t>
            </a:r>
            <a:endParaRPr b="0" i="0" sz="1000" u="none" cap="none" strike="noStrike">
              <a:solidFill>
                <a:srgbClr val="333333"/>
              </a:solidFill>
              <a:highlight>
                <a:srgbClr val="FFFFFF"/>
              </a:highlight>
              <a:latin typeface="Arial"/>
              <a:ea typeface="Arial"/>
              <a:cs typeface="Arial"/>
              <a:sym typeface="Arial"/>
            </a:endParaRPr>
          </a:p>
          <a:p>
            <a:pPr indent="0" lvl="0" marL="9144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9144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city != 'Berlin'</a:t>
            </a:r>
            <a:endParaRPr b="0" i="0" sz="1000" u="none" cap="none" strike="noStrike">
              <a:solidFill>
                <a:srgbClr val="333333"/>
              </a:solidFill>
              <a:highlight>
                <a:srgbClr val="FFFFFF"/>
              </a:highlight>
              <a:latin typeface="Arial"/>
              <a:ea typeface="Arial"/>
              <a:cs typeface="Arial"/>
              <a:sym typeface="Arial"/>
            </a:endParaRPr>
          </a:p>
          <a:p>
            <a:pPr indent="0" lvl="0" marL="9144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AND city!= 'Madrid';</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28"/>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FILTERING THE OUTPUT</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25" name="Google Shape;625;p28"/>
          <p:cNvSpPr txBox="1"/>
          <p:nvPr/>
        </p:nvSpPr>
        <p:spPr>
          <a:xfrm>
            <a:off x="457200" y="675575"/>
            <a:ext cx="8797800" cy="3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TEXT OPERATORS</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2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Fetch names of cities that start with a 'P' or end with an 's':</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first_name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actor</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name LIKE 'P%'</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OR name LIKE '%s';</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8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Fetch names of cities that start with any letter followed by 'ublin' (like Dublin in Ireland or Lublin in Poland):</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city LIKE '_ublin';</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29"/>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FILTERING THE OUTPUT</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31" name="Google Shape;631;p29"/>
          <p:cNvSpPr txBox="1"/>
          <p:nvPr/>
        </p:nvSpPr>
        <p:spPr>
          <a:xfrm>
            <a:off x="457200" y="752325"/>
            <a:ext cx="8797800" cy="331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OTHER OPERATORS</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2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Fetch titles of movies that have length between 100 and 150 minutes</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8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Fetch first names of customers who are not active:</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0"/>
              </a:spcBef>
              <a:spcAft>
                <a:spcPts val="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8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Fetch names of cities that are in countries with IDs 1, 4, 7, or 8:</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0"/>
              </a:spcBef>
              <a:spcAft>
                <a:spcPts val="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30"/>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SUBQUERIES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37" name="Google Shape;637;p30"/>
          <p:cNvSpPr txBox="1"/>
          <p:nvPr/>
        </p:nvSpPr>
        <p:spPr>
          <a:xfrm>
            <a:off x="457200" y="752325"/>
            <a:ext cx="8797800" cy="5147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A subquery is a query that is nested inside another query, or inside another subquery. There are different types of subqueries.</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SINGLE VALUE</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The simplest subquery returns exactly one column and exactly one row. It can be used with comparison operators </a:t>
            </a:r>
            <a:r>
              <a:rPr b="0" i="0" lang="en" sz="1050" u="none" cap="none" strike="noStrike">
                <a:solidFill>
                  <a:srgbClr val="4424A9"/>
                </a:solidFill>
                <a:highlight>
                  <a:srgbClr val="EEF5FF"/>
                </a:highlight>
                <a:latin typeface="Fira Code"/>
                <a:ea typeface="Fira Code"/>
                <a:cs typeface="Fira Code"/>
                <a:sym typeface="Fira Code"/>
              </a:rPr>
              <a:t>=</a:t>
            </a:r>
            <a:r>
              <a:rPr b="0" i="0" lang="en" sz="1350" u="none" cap="none" strike="noStrike">
                <a:solidFill>
                  <a:srgbClr val="2D2D2D"/>
                </a:solidFill>
                <a:latin typeface="Arial"/>
                <a:ea typeface="Arial"/>
                <a:cs typeface="Arial"/>
                <a:sym typeface="Arial"/>
              </a:rPr>
              <a:t>, </a:t>
            </a:r>
            <a:r>
              <a:rPr b="0" i="0" lang="en" sz="1050" u="none" cap="none" strike="noStrike">
                <a:solidFill>
                  <a:srgbClr val="4424A9"/>
                </a:solidFill>
                <a:highlight>
                  <a:srgbClr val="EEF5FF"/>
                </a:highlight>
                <a:latin typeface="Fira Code"/>
                <a:ea typeface="Fira Code"/>
                <a:cs typeface="Fira Code"/>
                <a:sym typeface="Fira Code"/>
              </a:rPr>
              <a:t>&lt;</a:t>
            </a:r>
            <a:r>
              <a:rPr b="0" i="0" lang="en" sz="1350" u="none" cap="none" strike="noStrike">
                <a:solidFill>
                  <a:srgbClr val="2D2D2D"/>
                </a:solidFill>
                <a:latin typeface="Arial"/>
                <a:ea typeface="Arial"/>
                <a:cs typeface="Arial"/>
                <a:sym typeface="Arial"/>
              </a:rPr>
              <a:t>, </a:t>
            </a:r>
            <a:r>
              <a:rPr b="0" i="0" lang="en" sz="1050" u="none" cap="none" strike="noStrike">
                <a:solidFill>
                  <a:srgbClr val="4424A9"/>
                </a:solidFill>
                <a:highlight>
                  <a:srgbClr val="EEF5FF"/>
                </a:highlight>
                <a:latin typeface="Fira Code"/>
                <a:ea typeface="Fira Code"/>
                <a:cs typeface="Fira Code"/>
                <a:sym typeface="Fira Code"/>
              </a:rPr>
              <a:t>&lt;=</a:t>
            </a:r>
            <a:r>
              <a:rPr b="0" i="0" lang="en" sz="1350" u="none" cap="none" strike="noStrike">
                <a:solidFill>
                  <a:srgbClr val="2D2D2D"/>
                </a:solidFill>
                <a:latin typeface="Arial"/>
                <a:ea typeface="Arial"/>
                <a:cs typeface="Arial"/>
                <a:sym typeface="Arial"/>
              </a:rPr>
              <a:t>, </a:t>
            </a:r>
            <a:r>
              <a:rPr b="0" i="0" lang="en" sz="1050" u="none" cap="none" strike="noStrike">
                <a:solidFill>
                  <a:srgbClr val="4424A9"/>
                </a:solidFill>
                <a:highlight>
                  <a:srgbClr val="EEF5FF"/>
                </a:highlight>
                <a:latin typeface="Fira Code"/>
                <a:ea typeface="Fira Code"/>
                <a:cs typeface="Fira Code"/>
                <a:sym typeface="Fira Code"/>
              </a:rPr>
              <a:t>&gt;</a:t>
            </a:r>
            <a:r>
              <a:rPr b="0" i="0" lang="en" sz="1350" u="none" cap="none" strike="noStrike">
                <a:solidFill>
                  <a:srgbClr val="2D2D2D"/>
                </a:solidFill>
                <a:latin typeface="Arial"/>
                <a:ea typeface="Arial"/>
                <a:cs typeface="Arial"/>
                <a:sym typeface="Arial"/>
              </a:rPr>
              <a:t>, or </a:t>
            </a:r>
            <a:r>
              <a:rPr b="0" i="0" lang="en" sz="1050" u="none" cap="none" strike="noStrike">
                <a:solidFill>
                  <a:srgbClr val="4424A9"/>
                </a:solidFill>
                <a:highlight>
                  <a:srgbClr val="EEF5FF"/>
                </a:highlight>
                <a:latin typeface="Fira Code"/>
                <a:ea typeface="Fira Code"/>
                <a:cs typeface="Fira Code"/>
                <a:sym typeface="Fira Code"/>
              </a:rPr>
              <a:t>&gt;=</a:t>
            </a:r>
            <a:r>
              <a:rPr b="0" i="0" lang="en" sz="1350" u="none" cap="none" strike="noStrike">
                <a:solidFill>
                  <a:srgbClr val="2D2D2D"/>
                </a:solidFill>
                <a:latin typeface="Arial"/>
                <a:ea typeface="Arial"/>
                <a:cs typeface="Arial"/>
                <a:sym typeface="Arial"/>
              </a:rPr>
              <a:t>.</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This query finds cities with the same rating as Paris:</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title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film</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a:t>
            </a:r>
            <a:r>
              <a:rPr b="1" i="0" lang="en" sz="1000" u="none" cap="none" strike="noStrike">
                <a:solidFill>
                  <a:srgbClr val="333333"/>
                </a:solidFill>
                <a:highlight>
                  <a:srgbClr val="FFFFFF"/>
                </a:highlight>
                <a:latin typeface="Arial"/>
                <a:ea typeface="Arial"/>
                <a:cs typeface="Arial"/>
                <a:sym typeface="Arial"/>
              </a:rPr>
              <a:t>length= (</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SELECT length</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FROM film</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WHERE title= "Spy Mile"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a:t>
            </a:r>
            <a:endParaRPr b="1"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1"/>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SUBQUERIES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43" name="Google Shape;643;p31"/>
          <p:cNvSpPr txBox="1"/>
          <p:nvPr/>
        </p:nvSpPr>
        <p:spPr>
          <a:xfrm>
            <a:off x="457200" y="752325"/>
            <a:ext cx="8797800" cy="481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MULTIPLE VALUES</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A subquery can also return multiple columns or multiple rows. Such subqueries can be used with operators </a:t>
            </a:r>
            <a:r>
              <a:rPr b="0" i="0" lang="en" sz="1050" u="none" cap="none" strike="noStrike">
                <a:solidFill>
                  <a:srgbClr val="4424A9"/>
                </a:solidFill>
                <a:highlight>
                  <a:srgbClr val="EEF5FF"/>
                </a:highlight>
                <a:latin typeface="Fira Code"/>
                <a:ea typeface="Fira Code"/>
                <a:cs typeface="Fira Code"/>
                <a:sym typeface="Fira Code"/>
              </a:rPr>
              <a:t>IN</a:t>
            </a:r>
            <a:r>
              <a:rPr b="0" i="0" lang="en" sz="1350" u="none" cap="none" strike="noStrike">
                <a:solidFill>
                  <a:srgbClr val="2D2D2D"/>
                </a:solidFill>
                <a:latin typeface="Arial"/>
                <a:ea typeface="Arial"/>
                <a:cs typeface="Arial"/>
                <a:sym typeface="Arial"/>
              </a:rPr>
              <a:t>, </a:t>
            </a:r>
            <a:r>
              <a:rPr b="0" i="0" lang="en" sz="1050" u="none" cap="none" strike="noStrike">
                <a:solidFill>
                  <a:srgbClr val="4424A9"/>
                </a:solidFill>
                <a:highlight>
                  <a:srgbClr val="EEF5FF"/>
                </a:highlight>
                <a:latin typeface="Fira Code"/>
                <a:ea typeface="Fira Code"/>
                <a:cs typeface="Fira Code"/>
                <a:sym typeface="Fira Code"/>
              </a:rPr>
              <a:t>EXISTS</a:t>
            </a:r>
            <a:r>
              <a:rPr b="0" i="0" lang="en" sz="1350" u="none" cap="none" strike="noStrike">
                <a:solidFill>
                  <a:srgbClr val="2D2D2D"/>
                </a:solidFill>
                <a:latin typeface="Arial"/>
                <a:ea typeface="Arial"/>
                <a:cs typeface="Arial"/>
                <a:sym typeface="Arial"/>
              </a:rPr>
              <a:t>, </a:t>
            </a:r>
            <a:r>
              <a:rPr b="0" i="0" lang="en" sz="1050" u="none" cap="none" strike="noStrike">
                <a:solidFill>
                  <a:srgbClr val="4424A9"/>
                </a:solidFill>
                <a:highlight>
                  <a:srgbClr val="EEF5FF"/>
                </a:highlight>
                <a:latin typeface="Fira Code"/>
                <a:ea typeface="Fira Code"/>
                <a:cs typeface="Fira Code"/>
                <a:sym typeface="Fira Code"/>
              </a:rPr>
              <a:t>ALL</a:t>
            </a:r>
            <a:r>
              <a:rPr b="0" i="0" lang="en" sz="1350" u="none" cap="none" strike="noStrike">
                <a:solidFill>
                  <a:srgbClr val="2D2D2D"/>
                </a:solidFill>
                <a:latin typeface="Arial"/>
                <a:ea typeface="Arial"/>
                <a:cs typeface="Arial"/>
                <a:sym typeface="Arial"/>
              </a:rPr>
              <a:t>, or </a:t>
            </a:r>
            <a:r>
              <a:rPr b="0" i="0" lang="en" sz="1050" u="none" cap="none" strike="noStrike">
                <a:solidFill>
                  <a:srgbClr val="4424A9"/>
                </a:solidFill>
                <a:highlight>
                  <a:srgbClr val="EEF5FF"/>
                </a:highlight>
                <a:latin typeface="Fira Code"/>
                <a:ea typeface="Fira Code"/>
                <a:cs typeface="Fira Code"/>
                <a:sym typeface="Fira Code"/>
              </a:rPr>
              <a:t>ANY</a:t>
            </a:r>
            <a:r>
              <a:rPr b="0" i="0" lang="en" sz="1350" u="none" cap="none" strike="noStrike">
                <a:solidFill>
                  <a:srgbClr val="2D2D2D"/>
                </a:solidFill>
                <a:latin typeface="Arial"/>
                <a:ea typeface="Arial"/>
                <a:cs typeface="Arial"/>
                <a:sym typeface="Arial"/>
              </a:rPr>
              <a:t>.</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This query finds cities in countries that have a population above 20M:</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a:t>
            </a:r>
            <a:r>
              <a:rPr b="1" i="0" lang="en" sz="1000" u="none" cap="none" strike="noStrike">
                <a:solidFill>
                  <a:srgbClr val="333333"/>
                </a:solidFill>
                <a:highlight>
                  <a:srgbClr val="FFFFFF"/>
                </a:highlight>
                <a:latin typeface="Arial"/>
                <a:ea typeface="Arial"/>
                <a:cs typeface="Arial"/>
                <a:sym typeface="Arial"/>
              </a:rPr>
              <a:t>country_id IN (</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SELECT country_id</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FROM country</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WHERE population &gt; 20000000</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a:t>
            </a:r>
            <a:endParaRPr b="1"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t/>
            </a:r>
            <a:endParaRPr b="1"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2"/>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AGGREGATION AND GROUPING</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49" name="Google Shape;649;p32"/>
          <p:cNvSpPr txBox="1"/>
          <p:nvPr/>
        </p:nvSpPr>
        <p:spPr>
          <a:xfrm>
            <a:off x="457200" y="752325"/>
            <a:ext cx="8797800" cy="1035000"/>
          </a:xfrm>
          <a:prstGeom prst="rect">
            <a:avLst/>
          </a:prstGeom>
          <a:noFill/>
          <a:ln>
            <a:noFill/>
          </a:ln>
        </p:spPr>
        <p:txBody>
          <a:bodyPr anchorCtr="0" anchor="t" bIns="91425" lIns="91425" spcFirstLastPara="1" rIns="91425" wrap="square" tIns="91425">
            <a:spAutoFit/>
          </a:bodyPr>
          <a:lstStyle/>
          <a:p>
            <a:pPr indent="0" lvl="0" marL="0" marR="0" rtl="0" algn="l">
              <a:lnSpc>
                <a:spcPct val="142857"/>
              </a:lnSpc>
              <a:spcBef>
                <a:spcPts val="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GROUP BY</a:t>
            </a:r>
            <a:r>
              <a:rPr b="0" i="0" lang="en" sz="1350" u="none" cap="none" strike="noStrike">
                <a:solidFill>
                  <a:srgbClr val="2D2D2D"/>
                </a:solidFill>
                <a:latin typeface="Arial"/>
                <a:ea typeface="Arial"/>
                <a:cs typeface="Arial"/>
                <a:sym typeface="Arial"/>
              </a:rPr>
              <a:t> </a:t>
            </a:r>
            <a:r>
              <a:rPr b="1" i="0" lang="en" sz="1350" u="none" cap="none" strike="noStrike">
                <a:solidFill>
                  <a:srgbClr val="2D2D2D"/>
                </a:solidFill>
                <a:latin typeface="Arial"/>
                <a:ea typeface="Arial"/>
                <a:cs typeface="Arial"/>
                <a:sym typeface="Arial"/>
              </a:rPr>
              <a:t>groups</a:t>
            </a:r>
            <a:r>
              <a:rPr b="0" i="0" lang="en" sz="1350" u="none" cap="none" strike="noStrike">
                <a:solidFill>
                  <a:srgbClr val="2D2D2D"/>
                </a:solidFill>
                <a:latin typeface="Arial"/>
                <a:ea typeface="Arial"/>
                <a:cs typeface="Arial"/>
                <a:sym typeface="Arial"/>
              </a:rPr>
              <a:t> together rows that have the same values in specified columns. It computes summaries (aggregates) for each unique combination of values.</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pic>
        <p:nvPicPr>
          <p:cNvPr id="650" name="Google Shape;650;p32"/>
          <p:cNvPicPr preferRelativeResize="0"/>
          <p:nvPr/>
        </p:nvPicPr>
        <p:blipFill rotWithShape="1">
          <a:blip r:embed="rId3">
            <a:alphaModFix/>
          </a:blip>
          <a:srcRect b="0" l="0" r="0" t="0"/>
          <a:stretch/>
        </p:blipFill>
        <p:spPr>
          <a:xfrm>
            <a:off x="247575" y="1540525"/>
            <a:ext cx="8771708" cy="3051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3"/>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AGGREGATION AND GROUPING</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56" name="Google Shape;656;p33"/>
          <p:cNvSpPr txBox="1"/>
          <p:nvPr/>
        </p:nvSpPr>
        <p:spPr>
          <a:xfrm>
            <a:off x="457200" y="752325"/>
            <a:ext cx="8797800" cy="2465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AGGREGATE FUNCTIONS</a:t>
            </a:r>
            <a:endParaRPr b="1" i="0" sz="1350" u="none" cap="none" strike="noStrike">
              <a:solidFill>
                <a:schemeClr val="dk1"/>
              </a:solidFill>
              <a:latin typeface="Arial"/>
              <a:ea typeface="Arial"/>
              <a:cs typeface="Arial"/>
              <a:sym typeface="Arial"/>
            </a:endParaRPr>
          </a:p>
          <a:p>
            <a:pPr indent="-314325" lvl="0" marL="457200" marR="0" rtl="0" algn="l">
              <a:lnSpc>
                <a:spcPct val="115000"/>
              </a:lnSpc>
              <a:spcBef>
                <a:spcPts val="140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AVG()</a:t>
            </a:r>
            <a:r>
              <a:rPr b="0" i="0" lang="en" sz="1350" u="none" cap="none" strike="noStrike">
                <a:solidFill>
                  <a:srgbClr val="2D2D2D"/>
                </a:solidFill>
                <a:latin typeface="Arial"/>
                <a:ea typeface="Arial"/>
                <a:cs typeface="Arial"/>
                <a:sym typeface="Arial"/>
              </a:rPr>
              <a:t> − average value for rows within the group</a:t>
            </a:r>
            <a:endParaRPr b="0" i="0" sz="1350" u="none" cap="none" strike="noStrike">
              <a:solidFill>
                <a:srgbClr val="2D2D2D"/>
              </a:solidFill>
              <a:latin typeface="Arial"/>
              <a:ea typeface="Arial"/>
              <a:cs typeface="Arial"/>
              <a:sym typeface="Arial"/>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COUNT()</a:t>
            </a:r>
            <a:r>
              <a:rPr b="0" i="0" lang="en" sz="1350" u="none" cap="none" strike="noStrike">
                <a:solidFill>
                  <a:srgbClr val="2D2D2D"/>
                </a:solidFill>
                <a:latin typeface="Arial"/>
                <a:ea typeface="Arial"/>
                <a:cs typeface="Arial"/>
                <a:sym typeface="Arial"/>
              </a:rPr>
              <a:t> − count of values for rows within the group</a:t>
            </a:r>
            <a:endParaRPr b="0" i="0" sz="1350" u="none" cap="none" strike="noStrike">
              <a:solidFill>
                <a:srgbClr val="2D2D2D"/>
              </a:solidFill>
              <a:latin typeface="Arial"/>
              <a:ea typeface="Arial"/>
              <a:cs typeface="Arial"/>
              <a:sym typeface="Arial"/>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MAX()</a:t>
            </a:r>
            <a:r>
              <a:rPr b="0" i="0" lang="en" sz="1350" u="none" cap="none" strike="noStrike">
                <a:solidFill>
                  <a:srgbClr val="2D2D2D"/>
                </a:solidFill>
                <a:latin typeface="Arial"/>
                <a:ea typeface="Arial"/>
                <a:cs typeface="Arial"/>
                <a:sym typeface="Arial"/>
              </a:rPr>
              <a:t> − maximum value within the group</a:t>
            </a:r>
            <a:endParaRPr b="0" i="0" sz="1350" u="none" cap="none" strike="noStrike">
              <a:solidFill>
                <a:srgbClr val="2D2D2D"/>
              </a:solidFill>
              <a:latin typeface="Arial"/>
              <a:ea typeface="Arial"/>
              <a:cs typeface="Arial"/>
              <a:sym typeface="Arial"/>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MIN()</a:t>
            </a:r>
            <a:r>
              <a:rPr b="0" i="0" lang="en" sz="1350" u="none" cap="none" strike="noStrike">
                <a:solidFill>
                  <a:srgbClr val="2D2D2D"/>
                </a:solidFill>
                <a:latin typeface="Arial"/>
                <a:ea typeface="Arial"/>
                <a:cs typeface="Arial"/>
                <a:sym typeface="Arial"/>
              </a:rPr>
              <a:t> − minimum value within the group</a:t>
            </a:r>
            <a:endParaRPr b="0" i="0" sz="1350" u="none" cap="none" strike="noStrike">
              <a:solidFill>
                <a:srgbClr val="2D2D2D"/>
              </a:solidFill>
              <a:latin typeface="Arial"/>
              <a:ea typeface="Arial"/>
              <a:cs typeface="Arial"/>
              <a:sym typeface="Arial"/>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SUM()</a:t>
            </a:r>
            <a:r>
              <a:rPr b="0" i="0" lang="en" sz="1350" u="none" cap="none" strike="noStrike">
                <a:solidFill>
                  <a:srgbClr val="2D2D2D"/>
                </a:solidFill>
                <a:latin typeface="Arial"/>
                <a:ea typeface="Arial"/>
                <a:cs typeface="Arial"/>
                <a:sym typeface="Arial"/>
              </a:rPr>
              <a:t>− sum of values within the group</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50"/>
              <a:buFont typeface="Arial"/>
              <a:buNone/>
            </a:pPr>
            <a:r>
              <a:t/>
            </a:r>
            <a:endParaRPr b="0" i="0" sz="1050" u="none" cap="none" strike="noStrike">
              <a:solidFill>
                <a:srgbClr val="4424A9"/>
              </a:solidFill>
              <a:highlight>
                <a:srgbClr val="EEF5FF"/>
              </a:highlight>
              <a:latin typeface="Fira Code"/>
              <a:ea typeface="Fira Code"/>
              <a:cs typeface="Fira Code"/>
              <a:sym typeface="Fira Code"/>
            </a:endParaRPr>
          </a:p>
          <a:p>
            <a:pPr indent="0" lvl="0" marL="0" marR="0" rtl="0" algn="l">
              <a:lnSpc>
                <a:spcPct val="142857"/>
              </a:lnSpc>
              <a:spcBef>
                <a:spcPts val="8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34"/>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AGGREGATION AND GROUPING</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62" name="Google Shape;662;p34"/>
          <p:cNvSpPr txBox="1"/>
          <p:nvPr/>
        </p:nvSpPr>
        <p:spPr>
          <a:xfrm>
            <a:off x="457200" y="717750"/>
            <a:ext cx="8797800" cy="2961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EXAMPLE QUERIES</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Find out the number of cities:</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a:t>
            </a:r>
            <a:r>
              <a:rPr b="1" i="0" lang="en" sz="1000" u="none" cap="none" strike="noStrike">
                <a:solidFill>
                  <a:srgbClr val="333333"/>
                </a:solidFill>
                <a:highlight>
                  <a:srgbClr val="FFFFFF"/>
                </a:highlight>
                <a:latin typeface="Arial"/>
                <a:ea typeface="Arial"/>
                <a:cs typeface="Arial"/>
                <a:sym typeface="Arial"/>
              </a:rPr>
              <a:t>COUNT(*)</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Find out the number of distinctive country values:</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a:t>
            </a:r>
            <a:r>
              <a:rPr b="1" i="0" lang="en" sz="1000" u="none" cap="none" strike="noStrike">
                <a:solidFill>
                  <a:srgbClr val="333333"/>
                </a:solidFill>
                <a:highlight>
                  <a:srgbClr val="FFFFFF"/>
                </a:highlight>
                <a:latin typeface="Arial"/>
                <a:ea typeface="Arial"/>
                <a:cs typeface="Arial"/>
                <a:sym typeface="Arial"/>
              </a:rPr>
              <a:t>COUNT(DISTINCT</a:t>
            </a:r>
            <a:r>
              <a:rPr b="0" i="0" lang="en" sz="1000" u="none" cap="none" strike="noStrike">
                <a:solidFill>
                  <a:srgbClr val="333333"/>
                </a:solidFill>
                <a:highlight>
                  <a:srgbClr val="FFFFFF"/>
                </a:highlight>
                <a:latin typeface="Arial"/>
                <a:ea typeface="Arial"/>
                <a:cs typeface="Arial"/>
                <a:sym typeface="Arial"/>
              </a:rPr>
              <a:t> country_id</a:t>
            </a:r>
            <a:r>
              <a:rPr b="1" i="0" lang="en" sz="1000" u="none" cap="none" strike="noStrike">
                <a:solidFill>
                  <a:srgbClr val="333333"/>
                </a:solidFill>
                <a:highlight>
                  <a:srgbClr val="FFFFFF"/>
                </a:highlight>
                <a:latin typeface="Arial"/>
                <a:ea typeface="Arial"/>
                <a:cs typeface="Arial"/>
                <a:sym typeface="Arial"/>
              </a:rPr>
              <a:t>)</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35"/>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AGGREGATION AND GROUPING</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68" name="Google Shape;668;p35"/>
          <p:cNvSpPr txBox="1"/>
          <p:nvPr/>
        </p:nvSpPr>
        <p:spPr>
          <a:xfrm>
            <a:off x="457200" y="752325"/>
            <a:ext cx="8797800" cy="3779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EXAMPLE QUERIES</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Find out the smallest and the greatest country populations:</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a:t>
            </a:r>
            <a:r>
              <a:rPr b="1" i="0" lang="en" sz="1000" u="none" cap="none" strike="noStrike">
                <a:solidFill>
                  <a:srgbClr val="333333"/>
                </a:solidFill>
                <a:highlight>
                  <a:srgbClr val="FFFFFF"/>
                </a:highlight>
                <a:latin typeface="Arial"/>
                <a:ea typeface="Arial"/>
                <a:cs typeface="Arial"/>
                <a:sym typeface="Arial"/>
              </a:rPr>
              <a:t>MIN(</a:t>
            </a:r>
            <a:r>
              <a:rPr b="0" i="0" lang="en" sz="1000" u="none" cap="none" strike="noStrike">
                <a:solidFill>
                  <a:srgbClr val="333333"/>
                </a:solidFill>
                <a:highlight>
                  <a:srgbClr val="FFFFFF"/>
                </a:highlight>
                <a:latin typeface="Arial"/>
                <a:ea typeface="Arial"/>
                <a:cs typeface="Arial"/>
                <a:sym typeface="Arial"/>
              </a:rPr>
              <a:t>rental_rate</a:t>
            </a:r>
            <a:r>
              <a:rPr b="1" i="0" lang="en" sz="1000" u="none" cap="none" strike="noStrike">
                <a:solidFill>
                  <a:srgbClr val="333333"/>
                </a:solidFill>
                <a:highlight>
                  <a:srgbClr val="FFFFFF"/>
                </a:highlight>
                <a:latin typeface="Arial"/>
                <a:ea typeface="Arial"/>
                <a:cs typeface="Arial"/>
                <a:sym typeface="Arial"/>
              </a:rPr>
              <a:t>)</a:t>
            </a:r>
            <a:r>
              <a:rPr b="0" i="0" lang="en" sz="1000" u="none" cap="none" strike="noStrike">
                <a:solidFill>
                  <a:srgbClr val="333333"/>
                </a:solidFill>
                <a:highlight>
                  <a:srgbClr val="FFFFFF"/>
                </a:highlight>
                <a:latin typeface="Arial"/>
                <a:ea typeface="Arial"/>
                <a:cs typeface="Arial"/>
                <a:sym typeface="Arial"/>
              </a:rPr>
              <a:t>, </a:t>
            </a:r>
            <a:r>
              <a:rPr b="1" i="0" lang="en" sz="1000" u="none" cap="none" strike="noStrike">
                <a:solidFill>
                  <a:srgbClr val="333333"/>
                </a:solidFill>
                <a:highlight>
                  <a:srgbClr val="FFFFFF"/>
                </a:highlight>
                <a:latin typeface="Arial"/>
                <a:ea typeface="Arial"/>
                <a:cs typeface="Arial"/>
                <a:sym typeface="Arial"/>
              </a:rPr>
              <a:t>MAX(</a:t>
            </a:r>
            <a:r>
              <a:rPr b="0" i="0" lang="en" sz="1000" u="none" cap="none" strike="noStrike">
                <a:solidFill>
                  <a:srgbClr val="333333"/>
                </a:solidFill>
                <a:highlight>
                  <a:schemeClr val="lt1"/>
                </a:highlight>
                <a:latin typeface="Arial"/>
                <a:ea typeface="Arial"/>
                <a:cs typeface="Arial"/>
                <a:sym typeface="Arial"/>
              </a:rPr>
              <a:t>rental_rate</a:t>
            </a:r>
            <a:r>
              <a:rPr b="1" i="0" lang="en" sz="1000" u="none" cap="none" strike="noStrike">
                <a:solidFill>
                  <a:srgbClr val="333333"/>
                </a:solidFill>
                <a:highlight>
                  <a:srgbClr val="FFFFFF"/>
                </a:highlight>
                <a:latin typeface="Arial"/>
                <a:ea typeface="Arial"/>
                <a:cs typeface="Arial"/>
                <a:sym typeface="Arial"/>
              </a:rPr>
              <a:t>)</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film;</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Find out the total population of cities in respective countries:</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payment_date, </a:t>
            </a:r>
            <a:r>
              <a:rPr b="1" i="0" lang="en" sz="1000" u="none" cap="none" strike="noStrike">
                <a:solidFill>
                  <a:srgbClr val="333333"/>
                </a:solidFill>
                <a:highlight>
                  <a:srgbClr val="FFFFFF"/>
                </a:highlight>
                <a:latin typeface="Arial"/>
                <a:ea typeface="Arial"/>
                <a:cs typeface="Arial"/>
                <a:sym typeface="Arial"/>
              </a:rPr>
              <a:t>SUM(</a:t>
            </a:r>
            <a:r>
              <a:rPr b="0" i="0" lang="en" sz="1000" u="none" cap="none" strike="noStrike">
                <a:solidFill>
                  <a:srgbClr val="333333"/>
                </a:solidFill>
                <a:highlight>
                  <a:srgbClr val="FFFFFF"/>
                </a:highlight>
                <a:latin typeface="Arial"/>
                <a:ea typeface="Arial"/>
                <a:cs typeface="Arial"/>
                <a:sym typeface="Arial"/>
              </a:rPr>
              <a:t>amount</a:t>
            </a:r>
            <a:r>
              <a:rPr b="1" i="0" lang="en" sz="1000" u="none" cap="none" strike="noStrike">
                <a:solidFill>
                  <a:srgbClr val="333333"/>
                </a:solidFill>
                <a:highlight>
                  <a:srgbClr val="FFFFFF"/>
                </a:highlight>
                <a:latin typeface="Arial"/>
                <a:ea typeface="Arial"/>
                <a:cs typeface="Arial"/>
                <a:sym typeface="Arial"/>
              </a:rPr>
              <a:t>)</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a:t>
            </a:r>
            <a:r>
              <a:rPr b="0" i="0" lang="en" sz="1000" u="none" cap="none" strike="noStrike">
                <a:solidFill>
                  <a:srgbClr val="333333"/>
                </a:solidFill>
                <a:highlight>
                  <a:schemeClr val="lt1"/>
                </a:highlight>
                <a:latin typeface="Arial"/>
                <a:ea typeface="Arial"/>
                <a:cs typeface="Arial"/>
                <a:sym typeface="Arial"/>
              </a:rPr>
              <a:t>payment</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GROUP BY </a:t>
            </a:r>
            <a:r>
              <a:rPr b="0" i="0" lang="en" sz="1000" u="none" cap="none" strike="noStrike">
                <a:solidFill>
                  <a:srgbClr val="333333"/>
                </a:solidFill>
                <a:highlight>
                  <a:schemeClr val="lt1"/>
                </a:highlight>
                <a:latin typeface="Arial"/>
                <a:ea typeface="Arial"/>
                <a:cs typeface="Arial"/>
                <a:sym typeface="Arial"/>
              </a:rPr>
              <a:t>payment_date</a:t>
            </a:r>
            <a:r>
              <a:rPr b="0" i="0" lang="en" sz="1000" u="none" cap="none" strike="noStrike">
                <a:solidFill>
                  <a:srgbClr val="333333"/>
                </a:solidFill>
                <a:highlight>
                  <a:srgbClr val="FFFFFF"/>
                </a:highlight>
                <a:latin typeface="Arial"/>
                <a:ea typeface="Arial"/>
                <a:cs typeface="Arial"/>
                <a:sym typeface="Arial"/>
              </a:rPr>
              <a:t>;</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Find out the average rental rate for  films under each rating category, i.e PG, G  etc</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36"/>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QUERYING MULTIPLE TABLES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74" name="Google Shape;674;p36"/>
          <p:cNvSpPr txBox="1"/>
          <p:nvPr/>
        </p:nvSpPr>
        <p:spPr>
          <a:xfrm>
            <a:off x="457200" y="752325"/>
            <a:ext cx="8797800" cy="4560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INNER JOIN</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JOIN</a:t>
            </a:r>
            <a:r>
              <a:rPr b="0" i="0" lang="en" sz="1350" u="none" cap="none" strike="noStrike">
                <a:solidFill>
                  <a:srgbClr val="2D2D2D"/>
                </a:solidFill>
                <a:latin typeface="Arial"/>
                <a:ea typeface="Arial"/>
                <a:cs typeface="Arial"/>
                <a:sym typeface="Arial"/>
              </a:rPr>
              <a:t> (or explicitly </a:t>
            </a:r>
            <a:r>
              <a:rPr b="0" i="0" lang="en" sz="1050" u="none" cap="none" strike="noStrike">
                <a:solidFill>
                  <a:srgbClr val="4424A9"/>
                </a:solidFill>
                <a:highlight>
                  <a:srgbClr val="EEF5FF"/>
                </a:highlight>
                <a:latin typeface="Fira Code"/>
                <a:ea typeface="Fira Code"/>
                <a:cs typeface="Fira Code"/>
                <a:sym typeface="Fira Code"/>
              </a:rPr>
              <a:t>INNER JOIN</a:t>
            </a:r>
            <a:r>
              <a:rPr b="0" i="0" lang="en" sz="1350" u="none" cap="none" strike="noStrike">
                <a:solidFill>
                  <a:srgbClr val="2D2D2D"/>
                </a:solidFill>
                <a:latin typeface="Arial"/>
                <a:ea typeface="Arial"/>
                <a:cs typeface="Arial"/>
                <a:sym typeface="Arial"/>
              </a:rPr>
              <a:t>) returns rows that have matching values in both tables.</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city.name, country.name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[INNER] JOIN</a:t>
            </a:r>
            <a:r>
              <a:rPr b="0" i="0" lang="en" sz="1000" u="none" cap="none" strike="noStrike">
                <a:solidFill>
                  <a:srgbClr val="333333"/>
                </a:solidFill>
                <a:highlight>
                  <a:srgbClr val="FFFFFF"/>
                </a:highlight>
                <a:latin typeface="Arial"/>
                <a:ea typeface="Arial"/>
                <a:cs typeface="Arial"/>
                <a:sym typeface="Arial"/>
              </a:rPr>
              <a:t> country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ON city.country_id = country.id;</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LEFT JOIN</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LEFT JOIN</a:t>
            </a:r>
            <a:r>
              <a:rPr b="0" i="0" lang="en" sz="1350" u="none" cap="none" strike="noStrike">
                <a:solidFill>
                  <a:srgbClr val="2D2D2D"/>
                </a:solidFill>
                <a:latin typeface="Arial"/>
                <a:ea typeface="Arial"/>
                <a:cs typeface="Arial"/>
                <a:sym typeface="Arial"/>
              </a:rPr>
              <a:t> returns all rows from the left table with corresponding rows from the right table. If there's no matching row, </a:t>
            </a:r>
            <a:r>
              <a:rPr b="0" i="0" lang="en" sz="1050" u="none" cap="none" strike="noStrike">
                <a:solidFill>
                  <a:srgbClr val="4424A9"/>
                </a:solidFill>
                <a:highlight>
                  <a:srgbClr val="EEF5FF"/>
                </a:highlight>
                <a:latin typeface="Fira Code"/>
                <a:ea typeface="Fira Code"/>
                <a:cs typeface="Fira Code"/>
                <a:sym typeface="Fira Code"/>
              </a:rPr>
              <a:t>NULL</a:t>
            </a:r>
            <a:r>
              <a:rPr b="0" i="0" lang="en" sz="1350" u="none" cap="none" strike="noStrike">
                <a:solidFill>
                  <a:srgbClr val="2D2D2D"/>
                </a:solidFill>
                <a:latin typeface="Arial"/>
                <a:ea typeface="Arial"/>
                <a:cs typeface="Arial"/>
                <a:sym typeface="Arial"/>
              </a:rPr>
              <a:t>s are returned as values from the second table.</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city.name, country.name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LEFT JOIN</a:t>
            </a:r>
            <a:r>
              <a:rPr b="0" i="0" lang="en" sz="1000" u="none" cap="none" strike="noStrike">
                <a:solidFill>
                  <a:srgbClr val="333333"/>
                </a:solidFill>
                <a:highlight>
                  <a:srgbClr val="FFFFFF"/>
                </a:highlight>
                <a:latin typeface="Arial"/>
                <a:ea typeface="Arial"/>
                <a:cs typeface="Arial"/>
                <a:sym typeface="Arial"/>
              </a:rPr>
              <a:t> country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ON city.country_id = country.id;</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37"/>
          <p:cNvSpPr txBox="1"/>
          <p:nvPr>
            <p:ph type="title"/>
          </p:nvPr>
        </p:nvSpPr>
        <p:spPr>
          <a:xfrm>
            <a:off x="457200" y="25232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QUERYING MULTIPLE TABLES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80" name="Google Shape;680;p37"/>
          <p:cNvSpPr txBox="1"/>
          <p:nvPr/>
        </p:nvSpPr>
        <p:spPr>
          <a:xfrm>
            <a:off x="0" y="733825"/>
            <a:ext cx="9144000" cy="4819200"/>
          </a:xfrm>
          <a:prstGeom prst="rect">
            <a:avLst/>
          </a:prstGeom>
          <a:noFill/>
          <a:ln>
            <a:noFill/>
          </a:ln>
        </p:spPr>
        <p:txBody>
          <a:bodyPr anchorCtr="0" anchor="t" bIns="91425" lIns="91425" spcFirstLastPara="1" rIns="91425" wrap="square" tIns="91425">
            <a:spAutoFit/>
          </a:bodyPr>
          <a:lstStyle/>
          <a:p>
            <a:pPr indent="0" lvl="0" marL="0" marR="0" rtl="0" algn="l">
              <a:lnSpc>
                <a:spcPct val="142857"/>
              </a:lnSpc>
              <a:spcBef>
                <a:spcPts val="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a:t>
            </a:r>
            <a:r>
              <a:rPr b="1" i="0" lang="en" sz="1350" u="none" cap="none" strike="noStrike">
                <a:solidFill>
                  <a:schemeClr val="dk1"/>
                </a:solidFill>
                <a:latin typeface="Arial"/>
                <a:ea typeface="Arial"/>
                <a:cs typeface="Arial"/>
                <a:sym typeface="Arial"/>
              </a:rPr>
              <a:t>RIGHT JOIN</a:t>
            </a:r>
            <a:endParaRPr b="1" i="0" sz="1350" u="none" cap="none" strike="noStrike">
              <a:solidFill>
                <a:schemeClr val="dk1"/>
              </a:solidFill>
              <a:latin typeface="Arial"/>
              <a:ea typeface="Arial"/>
              <a:cs typeface="Arial"/>
              <a:sym typeface="Arial"/>
            </a:endParaRPr>
          </a:p>
          <a:p>
            <a:pPr indent="0" lvl="0" marL="0" marR="0" rtl="0" algn="l">
              <a:lnSpc>
                <a:spcPct val="142857"/>
              </a:lnSpc>
              <a:spcBef>
                <a:spcPts val="8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RIGHT JOIN</a:t>
            </a:r>
            <a:r>
              <a:rPr b="0" i="0" lang="en" sz="1350" u="none" cap="none" strike="noStrike">
                <a:solidFill>
                  <a:srgbClr val="2D2D2D"/>
                </a:solidFill>
                <a:latin typeface="Arial"/>
                <a:ea typeface="Arial"/>
                <a:cs typeface="Arial"/>
                <a:sym typeface="Arial"/>
              </a:rPr>
              <a:t> returns all rows from the right table with corresponding rows from the left table. If there's no matching row, </a:t>
            </a:r>
            <a:r>
              <a:rPr b="0" i="0" lang="en" sz="1050" u="none" cap="none" strike="noStrike">
                <a:solidFill>
                  <a:srgbClr val="4424A9"/>
                </a:solidFill>
                <a:highlight>
                  <a:srgbClr val="EEF5FF"/>
                </a:highlight>
                <a:latin typeface="Fira Code"/>
                <a:ea typeface="Fira Code"/>
                <a:cs typeface="Fira Code"/>
                <a:sym typeface="Fira Code"/>
              </a:rPr>
              <a:t>NULL</a:t>
            </a:r>
            <a:r>
              <a:rPr b="0" i="0" lang="en" sz="1350" u="none" cap="none" strike="noStrike">
                <a:solidFill>
                  <a:srgbClr val="2D2D2D"/>
                </a:solidFill>
                <a:latin typeface="Arial"/>
                <a:ea typeface="Arial"/>
                <a:cs typeface="Arial"/>
                <a:sym typeface="Arial"/>
              </a:rPr>
              <a:t>s are returned as values from the left table.</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city.name, country.name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RIGHT JOIN</a:t>
            </a:r>
            <a:r>
              <a:rPr b="0" i="0" lang="en" sz="1000" u="none" cap="none" strike="noStrike">
                <a:solidFill>
                  <a:srgbClr val="333333"/>
                </a:solidFill>
                <a:highlight>
                  <a:srgbClr val="FFFFFF"/>
                </a:highlight>
                <a:latin typeface="Arial"/>
                <a:ea typeface="Arial"/>
                <a:cs typeface="Arial"/>
                <a:sym typeface="Arial"/>
              </a:rPr>
              <a:t> country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ON city.country_id = country.id;</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FULL JOIN</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FULL JOIN</a:t>
            </a:r>
            <a:r>
              <a:rPr b="0" i="0" lang="en" sz="1350" u="none" cap="none" strike="noStrike">
                <a:solidFill>
                  <a:srgbClr val="2D2D2D"/>
                </a:solidFill>
                <a:latin typeface="Arial"/>
                <a:ea typeface="Arial"/>
                <a:cs typeface="Arial"/>
                <a:sym typeface="Arial"/>
              </a:rPr>
              <a:t> (or explicitly </a:t>
            </a:r>
            <a:r>
              <a:rPr b="0" i="0" lang="en" sz="1050" u="none" cap="none" strike="noStrike">
                <a:solidFill>
                  <a:srgbClr val="4424A9"/>
                </a:solidFill>
                <a:highlight>
                  <a:srgbClr val="EEF5FF"/>
                </a:highlight>
                <a:latin typeface="Fira Code"/>
                <a:ea typeface="Fira Code"/>
                <a:cs typeface="Fira Code"/>
                <a:sym typeface="Fira Code"/>
              </a:rPr>
              <a:t>FULL OUTER JOIN</a:t>
            </a:r>
            <a:r>
              <a:rPr b="0" i="0" lang="en" sz="1350" u="none" cap="none" strike="noStrike">
                <a:solidFill>
                  <a:srgbClr val="2D2D2D"/>
                </a:solidFill>
                <a:latin typeface="Arial"/>
                <a:ea typeface="Arial"/>
                <a:cs typeface="Arial"/>
                <a:sym typeface="Arial"/>
              </a:rPr>
              <a:t>) returns all rows from both tables – if there's no matching row in the second table, </a:t>
            </a:r>
            <a:r>
              <a:rPr b="0" i="0" lang="en" sz="1050" u="none" cap="none" strike="noStrike">
                <a:solidFill>
                  <a:srgbClr val="4424A9"/>
                </a:solidFill>
                <a:highlight>
                  <a:srgbClr val="EEF5FF"/>
                </a:highlight>
                <a:latin typeface="Fira Code"/>
                <a:ea typeface="Fira Code"/>
                <a:cs typeface="Fira Code"/>
                <a:sym typeface="Fira Code"/>
              </a:rPr>
              <a:t>NULL</a:t>
            </a:r>
            <a:r>
              <a:rPr b="0" i="0" lang="en" sz="1350" u="none" cap="none" strike="noStrike">
                <a:solidFill>
                  <a:srgbClr val="2D2D2D"/>
                </a:solidFill>
                <a:latin typeface="Arial"/>
                <a:ea typeface="Arial"/>
                <a:cs typeface="Arial"/>
                <a:sym typeface="Arial"/>
              </a:rPr>
              <a:t>s are returned.</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city.name, country.name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FULL [OUTER] JOIN</a:t>
            </a:r>
            <a:r>
              <a:rPr b="0" i="0" lang="en" sz="1000" u="none" cap="none" strike="noStrike">
                <a:solidFill>
                  <a:srgbClr val="333333"/>
                </a:solidFill>
                <a:highlight>
                  <a:srgbClr val="FFFFFF"/>
                </a:highlight>
                <a:latin typeface="Arial"/>
                <a:ea typeface="Arial"/>
                <a:cs typeface="Arial"/>
                <a:sym typeface="Arial"/>
              </a:rPr>
              <a:t> country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  ON city.country_id = country.id;</a:t>
            </a:r>
            <a:endParaRPr b="0" i="0" sz="10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38"/>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QUERYING MULTIPLE TABLES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86" name="Google Shape;686;p38"/>
          <p:cNvSpPr txBox="1"/>
          <p:nvPr/>
        </p:nvSpPr>
        <p:spPr>
          <a:xfrm>
            <a:off x="457200" y="752325"/>
            <a:ext cx="8797800" cy="3110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CROSS JOIN</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CROSS JOIN</a:t>
            </a:r>
            <a:r>
              <a:rPr b="0" i="0" lang="en" sz="1350" u="none" cap="none" strike="noStrike">
                <a:solidFill>
                  <a:srgbClr val="2D2D2D"/>
                </a:solidFill>
                <a:latin typeface="Arial"/>
                <a:ea typeface="Arial"/>
                <a:cs typeface="Arial"/>
                <a:sym typeface="Arial"/>
              </a:rPr>
              <a:t> returns all possible combinations of rows from both tables. There are two syntaxes available.</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city.name, country.name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city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CROSS JOIN</a:t>
            </a:r>
            <a:r>
              <a:rPr b="0" i="0" lang="en" sz="1000" u="none" cap="none" strike="noStrike">
                <a:solidFill>
                  <a:srgbClr val="333333"/>
                </a:solidFill>
                <a:highlight>
                  <a:srgbClr val="FFFFFF"/>
                </a:highlight>
                <a:latin typeface="Arial"/>
                <a:ea typeface="Arial"/>
                <a:cs typeface="Arial"/>
                <a:sym typeface="Arial"/>
              </a:rPr>
              <a:t> country;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city.name, country.name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FROM</a:t>
            </a:r>
            <a:r>
              <a:rPr b="0" i="0" lang="en" sz="1000" u="none" cap="none" strike="noStrike">
                <a:solidFill>
                  <a:srgbClr val="333333"/>
                </a:solidFill>
                <a:highlight>
                  <a:srgbClr val="FFFFFF"/>
                </a:highlight>
                <a:latin typeface="Arial"/>
                <a:ea typeface="Arial"/>
                <a:cs typeface="Arial"/>
                <a:sym typeface="Arial"/>
              </a:rPr>
              <a:t> city, country;</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39"/>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QUERYING MULTIPLE TABLES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92" name="Google Shape;692;p39"/>
          <p:cNvSpPr txBox="1"/>
          <p:nvPr/>
        </p:nvSpPr>
        <p:spPr>
          <a:xfrm>
            <a:off x="457200" y="752325"/>
            <a:ext cx="8797800" cy="661200"/>
          </a:xfrm>
          <a:prstGeom prst="rect">
            <a:avLst/>
          </a:prstGeom>
          <a:noFill/>
          <a:ln>
            <a:noFill/>
          </a:ln>
        </p:spPr>
        <p:txBody>
          <a:bodyPr anchorCtr="0" anchor="t" bIns="91425" lIns="91425" spcFirstLastPara="1" rIns="91425" wrap="square" tIns="91425">
            <a:spAutoFit/>
          </a:bodyPr>
          <a:lstStyle/>
          <a:p>
            <a:pPr indent="0" lvl="0" marL="0" marR="0" rtl="0" algn="l">
              <a:lnSpc>
                <a:spcPct val="142857"/>
              </a:lnSpc>
              <a:spcBef>
                <a:spcPts val="0"/>
              </a:spcBef>
              <a:spcAft>
                <a:spcPts val="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000"/>
              <a:buFont typeface="Arial"/>
              <a:buNone/>
            </a:pPr>
            <a:r>
              <a:t/>
            </a:r>
            <a:endParaRPr b="0" i="0" sz="1000" u="none" cap="none" strike="noStrike">
              <a:solidFill>
                <a:srgbClr val="333333"/>
              </a:solidFill>
              <a:highlight>
                <a:srgbClr val="FFFFFF"/>
              </a:highlight>
              <a:latin typeface="Arial"/>
              <a:ea typeface="Arial"/>
              <a:cs typeface="Arial"/>
              <a:sym typeface="Arial"/>
            </a:endParaRPr>
          </a:p>
        </p:txBody>
      </p:sp>
      <p:pic>
        <p:nvPicPr>
          <p:cNvPr id="693" name="Google Shape;693;p39"/>
          <p:cNvPicPr preferRelativeResize="0"/>
          <p:nvPr/>
        </p:nvPicPr>
        <p:blipFill rotWithShape="1">
          <a:blip r:embed="rId3">
            <a:alphaModFix/>
          </a:blip>
          <a:srcRect b="0" l="0" r="0" t="0"/>
          <a:stretch/>
        </p:blipFill>
        <p:spPr>
          <a:xfrm>
            <a:off x="1572650" y="892975"/>
            <a:ext cx="6309125" cy="425052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40"/>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SET OPERATIONS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699" name="Google Shape;699;p40"/>
          <p:cNvSpPr txBox="1"/>
          <p:nvPr/>
        </p:nvSpPr>
        <p:spPr>
          <a:xfrm>
            <a:off x="457200" y="752325"/>
            <a:ext cx="8797800" cy="4802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Set operations are used to combine the results of two or more queries into a single result. The combined queries must return the same number of columns and compatible data types. The names of the corresponding columns can be different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UNION</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UNION</a:t>
            </a:r>
            <a:r>
              <a:rPr b="0" i="0" lang="en" sz="1350" u="none" cap="none" strike="noStrike">
                <a:solidFill>
                  <a:srgbClr val="2D2D2D"/>
                </a:solidFill>
                <a:latin typeface="Arial"/>
                <a:ea typeface="Arial"/>
                <a:cs typeface="Arial"/>
                <a:sym typeface="Arial"/>
              </a:rPr>
              <a:t> combines the results of two result sets and removes duplicates. </a:t>
            </a:r>
            <a:r>
              <a:rPr b="0" i="0" lang="en" sz="1050" u="none" cap="none" strike="noStrike">
                <a:solidFill>
                  <a:srgbClr val="4424A9"/>
                </a:solidFill>
                <a:highlight>
                  <a:srgbClr val="EEF5FF"/>
                </a:highlight>
                <a:latin typeface="Fira Code"/>
                <a:ea typeface="Fira Code"/>
                <a:cs typeface="Fira Code"/>
                <a:sym typeface="Fira Code"/>
              </a:rPr>
              <a:t>UNION ALL</a:t>
            </a:r>
            <a:r>
              <a:rPr b="0" i="0" lang="en" sz="1350" u="none" cap="none" strike="noStrike">
                <a:solidFill>
                  <a:srgbClr val="2D2D2D"/>
                </a:solidFill>
                <a:latin typeface="Arial"/>
                <a:ea typeface="Arial"/>
                <a:cs typeface="Arial"/>
                <a:sym typeface="Arial"/>
              </a:rPr>
              <a:t> doesn't remove duplicate rows.</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This query displays German cyclists together with German skaters:</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cycling</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country = 'DE'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UNION</a:t>
            </a:r>
            <a:r>
              <a:rPr b="0" i="0" lang="en" sz="1000" u="none" cap="none" strike="noStrike">
                <a:solidFill>
                  <a:srgbClr val="333333"/>
                </a:solidFill>
                <a:highlight>
                  <a:srgbClr val="FFFFFF"/>
                </a:highlight>
                <a:latin typeface="Arial"/>
                <a:ea typeface="Arial"/>
                <a:cs typeface="Arial"/>
                <a:sym typeface="Arial"/>
              </a:rPr>
              <a:t> / </a:t>
            </a:r>
            <a:r>
              <a:rPr b="1" i="0" lang="en" sz="1000" u="none" cap="none" strike="noStrike">
                <a:solidFill>
                  <a:srgbClr val="333333"/>
                </a:solidFill>
                <a:highlight>
                  <a:srgbClr val="FFFFFF"/>
                </a:highlight>
                <a:latin typeface="Arial"/>
                <a:ea typeface="Arial"/>
                <a:cs typeface="Arial"/>
                <a:sym typeface="Arial"/>
              </a:rPr>
              <a:t>UNION ALL</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skating</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country = 'DE';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p:txBody>
      </p:sp>
      <p:pic>
        <p:nvPicPr>
          <p:cNvPr id="700" name="Google Shape;700;p40"/>
          <p:cNvPicPr preferRelativeResize="0"/>
          <p:nvPr/>
        </p:nvPicPr>
        <p:blipFill rotWithShape="1">
          <a:blip r:embed="rId3">
            <a:alphaModFix/>
          </a:blip>
          <a:srcRect b="0" l="0" r="0" t="0"/>
          <a:stretch/>
        </p:blipFill>
        <p:spPr>
          <a:xfrm>
            <a:off x="4256025" y="2871238"/>
            <a:ext cx="1200150" cy="19145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41"/>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SET OPERATIONS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706" name="Google Shape;706;p41"/>
          <p:cNvSpPr txBox="1"/>
          <p:nvPr/>
        </p:nvSpPr>
        <p:spPr>
          <a:xfrm>
            <a:off x="457200" y="752325"/>
            <a:ext cx="8797800" cy="430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INTERSECT</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INTERSECT</a:t>
            </a:r>
            <a:r>
              <a:rPr b="0" i="0" lang="en" sz="1350" u="none" cap="none" strike="noStrike">
                <a:solidFill>
                  <a:srgbClr val="2D2D2D"/>
                </a:solidFill>
                <a:latin typeface="Arial"/>
                <a:ea typeface="Arial"/>
                <a:cs typeface="Arial"/>
                <a:sym typeface="Arial"/>
              </a:rPr>
              <a:t> returns only rows that appear in both result sets.</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This query displays German cyclists who are also German skaters at the same time:</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cycling</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country = 'DE'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INTERSECT</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skating</a:t>
            </a:r>
            <a:endParaRPr b="0" i="0" sz="1000" u="none" cap="none" strike="noStrike">
              <a:solidFill>
                <a:srgbClr val="333333"/>
              </a:solidFill>
              <a:highlight>
                <a:srgbClr val="FFFFFF"/>
              </a:highlight>
              <a:latin typeface="Arial"/>
              <a:ea typeface="Arial"/>
              <a:cs typeface="Arial"/>
              <a:sym typeface="Arial"/>
            </a:endParaRPr>
          </a:p>
          <a:p>
            <a:pPr indent="457200" lvl="0" marL="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country = 'DE';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0" marR="0" rtl="0" algn="l">
              <a:lnSpc>
                <a:spcPct val="142857"/>
              </a:lnSpc>
              <a:spcBef>
                <a:spcPts val="800"/>
              </a:spcBef>
              <a:spcAft>
                <a:spcPts val="80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p:txBody>
      </p:sp>
      <p:pic>
        <p:nvPicPr>
          <p:cNvPr id="707" name="Google Shape;707;p41"/>
          <p:cNvPicPr preferRelativeResize="0"/>
          <p:nvPr/>
        </p:nvPicPr>
        <p:blipFill rotWithShape="1">
          <a:blip r:embed="rId3">
            <a:alphaModFix/>
          </a:blip>
          <a:srcRect b="0" l="0" r="0" t="0"/>
          <a:stretch/>
        </p:blipFill>
        <p:spPr>
          <a:xfrm>
            <a:off x="4241738" y="2578550"/>
            <a:ext cx="1228725" cy="1828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42"/>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SET OPERATIONS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713" name="Google Shape;713;p42"/>
          <p:cNvSpPr txBox="1"/>
          <p:nvPr/>
        </p:nvSpPr>
        <p:spPr>
          <a:xfrm>
            <a:off x="457200" y="752325"/>
            <a:ext cx="8797800" cy="3905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50"/>
              <a:buFont typeface="Arial"/>
              <a:buNone/>
            </a:pPr>
            <a:r>
              <a:rPr b="1" i="0" lang="en" sz="1350" u="none" cap="none" strike="noStrike">
                <a:solidFill>
                  <a:schemeClr val="dk1"/>
                </a:solidFill>
                <a:latin typeface="Arial"/>
                <a:ea typeface="Arial"/>
                <a:cs typeface="Arial"/>
                <a:sym typeface="Arial"/>
              </a:rPr>
              <a:t>EXCEPT</a:t>
            </a:r>
            <a:endParaRPr b="1" i="0" sz="135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EXCEPT</a:t>
            </a:r>
            <a:r>
              <a:rPr b="0" i="0" lang="en" sz="1350" u="none" cap="none" strike="noStrike">
                <a:solidFill>
                  <a:srgbClr val="2D2D2D"/>
                </a:solidFill>
                <a:latin typeface="Arial"/>
                <a:ea typeface="Arial"/>
                <a:cs typeface="Arial"/>
                <a:sym typeface="Arial"/>
              </a:rPr>
              <a:t> returns only the rows that appear in the first result set but do not appear in the second result set.</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This query displays German cyclists unless they are also German skaters at the same time:</a:t>
            </a:r>
            <a:endParaRPr b="0" i="0" sz="1350" u="none" cap="none" strike="noStrike">
              <a:solidFill>
                <a:srgbClr val="2D2D2D"/>
              </a:solidFill>
              <a:latin typeface="Arial"/>
              <a:ea typeface="Arial"/>
              <a:cs typeface="Arial"/>
              <a:sym typeface="Arial"/>
            </a:endParaRPr>
          </a:p>
          <a:p>
            <a:pPr indent="0" lvl="0" marL="457200" marR="0" rtl="0" algn="l">
              <a:lnSpc>
                <a:spcPct val="142857"/>
              </a:lnSpc>
              <a:spcBef>
                <a:spcPts val="14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cycling</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country = 'DE'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1" i="0" lang="en" sz="1000" u="none" cap="none" strike="noStrike">
                <a:solidFill>
                  <a:srgbClr val="333333"/>
                </a:solidFill>
                <a:highlight>
                  <a:srgbClr val="FFFFFF"/>
                </a:highlight>
                <a:latin typeface="Arial"/>
                <a:ea typeface="Arial"/>
                <a:cs typeface="Arial"/>
                <a:sym typeface="Arial"/>
              </a:rPr>
              <a:t>EXCEPT</a:t>
            </a:r>
            <a:r>
              <a:rPr b="0" i="0" lang="en" sz="1000" u="none" cap="none" strike="noStrike">
                <a:solidFill>
                  <a:srgbClr val="333333"/>
                </a:solidFill>
                <a:highlight>
                  <a:srgbClr val="FFFFFF"/>
                </a:highlight>
                <a:latin typeface="Arial"/>
                <a:ea typeface="Arial"/>
                <a:cs typeface="Arial"/>
                <a:sym typeface="Arial"/>
              </a:rPr>
              <a:t> / </a:t>
            </a:r>
            <a:r>
              <a:rPr b="1" i="0" lang="en" sz="1000" u="none" cap="none" strike="noStrike">
                <a:solidFill>
                  <a:srgbClr val="333333"/>
                </a:solidFill>
                <a:highlight>
                  <a:srgbClr val="FFFFFF"/>
                </a:highlight>
                <a:latin typeface="Arial"/>
                <a:ea typeface="Arial"/>
                <a:cs typeface="Arial"/>
                <a:sym typeface="Arial"/>
              </a:rPr>
              <a:t>MINUS</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SELECT name</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FROM skating</a:t>
            </a:r>
            <a:endParaRPr b="0" i="0" sz="1000" u="none" cap="none" strike="noStrike">
              <a:solidFill>
                <a:srgbClr val="333333"/>
              </a:solidFill>
              <a:highlight>
                <a:srgbClr val="FFFFFF"/>
              </a:highlight>
              <a:latin typeface="Arial"/>
              <a:ea typeface="Arial"/>
              <a:cs typeface="Arial"/>
              <a:sym typeface="Arial"/>
            </a:endParaRPr>
          </a:p>
          <a:p>
            <a:pPr indent="0" lvl="0" marL="457200" marR="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FFFFF"/>
                </a:highlight>
                <a:latin typeface="Arial"/>
                <a:ea typeface="Arial"/>
                <a:cs typeface="Arial"/>
                <a:sym typeface="Arial"/>
              </a:rPr>
              <a:t>WHERE country = 'DE';</a:t>
            </a:r>
            <a:endParaRPr b="0" i="0" sz="1000" u="none" cap="none" strike="noStrike">
              <a:solidFill>
                <a:srgbClr val="333333"/>
              </a:solidFill>
              <a:highlight>
                <a:srgbClr val="FFFFFF"/>
              </a:highlight>
              <a:latin typeface="Arial"/>
              <a:ea typeface="Arial"/>
              <a:cs typeface="Arial"/>
              <a:sym typeface="Arial"/>
            </a:endParaRPr>
          </a:p>
          <a:p>
            <a:pPr indent="0" lvl="0" marL="0" marR="0" rtl="0" algn="l">
              <a:lnSpc>
                <a:spcPct val="142857"/>
              </a:lnSpc>
              <a:spcBef>
                <a:spcPts val="800"/>
              </a:spcBef>
              <a:spcAft>
                <a:spcPts val="80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p:txBody>
      </p:sp>
      <p:pic>
        <p:nvPicPr>
          <p:cNvPr id="714" name="Google Shape;714;p42"/>
          <p:cNvPicPr preferRelativeResize="0"/>
          <p:nvPr/>
        </p:nvPicPr>
        <p:blipFill rotWithShape="1">
          <a:blip r:embed="rId3">
            <a:alphaModFix/>
          </a:blip>
          <a:srcRect b="0" l="0" r="0" t="0"/>
          <a:stretch/>
        </p:blipFill>
        <p:spPr>
          <a:xfrm>
            <a:off x="4232200" y="2621413"/>
            <a:ext cx="1247775" cy="17430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43"/>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WINDOW FUNCTIONS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720" name="Google Shape;720;p43"/>
          <p:cNvSpPr txBox="1"/>
          <p:nvPr/>
        </p:nvSpPr>
        <p:spPr>
          <a:xfrm>
            <a:off x="457200" y="752325"/>
            <a:ext cx="8797800" cy="20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50"/>
              <a:buFont typeface="Arial"/>
              <a:buNone/>
            </a:pPr>
            <a:r>
              <a:rPr b="1" i="0" lang="en" sz="1350" u="none" cap="none" strike="noStrike">
                <a:solidFill>
                  <a:srgbClr val="2D2D2D"/>
                </a:solidFill>
                <a:latin typeface="Arial"/>
                <a:ea typeface="Arial"/>
                <a:cs typeface="Arial"/>
                <a:sym typeface="Arial"/>
              </a:rPr>
              <a:t>Window functions</a:t>
            </a:r>
            <a:r>
              <a:rPr b="0" i="0" lang="en" sz="1350" u="none" cap="none" strike="noStrike">
                <a:solidFill>
                  <a:srgbClr val="2D2D2D"/>
                </a:solidFill>
                <a:latin typeface="Arial"/>
                <a:ea typeface="Arial"/>
                <a:cs typeface="Arial"/>
                <a:sym typeface="Arial"/>
              </a:rPr>
              <a:t> compute their result based on a sliding window frame, a set of rows that are somehow related to the current row.</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80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p:txBody>
      </p:sp>
      <p:pic>
        <p:nvPicPr>
          <p:cNvPr id="721" name="Google Shape;721;p43"/>
          <p:cNvPicPr preferRelativeResize="0"/>
          <p:nvPr/>
        </p:nvPicPr>
        <p:blipFill rotWithShape="1">
          <a:blip r:embed="rId3">
            <a:alphaModFix/>
          </a:blip>
          <a:srcRect b="0" l="0" r="0" t="0"/>
          <a:stretch/>
        </p:blipFill>
        <p:spPr>
          <a:xfrm>
            <a:off x="1458600" y="1727400"/>
            <a:ext cx="6049375" cy="26893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44"/>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WINDOW FUNCTIONS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727" name="Google Shape;727;p44"/>
          <p:cNvSpPr txBox="1"/>
          <p:nvPr/>
        </p:nvSpPr>
        <p:spPr>
          <a:xfrm>
            <a:off x="457200" y="752325"/>
            <a:ext cx="8797800" cy="443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2000"/>
              <a:buFont typeface="Arial"/>
              <a:buNone/>
            </a:pPr>
            <a:r>
              <a:rPr b="1" i="0" lang="en" sz="2000" u="none" cap="none" strike="noStrike">
                <a:solidFill>
                  <a:schemeClr val="dk1"/>
                </a:solidFill>
                <a:latin typeface="Arial"/>
                <a:ea typeface="Arial"/>
                <a:cs typeface="Arial"/>
                <a:sym typeface="Arial"/>
              </a:rPr>
              <a:t>Aggregate Functions vs. Window Functions</a:t>
            </a:r>
            <a:endParaRPr b="1" i="0" sz="2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400"/>
              <a:buFont typeface="Arial"/>
              <a:buNone/>
            </a:pPr>
            <a:r>
              <a:rPr b="0" i="0" lang="en" sz="1400" u="none" cap="none" strike="noStrike">
                <a:solidFill>
                  <a:srgbClr val="2D2D2D"/>
                </a:solidFill>
                <a:latin typeface="Roboto"/>
                <a:ea typeface="Roboto"/>
                <a:cs typeface="Roboto"/>
                <a:sym typeface="Roboto"/>
              </a:rPr>
              <a:t>Unlike aggregate functions, window functions do not collapse rows.</a:t>
            </a:r>
            <a:endParaRPr b="0" i="0" sz="1400" u="none" cap="none" strike="noStrike">
              <a:solidFill>
                <a:srgbClr val="2D2D2D"/>
              </a:solidFill>
              <a:latin typeface="Roboto"/>
              <a:ea typeface="Roboto"/>
              <a:cs typeface="Roboto"/>
              <a:sym typeface="Roboto"/>
            </a:endParaRPr>
          </a:p>
          <a:p>
            <a:pPr indent="0" lvl="0" marL="0" marR="0" rtl="0" algn="l">
              <a:lnSpc>
                <a:spcPct val="115000"/>
              </a:lnSpc>
              <a:spcBef>
                <a:spcPts val="1400"/>
              </a:spcBef>
              <a:spcAft>
                <a:spcPts val="0"/>
              </a:spcAft>
              <a:buClr>
                <a:srgbClr val="000000"/>
              </a:buClr>
              <a:buSzPts val="1400"/>
              <a:buFont typeface="Arial"/>
              <a:buNone/>
            </a:pPr>
            <a:r>
              <a:t/>
            </a:r>
            <a:endParaRPr b="0" i="0" sz="1400" u="none" cap="none" strike="noStrike">
              <a:solidFill>
                <a:srgbClr val="2D2D2D"/>
              </a:solidFill>
              <a:latin typeface="Roboto"/>
              <a:ea typeface="Roboto"/>
              <a:cs typeface="Roboto"/>
              <a:sym typeface="Roboto"/>
            </a:endParaRPr>
          </a:p>
          <a:p>
            <a:pPr indent="0" lvl="0" marL="0" marR="0" rtl="0" algn="l">
              <a:lnSpc>
                <a:spcPct val="115000"/>
              </a:lnSpc>
              <a:spcBef>
                <a:spcPts val="1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115000"/>
              </a:lnSpc>
              <a:spcBef>
                <a:spcPts val="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1"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80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p:txBody>
      </p:sp>
      <p:pic>
        <p:nvPicPr>
          <p:cNvPr id="728" name="Google Shape;728;p44"/>
          <p:cNvPicPr preferRelativeResize="0"/>
          <p:nvPr/>
        </p:nvPicPr>
        <p:blipFill rotWithShape="1">
          <a:blip r:embed="rId3">
            <a:alphaModFix/>
          </a:blip>
          <a:srcRect b="0" l="0" r="0" t="0"/>
          <a:stretch/>
        </p:blipFill>
        <p:spPr>
          <a:xfrm>
            <a:off x="0" y="1943777"/>
            <a:ext cx="9144000" cy="300624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5"/>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WINDOW FUNCTIONS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734" name="Google Shape;734;p45"/>
          <p:cNvSpPr txBox="1"/>
          <p:nvPr/>
        </p:nvSpPr>
        <p:spPr>
          <a:xfrm>
            <a:off x="457200" y="752325"/>
            <a:ext cx="8797800" cy="443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2000"/>
              <a:buFont typeface="Arial"/>
              <a:buNone/>
            </a:pPr>
            <a:r>
              <a:rPr b="1" i="0" lang="en" sz="2000" u="none" cap="none" strike="noStrike">
                <a:solidFill>
                  <a:schemeClr val="dk1"/>
                </a:solidFill>
                <a:latin typeface="Arial"/>
                <a:ea typeface="Arial"/>
                <a:cs typeface="Arial"/>
                <a:sym typeface="Arial"/>
              </a:rPr>
              <a:t>Aggregate Functions vs. Window Functions</a:t>
            </a:r>
            <a:endParaRPr b="1" i="0" sz="2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400"/>
              <a:buFont typeface="Arial"/>
              <a:buNone/>
            </a:pPr>
            <a:r>
              <a:rPr b="0" i="0" lang="en" sz="1400" u="none" cap="none" strike="noStrike">
                <a:solidFill>
                  <a:srgbClr val="2D2D2D"/>
                </a:solidFill>
                <a:latin typeface="Roboto"/>
                <a:ea typeface="Roboto"/>
                <a:cs typeface="Roboto"/>
                <a:sym typeface="Roboto"/>
              </a:rPr>
              <a:t>Unlike aggregate functions, window functions do not collapse rows.</a:t>
            </a:r>
            <a:endParaRPr b="0" i="0" sz="1400" u="none" cap="none" strike="noStrike">
              <a:solidFill>
                <a:srgbClr val="2D2D2D"/>
              </a:solidFill>
              <a:latin typeface="Roboto"/>
              <a:ea typeface="Roboto"/>
              <a:cs typeface="Roboto"/>
              <a:sym typeface="Roboto"/>
            </a:endParaRPr>
          </a:p>
          <a:p>
            <a:pPr indent="0" lvl="0" marL="0" marR="0" rtl="0" algn="l">
              <a:lnSpc>
                <a:spcPct val="115000"/>
              </a:lnSpc>
              <a:spcBef>
                <a:spcPts val="1400"/>
              </a:spcBef>
              <a:spcAft>
                <a:spcPts val="0"/>
              </a:spcAft>
              <a:buClr>
                <a:srgbClr val="000000"/>
              </a:buClr>
              <a:buSzPts val="1400"/>
              <a:buFont typeface="Arial"/>
              <a:buNone/>
            </a:pPr>
            <a:r>
              <a:t/>
            </a:r>
            <a:endParaRPr b="0" i="0" sz="1400" u="none" cap="none" strike="noStrike">
              <a:solidFill>
                <a:srgbClr val="2D2D2D"/>
              </a:solidFill>
              <a:latin typeface="Roboto"/>
              <a:ea typeface="Roboto"/>
              <a:cs typeface="Roboto"/>
              <a:sym typeface="Roboto"/>
            </a:endParaRPr>
          </a:p>
          <a:p>
            <a:pPr indent="0" lvl="0" marL="0" marR="0" rtl="0" algn="l">
              <a:lnSpc>
                <a:spcPct val="115000"/>
              </a:lnSpc>
              <a:spcBef>
                <a:spcPts val="1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115000"/>
              </a:lnSpc>
              <a:spcBef>
                <a:spcPts val="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1"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800"/>
              </a:spcAft>
              <a:buClr>
                <a:srgbClr val="000000"/>
              </a:buClr>
              <a:buSzPts val="1350"/>
              <a:buFont typeface="Arial"/>
              <a:buNone/>
            </a:pPr>
            <a:r>
              <a:t/>
            </a:r>
            <a:endParaRPr b="1" i="0" sz="1350" u="none" cap="none" strike="noStrike">
              <a:solidFill>
                <a:schemeClr val="dk1"/>
              </a:solidFill>
              <a:latin typeface="Arial"/>
              <a:ea typeface="Arial"/>
              <a:cs typeface="Arial"/>
              <a:sym typeface="Arial"/>
            </a:endParaRPr>
          </a:p>
        </p:txBody>
      </p:sp>
      <p:pic>
        <p:nvPicPr>
          <p:cNvPr id="735" name="Google Shape;735;p45"/>
          <p:cNvPicPr preferRelativeResize="0"/>
          <p:nvPr/>
        </p:nvPicPr>
        <p:blipFill rotWithShape="1">
          <a:blip r:embed="rId3">
            <a:alphaModFix/>
          </a:blip>
          <a:srcRect b="0" l="0" r="0" t="0"/>
          <a:stretch/>
        </p:blipFill>
        <p:spPr>
          <a:xfrm>
            <a:off x="0" y="1943777"/>
            <a:ext cx="9144000" cy="300624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46"/>
          <p:cNvSpPr txBox="1"/>
          <p:nvPr>
            <p:ph type="title"/>
          </p:nvPr>
        </p:nvSpPr>
        <p:spPr>
          <a:xfrm>
            <a:off x="457200" y="16582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WINDOW FUNCTIONS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741" name="Google Shape;741;p46"/>
          <p:cNvSpPr txBox="1"/>
          <p:nvPr/>
        </p:nvSpPr>
        <p:spPr>
          <a:xfrm>
            <a:off x="457200" y="647325"/>
            <a:ext cx="3642300" cy="3969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2000"/>
              <a:buFont typeface="Arial"/>
              <a:buNone/>
            </a:pPr>
            <a:r>
              <a:rPr b="1" i="0" lang="en" sz="2000" u="none" cap="none" strike="noStrike">
                <a:solidFill>
                  <a:schemeClr val="dk1"/>
                </a:solidFill>
                <a:latin typeface="Arial"/>
                <a:ea typeface="Arial"/>
                <a:cs typeface="Arial"/>
                <a:sym typeface="Arial"/>
              </a:rPr>
              <a:t>Syntax</a:t>
            </a:r>
            <a:endParaRPr b="1" i="0" sz="2000" u="none" cap="none" strike="noStrike">
              <a:solidFill>
                <a:schemeClr val="dk1"/>
              </a:solidFill>
              <a:latin typeface="Arial"/>
              <a:ea typeface="Arial"/>
              <a:cs typeface="Arial"/>
              <a:sym typeface="Arial"/>
            </a:endParaRPr>
          </a:p>
          <a:p>
            <a:pPr indent="0" lvl="0" marL="88900" marR="88900" rtl="0" algn="l">
              <a:lnSpc>
                <a:spcPct val="142857"/>
              </a:lnSpc>
              <a:spcBef>
                <a:spcPts val="4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SELECT</a:t>
            </a:r>
            <a:r>
              <a:rPr b="0" i="0" lang="en" sz="1000" u="none" cap="none" strike="noStrike">
                <a:solidFill>
                  <a:srgbClr val="333333"/>
                </a:solidFill>
                <a:highlight>
                  <a:srgbClr val="F5F5F5"/>
                </a:highlight>
                <a:latin typeface="Arial"/>
                <a:ea typeface="Arial"/>
                <a:cs typeface="Arial"/>
                <a:sym typeface="Arial"/>
              </a:rPr>
              <a:t> &lt;column_1&gt;, &lt;column_2&gt;,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FF8B2F"/>
                </a:solidFill>
                <a:highlight>
                  <a:srgbClr val="F5F5F5"/>
                </a:highlight>
                <a:latin typeface="Arial"/>
                <a:ea typeface="Arial"/>
                <a:cs typeface="Arial"/>
                <a:sym typeface="Arial"/>
              </a:rPr>
              <a:t>&lt;window_function&gt;</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OVER</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D75DA2"/>
                </a:solidFill>
                <a:highlight>
                  <a:srgbClr val="F5F5F5"/>
                </a:highlight>
                <a:latin typeface="Arial"/>
                <a:ea typeface="Arial"/>
                <a:cs typeface="Arial"/>
                <a:sym typeface="Arial"/>
              </a:rPr>
              <a:t>&lt;window_name&gt;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FROM</a:t>
            </a:r>
            <a:r>
              <a:rPr b="0" i="0" lang="en" sz="1000" u="none" cap="none" strike="noStrike">
                <a:solidFill>
                  <a:srgbClr val="333333"/>
                </a:solidFill>
                <a:highlight>
                  <a:srgbClr val="F5F5F5"/>
                </a:highlight>
                <a:latin typeface="Arial"/>
                <a:ea typeface="Arial"/>
                <a:cs typeface="Arial"/>
                <a:sym typeface="Arial"/>
              </a:rPr>
              <a:t> &lt;table_name&gt;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WHERE</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GROUP BY</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HAVING</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1" i="0" lang="en" sz="1000" u="none" cap="none" strike="noStrike">
                <a:solidFill>
                  <a:srgbClr val="0078FF"/>
                </a:solidFill>
                <a:highlight>
                  <a:srgbClr val="F5F5F5"/>
                </a:highlight>
                <a:latin typeface="Arial"/>
                <a:ea typeface="Arial"/>
                <a:cs typeface="Arial"/>
                <a:sym typeface="Arial"/>
              </a:rPr>
              <a:t>WINDOW</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D75DA2"/>
                </a:solidFill>
                <a:highlight>
                  <a:srgbClr val="F5F5F5"/>
                </a:highlight>
                <a:latin typeface="Arial"/>
                <a:ea typeface="Arial"/>
                <a:cs typeface="Arial"/>
                <a:sym typeface="Arial"/>
              </a:rPr>
              <a:t>&lt;window_name&gt;</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AS</a:t>
            </a:r>
            <a:r>
              <a:rPr b="0" i="0" lang="en" sz="1000" u="none" cap="none" strike="noStrike">
                <a:solidFill>
                  <a:srgbClr val="333333"/>
                </a:solidFill>
                <a:highlight>
                  <a:srgbClr val="F5F5F5"/>
                </a:highlight>
                <a:latin typeface="Arial"/>
                <a:ea typeface="Arial"/>
                <a:cs typeface="Arial"/>
                <a:sym typeface="Arial"/>
              </a:rPr>
              <a:t> (</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PARTITION BY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ORDER BY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&lt;window_frame&gt;</a:t>
            </a:r>
            <a:r>
              <a:rPr b="0" i="0" lang="en" sz="1000" u="none" cap="none" strike="noStrike">
                <a:solidFill>
                  <a:srgbClr val="333333"/>
                </a:solidFill>
                <a:highlight>
                  <a:srgbClr val="F5F5F5"/>
                </a:highlight>
                <a:latin typeface="Arial"/>
                <a:ea typeface="Arial"/>
                <a:cs typeface="Arial"/>
                <a:sym typeface="Arial"/>
              </a:rPr>
              <a: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80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ORDER BY</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0078FF"/>
              </a:solidFill>
              <a:highlight>
                <a:srgbClr val="F5F5F5"/>
              </a:highlight>
              <a:latin typeface="Arial"/>
              <a:ea typeface="Arial"/>
              <a:cs typeface="Arial"/>
              <a:sym typeface="Arial"/>
            </a:endParaRPr>
          </a:p>
        </p:txBody>
      </p:sp>
      <p:sp>
        <p:nvSpPr>
          <p:cNvPr id="742" name="Google Shape;742;p46"/>
          <p:cNvSpPr txBox="1"/>
          <p:nvPr/>
        </p:nvSpPr>
        <p:spPr>
          <a:xfrm>
            <a:off x="4667525" y="850000"/>
            <a:ext cx="4476600" cy="3563700"/>
          </a:xfrm>
          <a:prstGeom prst="rect">
            <a:avLst/>
          </a:prstGeom>
          <a:noFill/>
          <a:ln>
            <a:noFill/>
          </a:ln>
        </p:spPr>
        <p:txBody>
          <a:bodyPr anchorCtr="0" anchor="t" bIns="91425" lIns="91425" spcFirstLastPara="1" rIns="91425" wrap="square" tIns="91425">
            <a:spAutoFit/>
          </a:bodyPr>
          <a:lstStyle/>
          <a:p>
            <a:pPr indent="0" lvl="0" marL="88900" marR="88900" rtl="0" algn="l">
              <a:lnSpc>
                <a:spcPct val="142857"/>
              </a:lnSpc>
              <a:spcBef>
                <a:spcPts val="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SELECT</a:t>
            </a:r>
            <a:r>
              <a:rPr b="0" i="0" lang="en" sz="1000" u="none" cap="none" strike="noStrike">
                <a:solidFill>
                  <a:srgbClr val="333333"/>
                </a:solidFill>
                <a:highlight>
                  <a:srgbClr val="F5F5F5"/>
                </a:highlight>
                <a:latin typeface="Arial"/>
                <a:ea typeface="Arial"/>
                <a:cs typeface="Arial"/>
                <a:sym typeface="Arial"/>
              </a:rPr>
              <a:t> &lt;column_1&gt;, &lt;column_2&gt;,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FF8B2F"/>
                </a:solidFill>
                <a:highlight>
                  <a:srgbClr val="F5F5F5"/>
                </a:highlight>
                <a:latin typeface="Arial"/>
                <a:ea typeface="Arial"/>
                <a:cs typeface="Arial"/>
                <a:sym typeface="Arial"/>
              </a:rPr>
              <a:t>&lt;window_function&gt;</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OVER</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D75DA2"/>
                </a:solidFill>
                <a:highlight>
                  <a:srgbClr val="F5F5F5"/>
                </a:highlight>
                <a:latin typeface="Arial"/>
                <a:ea typeface="Arial"/>
                <a:cs typeface="Arial"/>
                <a:sym typeface="Arial"/>
              </a:rPr>
              <a:t>&lt;window_name&gt;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FROM</a:t>
            </a:r>
            <a:r>
              <a:rPr b="0" i="0" lang="en" sz="1000" u="none" cap="none" strike="noStrike">
                <a:solidFill>
                  <a:srgbClr val="333333"/>
                </a:solidFill>
                <a:highlight>
                  <a:srgbClr val="F5F5F5"/>
                </a:highlight>
                <a:latin typeface="Arial"/>
                <a:ea typeface="Arial"/>
                <a:cs typeface="Arial"/>
                <a:sym typeface="Arial"/>
              </a:rPr>
              <a:t> &lt;table_name&gt;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WHERE</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GROUP BY</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HAVING</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1" i="0" lang="en" sz="1000" u="none" cap="none" strike="noStrike">
                <a:solidFill>
                  <a:srgbClr val="0078FF"/>
                </a:solidFill>
                <a:highlight>
                  <a:srgbClr val="F5F5F5"/>
                </a:highlight>
                <a:latin typeface="Arial"/>
                <a:ea typeface="Arial"/>
                <a:cs typeface="Arial"/>
                <a:sym typeface="Arial"/>
              </a:rPr>
              <a:t>WINDOW</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D75DA2"/>
                </a:solidFill>
                <a:highlight>
                  <a:srgbClr val="F5F5F5"/>
                </a:highlight>
                <a:latin typeface="Arial"/>
                <a:ea typeface="Arial"/>
                <a:cs typeface="Arial"/>
                <a:sym typeface="Arial"/>
              </a:rPr>
              <a:t>&lt;window_name&gt;</a:t>
            </a: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AS</a:t>
            </a:r>
            <a:r>
              <a:rPr b="0" i="0" lang="en" sz="1000" u="none" cap="none" strike="noStrike">
                <a:solidFill>
                  <a:srgbClr val="333333"/>
                </a:solidFill>
                <a:highlight>
                  <a:srgbClr val="F5F5F5"/>
                </a:highlight>
                <a:latin typeface="Arial"/>
                <a:ea typeface="Arial"/>
                <a:cs typeface="Arial"/>
                <a:sym typeface="Arial"/>
              </a:rPr>
              <a:t> (</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PARTITION BY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ORDER BY &lt;...&gt;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000"/>
              <a:buFont typeface="Arial"/>
              <a:buNone/>
            </a:pPr>
            <a:r>
              <a:rPr b="0" i="0" lang="en" sz="1000" u="none" cap="none" strike="noStrike">
                <a:solidFill>
                  <a:srgbClr val="333333"/>
                </a:solidFill>
                <a:highlight>
                  <a:srgbClr val="F5F5F5"/>
                </a:highlight>
                <a:latin typeface="Arial"/>
                <a:ea typeface="Arial"/>
                <a:cs typeface="Arial"/>
                <a:sym typeface="Arial"/>
              </a:rPr>
              <a:t>  </a:t>
            </a:r>
            <a:r>
              <a:rPr b="1" i="0" lang="en" sz="1000" u="none" cap="none" strike="noStrike">
                <a:solidFill>
                  <a:srgbClr val="0078FF"/>
                </a:solidFill>
                <a:highlight>
                  <a:srgbClr val="F5F5F5"/>
                </a:highlight>
                <a:latin typeface="Arial"/>
                <a:ea typeface="Arial"/>
                <a:cs typeface="Arial"/>
                <a:sym typeface="Arial"/>
              </a:rPr>
              <a:t>&lt;window_frame&gt;</a:t>
            </a:r>
            <a:r>
              <a:rPr b="0" i="0" lang="en" sz="1000" u="none" cap="none" strike="noStrike">
                <a:solidFill>
                  <a:srgbClr val="333333"/>
                </a:solidFill>
                <a:highlight>
                  <a:srgbClr val="F5F5F5"/>
                </a:highlight>
                <a:latin typeface="Arial"/>
                <a:ea typeface="Arial"/>
                <a:cs typeface="Arial"/>
                <a:sym typeface="Arial"/>
              </a:rPr>
              <a:t>)</a:t>
            </a:r>
            <a:endParaRPr b="0" i="0" sz="10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800"/>
              </a:spcAft>
              <a:buClr>
                <a:srgbClr val="000000"/>
              </a:buClr>
              <a:buSzPts val="1000"/>
              <a:buFont typeface="Arial"/>
              <a:buNone/>
            </a:pPr>
            <a:r>
              <a:rPr b="0" i="0" lang="en" sz="1000" u="none" cap="none" strike="noStrike">
                <a:solidFill>
                  <a:srgbClr val="0078FF"/>
                </a:solidFill>
                <a:highlight>
                  <a:srgbClr val="F5F5F5"/>
                </a:highlight>
                <a:latin typeface="Arial"/>
                <a:ea typeface="Arial"/>
                <a:cs typeface="Arial"/>
                <a:sym typeface="Arial"/>
              </a:rPr>
              <a:t>ORDER BY</a:t>
            </a:r>
            <a:r>
              <a:rPr b="0" i="0" lang="en" sz="1000" u="none" cap="none" strike="noStrike">
                <a:solidFill>
                  <a:srgbClr val="333333"/>
                </a:solidFill>
                <a:highlight>
                  <a:srgbClr val="F5F5F5"/>
                </a:highlight>
                <a:latin typeface="Arial"/>
                <a:ea typeface="Arial"/>
                <a:cs typeface="Arial"/>
                <a:sym typeface="Arial"/>
              </a:rPr>
              <a:t> &lt;...&gt;;</a:t>
            </a:r>
            <a:endParaRPr b="0" i="0" sz="1000" u="none" cap="none" strike="noStrike">
              <a:solidFill>
                <a:srgbClr val="0078FF"/>
              </a:solidFill>
              <a:highlight>
                <a:srgbClr val="F5F5F5"/>
              </a:highlight>
              <a:latin typeface="Arial"/>
              <a:ea typeface="Arial"/>
              <a:cs typeface="Arial"/>
              <a:sym typeface="Arial"/>
            </a:endParaRPr>
          </a:p>
        </p:txBody>
      </p:sp>
      <p:sp>
        <p:nvSpPr>
          <p:cNvPr id="743" name="Google Shape;743;p46"/>
          <p:cNvSpPr txBox="1"/>
          <p:nvPr/>
        </p:nvSpPr>
        <p:spPr>
          <a:xfrm>
            <a:off x="706275" y="4616350"/>
            <a:ext cx="78765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140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PARTITION BY</a:t>
            </a:r>
            <a:r>
              <a:rPr b="0" i="0" lang="en" sz="1350" u="none" cap="none" strike="noStrike">
                <a:solidFill>
                  <a:srgbClr val="2D2D2D"/>
                </a:solidFill>
                <a:latin typeface="Arial"/>
                <a:ea typeface="Arial"/>
                <a:cs typeface="Arial"/>
                <a:sym typeface="Arial"/>
              </a:rPr>
              <a:t>, </a:t>
            </a:r>
            <a:r>
              <a:rPr b="0" i="0" lang="en" sz="1050" u="none" cap="none" strike="noStrike">
                <a:solidFill>
                  <a:srgbClr val="4424A9"/>
                </a:solidFill>
                <a:highlight>
                  <a:srgbClr val="EEF5FF"/>
                </a:highlight>
                <a:latin typeface="Fira Code"/>
                <a:ea typeface="Fira Code"/>
                <a:cs typeface="Fira Code"/>
                <a:sym typeface="Fira Code"/>
              </a:rPr>
              <a:t>ORDER BY</a:t>
            </a:r>
            <a:r>
              <a:rPr b="0" i="0" lang="en" sz="1350" u="none" cap="none" strike="noStrike">
                <a:solidFill>
                  <a:srgbClr val="2D2D2D"/>
                </a:solidFill>
                <a:latin typeface="Arial"/>
                <a:ea typeface="Arial"/>
                <a:cs typeface="Arial"/>
                <a:sym typeface="Arial"/>
              </a:rPr>
              <a:t>, and window frame definition are all optional.</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47"/>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SzPts val="3000"/>
              <a:buNone/>
            </a:pPr>
            <a:r>
              <a:rPr b="1" lang="en" sz="3300">
                <a:solidFill>
                  <a:schemeClr val="dk1"/>
                </a:solidFill>
                <a:latin typeface="Arial"/>
                <a:ea typeface="Arial"/>
                <a:cs typeface="Arial"/>
                <a:sym typeface="Arial"/>
              </a:rPr>
              <a:t>PARTITION BY</a:t>
            </a:r>
            <a:endParaRPr b="1" sz="2650">
              <a:solidFill>
                <a:schemeClr val="dk1"/>
              </a:solidFill>
              <a:latin typeface="Arial"/>
              <a:ea typeface="Arial"/>
              <a:cs typeface="Arial"/>
              <a:sym typeface="Arial"/>
            </a:endParaRPr>
          </a:p>
          <a:p>
            <a:pPr indent="0" lvl="0" marL="0" rtl="0" algn="l">
              <a:lnSpc>
                <a:spcPct val="100000"/>
              </a:lnSpc>
              <a:spcBef>
                <a:spcPts val="400"/>
              </a:spcBef>
              <a:spcAft>
                <a:spcPts val="0"/>
              </a:spcAft>
              <a:buSzPts val="3000"/>
              <a:buNone/>
            </a:pPr>
            <a:r>
              <a:t/>
            </a:r>
            <a:endParaRPr/>
          </a:p>
        </p:txBody>
      </p:sp>
      <p:sp>
        <p:nvSpPr>
          <p:cNvPr id="749" name="Google Shape;749;p47"/>
          <p:cNvSpPr txBox="1"/>
          <p:nvPr/>
        </p:nvSpPr>
        <p:spPr>
          <a:xfrm>
            <a:off x="457200" y="783025"/>
            <a:ext cx="8616900" cy="392400"/>
          </a:xfrm>
          <a:prstGeom prst="rect">
            <a:avLst/>
          </a:prstGeom>
          <a:noFill/>
          <a:ln>
            <a:noFill/>
          </a:ln>
        </p:spPr>
        <p:txBody>
          <a:bodyPr anchorCtr="0" anchor="t" bIns="91425" lIns="91425" spcFirstLastPara="1" rIns="91425" wrap="square" tIns="91425">
            <a:spAutoFit/>
          </a:bodyPr>
          <a:lstStyle/>
          <a:p>
            <a:pPr indent="0" lvl="0" marL="88900" marR="88900" rtl="0" algn="l">
              <a:lnSpc>
                <a:spcPct val="142857"/>
              </a:lnSpc>
              <a:spcBef>
                <a:spcPts val="0"/>
              </a:spcBef>
              <a:spcAft>
                <a:spcPts val="800"/>
              </a:spcAft>
              <a:buClr>
                <a:srgbClr val="000000"/>
              </a:buClr>
              <a:buSzPts val="1050"/>
              <a:buFont typeface="Arial"/>
              <a:buNone/>
            </a:pPr>
            <a:r>
              <a:rPr b="0" i="0" lang="en" sz="1050" u="none" cap="none" strike="noStrike">
                <a:solidFill>
                  <a:srgbClr val="4424A9"/>
                </a:solidFill>
                <a:highlight>
                  <a:srgbClr val="EEF5FF"/>
                </a:highlight>
                <a:latin typeface="Fira Code"/>
                <a:ea typeface="Fira Code"/>
                <a:cs typeface="Fira Code"/>
                <a:sym typeface="Fira Code"/>
              </a:rPr>
              <a:t>PARTITION BY</a:t>
            </a:r>
            <a:r>
              <a:rPr b="0" i="0" lang="en" sz="1350" u="none" cap="none" strike="noStrike">
                <a:solidFill>
                  <a:srgbClr val="2D2D2D"/>
                </a:solidFill>
                <a:latin typeface="Arial"/>
                <a:ea typeface="Arial"/>
                <a:cs typeface="Arial"/>
                <a:sym typeface="Arial"/>
              </a:rPr>
              <a:t> divides rows into multiple groups, called </a:t>
            </a:r>
            <a:r>
              <a:rPr b="1" i="0" lang="en" sz="1350" u="none" cap="none" strike="noStrike">
                <a:solidFill>
                  <a:srgbClr val="2D2D2D"/>
                </a:solidFill>
                <a:latin typeface="Arial"/>
                <a:ea typeface="Arial"/>
                <a:cs typeface="Arial"/>
                <a:sym typeface="Arial"/>
              </a:rPr>
              <a:t>partitions</a:t>
            </a:r>
            <a:r>
              <a:rPr b="0" i="0" lang="en" sz="1350" u="none" cap="none" strike="noStrike">
                <a:solidFill>
                  <a:srgbClr val="2D2D2D"/>
                </a:solidFill>
                <a:latin typeface="Arial"/>
                <a:ea typeface="Arial"/>
                <a:cs typeface="Arial"/>
                <a:sym typeface="Arial"/>
              </a:rPr>
              <a:t>, to which the window function is applied.</a:t>
            </a:r>
            <a:endParaRPr b="0" i="0" sz="1000" u="none" cap="none" strike="noStrike">
              <a:solidFill>
                <a:srgbClr val="0078FF"/>
              </a:solidFill>
              <a:highlight>
                <a:srgbClr val="F5F5F5"/>
              </a:highlight>
              <a:latin typeface="Arial"/>
              <a:ea typeface="Arial"/>
              <a:cs typeface="Arial"/>
              <a:sym typeface="Arial"/>
            </a:endParaRPr>
          </a:p>
        </p:txBody>
      </p:sp>
      <p:pic>
        <p:nvPicPr>
          <p:cNvPr id="750" name="Google Shape;750;p47"/>
          <p:cNvPicPr preferRelativeResize="0"/>
          <p:nvPr/>
        </p:nvPicPr>
        <p:blipFill rotWithShape="1">
          <a:blip r:embed="rId3">
            <a:alphaModFix/>
          </a:blip>
          <a:srcRect b="0" l="0" r="0" t="0"/>
          <a:stretch/>
        </p:blipFill>
        <p:spPr>
          <a:xfrm>
            <a:off x="394075" y="1175425"/>
            <a:ext cx="8355851" cy="3292500"/>
          </a:xfrm>
          <a:prstGeom prst="rect">
            <a:avLst/>
          </a:prstGeom>
          <a:noFill/>
          <a:ln>
            <a:noFill/>
          </a:ln>
        </p:spPr>
      </p:pic>
      <p:sp>
        <p:nvSpPr>
          <p:cNvPr id="751" name="Google Shape;751;p47"/>
          <p:cNvSpPr txBox="1"/>
          <p:nvPr/>
        </p:nvSpPr>
        <p:spPr>
          <a:xfrm>
            <a:off x="368500" y="4575400"/>
            <a:ext cx="84906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1400"/>
              </a:spcAft>
              <a:buClr>
                <a:srgbClr val="000000"/>
              </a:buClr>
              <a:buSzPts val="1350"/>
              <a:buFont typeface="Arial"/>
              <a:buNone/>
            </a:pPr>
            <a:r>
              <a:rPr b="1" i="0" lang="en" sz="1350" u="none" cap="none" strike="noStrike">
                <a:solidFill>
                  <a:srgbClr val="2D2D2D"/>
                </a:solidFill>
                <a:latin typeface="Arial"/>
                <a:ea typeface="Arial"/>
                <a:cs typeface="Arial"/>
                <a:sym typeface="Arial"/>
              </a:rPr>
              <a:t>Default Partition:</a:t>
            </a:r>
            <a:r>
              <a:rPr b="0" i="0" lang="en" sz="1350" u="none" cap="none" strike="noStrike">
                <a:solidFill>
                  <a:srgbClr val="2D2D2D"/>
                </a:solidFill>
                <a:latin typeface="Arial"/>
                <a:ea typeface="Arial"/>
                <a:cs typeface="Arial"/>
                <a:sym typeface="Arial"/>
              </a:rPr>
              <a:t> With no </a:t>
            </a:r>
            <a:r>
              <a:rPr b="0" i="0" lang="en" sz="1050" u="none" cap="none" strike="noStrike">
                <a:solidFill>
                  <a:srgbClr val="4424A9"/>
                </a:solidFill>
                <a:highlight>
                  <a:srgbClr val="EEF5FF"/>
                </a:highlight>
                <a:latin typeface="Fira Code"/>
                <a:ea typeface="Fira Code"/>
                <a:cs typeface="Fira Code"/>
                <a:sym typeface="Fira Code"/>
              </a:rPr>
              <a:t>PARTITION BY</a:t>
            </a:r>
            <a:r>
              <a:rPr b="0" i="0" lang="en" sz="1350" u="none" cap="none" strike="noStrike">
                <a:solidFill>
                  <a:srgbClr val="2D2D2D"/>
                </a:solidFill>
                <a:latin typeface="Arial"/>
                <a:ea typeface="Arial"/>
                <a:cs typeface="Arial"/>
                <a:sym typeface="Arial"/>
              </a:rPr>
              <a:t> clause, the entire result set is the partition.</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48"/>
          <p:cNvSpPr txBox="1"/>
          <p:nvPr>
            <p:ph type="title"/>
          </p:nvPr>
        </p:nvSpPr>
        <p:spPr>
          <a:xfrm>
            <a:off x="457200" y="41147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4500"/>
              </a:spcBef>
              <a:spcAft>
                <a:spcPts val="0"/>
              </a:spcAft>
              <a:buSzPts val="3000"/>
              <a:buNone/>
            </a:pPr>
            <a:r>
              <a:rPr b="1" lang="en" sz="2650">
                <a:solidFill>
                  <a:schemeClr val="dk1"/>
                </a:solidFill>
                <a:latin typeface="Arial"/>
                <a:ea typeface="Arial"/>
                <a:cs typeface="Arial"/>
                <a:sym typeface="Arial"/>
              </a:rPr>
              <a:t>WINDOW FUNCTIONS</a:t>
            </a:r>
            <a:endParaRPr b="1" sz="2650">
              <a:solidFill>
                <a:schemeClr val="dk1"/>
              </a:solidFill>
              <a:latin typeface="Arial"/>
              <a:ea typeface="Arial"/>
              <a:cs typeface="Arial"/>
              <a:sym typeface="Arial"/>
            </a:endParaRPr>
          </a:p>
          <a:p>
            <a:pPr indent="0" lvl="0" marL="0" rtl="0" algn="l">
              <a:lnSpc>
                <a:spcPct val="100000"/>
              </a:lnSpc>
              <a:spcBef>
                <a:spcPts val="2300"/>
              </a:spcBef>
              <a:spcAft>
                <a:spcPts val="0"/>
              </a:spcAft>
              <a:buSzPts val="3000"/>
              <a:buNone/>
            </a:pPr>
            <a:r>
              <a:t/>
            </a:r>
            <a:endParaRPr/>
          </a:p>
        </p:txBody>
      </p:sp>
      <p:sp>
        <p:nvSpPr>
          <p:cNvPr id="757" name="Google Shape;757;p48"/>
          <p:cNvSpPr txBox="1"/>
          <p:nvPr/>
        </p:nvSpPr>
        <p:spPr>
          <a:xfrm>
            <a:off x="457200" y="783025"/>
            <a:ext cx="3949200" cy="2862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2000"/>
              <a:buFont typeface="Arial"/>
              <a:buNone/>
            </a:pPr>
            <a:r>
              <a:rPr b="1" i="0" lang="en" sz="2000" u="none" cap="none" strike="noStrike">
                <a:solidFill>
                  <a:schemeClr val="dk1"/>
                </a:solidFill>
                <a:latin typeface="Arial"/>
                <a:ea typeface="Arial"/>
                <a:cs typeface="Arial"/>
                <a:sym typeface="Arial"/>
              </a:rPr>
              <a:t>Syntax</a:t>
            </a:r>
            <a:endParaRPr b="1" i="0" sz="2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0" i="0" lang="en" sz="1200" u="none" cap="none" strike="noStrike">
                <a:solidFill>
                  <a:srgbClr val="0078FF"/>
                </a:solidFill>
                <a:highlight>
                  <a:srgbClr val="F5F5F5"/>
                </a:highlight>
                <a:latin typeface="Arial"/>
                <a:ea typeface="Arial"/>
                <a:cs typeface="Arial"/>
                <a:sym typeface="Arial"/>
              </a:rPr>
              <a:t>SELECT</a:t>
            </a:r>
            <a:r>
              <a:rPr b="0" i="0" lang="en" sz="1200" u="none" cap="none" strike="noStrike">
                <a:solidFill>
                  <a:srgbClr val="333333"/>
                </a:solidFill>
                <a:highlight>
                  <a:srgbClr val="F5F5F5"/>
                </a:highlight>
                <a:latin typeface="Arial"/>
                <a:ea typeface="Arial"/>
                <a:cs typeface="Arial"/>
                <a:sym typeface="Arial"/>
              </a:rPr>
              <a:t> &lt;column_1&gt;, &lt;column_2&gt;,</a:t>
            </a:r>
            <a:endParaRPr b="0" i="0" sz="1200" u="none" cap="none" strike="noStrike">
              <a:solidFill>
                <a:srgbClr val="333333"/>
              </a:solidFill>
              <a:highlight>
                <a:srgbClr val="F5F5F5"/>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FF8B2F"/>
                </a:solidFill>
                <a:highlight>
                  <a:srgbClr val="F5F5F5"/>
                </a:highlight>
                <a:latin typeface="Arial"/>
                <a:ea typeface="Arial"/>
                <a:cs typeface="Arial"/>
                <a:sym typeface="Arial"/>
              </a:rPr>
              <a:t>&lt;window_function&gt;</a:t>
            </a: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0078FF"/>
                </a:solidFill>
                <a:highlight>
                  <a:srgbClr val="F5F5F5"/>
                </a:highlight>
                <a:latin typeface="Arial"/>
                <a:ea typeface="Arial"/>
                <a:cs typeface="Arial"/>
                <a:sym typeface="Arial"/>
              </a:rPr>
              <a:t>OVER</a:t>
            </a:r>
            <a:r>
              <a:rPr b="0" i="0" lang="en" sz="1200" u="none" cap="none" strike="noStrike">
                <a:solidFill>
                  <a:srgbClr val="333333"/>
                </a:solidFill>
                <a:highlight>
                  <a:srgbClr val="F5F5F5"/>
                </a:highlight>
                <a:latin typeface="Arial"/>
                <a:ea typeface="Arial"/>
                <a:cs typeface="Arial"/>
                <a:sym typeface="Arial"/>
              </a:rPr>
              <a:t> (</a:t>
            </a:r>
            <a:endParaRPr b="0" i="0" sz="1200" u="none" cap="none" strike="noStrike">
              <a:solidFill>
                <a:srgbClr val="333333"/>
              </a:solidFill>
              <a:highlight>
                <a:srgbClr val="F5F5F5"/>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0078FF"/>
                </a:solidFill>
                <a:highlight>
                  <a:srgbClr val="F5F5F5"/>
                </a:highlight>
                <a:latin typeface="Arial"/>
                <a:ea typeface="Arial"/>
                <a:cs typeface="Arial"/>
                <a:sym typeface="Arial"/>
              </a:rPr>
              <a:t>PARTITION BY</a:t>
            </a:r>
            <a:r>
              <a:rPr b="0" i="0" lang="en" sz="1200" u="none" cap="none" strike="noStrike">
                <a:solidFill>
                  <a:srgbClr val="333333"/>
                </a:solidFill>
                <a:highlight>
                  <a:srgbClr val="F5F5F5"/>
                </a:highlight>
                <a:latin typeface="Arial"/>
                <a:ea typeface="Arial"/>
                <a:cs typeface="Arial"/>
                <a:sym typeface="Arial"/>
              </a:rPr>
              <a:t> &lt;...&gt;</a:t>
            </a:r>
            <a:endParaRPr b="0" i="0" sz="1200" u="none" cap="none" strike="noStrike">
              <a:solidFill>
                <a:srgbClr val="333333"/>
              </a:solidFill>
              <a:highlight>
                <a:srgbClr val="F5F5F5"/>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0078FF"/>
                </a:solidFill>
                <a:highlight>
                  <a:srgbClr val="F5F5F5"/>
                </a:highlight>
                <a:latin typeface="Arial"/>
                <a:ea typeface="Arial"/>
                <a:cs typeface="Arial"/>
                <a:sym typeface="Arial"/>
              </a:rPr>
              <a:t>ORDER BY</a:t>
            </a:r>
            <a:r>
              <a:rPr b="0" i="0" lang="en" sz="1200" u="none" cap="none" strike="noStrike">
                <a:solidFill>
                  <a:srgbClr val="333333"/>
                </a:solidFill>
                <a:highlight>
                  <a:srgbClr val="F5F5F5"/>
                </a:highlight>
                <a:latin typeface="Arial"/>
                <a:ea typeface="Arial"/>
                <a:cs typeface="Arial"/>
                <a:sym typeface="Arial"/>
              </a:rPr>
              <a:t> &lt;...&gt;</a:t>
            </a:r>
            <a:endParaRPr b="0" i="0" sz="1200" u="none" cap="none" strike="noStrike">
              <a:solidFill>
                <a:srgbClr val="333333"/>
              </a:solidFill>
              <a:highlight>
                <a:srgbClr val="F5F5F5"/>
              </a:highlight>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0078FF"/>
                </a:solidFill>
                <a:highlight>
                  <a:srgbClr val="F5F5F5"/>
                </a:highlight>
                <a:latin typeface="Arial"/>
                <a:ea typeface="Arial"/>
                <a:cs typeface="Arial"/>
                <a:sym typeface="Arial"/>
              </a:rPr>
              <a:t>&lt;window_frame&gt;</a:t>
            </a:r>
            <a:r>
              <a:rPr b="0" i="0" lang="en" sz="1200" u="none" cap="none" strike="noStrike">
                <a:solidFill>
                  <a:srgbClr val="333333"/>
                </a:solidFill>
                <a:highlight>
                  <a:srgbClr val="F5F5F5"/>
                </a:highlight>
                <a:latin typeface="Arial"/>
                <a:ea typeface="Arial"/>
                <a:cs typeface="Arial"/>
                <a:sym typeface="Arial"/>
              </a:rPr>
              <a:t>) &lt;window_column_alias&gt;</a:t>
            </a:r>
            <a:endParaRPr b="0" i="0" sz="12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1400"/>
              </a:spcBef>
              <a:spcAft>
                <a:spcPts val="800"/>
              </a:spcAft>
              <a:buClr>
                <a:srgbClr val="000000"/>
              </a:buClr>
              <a:buSzPts val="1200"/>
              <a:buFont typeface="Arial"/>
              <a:buNone/>
            </a:pPr>
            <a:r>
              <a:rPr b="0" i="0" lang="en" sz="1200" u="none" cap="none" strike="noStrike">
                <a:solidFill>
                  <a:srgbClr val="0078FF"/>
                </a:solidFill>
                <a:highlight>
                  <a:srgbClr val="F5F5F5"/>
                </a:highlight>
                <a:latin typeface="Arial"/>
                <a:ea typeface="Arial"/>
                <a:cs typeface="Arial"/>
                <a:sym typeface="Arial"/>
              </a:rPr>
              <a:t>FROM</a:t>
            </a:r>
            <a:r>
              <a:rPr b="0" i="0" lang="en" sz="1200" u="none" cap="none" strike="noStrike">
                <a:solidFill>
                  <a:srgbClr val="333333"/>
                </a:solidFill>
                <a:highlight>
                  <a:srgbClr val="F5F5F5"/>
                </a:highlight>
                <a:latin typeface="Arial"/>
                <a:ea typeface="Arial"/>
                <a:cs typeface="Arial"/>
                <a:sym typeface="Arial"/>
              </a:rPr>
              <a:t> &lt;table_name&gt;;</a:t>
            </a:r>
            <a:endParaRPr b="1" i="0" sz="1550" u="none" cap="none" strike="noStrike">
              <a:solidFill>
                <a:schemeClr val="dk1"/>
              </a:solidFill>
              <a:latin typeface="Arial"/>
              <a:ea typeface="Arial"/>
              <a:cs typeface="Arial"/>
              <a:sym typeface="Arial"/>
            </a:endParaRPr>
          </a:p>
        </p:txBody>
      </p:sp>
      <p:sp>
        <p:nvSpPr>
          <p:cNvPr id="758" name="Google Shape;758;p48"/>
          <p:cNvSpPr txBox="1"/>
          <p:nvPr/>
        </p:nvSpPr>
        <p:spPr>
          <a:xfrm>
            <a:off x="4717500" y="706275"/>
            <a:ext cx="4426500" cy="3154800"/>
          </a:xfrm>
          <a:prstGeom prst="rect">
            <a:avLst/>
          </a:prstGeom>
          <a:solidFill>
            <a:schemeClr val="lt2"/>
          </a:solidFill>
          <a:ln>
            <a:noFill/>
          </a:ln>
        </p:spPr>
        <p:txBody>
          <a:bodyPr anchorCtr="0" anchor="t" bIns="91425" lIns="91425" spcFirstLastPara="1" rIns="91425" wrap="square" tIns="91425">
            <a:spAutoFit/>
          </a:bodyPr>
          <a:lstStyle/>
          <a:p>
            <a:pPr indent="0" lvl="0" marL="88900" marR="88900" rtl="0" algn="l">
              <a:lnSpc>
                <a:spcPct val="142857"/>
              </a:lnSpc>
              <a:spcBef>
                <a:spcPts val="0"/>
              </a:spcBef>
              <a:spcAft>
                <a:spcPts val="0"/>
              </a:spcAft>
              <a:buClr>
                <a:srgbClr val="000000"/>
              </a:buClr>
              <a:buSzPts val="2200"/>
              <a:buFont typeface="Arial"/>
              <a:buNone/>
            </a:pPr>
            <a:r>
              <a:t/>
            </a:r>
            <a:endParaRPr b="1" i="0" sz="2200" u="none" cap="none" strike="noStrike">
              <a:solidFill>
                <a:schemeClr val="dk1"/>
              </a:solidFill>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200"/>
              <a:buFont typeface="Arial"/>
              <a:buNone/>
            </a:pPr>
            <a:r>
              <a:rPr b="0" i="0" lang="en" sz="1200" u="none" cap="none" strike="noStrike">
                <a:solidFill>
                  <a:srgbClr val="0078FF"/>
                </a:solidFill>
                <a:highlight>
                  <a:srgbClr val="F5F5F5"/>
                </a:highlight>
                <a:latin typeface="Arial"/>
                <a:ea typeface="Arial"/>
                <a:cs typeface="Arial"/>
                <a:sym typeface="Arial"/>
              </a:rPr>
              <a:t>SELECT</a:t>
            </a:r>
            <a:r>
              <a:rPr b="0" i="0" lang="en" sz="1200" u="none" cap="none" strike="noStrike">
                <a:solidFill>
                  <a:srgbClr val="333333"/>
                </a:solidFill>
                <a:highlight>
                  <a:srgbClr val="F5F5F5"/>
                </a:highlight>
                <a:latin typeface="Arial"/>
                <a:ea typeface="Arial"/>
                <a:cs typeface="Arial"/>
                <a:sym typeface="Arial"/>
              </a:rPr>
              <a:t> staff_id, payment_date, </a:t>
            </a:r>
            <a:endParaRPr b="0" i="0" sz="12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FF8B2F"/>
                </a:solidFill>
                <a:highlight>
                  <a:srgbClr val="F5F5F5"/>
                </a:highlight>
                <a:latin typeface="Arial"/>
                <a:ea typeface="Arial"/>
                <a:cs typeface="Arial"/>
                <a:sym typeface="Arial"/>
              </a:rPr>
              <a:t>sum</a:t>
            </a:r>
            <a:r>
              <a:rPr b="0" i="0" lang="en" sz="1200" u="none" cap="none" strike="noStrike">
                <a:solidFill>
                  <a:srgbClr val="333333"/>
                </a:solidFill>
                <a:highlight>
                  <a:srgbClr val="F5F5F5"/>
                </a:highlight>
                <a:latin typeface="Arial"/>
                <a:ea typeface="Arial"/>
                <a:cs typeface="Arial"/>
                <a:sym typeface="Arial"/>
              </a:rPr>
              <a:t>(sold) </a:t>
            </a:r>
            <a:r>
              <a:rPr b="1" i="0" lang="en" sz="1200" u="none" cap="none" strike="noStrike">
                <a:solidFill>
                  <a:srgbClr val="0078FF"/>
                </a:solidFill>
                <a:highlight>
                  <a:srgbClr val="F5F5F5"/>
                </a:highlight>
                <a:latin typeface="Arial"/>
                <a:ea typeface="Arial"/>
                <a:cs typeface="Arial"/>
                <a:sym typeface="Arial"/>
              </a:rPr>
              <a:t>OVER</a:t>
            </a:r>
            <a:r>
              <a:rPr b="0" i="0" lang="en" sz="1200" u="none" cap="none" strike="noStrike">
                <a:solidFill>
                  <a:srgbClr val="333333"/>
                </a:solidFill>
                <a:highlight>
                  <a:srgbClr val="F5F5F5"/>
                </a:highlight>
                <a:latin typeface="Arial"/>
                <a:ea typeface="Arial"/>
                <a:cs typeface="Arial"/>
                <a:sym typeface="Arial"/>
              </a:rPr>
              <a:t> (</a:t>
            </a:r>
            <a:endParaRPr b="0" i="0" sz="12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0078FF"/>
                </a:solidFill>
                <a:highlight>
                  <a:srgbClr val="F5F5F5"/>
                </a:highlight>
                <a:latin typeface="Arial"/>
                <a:ea typeface="Arial"/>
                <a:cs typeface="Arial"/>
                <a:sym typeface="Arial"/>
              </a:rPr>
              <a:t>PARTITION BY</a:t>
            </a:r>
            <a:r>
              <a:rPr b="0" i="0" lang="en" sz="1200" u="none" cap="none" strike="noStrike">
                <a:solidFill>
                  <a:srgbClr val="333333"/>
                </a:solidFill>
                <a:highlight>
                  <a:srgbClr val="F5F5F5"/>
                </a:highlight>
                <a:latin typeface="Arial"/>
                <a:ea typeface="Arial"/>
                <a:cs typeface="Arial"/>
                <a:sym typeface="Arial"/>
              </a:rPr>
              <a:t> city </a:t>
            </a:r>
            <a:endParaRPr b="0" i="0" sz="12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0078FF"/>
                </a:solidFill>
                <a:highlight>
                  <a:srgbClr val="F5F5F5"/>
                </a:highlight>
                <a:latin typeface="Arial"/>
                <a:ea typeface="Arial"/>
                <a:cs typeface="Arial"/>
                <a:sym typeface="Arial"/>
              </a:rPr>
              <a:t>ORDER BY</a:t>
            </a:r>
            <a:r>
              <a:rPr b="0" i="0" lang="en" sz="1200" u="none" cap="none" strike="noStrike">
                <a:solidFill>
                  <a:srgbClr val="333333"/>
                </a:solidFill>
                <a:highlight>
                  <a:srgbClr val="F5F5F5"/>
                </a:highlight>
                <a:latin typeface="Arial"/>
                <a:ea typeface="Arial"/>
                <a:cs typeface="Arial"/>
                <a:sym typeface="Arial"/>
              </a:rPr>
              <a:t> payment_date</a:t>
            </a:r>
            <a:endParaRPr b="0" i="0" sz="12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200"/>
              <a:buFont typeface="Arial"/>
              <a:buNone/>
            </a:pPr>
            <a:r>
              <a:rPr b="0" i="0" lang="en" sz="1200" u="none" cap="none" strike="noStrike">
                <a:solidFill>
                  <a:srgbClr val="333333"/>
                </a:solidFill>
                <a:highlight>
                  <a:srgbClr val="F5F5F5"/>
                </a:highlight>
                <a:latin typeface="Arial"/>
                <a:ea typeface="Arial"/>
                <a:cs typeface="Arial"/>
                <a:sym typeface="Arial"/>
              </a:rPr>
              <a:t>    </a:t>
            </a:r>
            <a:r>
              <a:rPr b="1" i="0" lang="en" sz="1200" u="none" cap="none" strike="noStrike">
                <a:solidFill>
                  <a:srgbClr val="0078FF"/>
                </a:solidFill>
                <a:highlight>
                  <a:srgbClr val="F5F5F5"/>
                </a:highlight>
                <a:latin typeface="Arial"/>
                <a:ea typeface="Arial"/>
                <a:cs typeface="Arial"/>
                <a:sym typeface="Arial"/>
              </a:rPr>
              <a:t>RANGE UNBOUNDED PRECEDING</a:t>
            </a:r>
            <a:r>
              <a:rPr b="0" i="0" lang="en" sz="1200" u="none" cap="none" strike="noStrike">
                <a:solidFill>
                  <a:srgbClr val="333333"/>
                </a:solidFill>
                <a:highlight>
                  <a:srgbClr val="F5F5F5"/>
                </a:highlight>
                <a:latin typeface="Arial"/>
                <a:ea typeface="Arial"/>
                <a:cs typeface="Arial"/>
                <a:sym typeface="Arial"/>
              </a:rPr>
              <a:t>) total_daily_sales</a:t>
            </a:r>
            <a:endParaRPr b="0" i="0" sz="12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0"/>
              </a:spcAft>
              <a:buClr>
                <a:srgbClr val="000000"/>
              </a:buClr>
              <a:buSzPts val="1200"/>
              <a:buFont typeface="Arial"/>
              <a:buNone/>
            </a:pPr>
            <a:r>
              <a:rPr b="0" i="0" lang="en" sz="1200" u="none" cap="none" strike="noStrike">
                <a:solidFill>
                  <a:srgbClr val="0078FF"/>
                </a:solidFill>
                <a:highlight>
                  <a:srgbClr val="F5F5F5"/>
                </a:highlight>
                <a:latin typeface="Arial"/>
                <a:ea typeface="Arial"/>
                <a:cs typeface="Arial"/>
                <a:sym typeface="Arial"/>
              </a:rPr>
              <a:t>FROM</a:t>
            </a:r>
            <a:r>
              <a:rPr b="0" i="0" lang="en" sz="1200" u="none" cap="none" strike="noStrike">
                <a:solidFill>
                  <a:srgbClr val="333333"/>
                </a:solidFill>
                <a:highlight>
                  <a:srgbClr val="F5F5F5"/>
                </a:highlight>
                <a:latin typeface="Arial"/>
                <a:ea typeface="Arial"/>
                <a:cs typeface="Arial"/>
                <a:sym typeface="Arial"/>
              </a:rPr>
              <a:t> payment;</a:t>
            </a:r>
            <a:endParaRPr b="0" i="0" sz="1200" u="none" cap="none" strike="noStrike">
              <a:solidFill>
                <a:srgbClr val="333333"/>
              </a:solidFill>
              <a:highlight>
                <a:srgbClr val="F5F5F5"/>
              </a:highlight>
              <a:latin typeface="Arial"/>
              <a:ea typeface="Arial"/>
              <a:cs typeface="Arial"/>
              <a:sym typeface="Arial"/>
            </a:endParaRPr>
          </a:p>
          <a:p>
            <a:pPr indent="0" lvl="0" marL="88900" marR="88900" rtl="0" algn="l">
              <a:lnSpc>
                <a:spcPct val="142857"/>
              </a:lnSpc>
              <a:spcBef>
                <a:spcPts val="800"/>
              </a:spcBef>
              <a:spcAft>
                <a:spcPts val="800"/>
              </a:spcAft>
              <a:buClr>
                <a:srgbClr val="000000"/>
              </a:buClr>
              <a:buSzPts val="1200"/>
              <a:buFont typeface="Arial"/>
              <a:buNone/>
            </a:pPr>
            <a:r>
              <a:t/>
            </a:r>
            <a:endParaRPr b="0" i="0" sz="1200" u="none" cap="none" strike="noStrike">
              <a:solidFill>
                <a:srgbClr val="0078FF"/>
              </a:solidFill>
              <a:highlight>
                <a:srgbClr val="F5F5F5"/>
              </a:highlight>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49"/>
          <p:cNvSpPr txBox="1"/>
          <p:nvPr>
            <p:ph type="title"/>
          </p:nvPr>
        </p:nvSpPr>
        <p:spPr>
          <a:xfrm>
            <a:off x="457200" y="16582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SzPts val="3000"/>
              <a:buNone/>
            </a:pPr>
            <a:r>
              <a:rPr b="1" lang="en" sz="3300">
                <a:solidFill>
                  <a:schemeClr val="dk1"/>
                </a:solidFill>
                <a:latin typeface="Arial"/>
                <a:ea typeface="Arial"/>
                <a:cs typeface="Arial"/>
                <a:sym typeface="Arial"/>
              </a:rPr>
              <a:t>ORDER BY</a:t>
            </a:r>
            <a:endParaRPr b="1" sz="2650">
              <a:solidFill>
                <a:schemeClr val="dk1"/>
              </a:solidFill>
              <a:latin typeface="Arial"/>
              <a:ea typeface="Arial"/>
              <a:cs typeface="Arial"/>
              <a:sym typeface="Arial"/>
            </a:endParaRPr>
          </a:p>
          <a:p>
            <a:pPr indent="0" lvl="0" marL="0" rtl="0" algn="l">
              <a:lnSpc>
                <a:spcPct val="100000"/>
              </a:lnSpc>
              <a:spcBef>
                <a:spcPts val="400"/>
              </a:spcBef>
              <a:spcAft>
                <a:spcPts val="0"/>
              </a:spcAft>
              <a:buSzPts val="3000"/>
              <a:buNone/>
            </a:pPr>
            <a:r>
              <a:t/>
            </a:r>
            <a:endParaRPr/>
          </a:p>
        </p:txBody>
      </p:sp>
      <p:sp>
        <p:nvSpPr>
          <p:cNvPr id="764" name="Google Shape;764;p49"/>
          <p:cNvSpPr txBox="1"/>
          <p:nvPr/>
        </p:nvSpPr>
        <p:spPr>
          <a:xfrm>
            <a:off x="457200" y="647325"/>
            <a:ext cx="8493900" cy="338700"/>
          </a:xfrm>
          <a:prstGeom prst="rect">
            <a:avLst/>
          </a:prstGeom>
          <a:noFill/>
          <a:ln>
            <a:noFill/>
          </a:ln>
        </p:spPr>
        <p:txBody>
          <a:bodyPr anchorCtr="0" anchor="t" bIns="91425" lIns="91425" spcFirstLastPara="1" rIns="91425" wrap="square" tIns="91425">
            <a:spAutoFit/>
          </a:bodyPr>
          <a:lstStyle/>
          <a:p>
            <a:pPr indent="0" lvl="0" marL="88900" marR="88900" rtl="0" algn="l">
              <a:lnSpc>
                <a:spcPct val="142857"/>
              </a:lnSpc>
              <a:spcBef>
                <a:spcPts val="0"/>
              </a:spcBef>
              <a:spcAft>
                <a:spcPts val="800"/>
              </a:spcAft>
              <a:buClr>
                <a:srgbClr val="000000"/>
              </a:buClr>
              <a:buSzPts val="1000"/>
              <a:buFont typeface="Arial"/>
              <a:buNone/>
            </a:pPr>
            <a:r>
              <a:t/>
            </a:r>
            <a:endParaRPr b="0" i="0" sz="1000" u="none" cap="none" strike="noStrike">
              <a:solidFill>
                <a:srgbClr val="0078FF"/>
              </a:solidFill>
              <a:highlight>
                <a:srgbClr val="F5F5F5"/>
              </a:highlight>
              <a:latin typeface="Arial"/>
              <a:ea typeface="Arial"/>
              <a:cs typeface="Arial"/>
              <a:sym typeface="Arial"/>
            </a:endParaRPr>
          </a:p>
        </p:txBody>
      </p:sp>
      <p:sp>
        <p:nvSpPr>
          <p:cNvPr id="765" name="Google Shape;765;p49"/>
          <p:cNvSpPr txBox="1"/>
          <p:nvPr/>
        </p:nvSpPr>
        <p:spPr>
          <a:xfrm>
            <a:off x="633750" y="4416750"/>
            <a:ext cx="78765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1400"/>
              </a:spcAft>
              <a:buClr>
                <a:srgbClr val="000000"/>
              </a:buClr>
              <a:buSzPts val="1350"/>
              <a:buFont typeface="Arial"/>
              <a:buNone/>
            </a:pPr>
            <a:r>
              <a:rPr b="1" i="0" lang="en" sz="1350" u="none" cap="none" strike="noStrike">
                <a:solidFill>
                  <a:srgbClr val="2D2D2D"/>
                </a:solidFill>
                <a:latin typeface="Arial"/>
                <a:ea typeface="Arial"/>
                <a:cs typeface="Arial"/>
                <a:sym typeface="Arial"/>
              </a:rPr>
              <a:t>Default ORDER BY:</a:t>
            </a:r>
            <a:r>
              <a:rPr b="0" i="0" lang="en" sz="1350" u="none" cap="none" strike="noStrike">
                <a:solidFill>
                  <a:srgbClr val="2D2D2D"/>
                </a:solidFill>
                <a:latin typeface="Arial"/>
                <a:ea typeface="Arial"/>
                <a:cs typeface="Arial"/>
                <a:sym typeface="Arial"/>
              </a:rPr>
              <a:t> With no </a:t>
            </a:r>
            <a:r>
              <a:rPr b="0" i="0" lang="en" sz="1050" u="none" cap="none" strike="noStrike">
                <a:solidFill>
                  <a:srgbClr val="4424A9"/>
                </a:solidFill>
                <a:highlight>
                  <a:srgbClr val="EEF5FF"/>
                </a:highlight>
                <a:latin typeface="Fira Code"/>
                <a:ea typeface="Fira Code"/>
                <a:cs typeface="Fira Code"/>
                <a:sym typeface="Fira Code"/>
              </a:rPr>
              <a:t>ORDER BY</a:t>
            </a:r>
            <a:r>
              <a:rPr b="0" i="0" lang="en" sz="1350" u="none" cap="none" strike="noStrike">
                <a:solidFill>
                  <a:srgbClr val="2D2D2D"/>
                </a:solidFill>
                <a:latin typeface="Arial"/>
                <a:ea typeface="Arial"/>
                <a:cs typeface="Arial"/>
                <a:sym typeface="Arial"/>
              </a:rPr>
              <a:t> clause, the order of rows within each partition is arbitrary.</a:t>
            </a:r>
            <a:endParaRPr b="0" i="0" sz="1050" u="none" cap="none" strike="noStrike">
              <a:solidFill>
                <a:srgbClr val="4424A9"/>
              </a:solidFill>
              <a:highlight>
                <a:srgbClr val="EEF5FF"/>
              </a:highlight>
              <a:latin typeface="Fira Code"/>
              <a:ea typeface="Fira Code"/>
              <a:cs typeface="Fira Code"/>
              <a:sym typeface="Fira Code"/>
            </a:endParaRPr>
          </a:p>
        </p:txBody>
      </p:sp>
      <p:sp>
        <p:nvSpPr>
          <p:cNvPr id="766" name="Google Shape;766;p49"/>
          <p:cNvSpPr txBox="1"/>
          <p:nvPr/>
        </p:nvSpPr>
        <p:spPr>
          <a:xfrm>
            <a:off x="445250" y="690925"/>
            <a:ext cx="84939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1400"/>
              </a:spcAft>
              <a:buClr>
                <a:srgbClr val="000000"/>
              </a:buClr>
              <a:buSzPts val="1350"/>
              <a:buFont typeface="Arial"/>
              <a:buNone/>
            </a:pPr>
            <a:r>
              <a:rPr b="0" i="0" lang="en" sz="1350" u="none" cap="none" strike="noStrike">
                <a:solidFill>
                  <a:srgbClr val="2D2D2D"/>
                </a:solidFill>
                <a:latin typeface="Arial"/>
                <a:ea typeface="Arial"/>
                <a:cs typeface="Arial"/>
                <a:sym typeface="Arial"/>
              </a:rPr>
              <a:t>ORDER BY specifies the order of rows in each partition to which the window function is applied.</a:t>
            </a:r>
            <a:endParaRPr b="0" i="0" sz="1400" u="none" cap="none" strike="noStrike">
              <a:solidFill>
                <a:srgbClr val="000000"/>
              </a:solidFill>
              <a:latin typeface="Roboto"/>
              <a:ea typeface="Roboto"/>
              <a:cs typeface="Roboto"/>
              <a:sym typeface="Roboto"/>
            </a:endParaRPr>
          </a:p>
        </p:txBody>
      </p:sp>
      <p:pic>
        <p:nvPicPr>
          <p:cNvPr id="767" name="Google Shape;767;p49"/>
          <p:cNvPicPr preferRelativeResize="0"/>
          <p:nvPr/>
        </p:nvPicPr>
        <p:blipFill rotWithShape="1">
          <a:blip r:embed="rId3">
            <a:alphaModFix/>
          </a:blip>
          <a:srcRect b="0" l="0" r="0" t="0"/>
          <a:stretch/>
        </p:blipFill>
        <p:spPr>
          <a:xfrm>
            <a:off x="720475" y="1235725"/>
            <a:ext cx="6750883" cy="30286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50"/>
          <p:cNvSpPr txBox="1"/>
          <p:nvPr>
            <p:ph type="title"/>
          </p:nvPr>
        </p:nvSpPr>
        <p:spPr>
          <a:xfrm>
            <a:off x="457200" y="16582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SzPts val="3000"/>
              <a:buNone/>
            </a:pPr>
            <a:r>
              <a:rPr b="1" lang="en" sz="3300">
                <a:solidFill>
                  <a:schemeClr val="dk1"/>
                </a:solidFill>
                <a:latin typeface="Arial"/>
                <a:ea typeface="Arial"/>
                <a:cs typeface="Arial"/>
                <a:sym typeface="Arial"/>
              </a:rPr>
              <a:t>Window Frame</a:t>
            </a:r>
            <a:endParaRPr b="1" sz="3300">
              <a:solidFill>
                <a:schemeClr val="dk1"/>
              </a:solidFill>
              <a:latin typeface="Arial"/>
              <a:ea typeface="Arial"/>
              <a:cs typeface="Arial"/>
              <a:sym typeface="Arial"/>
            </a:endParaRPr>
          </a:p>
          <a:p>
            <a:pPr indent="0" lvl="0" marL="0" rtl="0" algn="l">
              <a:lnSpc>
                <a:spcPct val="100000"/>
              </a:lnSpc>
              <a:spcBef>
                <a:spcPts val="400"/>
              </a:spcBef>
              <a:spcAft>
                <a:spcPts val="0"/>
              </a:spcAft>
              <a:buSzPts val="3000"/>
              <a:buNone/>
            </a:pPr>
            <a:r>
              <a:t/>
            </a:r>
            <a:endParaRPr/>
          </a:p>
        </p:txBody>
      </p:sp>
      <p:sp>
        <p:nvSpPr>
          <p:cNvPr id="773" name="Google Shape;773;p50"/>
          <p:cNvSpPr txBox="1"/>
          <p:nvPr/>
        </p:nvSpPr>
        <p:spPr>
          <a:xfrm>
            <a:off x="457200" y="647325"/>
            <a:ext cx="8493900" cy="338700"/>
          </a:xfrm>
          <a:prstGeom prst="rect">
            <a:avLst/>
          </a:prstGeom>
          <a:noFill/>
          <a:ln>
            <a:noFill/>
          </a:ln>
        </p:spPr>
        <p:txBody>
          <a:bodyPr anchorCtr="0" anchor="t" bIns="91425" lIns="91425" spcFirstLastPara="1" rIns="91425" wrap="square" tIns="91425">
            <a:spAutoFit/>
          </a:bodyPr>
          <a:lstStyle/>
          <a:p>
            <a:pPr indent="0" lvl="0" marL="88900" marR="88900" rtl="0" algn="l">
              <a:lnSpc>
                <a:spcPct val="142857"/>
              </a:lnSpc>
              <a:spcBef>
                <a:spcPts val="0"/>
              </a:spcBef>
              <a:spcAft>
                <a:spcPts val="800"/>
              </a:spcAft>
              <a:buClr>
                <a:srgbClr val="000000"/>
              </a:buClr>
              <a:buSzPts val="1000"/>
              <a:buFont typeface="Arial"/>
              <a:buNone/>
            </a:pPr>
            <a:r>
              <a:t/>
            </a:r>
            <a:endParaRPr b="0" i="0" sz="1000" u="none" cap="none" strike="noStrike">
              <a:solidFill>
                <a:srgbClr val="0078FF"/>
              </a:solidFill>
              <a:highlight>
                <a:srgbClr val="F5F5F5"/>
              </a:highlight>
              <a:latin typeface="Arial"/>
              <a:ea typeface="Arial"/>
              <a:cs typeface="Arial"/>
              <a:sym typeface="Arial"/>
            </a:endParaRPr>
          </a:p>
        </p:txBody>
      </p:sp>
      <p:sp>
        <p:nvSpPr>
          <p:cNvPr id="774" name="Google Shape;774;p50"/>
          <p:cNvSpPr txBox="1"/>
          <p:nvPr/>
        </p:nvSpPr>
        <p:spPr>
          <a:xfrm>
            <a:off x="633750" y="4416750"/>
            <a:ext cx="78765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1400"/>
              </a:spcAft>
              <a:buClr>
                <a:srgbClr val="000000"/>
              </a:buClr>
              <a:buSzPts val="1350"/>
              <a:buFont typeface="Arial"/>
              <a:buNone/>
            </a:pPr>
            <a:r>
              <a:rPr b="1" i="0" lang="en" sz="1350" u="none" cap="none" strike="noStrike">
                <a:solidFill>
                  <a:srgbClr val="2D2D2D"/>
                </a:solidFill>
                <a:latin typeface="Arial"/>
                <a:ea typeface="Arial"/>
                <a:cs typeface="Arial"/>
                <a:sym typeface="Arial"/>
              </a:rPr>
              <a:t>Default ORDER BY:</a:t>
            </a:r>
            <a:r>
              <a:rPr b="0" i="0" lang="en" sz="1350" u="none" cap="none" strike="noStrike">
                <a:solidFill>
                  <a:srgbClr val="2D2D2D"/>
                </a:solidFill>
                <a:latin typeface="Arial"/>
                <a:ea typeface="Arial"/>
                <a:cs typeface="Arial"/>
                <a:sym typeface="Arial"/>
              </a:rPr>
              <a:t> With no </a:t>
            </a:r>
            <a:r>
              <a:rPr b="0" i="0" lang="en" sz="1050" u="none" cap="none" strike="noStrike">
                <a:solidFill>
                  <a:srgbClr val="4424A9"/>
                </a:solidFill>
                <a:highlight>
                  <a:srgbClr val="EEF5FF"/>
                </a:highlight>
                <a:latin typeface="Fira Code"/>
                <a:ea typeface="Fira Code"/>
                <a:cs typeface="Fira Code"/>
                <a:sym typeface="Fira Code"/>
              </a:rPr>
              <a:t>ORDER BY</a:t>
            </a:r>
            <a:r>
              <a:rPr b="0" i="0" lang="en" sz="1350" u="none" cap="none" strike="noStrike">
                <a:solidFill>
                  <a:srgbClr val="2D2D2D"/>
                </a:solidFill>
                <a:latin typeface="Arial"/>
                <a:ea typeface="Arial"/>
                <a:cs typeface="Arial"/>
                <a:sym typeface="Arial"/>
              </a:rPr>
              <a:t> clause, the order of rows within each partition is arbitrary.</a:t>
            </a:r>
            <a:endParaRPr b="0" i="0" sz="1050" u="none" cap="none" strike="noStrike">
              <a:solidFill>
                <a:srgbClr val="4424A9"/>
              </a:solidFill>
              <a:highlight>
                <a:srgbClr val="EEF5FF"/>
              </a:highlight>
              <a:latin typeface="Fira Code"/>
              <a:ea typeface="Fira Code"/>
              <a:cs typeface="Fira Code"/>
              <a:sym typeface="Fira Code"/>
            </a:endParaRPr>
          </a:p>
        </p:txBody>
      </p:sp>
      <p:sp>
        <p:nvSpPr>
          <p:cNvPr id="775" name="Google Shape;775;p50"/>
          <p:cNvSpPr txBox="1"/>
          <p:nvPr/>
        </p:nvSpPr>
        <p:spPr>
          <a:xfrm>
            <a:off x="445250" y="690925"/>
            <a:ext cx="8493900" cy="1424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A </a:t>
            </a:r>
            <a:r>
              <a:rPr b="1" i="0" lang="en" sz="1350" u="none" cap="none" strike="noStrike">
                <a:solidFill>
                  <a:srgbClr val="2D2D2D"/>
                </a:solidFill>
                <a:latin typeface="Arial"/>
                <a:ea typeface="Arial"/>
                <a:cs typeface="Arial"/>
                <a:sym typeface="Arial"/>
              </a:rPr>
              <a:t>window frame</a:t>
            </a:r>
            <a:r>
              <a:rPr b="0" i="0" lang="en" sz="1350" u="none" cap="none" strike="noStrike">
                <a:solidFill>
                  <a:srgbClr val="2D2D2D"/>
                </a:solidFill>
                <a:latin typeface="Arial"/>
                <a:ea typeface="Arial"/>
                <a:cs typeface="Arial"/>
                <a:sym typeface="Arial"/>
              </a:rPr>
              <a:t> is a set of rows that are somehow related to the current row. The window frame is evaluated separately within each partition.</a:t>
            </a:r>
            <a:endParaRPr b="0" i="0" sz="1350" u="none" cap="none" strike="noStrike">
              <a:solidFill>
                <a:srgbClr val="2D2D2D"/>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140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p:txBody>
      </p:sp>
      <p:pic>
        <p:nvPicPr>
          <p:cNvPr id="776" name="Google Shape;776;p50"/>
          <p:cNvPicPr preferRelativeResize="0"/>
          <p:nvPr/>
        </p:nvPicPr>
        <p:blipFill rotWithShape="1">
          <a:blip r:embed="rId3">
            <a:alphaModFix/>
          </a:blip>
          <a:srcRect b="0" l="0" r="0" t="0"/>
          <a:stretch/>
        </p:blipFill>
        <p:spPr>
          <a:xfrm>
            <a:off x="1658200" y="1396725"/>
            <a:ext cx="5512000" cy="28562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51"/>
          <p:cNvSpPr txBox="1"/>
          <p:nvPr>
            <p:ph type="title"/>
          </p:nvPr>
        </p:nvSpPr>
        <p:spPr>
          <a:xfrm>
            <a:off x="457200" y="165825"/>
            <a:ext cx="8229600" cy="48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SzPts val="3000"/>
              <a:buNone/>
            </a:pPr>
            <a:r>
              <a:rPr b="1" lang="en" sz="3300">
                <a:solidFill>
                  <a:schemeClr val="dk1"/>
                </a:solidFill>
                <a:latin typeface="Arial"/>
                <a:ea typeface="Arial"/>
                <a:cs typeface="Arial"/>
                <a:sym typeface="Arial"/>
              </a:rPr>
              <a:t>Window Frame</a:t>
            </a:r>
            <a:endParaRPr b="1" sz="3300">
              <a:solidFill>
                <a:schemeClr val="dk1"/>
              </a:solidFill>
              <a:latin typeface="Arial"/>
              <a:ea typeface="Arial"/>
              <a:cs typeface="Arial"/>
              <a:sym typeface="Arial"/>
            </a:endParaRPr>
          </a:p>
          <a:p>
            <a:pPr indent="0" lvl="0" marL="0" rtl="0" algn="l">
              <a:lnSpc>
                <a:spcPct val="100000"/>
              </a:lnSpc>
              <a:spcBef>
                <a:spcPts val="400"/>
              </a:spcBef>
              <a:spcAft>
                <a:spcPts val="0"/>
              </a:spcAft>
              <a:buSzPts val="3000"/>
              <a:buNone/>
            </a:pPr>
            <a:r>
              <a:t/>
            </a:r>
            <a:endParaRPr/>
          </a:p>
        </p:txBody>
      </p:sp>
      <p:sp>
        <p:nvSpPr>
          <p:cNvPr id="782" name="Google Shape;782;p51"/>
          <p:cNvSpPr txBox="1"/>
          <p:nvPr/>
        </p:nvSpPr>
        <p:spPr>
          <a:xfrm>
            <a:off x="457200" y="647325"/>
            <a:ext cx="8493900" cy="338700"/>
          </a:xfrm>
          <a:prstGeom prst="rect">
            <a:avLst/>
          </a:prstGeom>
          <a:noFill/>
          <a:ln>
            <a:noFill/>
          </a:ln>
        </p:spPr>
        <p:txBody>
          <a:bodyPr anchorCtr="0" anchor="t" bIns="91425" lIns="91425" spcFirstLastPara="1" rIns="91425" wrap="square" tIns="91425">
            <a:spAutoFit/>
          </a:bodyPr>
          <a:lstStyle/>
          <a:p>
            <a:pPr indent="0" lvl="0" marL="88900" marR="88900" rtl="0" algn="l">
              <a:lnSpc>
                <a:spcPct val="142857"/>
              </a:lnSpc>
              <a:spcBef>
                <a:spcPts val="0"/>
              </a:spcBef>
              <a:spcAft>
                <a:spcPts val="800"/>
              </a:spcAft>
              <a:buClr>
                <a:srgbClr val="000000"/>
              </a:buClr>
              <a:buSzPts val="1000"/>
              <a:buFont typeface="Arial"/>
              <a:buNone/>
            </a:pPr>
            <a:r>
              <a:t/>
            </a:r>
            <a:endParaRPr b="0" i="0" sz="1000" u="none" cap="none" strike="noStrike">
              <a:solidFill>
                <a:srgbClr val="0078FF"/>
              </a:solidFill>
              <a:highlight>
                <a:srgbClr val="F5F5F5"/>
              </a:highlight>
              <a:latin typeface="Arial"/>
              <a:ea typeface="Arial"/>
              <a:cs typeface="Arial"/>
              <a:sym typeface="Arial"/>
            </a:endParaRPr>
          </a:p>
        </p:txBody>
      </p:sp>
      <p:sp>
        <p:nvSpPr>
          <p:cNvPr id="783" name="Google Shape;783;p51"/>
          <p:cNvSpPr txBox="1"/>
          <p:nvPr/>
        </p:nvSpPr>
        <p:spPr>
          <a:xfrm>
            <a:off x="633750" y="4416750"/>
            <a:ext cx="78765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1400"/>
              </a:spcAft>
              <a:buClr>
                <a:srgbClr val="000000"/>
              </a:buClr>
              <a:buSzPts val="1350"/>
              <a:buFont typeface="Arial"/>
              <a:buNone/>
            </a:pPr>
            <a:r>
              <a:rPr b="1" i="0" lang="en" sz="1350" u="none" cap="none" strike="noStrike">
                <a:solidFill>
                  <a:srgbClr val="2D2D2D"/>
                </a:solidFill>
                <a:latin typeface="Arial"/>
                <a:ea typeface="Arial"/>
                <a:cs typeface="Arial"/>
                <a:sym typeface="Arial"/>
              </a:rPr>
              <a:t>Default ORDER BY:</a:t>
            </a:r>
            <a:r>
              <a:rPr b="0" i="0" lang="en" sz="1350" u="none" cap="none" strike="noStrike">
                <a:solidFill>
                  <a:srgbClr val="2D2D2D"/>
                </a:solidFill>
                <a:latin typeface="Arial"/>
                <a:ea typeface="Arial"/>
                <a:cs typeface="Arial"/>
                <a:sym typeface="Arial"/>
              </a:rPr>
              <a:t> With no </a:t>
            </a:r>
            <a:r>
              <a:rPr b="0" i="0" lang="en" sz="1050" u="none" cap="none" strike="noStrike">
                <a:solidFill>
                  <a:srgbClr val="4424A9"/>
                </a:solidFill>
                <a:highlight>
                  <a:srgbClr val="EEF5FF"/>
                </a:highlight>
                <a:latin typeface="Fira Code"/>
                <a:ea typeface="Fira Code"/>
                <a:cs typeface="Fira Code"/>
                <a:sym typeface="Fira Code"/>
              </a:rPr>
              <a:t>ORDER BY</a:t>
            </a:r>
            <a:r>
              <a:rPr b="0" i="0" lang="en" sz="1350" u="none" cap="none" strike="noStrike">
                <a:solidFill>
                  <a:srgbClr val="2D2D2D"/>
                </a:solidFill>
                <a:latin typeface="Arial"/>
                <a:ea typeface="Arial"/>
                <a:cs typeface="Arial"/>
                <a:sym typeface="Arial"/>
              </a:rPr>
              <a:t> clause, the order of rows within each partition is arbitrary.</a:t>
            </a:r>
            <a:endParaRPr b="0" i="0" sz="1050" u="none" cap="none" strike="noStrike">
              <a:solidFill>
                <a:srgbClr val="4424A9"/>
              </a:solidFill>
              <a:highlight>
                <a:srgbClr val="EEF5FF"/>
              </a:highlight>
              <a:latin typeface="Fira Code"/>
              <a:ea typeface="Fira Code"/>
              <a:cs typeface="Fira Code"/>
              <a:sym typeface="Fira Code"/>
            </a:endParaRPr>
          </a:p>
        </p:txBody>
      </p:sp>
      <p:sp>
        <p:nvSpPr>
          <p:cNvPr id="784" name="Google Shape;784;p51"/>
          <p:cNvSpPr txBox="1"/>
          <p:nvPr/>
        </p:nvSpPr>
        <p:spPr>
          <a:xfrm>
            <a:off x="445250" y="690925"/>
            <a:ext cx="8493900" cy="372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050"/>
              <a:buFont typeface="Arial"/>
              <a:buNone/>
            </a:pPr>
            <a:r>
              <a:rPr b="0" i="0" lang="en" sz="1050" u="none" cap="none" strike="noStrike">
                <a:solidFill>
                  <a:srgbClr val="4424A9"/>
                </a:solidFill>
                <a:latin typeface="Fira Code"/>
                <a:ea typeface="Fira Code"/>
                <a:cs typeface="Fira Code"/>
                <a:sym typeface="Fira Code"/>
              </a:rPr>
              <a:t>ROWS</a:t>
            </a:r>
            <a:r>
              <a:rPr b="0" i="0" lang="en" sz="1150" u="none" cap="none" strike="noStrike">
                <a:solidFill>
                  <a:schemeClr val="dk1"/>
                </a:solidFill>
                <a:latin typeface="Fira Code"/>
                <a:ea typeface="Fira Code"/>
                <a:cs typeface="Fira Code"/>
                <a:sym typeface="Fira Code"/>
              </a:rPr>
              <a:t> </a:t>
            </a:r>
            <a:r>
              <a:rPr b="0" i="0" lang="en" sz="1050" u="none" cap="none" strike="noStrike">
                <a:solidFill>
                  <a:schemeClr val="dk1"/>
                </a:solidFill>
                <a:latin typeface="Fira Code"/>
                <a:ea typeface="Fira Code"/>
                <a:cs typeface="Fira Code"/>
                <a:sym typeface="Fira Code"/>
              </a:rPr>
              <a:t>| RANGE | GROUPS </a:t>
            </a:r>
            <a:r>
              <a:rPr b="0" i="0" lang="en" sz="1050" u="none" cap="none" strike="noStrike">
                <a:solidFill>
                  <a:srgbClr val="4424A9"/>
                </a:solidFill>
                <a:latin typeface="Fira Code"/>
                <a:ea typeface="Fira Code"/>
                <a:cs typeface="Fira Code"/>
                <a:sym typeface="Fira Code"/>
              </a:rPr>
              <a:t>BETWEEN</a:t>
            </a:r>
            <a:r>
              <a:rPr b="0" i="0" lang="en" sz="1150" u="none" cap="none" strike="noStrike">
                <a:solidFill>
                  <a:schemeClr val="dk1"/>
                </a:solidFill>
                <a:latin typeface="Fira Code"/>
                <a:ea typeface="Fira Code"/>
                <a:cs typeface="Fira Code"/>
                <a:sym typeface="Fira Code"/>
              </a:rPr>
              <a:t> </a:t>
            </a:r>
            <a:r>
              <a:rPr b="0" i="0" lang="en" sz="1050" u="none" cap="none" strike="noStrike">
                <a:solidFill>
                  <a:schemeClr val="dk1"/>
                </a:solidFill>
                <a:latin typeface="Fira Code"/>
                <a:ea typeface="Fira Code"/>
                <a:cs typeface="Fira Code"/>
                <a:sym typeface="Fira Code"/>
              </a:rPr>
              <a:t>lower_bound </a:t>
            </a:r>
            <a:r>
              <a:rPr b="0" i="0" lang="en" sz="1050" u="none" cap="none" strike="noStrike">
                <a:solidFill>
                  <a:srgbClr val="4424A9"/>
                </a:solidFill>
                <a:latin typeface="Fira Code"/>
                <a:ea typeface="Fira Code"/>
                <a:cs typeface="Fira Code"/>
                <a:sym typeface="Fira Code"/>
              </a:rPr>
              <a:t>AND</a:t>
            </a:r>
            <a:r>
              <a:rPr b="0" i="0" lang="en" sz="1150" u="none" cap="none" strike="noStrike">
                <a:solidFill>
                  <a:schemeClr val="dk1"/>
                </a:solidFill>
                <a:latin typeface="Fira Code"/>
                <a:ea typeface="Fira Code"/>
                <a:cs typeface="Fira Code"/>
                <a:sym typeface="Fira Code"/>
              </a:rPr>
              <a:t> </a:t>
            </a:r>
            <a:r>
              <a:rPr b="0" i="0" lang="en" sz="1050" u="none" cap="none" strike="noStrike">
                <a:solidFill>
                  <a:schemeClr val="dk1"/>
                </a:solidFill>
                <a:latin typeface="Fira Code"/>
                <a:ea typeface="Fira Code"/>
                <a:cs typeface="Fira Code"/>
                <a:sym typeface="Fira Code"/>
              </a:rPr>
              <a:t>upper_bound</a:t>
            </a:r>
            <a:endParaRPr b="0" i="0" sz="1050" u="none" cap="none" strike="noStrike">
              <a:solidFill>
                <a:schemeClr val="dk1"/>
              </a:solidFill>
              <a:latin typeface="Fira Code"/>
              <a:ea typeface="Fira Code"/>
              <a:cs typeface="Fira Code"/>
              <a:sym typeface="Fira Code"/>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The bounds can be any of the five options:</a:t>
            </a:r>
            <a:endParaRPr b="0" i="0" sz="1350" u="none" cap="none" strike="noStrike">
              <a:solidFill>
                <a:srgbClr val="2D2D2D"/>
              </a:solidFill>
              <a:latin typeface="Arial"/>
              <a:ea typeface="Arial"/>
              <a:cs typeface="Arial"/>
              <a:sym typeface="Arial"/>
            </a:endParaRPr>
          </a:p>
          <a:p>
            <a:pPr indent="-314325" lvl="0" marL="457200" marR="0" rtl="0" algn="l">
              <a:lnSpc>
                <a:spcPct val="115000"/>
              </a:lnSpc>
              <a:spcBef>
                <a:spcPts val="140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UNBOUNDED PRECEDING</a:t>
            </a:r>
            <a:endParaRPr b="0" i="0" sz="1050" u="none" cap="none" strike="noStrike">
              <a:solidFill>
                <a:srgbClr val="4424A9"/>
              </a:solidFill>
              <a:highlight>
                <a:srgbClr val="EEF5FF"/>
              </a:highlight>
              <a:latin typeface="Fira Code"/>
              <a:ea typeface="Fira Code"/>
              <a:cs typeface="Fira Code"/>
              <a:sym typeface="Fira Code"/>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n PRECEDING</a:t>
            </a:r>
            <a:endParaRPr b="0" i="0" sz="1050" u="none" cap="none" strike="noStrike">
              <a:solidFill>
                <a:srgbClr val="4424A9"/>
              </a:solidFill>
              <a:highlight>
                <a:srgbClr val="EEF5FF"/>
              </a:highlight>
              <a:latin typeface="Fira Code"/>
              <a:ea typeface="Fira Code"/>
              <a:cs typeface="Fira Code"/>
              <a:sym typeface="Fira Code"/>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CURRENT ROW</a:t>
            </a:r>
            <a:endParaRPr b="0" i="0" sz="1050" u="none" cap="none" strike="noStrike">
              <a:solidFill>
                <a:srgbClr val="4424A9"/>
              </a:solidFill>
              <a:highlight>
                <a:srgbClr val="EEF5FF"/>
              </a:highlight>
              <a:latin typeface="Fira Code"/>
              <a:ea typeface="Fira Code"/>
              <a:cs typeface="Fira Code"/>
              <a:sym typeface="Fira Code"/>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n FOLLOWING</a:t>
            </a:r>
            <a:endParaRPr b="0" i="0" sz="1050" u="none" cap="none" strike="noStrike">
              <a:solidFill>
                <a:srgbClr val="4424A9"/>
              </a:solidFill>
              <a:highlight>
                <a:srgbClr val="EEF5FF"/>
              </a:highlight>
              <a:latin typeface="Fira Code"/>
              <a:ea typeface="Fira Code"/>
              <a:cs typeface="Fira Code"/>
              <a:sym typeface="Fira Code"/>
            </a:endParaRPr>
          </a:p>
          <a:p>
            <a:pPr indent="-314325" lvl="0" marL="457200" marR="0" rtl="0" algn="l">
              <a:lnSpc>
                <a:spcPct val="115000"/>
              </a:lnSpc>
              <a:spcBef>
                <a:spcPts val="0"/>
              </a:spcBef>
              <a:spcAft>
                <a:spcPts val="0"/>
              </a:spcAft>
              <a:buClr>
                <a:srgbClr val="2D2D2D"/>
              </a:buClr>
              <a:buSzPts val="1350"/>
              <a:buFont typeface="Arial"/>
              <a:buChar char="●"/>
            </a:pPr>
            <a:r>
              <a:rPr b="0" i="0" lang="en" sz="1050" u="none" cap="none" strike="noStrike">
                <a:solidFill>
                  <a:srgbClr val="4424A9"/>
                </a:solidFill>
                <a:highlight>
                  <a:srgbClr val="EEF5FF"/>
                </a:highlight>
                <a:latin typeface="Fira Code"/>
                <a:ea typeface="Fira Code"/>
                <a:cs typeface="Fira Code"/>
                <a:sym typeface="Fira Code"/>
              </a:rPr>
              <a:t>UNBOUNDED FOLLOWING</a:t>
            </a:r>
            <a:endParaRPr b="0" i="0" sz="1050" u="none" cap="none" strike="noStrike">
              <a:solidFill>
                <a:srgbClr val="4424A9"/>
              </a:solidFill>
              <a:highlight>
                <a:srgbClr val="EEF5FF"/>
              </a:highlight>
              <a:latin typeface="Fira Code"/>
              <a:ea typeface="Fira Code"/>
              <a:cs typeface="Fira Code"/>
              <a:sym typeface="Fira Code"/>
            </a:endParaRPr>
          </a:p>
          <a:p>
            <a:pPr indent="0" lvl="0" marL="0" marR="0" rtl="0" algn="l">
              <a:lnSpc>
                <a:spcPct val="115000"/>
              </a:lnSpc>
              <a:spcBef>
                <a:spcPts val="1400"/>
              </a:spcBef>
              <a:spcAft>
                <a:spcPts val="0"/>
              </a:spcAft>
              <a:buClr>
                <a:srgbClr val="000000"/>
              </a:buClr>
              <a:buSzPts val="1350"/>
              <a:buFont typeface="Arial"/>
              <a:buNone/>
            </a:pPr>
            <a:r>
              <a:rPr b="0" i="0" lang="en" sz="1350" u="none" cap="none" strike="noStrike">
                <a:solidFill>
                  <a:srgbClr val="2D2D2D"/>
                </a:solidFill>
                <a:latin typeface="Arial"/>
                <a:ea typeface="Arial"/>
                <a:cs typeface="Arial"/>
                <a:sym typeface="Arial"/>
              </a:rPr>
              <a:t>The </a:t>
            </a:r>
            <a:r>
              <a:rPr b="0" i="0" lang="en" sz="1050" u="none" cap="none" strike="noStrike">
                <a:solidFill>
                  <a:srgbClr val="4424A9"/>
                </a:solidFill>
                <a:highlight>
                  <a:srgbClr val="EEF5FF"/>
                </a:highlight>
                <a:latin typeface="Fira Code"/>
                <a:ea typeface="Fira Code"/>
                <a:cs typeface="Fira Code"/>
                <a:sym typeface="Fira Code"/>
              </a:rPr>
              <a:t>lower_bound</a:t>
            </a:r>
            <a:r>
              <a:rPr b="0" i="0" lang="en" sz="1350" u="none" cap="none" strike="noStrike">
                <a:solidFill>
                  <a:srgbClr val="2D2D2D"/>
                </a:solidFill>
                <a:latin typeface="Arial"/>
                <a:ea typeface="Arial"/>
                <a:cs typeface="Arial"/>
                <a:sym typeface="Arial"/>
              </a:rPr>
              <a:t> must be BEFORE the </a:t>
            </a:r>
            <a:r>
              <a:rPr b="0" i="0" lang="en" sz="1050" u="none" cap="none" strike="noStrike">
                <a:solidFill>
                  <a:srgbClr val="4424A9"/>
                </a:solidFill>
                <a:highlight>
                  <a:srgbClr val="EEF5FF"/>
                </a:highlight>
                <a:latin typeface="Fira Code"/>
                <a:ea typeface="Fira Code"/>
                <a:cs typeface="Fira Code"/>
                <a:sym typeface="Fira Code"/>
              </a:rPr>
              <a:t>upper_bound</a:t>
            </a:r>
            <a:endParaRPr b="0" i="0" sz="1050" u="none" cap="none" strike="noStrike">
              <a:solidFill>
                <a:srgbClr val="4424A9"/>
              </a:solidFill>
              <a:highlight>
                <a:srgbClr val="EEF5FF"/>
              </a:highlight>
              <a:latin typeface="Fira Code"/>
              <a:ea typeface="Fira Code"/>
              <a:cs typeface="Fira Code"/>
              <a:sym typeface="Fira Code"/>
            </a:endParaRPr>
          </a:p>
          <a:p>
            <a:pPr indent="0" lvl="0" marL="0" marR="0" rtl="0" algn="l">
              <a:lnSpc>
                <a:spcPct val="115000"/>
              </a:lnSpc>
              <a:spcBef>
                <a:spcPts val="1400"/>
              </a:spcBef>
              <a:spcAft>
                <a:spcPts val="0"/>
              </a:spcAft>
              <a:buClr>
                <a:srgbClr val="000000"/>
              </a:buClr>
              <a:buSzPts val="1050"/>
              <a:buFont typeface="Arial"/>
              <a:buNone/>
            </a:pPr>
            <a:r>
              <a:t/>
            </a:r>
            <a:endParaRPr b="0" i="0" sz="1050" u="none" cap="none" strike="noStrike">
              <a:solidFill>
                <a:schemeClr val="dk1"/>
              </a:solidFill>
              <a:latin typeface="Fira Code"/>
              <a:ea typeface="Fira Code"/>
              <a:cs typeface="Fira Code"/>
              <a:sym typeface="Fira Code"/>
            </a:endParaRPr>
          </a:p>
          <a:p>
            <a:pPr indent="0" lvl="0" marL="0" marR="0" rtl="0" algn="l">
              <a:lnSpc>
                <a:spcPct val="115000"/>
              </a:lnSpc>
              <a:spcBef>
                <a:spcPts val="14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1400"/>
              </a:spcAft>
              <a:buClr>
                <a:srgbClr val="000000"/>
              </a:buClr>
              <a:buSzPts val="1350"/>
              <a:buFont typeface="Arial"/>
              <a:buNone/>
            </a:pPr>
            <a:r>
              <a:t/>
            </a:r>
            <a:endParaRPr b="0" i="0" sz="1350" u="none" cap="none" strike="noStrike">
              <a:solidFill>
                <a:srgbClr val="2D2D2D"/>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2"/>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SQL functions</a:t>
            </a:r>
            <a:endParaRPr>
              <a:solidFill>
                <a:schemeClr val="dk1"/>
              </a:solidFill>
            </a:endParaRPr>
          </a:p>
        </p:txBody>
      </p:sp>
      <p:sp>
        <p:nvSpPr>
          <p:cNvPr id="790" name="Google Shape;790;p52"/>
          <p:cNvSpPr txBox="1"/>
          <p:nvPr/>
        </p:nvSpPr>
        <p:spPr>
          <a:xfrm>
            <a:off x="116100" y="1246775"/>
            <a:ext cx="9027900" cy="3985800"/>
          </a:xfrm>
          <a:prstGeom prst="rect">
            <a:avLst/>
          </a:prstGeom>
          <a:noFill/>
          <a:ln>
            <a:noFill/>
          </a:ln>
        </p:spPr>
        <p:txBody>
          <a:bodyPr anchorCtr="0" anchor="t" bIns="91425" lIns="91425" spcFirstLastPara="1" rIns="91425" wrap="square" tIns="91425">
            <a:spAutoFit/>
          </a:bodyPr>
          <a:lstStyle/>
          <a:p>
            <a:pPr indent="-320675" lvl="0" marL="457200" marR="0" rtl="0" algn="l">
              <a:lnSpc>
                <a:spcPct val="115000"/>
              </a:lnSpc>
              <a:spcBef>
                <a:spcPts val="0"/>
              </a:spcBef>
              <a:spcAft>
                <a:spcPts val="0"/>
              </a:spcAft>
              <a:buClr>
                <a:srgbClr val="222222"/>
              </a:buClr>
              <a:buSzPts val="1450"/>
              <a:buFont typeface="Lato"/>
              <a:buChar char="●"/>
            </a:pPr>
            <a:r>
              <a:rPr b="1" i="0" lang="en" sz="1450" u="none" cap="none" strike="noStrike">
                <a:solidFill>
                  <a:srgbClr val="222222"/>
                </a:solidFill>
                <a:highlight>
                  <a:srgbClr val="FFFFFF"/>
                </a:highlight>
                <a:latin typeface="Lato"/>
                <a:ea typeface="Lato"/>
                <a:cs typeface="Lato"/>
                <a:sym typeface="Lato"/>
              </a:rPr>
              <a:t>Aggregate</a:t>
            </a:r>
            <a:r>
              <a:rPr b="0" i="0" lang="en" sz="1450" u="none" cap="none" strike="noStrike">
                <a:solidFill>
                  <a:srgbClr val="222222"/>
                </a:solidFill>
                <a:highlight>
                  <a:srgbClr val="FFFFFF"/>
                </a:highlight>
                <a:latin typeface="Lato"/>
                <a:ea typeface="Lato"/>
                <a:cs typeface="Lato"/>
                <a:sym typeface="Lato"/>
              </a:rPr>
              <a:t> functions </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Count</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Sum</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Average</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Min and Max</a:t>
            </a:r>
            <a:endParaRPr b="0" i="0" sz="1450" u="none" cap="none" strike="noStrike">
              <a:solidFill>
                <a:srgbClr val="222222"/>
              </a:solidFill>
              <a:highlight>
                <a:srgbClr val="FFFFFF"/>
              </a:highlight>
              <a:latin typeface="Lato"/>
              <a:ea typeface="Lato"/>
              <a:cs typeface="Lato"/>
              <a:sym typeface="Lato"/>
            </a:endParaRPr>
          </a:p>
          <a:p>
            <a:pPr indent="-320675" lvl="0" marL="457200" marR="0" rtl="0" algn="l">
              <a:lnSpc>
                <a:spcPct val="115000"/>
              </a:lnSpc>
              <a:spcBef>
                <a:spcPts val="0"/>
              </a:spcBef>
              <a:spcAft>
                <a:spcPts val="0"/>
              </a:spcAft>
              <a:buClr>
                <a:srgbClr val="222222"/>
              </a:buClr>
              <a:buSzPts val="1450"/>
              <a:buFont typeface="Lato"/>
              <a:buChar char="●"/>
            </a:pPr>
            <a:r>
              <a:rPr b="1" i="0" lang="en" sz="1450" u="none" cap="none" strike="noStrike">
                <a:solidFill>
                  <a:srgbClr val="222222"/>
                </a:solidFill>
                <a:highlight>
                  <a:srgbClr val="FFFFFF"/>
                </a:highlight>
                <a:latin typeface="Lato"/>
                <a:ea typeface="Lato"/>
                <a:cs typeface="Lato"/>
                <a:sym typeface="Lato"/>
              </a:rPr>
              <a:t>Mathematical </a:t>
            </a:r>
            <a:r>
              <a:rPr b="0" i="0" lang="en" sz="1450" u="none" cap="none" strike="noStrike">
                <a:solidFill>
                  <a:srgbClr val="222222"/>
                </a:solidFill>
                <a:highlight>
                  <a:srgbClr val="FFFFFF"/>
                </a:highlight>
                <a:latin typeface="Lato"/>
                <a:ea typeface="Lato"/>
                <a:cs typeface="Lato"/>
                <a:sym typeface="Lato"/>
              </a:rPr>
              <a:t>functions </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Absolute</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Ceil and Floor</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Truncate</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Modulo</a:t>
            </a:r>
            <a:endParaRPr b="0" i="0" sz="1450" u="none" cap="none" strike="noStrike">
              <a:solidFill>
                <a:srgbClr val="222222"/>
              </a:solidFill>
              <a:highlight>
                <a:srgbClr val="FFFFFF"/>
              </a:highlight>
              <a:latin typeface="Lato"/>
              <a:ea typeface="Lato"/>
              <a:cs typeface="Lato"/>
              <a:sym typeface="Lato"/>
            </a:endParaRPr>
          </a:p>
          <a:p>
            <a:pPr indent="-320675" lvl="0" marL="457200" marR="0" rtl="0" algn="l">
              <a:lnSpc>
                <a:spcPct val="115000"/>
              </a:lnSpc>
              <a:spcBef>
                <a:spcPts val="0"/>
              </a:spcBef>
              <a:spcAft>
                <a:spcPts val="0"/>
              </a:spcAft>
              <a:buClr>
                <a:srgbClr val="222222"/>
              </a:buClr>
              <a:buSzPts val="1450"/>
              <a:buFont typeface="Lato"/>
              <a:buChar char="●"/>
            </a:pPr>
            <a:r>
              <a:rPr b="1" i="0" lang="en" sz="1450" u="none" cap="none" strike="noStrike">
                <a:solidFill>
                  <a:srgbClr val="222222"/>
                </a:solidFill>
                <a:highlight>
                  <a:srgbClr val="FFFFFF"/>
                </a:highlight>
                <a:latin typeface="Lato"/>
                <a:ea typeface="Lato"/>
                <a:cs typeface="Lato"/>
                <a:sym typeface="Lato"/>
              </a:rPr>
              <a:t>String </a:t>
            </a:r>
            <a:r>
              <a:rPr b="0" i="0" lang="en" sz="1450" u="none" cap="none" strike="noStrike">
                <a:solidFill>
                  <a:srgbClr val="222222"/>
                </a:solidFill>
                <a:highlight>
                  <a:srgbClr val="FFFFFF"/>
                </a:highlight>
                <a:latin typeface="Lato"/>
                <a:ea typeface="Lato"/>
                <a:cs typeface="Lato"/>
                <a:sym typeface="Lato"/>
              </a:rPr>
              <a:t>functions </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Lower and Upper</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Concat</a:t>
            </a:r>
            <a:endParaRPr b="0" i="0" sz="1450" u="none" cap="none" strike="noStrike">
              <a:solidFill>
                <a:srgbClr val="222222"/>
              </a:solidFill>
              <a:highlight>
                <a:srgbClr val="FFFFFF"/>
              </a:highlight>
              <a:latin typeface="Lato"/>
              <a:ea typeface="Lato"/>
              <a:cs typeface="Lato"/>
              <a:sym typeface="Lato"/>
            </a:endParaRPr>
          </a:p>
          <a:p>
            <a:pPr indent="-320675" lvl="1" marL="914400" marR="0" rtl="0" algn="l">
              <a:lnSpc>
                <a:spcPct val="115000"/>
              </a:lnSpc>
              <a:spcBef>
                <a:spcPts val="0"/>
              </a:spcBef>
              <a:spcAft>
                <a:spcPts val="0"/>
              </a:spcAft>
              <a:buClr>
                <a:srgbClr val="222222"/>
              </a:buClr>
              <a:buSzPts val="1450"/>
              <a:buFont typeface="Lato"/>
              <a:buChar char="○"/>
            </a:pPr>
            <a:r>
              <a:rPr b="0" i="0" lang="en" sz="1450" u="none" cap="none" strike="noStrike">
                <a:solidFill>
                  <a:srgbClr val="222222"/>
                </a:solidFill>
                <a:highlight>
                  <a:srgbClr val="FFFFFF"/>
                </a:highlight>
                <a:latin typeface="Lato"/>
                <a:ea typeface="Lato"/>
                <a:cs typeface="Lato"/>
                <a:sym typeface="Lato"/>
              </a:rPr>
              <a:t>Trim</a:t>
            </a:r>
            <a:endParaRPr b="0" i="0" sz="1450" u="none" cap="none" strike="noStrike">
              <a:solidFill>
                <a:srgbClr val="222222"/>
              </a:solidFill>
              <a:highlight>
                <a:srgbClr val="FFFFFF"/>
              </a:highlight>
              <a:latin typeface="Lato"/>
              <a:ea typeface="Lato"/>
              <a:cs typeface="Lato"/>
              <a:sym typeface="Lato"/>
            </a:endParaRPr>
          </a:p>
          <a:p>
            <a:pPr indent="0" lvl="0" marL="457200" marR="0" rtl="0" algn="l">
              <a:lnSpc>
                <a:spcPct val="115000"/>
              </a:lnSpc>
              <a:spcBef>
                <a:spcPts val="0"/>
              </a:spcBef>
              <a:spcAft>
                <a:spcPts val="0"/>
              </a:spcAft>
              <a:buClr>
                <a:srgbClr val="000000"/>
              </a:buClr>
              <a:buSzPts val="1350"/>
              <a:buFont typeface="Arial"/>
              <a:buNone/>
            </a:pPr>
            <a:r>
              <a:t/>
            </a:r>
            <a:endParaRPr b="0" i="0" sz="1350" u="none" cap="none" strike="noStrike">
              <a:solidFill>
                <a:srgbClr val="222222"/>
              </a:solidFill>
              <a:highlight>
                <a:srgbClr val="FFFFFF"/>
              </a:highlight>
              <a:latin typeface="Lato"/>
              <a:ea typeface="Lato"/>
              <a:cs typeface="Lato"/>
              <a:sym typeface="La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53"/>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SQL functions</a:t>
            </a:r>
            <a:endParaRPr>
              <a:solidFill>
                <a:schemeClr val="dk1"/>
              </a:solidFill>
            </a:endParaRPr>
          </a:p>
        </p:txBody>
      </p:sp>
      <p:sp>
        <p:nvSpPr>
          <p:cNvPr id="796" name="Google Shape;796;p53"/>
          <p:cNvSpPr txBox="1"/>
          <p:nvPr/>
        </p:nvSpPr>
        <p:spPr>
          <a:xfrm>
            <a:off x="58050" y="1630600"/>
            <a:ext cx="9027900" cy="3021000"/>
          </a:xfrm>
          <a:prstGeom prst="rect">
            <a:avLst/>
          </a:prstGeom>
          <a:noFill/>
          <a:ln>
            <a:noFill/>
          </a:ln>
        </p:spPr>
        <p:txBody>
          <a:bodyPr anchorCtr="0" anchor="t" bIns="91425" lIns="91425" spcFirstLastPara="1" rIns="91425" wrap="square" tIns="91425">
            <a:spAutoFit/>
          </a:bodyPr>
          <a:lstStyle/>
          <a:p>
            <a:pPr indent="-314325" lvl="0" marL="457200" marR="0" rtl="0" algn="l">
              <a:lnSpc>
                <a:spcPct val="115000"/>
              </a:lnSpc>
              <a:spcBef>
                <a:spcPts val="0"/>
              </a:spcBef>
              <a:spcAft>
                <a:spcPts val="0"/>
              </a:spcAft>
              <a:buClr>
                <a:srgbClr val="222222"/>
              </a:buClr>
              <a:buSzPts val="1350"/>
              <a:buFont typeface="Lato"/>
              <a:buChar char="●"/>
            </a:pPr>
            <a:r>
              <a:rPr b="1" i="0" lang="en" sz="1350" u="none" cap="none" strike="noStrike">
                <a:solidFill>
                  <a:srgbClr val="222222"/>
                </a:solidFill>
                <a:highlight>
                  <a:srgbClr val="FFFFFF"/>
                </a:highlight>
                <a:latin typeface="Lato"/>
                <a:ea typeface="Lato"/>
                <a:cs typeface="Lato"/>
                <a:sym typeface="Lato"/>
              </a:rPr>
              <a:t>Date </a:t>
            </a:r>
            <a:r>
              <a:rPr b="0" i="0" lang="en" sz="1350" u="none" cap="none" strike="noStrike">
                <a:solidFill>
                  <a:srgbClr val="222222"/>
                </a:solidFill>
                <a:highlight>
                  <a:srgbClr val="FFFFFF"/>
                </a:highlight>
                <a:latin typeface="Lato"/>
                <a:ea typeface="Lato"/>
                <a:cs typeface="Lato"/>
                <a:sym typeface="Lato"/>
              </a:rPr>
              <a:t>and </a:t>
            </a:r>
            <a:r>
              <a:rPr b="1" i="0" lang="en" sz="1350" u="none" cap="none" strike="noStrike">
                <a:solidFill>
                  <a:srgbClr val="222222"/>
                </a:solidFill>
                <a:highlight>
                  <a:srgbClr val="FFFFFF"/>
                </a:highlight>
                <a:latin typeface="Lato"/>
                <a:ea typeface="Lato"/>
                <a:cs typeface="Lato"/>
                <a:sym typeface="Lato"/>
              </a:rPr>
              <a:t>Time </a:t>
            </a:r>
            <a:r>
              <a:rPr b="0" i="0" lang="en" sz="1350" u="none" cap="none" strike="noStrike">
                <a:solidFill>
                  <a:srgbClr val="222222"/>
                </a:solidFill>
                <a:highlight>
                  <a:srgbClr val="FFFFFF"/>
                </a:highlight>
                <a:latin typeface="Lato"/>
                <a:ea typeface="Lato"/>
                <a:cs typeface="Lato"/>
                <a:sym typeface="Lato"/>
              </a:rPr>
              <a:t>functions </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Date and Time</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Extract</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Date format</a:t>
            </a:r>
            <a:endParaRPr b="0" i="0" sz="1350" u="none" cap="none" strike="noStrike">
              <a:solidFill>
                <a:srgbClr val="222222"/>
              </a:solidFill>
              <a:highlight>
                <a:srgbClr val="FFFFFF"/>
              </a:highlight>
              <a:latin typeface="Lato"/>
              <a:ea typeface="Lato"/>
              <a:cs typeface="Lato"/>
              <a:sym typeface="Lato"/>
            </a:endParaRPr>
          </a:p>
          <a:p>
            <a:pPr indent="-314325" lvl="0" marL="457200" marR="0" rtl="0" algn="l">
              <a:lnSpc>
                <a:spcPct val="115000"/>
              </a:lnSpc>
              <a:spcBef>
                <a:spcPts val="0"/>
              </a:spcBef>
              <a:spcAft>
                <a:spcPts val="0"/>
              </a:spcAft>
              <a:buClr>
                <a:srgbClr val="222222"/>
              </a:buClr>
              <a:buSzPts val="1350"/>
              <a:buFont typeface="Lato"/>
              <a:buChar char="●"/>
            </a:pPr>
            <a:r>
              <a:rPr b="1" i="0" lang="en" sz="1350" u="none" cap="none" strike="noStrike">
                <a:solidFill>
                  <a:srgbClr val="222222"/>
                </a:solidFill>
                <a:highlight>
                  <a:srgbClr val="FFFFFF"/>
                </a:highlight>
                <a:latin typeface="Lato"/>
                <a:ea typeface="Lato"/>
                <a:cs typeface="Lato"/>
                <a:sym typeface="Lato"/>
              </a:rPr>
              <a:t>Windows </a:t>
            </a:r>
            <a:r>
              <a:rPr b="0" i="0" lang="en" sz="1350" u="none" cap="none" strike="noStrike">
                <a:solidFill>
                  <a:srgbClr val="222222"/>
                </a:solidFill>
                <a:highlight>
                  <a:srgbClr val="FFFFFF"/>
                </a:highlight>
                <a:latin typeface="Lato"/>
                <a:ea typeface="Lato"/>
                <a:cs typeface="Lato"/>
                <a:sym typeface="Lato"/>
              </a:rPr>
              <a:t>functions </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Rank</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Percent value</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Nth value</a:t>
            </a:r>
            <a:endParaRPr b="0" i="0" sz="1350" u="none" cap="none" strike="noStrike">
              <a:solidFill>
                <a:srgbClr val="222222"/>
              </a:solidFill>
              <a:highlight>
                <a:srgbClr val="FFFFFF"/>
              </a:highlight>
              <a:latin typeface="Lato"/>
              <a:ea typeface="Lato"/>
              <a:cs typeface="Lato"/>
              <a:sym typeface="Lato"/>
            </a:endParaRPr>
          </a:p>
          <a:p>
            <a:pPr indent="-314325" lvl="0" marL="4572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Miscellaneous functions</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Convert</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Isnull</a:t>
            </a:r>
            <a:endParaRPr b="0" i="0" sz="1350" u="none" cap="none" strike="noStrike">
              <a:solidFill>
                <a:srgbClr val="222222"/>
              </a:solidFill>
              <a:highlight>
                <a:srgbClr val="FFFFFF"/>
              </a:highlight>
              <a:latin typeface="Lato"/>
              <a:ea typeface="Lato"/>
              <a:cs typeface="Lato"/>
              <a:sym typeface="Lato"/>
            </a:endParaRPr>
          </a:p>
          <a:p>
            <a:pPr indent="-314325" lvl="1" marL="914400" marR="0" rtl="0" algn="l">
              <a:lnSpc>
                <a:spcPct val="115000"/>
              </a:lnSpc>
              <a:spcBef>
                <a:spcPts val="0"/>
              </a:spcBef>
              <a:spcAft>
                <a:spcPts val="0"/>
              </a:spcAft>
              <a:buClr>
                <a:srgbClr val="222222"/>
              </a:buClr>
              <a:buSzPts val="1350"/>
              <a:buFont typeface="Lato"/>
              <a:buChar char="○"/>
            </a:pPr>
            <a:r>
              <a:rPr b="0" i="0" lang="en" sz="1350" u="none" cap="none" strike="noStrike">
                <a:solidFill>
                  <a:srgbClr val="222222"/>
                </a:solidFill>
                <a:highlight>
                  <a:srgbClr val="FFFFFF"/>
                </a:highlight>
                <a:latin typeface="Lato"/>
                <a:ea typeface="Lato"/>
                <a:cs typeface="Lato"/>
                <a:sym typeface="Lato"/>
              </a:rPr>
              <a:t>If</a:t>
            </a:r>
            <a:endParaRPr b="0" i="0" sz="1350" u="none" cap="none" strike="noStrike">
              <a:solidFill>
                <a:srgbClr val="222222"/>
              </a:solidFill>
              <a:highlight>
                <a:srgbClr val="FFFFFF"/>
              </a:highlight>
              <a:latin typeface="Lato"/>
              <a:ea typeface="Lato"/>
              <a:cs typeface="Lato"/>
              <a:sym typeface="La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54"/>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SQL Syntax Order</a:t>
            </a:r>
            <a:endParaRPr>
              <a:solidFill>
                <a:schemeClr val="dk1"/>
              </a:solidFill>
            </a:endParaRPr>
          </a:p>
        </p:txBody>
      </p:sp>
      <p:sp>
        <p:nvSpPr>
          <p:cNvPr id="802" name="Google Shape;802;p54"/>
          <p:cNvSpPr/>
          <p:nvPr/>
        </p:nvSpPr>
        <p:spPr>
          <a:xfrm>
            <a:off x="606789" y="1511277"/>
            <a:ext cx="1260648" cy="282511"/>
          </a:xfrm>
          <a:custGeom>
            <a:rect b="b" l="l" r="r" t="t"/>
            <a:pathLst>
              <a:path extrusionOk="0" h="9443" w="39875">
                <a:moveTo>
                  <a:pt x="0" y="0"/>
                </a:moveTo>
                <a:lnTo>
                  <a:pt x="39874" y="0"/>
                </a:lnTo>
                <a:lnTo>
                  <a:pt x="39874" y="9442"/>
                </a:lnTo>
                <a:lnTo>
                  <a:pt x="0" y="944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4"/>
          <p:cNvSpPr/>
          <p:nvPr/>
        </p:nvSpPr>
        <p:spPr>
          <a:xfrm>
            <a:off x="606802" y="2040517"/>
            <a:ext cx="1260648" cy="282511"/>
          </a:xfrm>
          <a:custGeom>
            <a:rect b="b" l="l" r="r" t="t"/>
            <a:pathLst>
              <a:path extrusionOk="0" h="9443" w="39875">
                <a:moveTo>
                  <a:pt x="0" y="0"/>
                </a:moveTo>
                <a:lnTo>
                  <a:pt x="39874" y="0"/>
                </a:lnTo>
                <a:lnTo>
                  <a:pt x="39874" y="9442"/>
                </a:lnTo>
                <a:lnTo>
                  <a:pt x="0" y="944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4"/>
          <p:cNvSpPr/>
          <p:nvPr/>
        </p:nvSpPr>
        <p:spPr>
          <a:xfrm>
            <a:off x="606802" y="2573500"/>
            <a:ext cx="1260648" cy="282511"/>
          </a:xfrm>
          <a:custGeom>
            <a:rect b="b" l="l" r="r" t="t"/>
            <a:pathLst>
              <a:path extrusionOk="0" h="9443" w="39875">
                <a:moveTo>
                  <a:pt x="0" y="0"/>
                </a:moveTo>
                <a:lnTo>
                  <a:pt x="39874" y="0"/>
                </a:lnTo>
                <a:lnTo>
                  <a:pt x="39874" y="9442"/>
                </a:lnTo>
                <a:lnTo>
                  <a:pt x="0" y="944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4"/>
          <p:cNvSpPr/>
          <p:nvPr/>
        </p:nvSpPr>
        <p:spPr>
          <a:xfrm>
            <a:off x="606802" y="3104589"/>
            <a:ext cx="1260648" cy="282511"/>
          </a:xfrm>
          <a:custGeom>
            <a:rect b="b" l="l" r="r" t="t"/>
            <a:pathLst>
              <a:path extrusionOk="0" h="9443" w="39875">
                <a:moveTo>
                  <a:pt x="0" y="0"/>
                </a:moveTo>
                <a:lnTo>
                  <a:pt x="39874" y="0"/>
                </a:lnTo>
                <a:lnTo>
                  <a:pt x="39874" y="9442"/>
                </a:lnTo>
                <a:lnTo>
                  <a:pt x="0" y="944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4"/>
          <p:cNvSpPr/>
          <p:nvPr/>
        </p:nvSpPr>
        <p:spPr>
          <a:xfrm>
            <a:off x="606802" y="3643541"/>
            <a:ext cx="1260648" cy="282511"/>
          </a:xfrm>
          <a:custGeom>
            <a:rect b="b" l="l" r="r" t="t"/>
            <a:pathLst>
              <a:path extrusionOk="0" h="9443" w="39875">
                <a:moveTo>
                  <a:pt x="0" y="0"/>
                </a:moveTo>
                <a:lnTo>
                  <a:pt x="39874" y="0"/>
                </a:lnTo>
                <a:lnTo>
                  <a:pt x="39874" y="9442"/>
                </a:lnTo>
                <a:lnTo>
                  <a:pt x="0" y="944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54"/>
          <p:cNvSpPr/>
          <p:nvPr/>
        </p:nvSpPr>
        <p:spPr>
          <a:xfrm>
            <a:off x="395775" y="2033348"/>
            <a:ext cx="1682700" cy="2928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	WHERE</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08" name="Google Shape;808;p54"/>
          <p:cNvSpPr/>
          <p:nvPr/>
        </p:nvSpPr>
        <p:spPr>
          <a:xfrm>
            <a:off x="395775" y="1501047"/>
            <a:ext cx="1682700" cy="2928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FROM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09" name="Google Shape;809;p54"/>
          <p:cNvSpPr/>
          <p:nvPr/>
        </p:nvSpPr>
        <p:spPr>
          <a:xfrm>
            <a:off x="395775" y="3103389"/>
            <a:ext cx="1682700" cy="2928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LIMIT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10" name="Google Shape;810;p54"/>
          <p:cNvSpPr/>
          <p:nvPr/>
        </p:nvSpPr>
        <p:spPr>
          <a:xfrm>
            <a:off x="395775" y="2569726"/>
            <a:ext cx="1682700" cy="2928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ORDER BY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11" name="Google Shape;811;p54"/>
          <p:cNvSpPr/>
          <p:nvPr/>
        </p:nvSpPr>
        <p:spPr>
          <a:xfrm>
            <a:off x="395775" y="3635658"/>
            <a:ext cx="1682700" cy="2928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GROUP BY</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12" name="Google Shape;812;p54"/>
          <p:cNvSpPr txBox="1"/>
          <p:nvPr/>
        </p:nvSpPr>
        <p:spPr>
          <a:xfrm>
            <a:off x="241800" y="538850"/>
            <a:ext cx="86604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The </a:t>
            </a:r>
            <a:r>
              <a:rPr b="1" i="0" lang="en" sz="1500" u="none" cap="none" strike="noStrike">
                <a:solidFill>
                  <a:srgbClr val="000000"/>
                </a:solidFill>
                <a:latin typeface="Roboto"/>
                <a:ea typeface="Roboto"/>
                <a:cs typeface="Roboto"/>
                <a:sym typeface="Roboto"/>
              </a:rPr>
              <a:t>SELECT </a:t>
            </a:r>
            <a:r>
              <a:rPr b="0" i="0" lang="en" sz="1500" u="none" cap="none" strike="noStrike">
                <a:solidFill>
                  <a:srgbClr val="000000"/>
                </a:solidFill>
                <a:latin typeface="Roboto"/>
                <a:ea typeface="Roboto"/>
                <a:cs typeface="Roboto"/>
                <a:sym typeface="Roboto"/>
              </a:rPr>
              <a:t>statement along with corresponding clauses make up the Data Query Language of SQL.  DQL statements are used to retrieve data out of the database to perform various analyses.  The following are the most commonly </a:t>
            </a:r>
            <a:r>
              <a:rPr b="1" i="0" lang="en" sz="1500" u="none" cap="none" strike="noStrike">
                <a:solidFill>
                  <a:srgbClr val="000000"/>
                </a:solidFill>
                <a:latin typeface="Roboto"/>
                <a:ea typeface="Roboto"/>
                <a:cs typeface="Roboto"/>
                <a:sym typeface="Roboto"/>
              </a:rPr>
              <a:t>clauses </a:t>
            </a:r>
            <a:r>
              <a:rPr b="0" i="0" lang="en" sz="1500" u="none" cap="none" strike="noStrike">
                <a:solidFill>
                  <a:srgbClr val="000000"/>
                </a:solidFill>
                <a:latin typeface="Roboto"/>
                <a:ea typeface="Roboto"/>
                <a:cs typeface="Roboto"/>
                <a:sym typeface="Roboto"/>
              </a:rPr>
              <a:t>that can be used with the SELECT statement:</a:t>
            </a:r>
            <a:endParaRPr b="0" i="0" sz="1500" u="none" cap="none" strike="noStrike">
              <a:solidFill>
                <a:srgbClr val="000000"/>
              </a:solidFill>
              <a:latin typeface="Roboto"/>
              <a:ea typeface="Roboto"/>
              <a:cs typeface="Roboto"/>
              <a:sym typeface="Roboto"/>
            </a:endParaRPr>
          </a:p>
        </p:txBody>
      </p:sp>
      <p:sp>
        <p:nvSpPr>
          <p:cNvPr id="813" name="Google Shape;813;p54"/>
          <p:cNvSpPr/>
          <p:nvPr/>
        </p:nvSpPr>
        <p:spPr>
          <a:xfrm>
            <a:off x="606802" y="4102264"/>
            <a:ext cx="1260648" cy="282511"/>
          </a:xfrm>
          <a:custGeom>
            <a:rect b="b" l="l" r="r" t="t"/>
            <a:pathLst>
              <a:path extrusionOk="0" h="9443" w="39875">
                <a:moveTo>
                  <a:pt x="0" y="0"/>
                </a:moveTo>
                <a:lnTo>
                  <a:pt x="39874" y="0"/>
                </a:lnTo>
                <a:lnTo>
                  <a:pt x="39874" y="9442"/>
                </a:lnTo>
                <a:lnTo>
                  <a:pt x="0" y="944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4"/>
          <p:cNvSpPr/>
          <p:nvPr/>
        </p:nvSpPr>
        <p:spPr>
          <a:xfrm>
            <a:off x="606802" y="4641216"/>
            <a:ext cx="1260648" cy="282511"/>
          </a:xfrm>
          <a:custGeom>
            <a:rect b="b" l="l" r="r" t="t"/>
            <a:pathLst>
              <a:path extrusionOk="0" h="9443" w="39875">
                <a:moveTo>
                  <a:pt x="0" y="0"/>
                </a:moveTo>
                <a:lnTo>
                  <a:pt x="39874" y="0"/>
                </a:lnTo>
                <a:lnTo>
                  <a:pt x="39874" y="9442"/>
                </a:lnTo>
                <a:lnTo>
                  <a:pt x="0" y="944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4"/>
          <p:cNvSpPr/>
          <p:nvPr/>
        </p:nvSpPr>
        <p:spPr>
          <a:xfrm>
            <a:off x="395775" y="4101064"/>
            <a:ext cx="1682700" cy="2928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HAVING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16" name="Google Shape;816;p54"/>
          <p:cNvSpPr/>
          <p:nvPr/>
        </p:nvSpPr>
        <p:spPr>
          <a:xfrm>
            <a:off x="395775" y="4633333"/>
            <a:ext cx="1682700" cy="2928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FETCHD clause</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55"/>
          <p:cNvSpPr txBox="1"/>
          <p:nvPr>
            <p:ph type="title"/>
          </p:nvPr>
        </p:nvSpPr>
        <p:spPr>
          <a:xfrm>
            <a:off x="395775" y="134950"/>
            <a:ext cx="8229600" cy="48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solidFill>
                  <a:schemeClr val="dk1"/>
                </a:solidFill>
              </a:rPr>
              <a:t>SQL-Order of Execution</a:t>
            </a:r>
            <a:endParaRPr>
              <a:solidFill>
                <a:schemeClr val="dk1"/>
              </a:solidFill>
            </a:endParaRPr>
          </a:p>
        </p:txBody>
      </p:sp>
      <p:sp>
        <p:nvSpPr>
          <p:cNvPr id="822" name="Google Shape;822;p55"/>
          <p:cNvSpPr/>
          <p:nvPr/>
        </p:nvSpPr>
        <p:spPr>
          <a:xfrm>
            <a:off x="606789" y="1511277"/>
            <a:ext cx="1260648" cy="282511"/>
          </a:xfrm>
          <a:custGeom>
            <a:rect b="b" l="l" r="r" t="t"/>
            <a:pathLst>
              <a:path extrusionOk="0" h="9443" w="39875">
                <a:moveTo>
                  <a:pt x="0" y="0"/>
                </a:moveTo>
                <a:lnTo>
                  <a:pt x="39874" y="0"/>
                </a:lnTo>
                <a:lnTo>
                  <a:pt x="39874" y="9442"/>
                </a:lnTo>
                <a:lnTo>
                  <a:pt x="0" y="9442"/>
                </a:lnTo>
                <a:close/>
              </a:path>
            </a:pathLst>
          </a:cu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5"/>
          <p:cNvSpPr/>
          <p:nvPr/>
        </p:nvSpPr>
        <p:spPr>
          <a:xfrm>
            <a:off x="606802" y="2040517"/>
            <a:ext cx="1260648" cy="282511"/>
          </a:xfrm>
          <a:custGeom>
            <a:rect b="b" l="l" r="r" t="t"/>
            <a:pathLst>
              <a:path extrusionOk="0" h="9443" w="39875">
                <a:moveTo>
                  <a:pt x="0" y="0"/>
                </a:moveTo>
                <a:lnTo>
                  <a:pt x="39874" y="0"/>
                </a:lnTo>
                <a:lnTo>
                  <a:pt x="39874" y="9442"/>
                </a:lnTo>
                <a:lnTo>
                  <a:pt x="0" y="9442"/>
                </a:lnTo>
                <a:close/>
              </a:path>
            </a:pathLst>
          </a:cu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5"/>
          <p:cNvSpPr/>
          <p:nvPr/>
        </p:nvSpPr>
        <p:spPr>
          <a:xfrm>
            <a:off x="606802" y="2573500"/>
            <a:ext cx="1260648" cy="282511"/>
          </a:xfrm>
          <a:custGeom>
            <a:rect b="b" l="l" r="r" t="t"/>
            <a:pathLst>
              <a:path extrusionOk="0" h="9443" w="39875">
                <a:moveTo>
                  <a:pt x="0" y="0"/>
                </a:moveTo>
                <a:lnTo>
                  <a:pt x="39874" y="0"/>
                </a:lnTo>
                <a:lnTo>
                  <a:pt x="39874" y="9442"/>
                </a:lnTo>
                <a:lnTo>
                  <a:pt x="0" y="9442"/>
                </a:lnTo>
                <a:close/>
              </a:path>
            </a:pathLst>
          </a:cu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5"/>
          <p:cNvSpPr/>
          <p:nvPr/>
        </p:nvSpPr>
        <p:spPr>
          <a:xfrm>
            <a:off x="606802" y="3104589"/>
            <a:ext cx="1260648" cy="282511"/>
          </a:xfrm>
          <a:custGeom>
            <a:rect b="b" l="l" r="r" t="t"/>
            <a:pathLst>
              <a:path extrusionOk="0" h="9443" w="39875">
                <a:moveTo>
                  <a:pt x="0" y="0"/>
                </a:moveTo>
                <a:lnTo>
                  <a:pt x="39874" y="0"/>
                </a:lnTo>
                <a:lnTo>
                  <a:pt x="39874" y="9442"/>
                </a:lnTo>
                <a:lnTo>
                  <a:pt x="0" y="9442"/>
                </a:lnTo>
                <a:close/>
              </a:path>
            </a:pathLst>
          </a:cu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5"/>
          <p:cNvSpPr/>
          <p:nvPr/>
        </p:nvSpPr>
        <p:spPr>
          <a:xfrm>
            <a:off x="606802" y="3643541"/>
            <a:ext cx="1260648" cy="282511"/>
          </a:xfrm>
          <a:custGeom>
            <a:rect b="b" l="l" r="r" t="t"/>
            <a:pathLst>
              <a:path extrusionOk="0" h="9443" w="39875">
                <a:moveTo>
                  <a:pt x="0" y="0"/>
                </a:moveTo>
                <a:lnTo>
                  <a:pt x="39874" y="0"/>
                </a:lnTo>
                <a:lnTo>
                  <a:pt x="39874" y="9442"/>
                </a:lnTo>
                <a:lnTo>
                  <a:pt x="0" y="9442"/>
                </a:lnTo>
                <a:close/>
              </a:path>
            </a:pathLst>
          </a:cu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55"/>
          <p:cNvSpPr/>
          <p:nvPr/>
        </p:nvSpPr>
        <p:spPr>
          <a:xfrm>
            <a:off x="395775" y="2033348"/>
            <a:ext cx="1682700" cy="292800"/>
          </a:xfrm>
          <a:prstGeom prst="rect">
            <a:avLst/>
          </a:pr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	WHERE</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28" name="Google Shape;828;p55"/>
          <p:cNvSpPr/>
          <p:nvPr/>
        </p:nvSpPr>
        <p:spPr>
          <a:xfrm>
            <a:off x="395775" y="1501047"/>
            <a:ext cx="1682700" cy="292800"/>
          </a:xfrm>
          <a:prstGeom prst="rect">
            <a:avLst/>
          </a:prstGeom>
          <a:solidFill>
            <a:srgbClr val="0687B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FROM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29" name="Google Shape;829;p55"/>
          <p:cNvSpPr/>
          <p:nvPr/>
        </p:nvSpPr>
        <p:spPr>
          <a:xfrm>
            <a:off x="395775" y="3103389"/>
            <a:ext cx="1682700" cy="292800"/>
          </a:xfrm>
          <a:prstGeom prst="rect">
            <a:avLst/>
          </a:prstGeom>
          <a:solidFill>
            <a:srgbClr val="0687B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LIMIT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30" name="Google Shape;830;p55"/>
          <p:cNvSpPr/>
          <p:nvPr/>
        </p:nvSpPr>
        <p:spPr>
          <a:xfrm>
            <a:off x="395775" y="2569726"/>
            <a:ext cx="1682700" cy="292800"/>
          </a:xfrm>
          <a:prstGeom prst="rect">
            <a:avLst/>
          </a:prstGeom>
          <a:solidFill>
            <a:srgbClr val="0687B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ORDER BY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31" name="Google Shape;831;p55"/>
          <p:cNvSpPr/>
          <p:nvPr/>
        </p:nvSpPr>
        <p:spPr>
          <a:xfrm>
            <a:off x="395775" y="3635658"/>
            <a:ext cx="1682700" cy="292800"/>
          </a:xfrm>
          <a:prstGeom prst="rect">
            <a:avLst/>
          </a:prstGeom>
          <a:solidFill>
            <a:srgbClr val="0687B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GROUP BY</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32" name="Google Shape;832;p55"/>
          <p:cNvSpPr txBox="1"/>
          <p:nvPr/>
        </p:nvSpPr>
        <p:spPr>
          <a:xfrm>
            <a:off x="241800" y="538850"/>
            <a:ext cx="86604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Roboto"/>
                <a:ea typeface="Roboto"/>
                <a:cs typeface="Roboto"/>
                <a:sym typeface="Roboto"/>
              </a:rPr>
              <a:t>The </a:t>
            </a:r>
            <a:r>
              <a:rPr b="1" i="0" lang="en" sz="1500" u="none" cap="none" strike="noStrike">
                <a:solidFill>
                  <a:srgbClr val="000000"/>
                </a:solidFill>
                <a:latin typeface="Roboto"/>
                <a:ea typeface="Roboto"/>
                <a:cs typeface="Roboto"/>
                <a:sym typeface="Roboto"/>
              </a:rPr>
              <a:t>SELECT </a:t>
            </a:r>
            <a:r>
              <a:rPr b="0" i="0" lang="en" sz="1500" u="none" cap="none" strike="noStrike">
                <a:solidFill>
                  <a:srgbClr val="000000"/>
                </a:solidFill>
                <a:latin typeface="Roboto"/>
                <a:ea typeface="Roboto"/>
                <a:cs typeface="Roboto"/>
                <a:sym typeface="Roboto"/>
              </a:rPr>
              <a:t>statement along with corresponding clauses make up the Data Query Language of SQL.  DQL statements are used to retrieve data out of the database to perform various analyses.  The following are the most commonly </a:t>
            </a:r>
            <a:r>
              <a:rPr b="1" i="0" lang="en" sz="1500" u="none" cap="none" strike="noStrike">
                <a:solidFill>
                  <a:srgbClr val="000000"/>
                </a:solidFill>
                <a:latin typeface="Roboto"/>
                <a:ea typeface="Roboto"/>
                <a:cs typeface="Roboto"/>
                <a:sym typeface="Roboto"/>
              </a:rPr>
              <a:t>clauses </a:t>
            </a:r>
            <a:r>
              <a:rPr b="0" i="0" lang="en" sz="1500" u="none" cap="none" strike="noStrike">
                <a:solidFill>
                  <a:srgbClr val="000000"/>
                </a:solidFill>
                <a:latin typeface="Roboto"/>
                <a:ea typeface="Roboto"/>
                <a:cs typeface="Roboto"/>
                <a:sym typeface="Roboto"/>
              </a:rPr>
              <a:t>that can be used with the SELECT statement:</a:t>
            </a:r>
            <a:endParaRPr b="0" i="0" sz="1500" u="none" cap="none" strike="noStrike">
              <a:solidFill>
                <a:srgbClr val="000000"/>
              </a:solidFill>
              <a:latin typeface="Roboto"/>
              <a:ea typeface="Roboto"/>
              <a:cs typeface="Roboto"/>
              <a:sym typeface="Roboto"/>
            </a:endParaRPr>
          </a:p>
        </p:txBody>
      </p:sp>
      <p:sp>
        <p:nvSpPr>
          <p:cNvPr id="833" name="Google Shape;833;p55"/>
          <p:cNvSpPr/>
          <p:nvPr/>
        </p:nvSpPr>
        <p:spPr>
          <a:xfrm>
            <a:off x="606802" y="4102264"/>
            <a:ext cx="1260648" cy="282511"/>
          </a:xfrm>
          <a:custGeom>
            <a:rect b="b" l="l" r="r" t="t"/>
            <a:pathLst>
              <a:path extrusionOk="0" h="9443" w="39875">
                <a:moveTo>
                  <a:pt x="0" y="0"/>
                </a:moveTo>
                <a:lnTo>
                  <a:pt x="39874" y="0"/>
                </a:lnTo>
                <a:lnTo>
                  <a:pt x="39874" y="9442"/>
                </a:lnTo>
                <a:lnTo>
                  <a:pt x="0" y="9442"/>
                </a:lnTo>
                <a:close/>
              </a:path>
            </a:pathLst>
          </a:cu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55"/>
          <p:cNvSpPr/>
          <p:nvPr/>
        </p:nvSpPr>
        <p:spPr>
          <a:xfrm>
            <a:off x="606802" y="4641216"/>
            <a:ext cx="1260648" cy="282511"/>
          </a:xfrm>
          <a:custGeom>
            <a:rect b="b" l="l" r="r" t="t"/>
            <a:pathLst>
              <a:path extrusionOk="0" h="9443" w="39875">
                <a:moveTo>
                  <a:pt x="0" y="0"/>
                </a:moveTo>
                <a:lnTo>
                  <a:pt x="39874" y="0"/>
                </a:lnTo>
                <a:lnTo>
                  <a:pt x="39874" y="9442"/>
                </a:lnTo>
                <a:lnTo>
                  <a:pt x="0" y="9442"/>
                </a:lnTo>
                <a:close/>
              </a:path>
            </a:pathLst>
          </a:custGeom>
          <a:solidFill>
            <a:srgbClr val="0687B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55"/>
          <p:cNvSpPr/>
          <p:nvPr/>
        </p:nvSpPr>
        <p:spPr>
          <a:xfrm>
            <a:off x="395775" y="4101064"/>
            <a:ext cx="1682700" cy="292800"/>
          </a:xfrm>
          <a:prstGeom prst="rect">
            <a:avLst/>
          </a:prstGeom>
          <a:solidFill>
            <a:srgbClr val="0687B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HAVING </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
        <p:nvSpPr>
          <p:cNvPr id="836" name="Google Shape;836;p55"/>
          <p:cNvSpPr/>
          <p:nvPr/>
        </p:nvSpPr>
        <p:spPr>
          <a:xfrm>
            <a:off x="395775" y="4633333"/>
            <a:ext cx="1682700" cy="292800"/>
          </a:xfrm>
          <a:prstGeom prst="rect">
            <a:avLst/>
          </a:prstGeom>
          <a:solidFill>
            <a:srgbClr val="0687B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chemeClr val="lt1"/>
                </a:solidFill>
                <a:latin typeface="Fira Sans Extra Condensed"/>
                <a:ea typeface="Fira Sans Extra Condensed"/>
                <a:cs typeface="Fira Sans Extra Condensed"/>
                <a:sym typeface="Fira Sans Extra Condensed"/>
              </a:rPr>
              <a:t>FETCHD clause</a:t>
            </a:r>
            <a:endParaRPr b="1" i="0" sz="1600" u="none" cap="none" strike="noStrike">
              <a:solidFill>
                <a:schemeClr val="lt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6"/>
          <p:cNvSpPr txBox="1"/>
          <p:nvPr>
            <p:ph type="title"/>
          </p:nvPr>
        </p:nvSpPr>
        <p:spPr>
          <a:xfrm>
            <a:off x="242250" y="119750"/>
            <a:ext cx="8229600" cy="55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t>REFERENCES</a:t>
            </a:r>
            <a:endParaRPr sz="2500"/>
          </a:p>
        </p:txBody>
      </p:sp>
      <p:sp>
        <p:nvSpPr>
          <p:cNvPr id="842" name="Google Shape;842;p56"/>
          <p:cNvSpPr txBox="1"/>
          <p:nvPr/>
        </p:nvSpPr>
        <p:spPr>
          <a:xfrm>
            <a:off x="0" y="583450"/>
            <a:ext cx="9227700" cy="4560000"/>
          </a:xfrm>
          <a:prstGeom prst="rect">
            <a:avLst/>
          </a:prstGeom>
          <a:solidFill>
            <a:srgbClr val="435D74"/>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43" name="Google Shape;843;p56"/>
          <p:cNvSpPr txBox="1"/>
          <p:nvPr>
            <p:ph type="title"/>
          </p:nvPr>
        </p:nvSpPr>
        <p:spPr>
          <a:xfrm>
            <a:off x="242250" y="903950"/>
            <a:ext cx="8901900" cy="37635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lt1"/>
              </a:buClr>
              <a:buSzPts val="1400"/>
              <a:buFont typeface="Roboto Medium"/>
              <a:buChar char="●"/>
            </a:pPr>
            <a:r>
              <a:rPr lang="en" sz="1400">
                <a:solidFill>
                  <a:schemeClr val="lt1"/>
                </a:solidFill>
                <a:latin typeface="Roboto Medium"/>
                <a:ea typeface="Roboto Medium"/>
                <a:cs typeface="Roboto Medium"/>
                <a:sym typeface="Roboto Medium"/>
              </a:rPr>
              <a:t>Data Modeling, creating an ER diagram, is a common task when you are working with databases–especially when building one. This task can be done using pen and paper, or a whiteboard but there are special purpose tools or softwares that are meant for data modelling. There are actually lots of these types of tools. Here are the most popular ones:</a:t>
            </a:r>
            <a:endParaRPr sz="1400">
              <a:solidFill>
                <a:schemeClr val="lt1"/>
              </a:solidFill>
              <a:latin typeface="Roboto Medium"/>
              <a:ea typeface="Roboto Medium"/>
              <a:cs typeface="Roboto Medium"/>
              <a:sym typeface="Roboto Medium"/>
            </a:endParaRPr>
          </a:p>
          <a:p>
            <a:pPr indent="-317500" lvl="1" marL="914400" rtl="0" algn="l">
              <a:lnSpc>
                <a:spcPct val="100000"/>
              </a:lnSpc>
              <a:spcBef>
                <a:spcPts val="0"/>
              </a:spcBef>
              <a:spcAft>
                <a:spcPts val="0"/>
              </a:spcAft>
              <a:buClr>
                <a:schemeClr val="lt1"/>
              </a:buClr>
              <a:buSzPts val="1400"/>
              <a:buFont typeface="Roboto Medium"/>
              <a:buChar char="○"/>
            </a:pPr>
            <a:r>
              <a:rPr b="1" lang="en" sz="1400">
                <a:solidFill>
                  <a:schemeClr val="lt1"/>
                </a:solidFill>
                <a:latin typeface="Roboto"/>
                <a:ea typeface="Roboto"/>
                <a:cs typeface="Roboto"/>
                <a:sym typeface="Roboto"/>
              </a:rPr>
              <a:t>QuickDBD</a:t>
            </a:r>
            <a:r>
              <a:rPr lang="en" sz="1400">
                <a:solidFill>
                  <a:schemeClr val="lt1"/>
                </a:solidFill>
                <a:latin typeface="Roboto Medium"/>
                <a:ea typeface="Roboto Medium"/>
                <a:cs typeface="Roboto Medium"/>
                <a:sym typeface="Roboto Medium"/>
              </a:rPr>
              <a:t>: QuickDBD is an online tool that allows you to draw database diagrams by typing. There’s a panel that lets you enter text in a format that looks like SQL but much simpler. It is then converted to a database diagram.</a:t>
            </a:r>
            <a:r>
              <a:rPr lang="en" sz="1400" u="sng">
                <a:solidFill>
                  <a:srgbClr val="53CFFF"/>
                </a:solidFill>
                <a:latin typeface="Roboto Medium"/>
                <a:ea typeface="Roboto Medium"/>
                <a:cs typeface="Roboto Medium"/>
                <a:sym typeface="Roboto Medium"/>
                <a:hlinkClick r:id="rId3">
                  <a:extLst>
                    <a:ext uri="{A12FA001-AC4F-418D-AE19-62706E023703}">
                      <ahyp:hlinkClr val="tx"/>
                    </a:ext>
                  </a:extLst>
                </a:hlinkClick>
              </a:rPr>
              <a:t>www.quickdatabasediagrams.com/</a:t>
            </a:r>
            <a:endParaRPr sz="1400">
              <a:solidFill>
                <a:srgbClr val="53CFFF"/>
              </a:solidFill>
              <a:latin typeface="Roboto Medium"/>
              <a:ea typeface="Roboto Medium"/>
              <a:cs typeface="Roboto Medium"/>
              <a:sym typeface="Roboto Medium"/>
            </a:endParaRPr>
          </a:p>
          <a:p>
            <a:pPr indent="-317500" lvl="1" marL="914400" rtl="0" algn="l">
              <a:lnSpc>
                <a:spcPct val="100000"/>
              </a:lnSpc>
              <a:spcBef>
                <a:spcPts val="0"/>
              </a:spcBef>
              <a:spcAft>
                <a:spcPts val="0"/>
              </a:spcAft>
              <a:buClr>
                <a:schemeClr val="lt1"/>
              </a:buClr>
              <a:buSzPts val="1400"/>
              <a:buFont typeface="Roboto Medium"/>
              <a:buChar char="○"/>
            </a:pPr>
            <a:r>
              <a:rPr lang="en" sz="1400">
                <a:solidFill>
                  <a:schemeClr val="lt1"/>
                </a:solidFill>
                <a:latin typeface="Roboto Medium"/>
                <a:ea typeface="Roboto Medium"/>
                <a:cs typeface="Roboto Medium"/>
                <a:sym typeface="Roboto Medium"/>
              </a:rPr>
              <a:t>Dbdiagram.io (Free for up to 10 diagrams. After that, it’s $9/month) -</a:t>
            </a:r>
            <a:r>
              <a:rPr lang="en" sz="1400" u="sng">
                <a:solidFill>
                  <a:srgbClr val="53CFFF"/>
                </a:solidFill>
                <a:latin typeface="Roboto Medium"/>
                <a:ea typeface="Roboto Medium"/>
                <a:cs typeface="Roboto Medium"/>
                <a:sym typeface="Roboto Medium"/>
                <a:hlinkClick r:id="rId4">
                  <a:extLst>
                    <a:ext uri="{A12FA001-AC4F-418D-AE19-62706E023703}">
                      <ahyp:hlinkClr val="tx"/>
                    </a:ext>
                  </a:extLst>
                </a:hlinkClick>
              </a:rPr>
              <a:t>www.dbdiagram.io</a:t>
            </a:r>
            <a:endParaRPr sz="1400">
              <a:solidFill>
                <a:srgbClr val="53CFFF"/>
              </a:solidFill>
              <a:latin typeface="Roboto Medium"/>
              <a:ea typeface="Roboto Medium"/>
              <a:cs typeface="Roboto Medium"/>
              <a:sym typeface="Roboto Medium"/>
            </a:endParaRPr>
          </a:p>
          <a:p>
            <a:pPr indent="-317500" lvl="1" marL="914400" rtl="0" algn="l">
              <a:lnSpc>
                <a:spcPct val="100000"/>
              </a:lnSpc>
              <a:spcBef>
                <a:spcPts val="0"/>
              </a:spcBef>
              <a:spcAft>
                <a:spcPts val="0"/>
              </a:spcAft>
              <a:buClr>
                <a:schemeClr val="lt1"/>
              </a:buClr>
              <a:buSzPts val="1400"/>
              <a:buFont typeface="Roboto Medium"/>
              <a:buChar char="○"/>
            </a:pPr>
            <a:r>
              <a:rPr b="1" lang="en" sz="1400">
                <a:solidFill>
                  <a:schemeClr val="lt1"/>
                </a:solidFill>
                <a:latin typeface="Roboto"/>
                <a:ea typeface="Roboto"/>
                <a:cs typeface="Roboto"/>
                <a:sym typeface="Roboto"/>
              </a:rPr>
              <a:t>Lucidchart</a:t>
            </a:r>
            <a:r>
              <a:rPr lang="en" sz="1400">
                <a:solidFill>
                  <a:schemeClr val="lt1"/>
                </a:solidFill>
                <a:latin typeface="Roboto Medium"/>
                <a:ea typeface="Roboto Medium"/>
                <a:cs typeface="Roboto Medium"/>
                <a:sym typeface="Roboto Medium"/>
              </a:rPr>
              <a:t>: It’s an online diagramming tool that offers a range of drawing types, such as flowcharts and database diagrams.It’s free with limited objects, but required subscription for more features–$4.95-$9.00/user/month. </a:t>
            </a:r>
            <a:r>
              <a:rPr lang="en" sz="1400" u="sng">
                <a:solidFill>
                  <a:srgbClr val="53CFFF"/>
                </a:solidFill>
                <a:latin typeface="Roboto Medium"/>
                <a:ea typeface="Roboto Medium"/>
                <a:cs typeface="Roboto Medium"/>
                <a:sym typeface="Roboto Medium"/>
                <a:hlinkClick r:id="rId5">
                  <a:extLst>
                    <a:ext uri="{A12FA001-AC4F-418D-AE19-62706E023703}">
                      <ahyp:hlinkClr val="tx"/>
                    </a:ext>
                  </a:extLst>
                </a:hlinkClick>
              </a:rPr>
              <a:t>www.lucidchart.com</a:t>
            </a:r>
            <a:endParaRPr sz="1400">
              <a:solidFill>
                <a:srgbClr val="53CFFF"/>
              </a:solidFill>
              <a:latin typeface="Roboto Medium"/>
              <a:ea typeface="Roboto Medium"/>
              <a:cs typeface="Roboto Medium"/>
              <a:sym typeface="Roboto Medium"/>
            </a:endParaRPr>
          </a:p>
          <a:p>
            <a:pPr indent="-317500" lvl="1" marL="914400" rtl="0" algn="l">
              <a:lnSpc>
                <a:spcPct val="100000"/>
              </a:lnSpc>
              <a:spcBef>
                <a:spcPts val="0"/>
              </a:spcBef>
              <a:spcAft>
                <a:spcPts val="0"/>
              </a:spcAft>
              <a:buClr>
                <a:schemeClr val="lt1"/>
              </a:buClr>
              <a:buSzPts val="1400"/>
              <a:buFont typeface="Roboto Medium"/>
              <a:buChar char="○"/>
            </a:pPr>
            <a:r>
              <a:rPr lang="en" sz="1400">
                <a:solidFill>
                  <a:schemeClr val="lt1"/>
                </a:solidFill>
                <a:latin typeface="Roboto Medium"/>
                <a:ea typeface="Roboto Medium"/>
                <a:cs typeface="Roboto Medium"/>
                <a:sym typeface="Roboto Medium"/>
              </a:rPr>
              <a:t>Miro-</a:t>
            </a:r>
            <a:r>
              <a:rPr lang="en" sz="1400" u="sng">
                <a:solidFill>
                  <a:srgbClr val="53CFFF"/>
                </a:solidFill>
                <a:latin typeface="Roboto Medium"/>
                <a:ea typeface="Roboto Medium"/>
                <a:cs typeface="Roboto Medium"/>
                <a:sym typeface="Roboto Medium"/>
                <a:hlinkClick r:id="rId6">
                  <a:extLst>
                    <a:ext uri="{A12FA001-AC4F-418D-AE19-62706E023703}">
                      <ahyp:hlinkClr val="tx"/>
                    </a:ext>
                  </a:extLst>
                </a:hlinkClick>
              </a:rPr>
              <a:t>www.miro.com</a:t>
            </a:r>
            <a:endParaRPr sz="1400">
              <a:solidFill>
                <a:srgbClr val="53CFFF"/>
              </a:solidFill>
              <a:latin typeface="Roboto Medium"/>
              <a:ea typeface="Roboto Medium"/>
              <a:cs typeface="Roboto Medium"/>
              <a:sym typeface="Roboto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g Data Infographics by Slidesgo">
  <a:themeElements>
    <a:clrScheme name="Simple Light">
      <a:dk1>
        <a:srgbClr val="000000"/>
      </a:dk1>
      <a:lt1>
        <a:srgbClr val="FFFFFF"/>
      </a:lt1>
      <a:dk2>
        <a:srgbClr val="595959"/>
      </a:dk2>
      <a:lt2>
        <a:srgbClr val="EEEEEE"/>
      </a:lt2>
      <a:accent1>
        <a:srgbClr val="FFC64E"/>
      </a:accent1>
      <a:accent2>
        <a:srgbClr val="FF8001"/>
      </a:accent2>
      <a:accent3>
        <a:srgbClr val="5FD0DB"/>
      </a:accent3>
      <a:accent4>
        <a:srgbClr val="32AAD9"/>
      </a:accent4>
      <a:accent5>
        <a:srgbClr val="1A569C"/>
      </a:accent5>
      <a:accent6>
        <a:srgbClr val="D558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