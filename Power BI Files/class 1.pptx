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embeddedFontLst>
    <p:embeddedFont>
      <p:font typeface="Poppins"/>
      <p:regular r:id="rId40"/>
      <p:bold r:id="rId41"/>
      <p:italic r:id="rId42"/>
      <p:boldItalic r:id="rId43"/>
    </p:embeddedFont>
    <p:embeddedFont>
      <p:font typeface="Poppins Medium"/>
      <p:regular r:id="rId44"/>
      <p:bold r:id="rId45"/>
      <p:italic r:id="rId46"/>
      <p:boldItalic r:id="rId47"/>
    </p:embeddedFont>
    <p:embeddedFont>
      <p:font typeface="Fira Code"/>
      <p:regular r:id="rId48"/>
      <p:bold r:id="rId49"/>
    </p:embeddedFont>
    <p:embeddedFont>
      <p:font typeface="Oswald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regular.fntdata"/><Relationship Id="rId42" Type="http://schemas.openxmlformats.org/officeDocument/2006/relationships/font" Target="fonts/Poppins-italic.fntdata"/><Relationship Id="rId41" Type="http://schemas.openxmlformats.org/officeDocument/2006/relationships/font" Target="fonts/Poppins-bold.fntdata"/><Relationship Id="rId44" Type="http://schemas.openxmlformats.org/officeDocument/2006/relationships/font" Target="fonts/PoppinsMedium-regular.fntdata"/><Relationship Id="rId43" Type="http://schemas.openxmlformats.org/officeDocument/2006/relationships/font" Target="fonts/Poppins-boldItalic.fntdata"/><Relationship Id="rId46" Type="http://schemas.openxmlformats.org/officeDocument/2006/relationships/font" Target="fonts/PoppinsMedium-italic.fntdata"/><Relationship Id="rId45" Type="http://schemas.openxmlformats.org/officeDocument/2006/relationships/font" Target="fonts/Poppins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FiraCode-regular.fntdata"/><Relationship Id="rId47" Type="http://schemas.openxmlformats.org/officeDocument/2006/relationships/font" Target="fonts/PoppinsMedium-boldItalic.fntdata"/><Relationship Id="rId49" Type="http://schemas.openxmlformats.org/officeDocument/2006/relationships/font" Target="fonts/FiraCod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swald-bold.fntdata"/><Relationship Id="rId5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 and four 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703600" y="2228405"/>
            <a:ext cx="3334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2703600" y="2725567"/>
            <a:ext cx="3334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2" type="title"/>
          </p:nvPr>
        </p:nvSpPr>
        <p:spPr>
          <a:xfrm>
            <a:off x="7395067" y="2206549"/>
            <a:ext cx="3334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/>
        </p:txBody>
      </p:sp>
      <p:sp>
        <p:nvSpPr>
          <p:cNvPr id="94" name="Google Shape;94;p14"/>
          <p:cNvSpPr txBox="1"/>
          <p:nvPr>
            <p:ph idx="3" type="subTitle"/>
          </p:nvPr>
        </p:nvSpPr>
        <p:spPr>
          <a:xfrm>
            <a:off x="7395067" y="2725567"/>
            <a:ext cx="3334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4" type="title"/>
          </p:nvPr>
        </p:nvSpPr>
        <p:spPr>
          <a:xfrm>
            <a:off x="2703600" y="4285780"/>
            <a:ext cx="3334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/>
        </p:txBody>
      </p:sp>
      <p:sp>
        <p:nvSpPr>
          <p:cNvPr id="96" name="Google Shape;96;p14"/>
          <p:cNvSpPr txBox="1"/>
          <p:nvPr>
            <p:ph idx="5" type="subTitle"/>
          </p:nvPr>
        </p:nvSpPr>
        <p:spPr>
          <a:xfrm>
            <a:off x="2703600" y="4819619"/>
            <a:ext cx="3334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6" type="title"/>
          </p:nvPr>
        </p:nvSpPr>
        <p:spPr>
          <a:xfrm>
            <a:off x="7395067" y="4285796"/>
            <a:ext cx="3334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/>
        </p:txBody>
      </p:sp>
      <p:sp>
        <p:nvSpPr>
          <p:cNvPr id="98" name="Google Shape;98;p14"/>
          <p:cNvSpPr txBox="1"/>
          <p:nvPr>
            <p:ph idx="7" type="subTitle"/>
          </p:nvPr>
        </p:nvSpPr>
        <p:spPr>
          <a:xfrm>
            <a:off x="7395067" y="4819619"/>
            <a:ext cx="3334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8"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3" name="Google Shape;10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0" name="Google Shape;13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6" name="Google Shape;146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4" name="Google Shape;15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ctrTitle"/>
          </p:nvPr>
        </p:nvSpPr>
        <p:spPr>
          <a:xfrm>
            <a:off x="1683171" y="1779997"/>
            <a:ext cx="8825700" cy="25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CEE"/>
              </a:buClr>
              <a:buSzPts val="4400"/>
              <a:buFont typeface="Poppins"/>
              <a:buNone/>
            </a:pPr>
            <a:r>
              <a:rPr b="1" lang="en-US" sz="4400">
                <a:solidFill>
                  <a:srgbClr val="00ACEE"/>
                </a:solidFill>
                <a:latin typeface="Poppins"/>
                <a:ea typeface="Poppins"/>
                <a:cs typeface="Poppins"/>
                <a:sym typeface="Poppins"/>
              </a:rPr>
              <a:t>INTRO TO </a:t>
            </a:r>
            <a:br>
              <a:rPr b="1" lang="en-US" sz="4800"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96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 b="1" sz="3200">
              <a:solidFill>
                <a:srgbClr val="0B52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200" y="5514975"/>
            <a:ext cx="36576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400"/>
              <a:buFont typeface="Poppins"/>
              <a:buNone/>
            </a:pPr>
            <a:r>
              <a:rPr b="1" lang="en-US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Topics</a:t>
            </a:r>
            <a:endParaRPr/>
          </a:p>
        </p:txBody>
      </p:sp>
      <p:sp>
        <p:nvSpPr>
          <p:cNvPr id="180" name="Google Shape;180;p27"/>
          <p:cNvSpPr txBox="1"/>
          <p:nvPr/>
        </p:nvSpPr>
        <p:spPr>
          <a:xfrm>
            <a:off x="2869324" y="2092939"/>
            <a:ext cx="2770988" cy="5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400"/>
              <a:buFont typeface="Oswald"/>
              <a:buNone/>
            </a:pPr>
            <a:r>
              <a:rPr b="1" i="0" lang="en-US" sz="3200" u="none" cap="none" strike="noStrike">
                <a:solidFill>
                  <a:srgbClr val="00EB8F"/>
                </a:solidFill>
                <a:latin typeface="Oswald"/>
                <a:ea typeface="Oswald"/>
                <a:cs typeface="Oswald"/>
                <a:sym typeface="Oswald"/>
              </a:rPr>
              <a:t>/Programming Concepts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1422214" y="1840851"/>
            <a:ext cx="1420296" cy="869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3000"/>
              <a:buFont typeface="Oswald"/>
              <a:buNone/>
            </a:pPr>
            <a:r>
              <a:rPr b="1" i="0" lang="en-US" sz="5400" u="none" cap="none" strike="noStrike">
                <a:solidFill>
                  <a:srgbClr val="00ACEE"/>
                </a:solidFill>
                <a:latin typeface="Oswald"/>
                <a:ea typeface="Oswald"/>
                <a:cs typeface="Oswald"/>
                <a:sym typeface="Oswald"/>
              </a:rPr>
              <a:t>/01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2779790" y="2682082"/>
            <a:ext cx="3771899" cy="1036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What is programming?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Basics of python.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7991856" y="1874853"/>
            <a:ext cx="2840709" cy="623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400"/>
              <a:buFont typeface="Oswald"/>
              <a:buNone/>
            </a:pPr>
            <a:r>
              <a:rPr b="1" i="0" lang="en-US" sz="3200" u="none" cap="none" strike="noStrike">
                <a:solidFill>
                  <a:srgbClr val="00EB8F"/>
                </a:solidFill>
                <a:latin typeface="Oswald"/>
                <a:ea typeface="Oswald"/>
                <a:cs typeface="Oswald"/>
                <a:sym typeface="Oswald"/>
              </a:rPr>
              <a:t>/Why Python?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6551689" y="1762673"/>
            <a:ext cx="1420295" cy="1026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3000"/>
              <a:buFont typeface="Oswald"/>
              <a:buNone/>
            </a:pPr>
            <a:r>
              <a:rPr b="1" i="0" lang="en-US" sz="5400" u="none" cap="none" strike="noStrike">
                <a:solidFill>
                  <a:srgbClr val="00ACEE"/>
                </a:solidFill>
                <a:latin typeface="Oswald"/>
                <a:ea typeface="Oswald"/>
                <a:cs typeface="Oswald"/>
                <a:sym typeface="Oswald"/>
              </a:rPr>
              <a:t>/02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7821389" y="2721163"/>
            <a:ext cx="4033154" cy="958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why is it so popular?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What’s Python used for?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2928192" y="4328555"/>
            <a:ext cx="2712116" cy="5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400"/>
              <a:buFont typeface="Oswald"/>
              <a:buNone/>
            </a:pPr>
            <a:r>
              <a:rPr b="1" i="0" lang="en-US" sz="3200" u="none" cap="none" strike="noStrike">
                <a:solidFill>
                  <a:srgbClr val="00EB8F"/>
                </a:solidFill>
                <a:latin typeface="Oswald"/>
                <a:ea typeface="Oswald"/>
                <a:cs typeface="Oswald"/>
                <a:sym typeface="Oswald"/>
              </a:rPr>
              <a:t>/Programming 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1606725" y="4033959"/>
            <a:ext cx="1235783" cy="1099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3000"/>
              <a:buFont typeface="Oswald"/>
              <a:buNone/>
            </a:pPr>
            <a:r>
              <a:rPr b="1" i="0" lang="en-US" sz="5400" u="none" cap="none" strike="noStrike">
                <a:solidFill>
                  <a:srgbClr val="00ACEE"/>
                </a:solidFill>
                <a:latin typeface="Oswald"/>
                <a:ea typeface="Oswald"/>
                <a:cs typeface="Oswald"/>
                <a:sym typeface="Oswald"/>
              </a:rPr>
              <a:t>/03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2842508" y="5062169"/>
            <a:ext cx="2797804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VS Code vs Python Terminal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7971984" y="4339682"/>
            <a:ext cx="2648809" cy="526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400"/>
              <a:buFont typeface="Oswald"/>
              <a:buNone/>
            </a:pPr>
            <a:r>
              <a:rPr b="1" i="0" lang="en-US" sz="3200" u="none" cap="none" strike="noStrike">
                <a:solidFill>
                  <a:srgbClr val="00EB8F"/>
                </a:solidFill>
                <a:latin typeface="Oswald"/>
                <a:ea typeface="Oswald"/>
                <a:cs typeface="Oswald"/>
                <a:sym typeface="Oswald"/>
              </a:rPr>
              <a:t>/Reading Materials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6551693" y="4110968"/>
            <a:ext cx="1420291" cy="74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3000"/>
              <a:buFont typeface="Oswald"/>
              <a:buNone/>
            </a:pPr>
            <a:r>
              <a:rPr b="1" i="0" lang="en-US" sz="5400" u="none" cap="none" strike="noStrike">
                <a:solidFill>
                  <a:srgbClr val="24BFEB"/>
                </a:solidFill>
                <a:latin typeface="Oswald"/>
                <a:ea typeface="Oswald"/>
                <a:cs typeface="Oswald"/>
                <a:sym typeface="Oswald"/>
              </a:rPr>
              <a:t>/04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7988089" y="5050908"/>
            <a:ext cx="3365711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References for further reading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27"/>
          <p:cNvCxnSpPr/>
          <p:nvPr/>
        </p:nvCxnSpPr>
        <p:spPr>
          <a:xfrm>
            <a:off x="9156289" y="4393351"/>
            <a:ext cx="0" cy="740100"/>
          </a:xfrm>
          <a:prstGeom prst="straightConnector1">
            <a:avLst/>
          </a:prstGeom>
          <a:noFill/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93" name="Google Shape;1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400"/>
              <a:buFont typeface="Poppins"/>
              <a:buNone/>
            </a:pPr>
            <a:r>
              <a:rPr b="1" i="0" lang="en-US" sz="44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What is programming?</a:t>
            </a:r>
            <a:endParaRPr b="1">
              <a:solidFill>
                <a:srgbClr val="0B52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838199" y="2585811"/>
            <a:ext cx="6330043" cy="210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In simple terms, programming is giving a set of </a:t>
            </a:r>
            <a:r>
              <a:rPr b="1" lang="en-US" sz="3200">
                <a:solidFill>
                  <a:srgbClr val="00ACEE"/>
                </a:solidFill>
                <a:latin typeface="Poppins"/>
                <a:ea typeface="Poppins"/>
                <a:cs typeface="Poppins"/>
                <a:sym typeface="Poppins"/>
              </a:rPr>
              <a:t>instructions</a:t>
            </a: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to a computer to execute.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0" name="Google Shape;2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4466" y="1522473"/>
            <a:ext cx="3893821" cy="3893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838200" y="365125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Poppins"/>
              <a:buNone/>
            </a:pPr>
            <a:r>
              <a:rPr b="1" i="0" lang="en-US" sz="44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Basics of Python.</a:t>
            </a:r>
            <a:endParaRPr/>
          </a:p>
        </p:txBody>
      </p:sp>
      <p:sp>
        <p:nvSpPr>
          <p:cNvPr id="207" name="Google Shape;207;p29"/>
          <p:cNvSpPr/>
          <p:nvPr/>
        </p:nvSpPr>
        <p:spPr>
          <a:xfrm>
            <a:off x="635231" y="1916083"/>
            <a:ext cx="3388129" cy="3956858"/>
          </a:xfrm>
          <a:custGeom>
            <a:rect b="b" l="l" r="r" t="t"/>
            <a:pathLst>
              <a:path extrusionOk="0" h="3956858" w="2826327">
                <a:moveTo>
                  <a:pt x="0" y="471064"/>
                </a:moveTo>
                <a:cubicBezTo>
                  <a:pt x="0" y="210903"/>
                  <a:pt x="210903" y="0"/>
                  <a:pt x="471064" y="0"/>
                </a:cubicBezTo>
                <a:lnTo>
                  <a:pt x="2355263" y="0"/>
                </a:lnTo>
                <a:cubicBezTo>
                  <a:pt x="2615424" y="0"/>
                  <a:pt x="2826327" y="210903"/>
                  <a:pt x="2826327" y="471064"/>
                </a:cubicBezTo>
                <a:cubicBezTo>
                  <a:pt x="2826327" y="901475"/>
                  <a:pt x="2726574" y="1381764"/>
                  <a:pt x="2726574" y="1812175"/>
                </a:cubicBezTo>
                <a:lnTo>
                  <a:pt x="2826327" y="3485794"/>
                </a:lnTo>
                <a:cubicBezTo>
                  <a:pt x="2826327" y="3745955"/>
                  <a:pt x="2233038" y="3707476"/>
                  <a:pt x="1972877" y="3707476"/>
                </a:cubicBezTo>
                <a:cubicBezTo>
                  <a:pt x="1344811" y="3707476"/>
                  <a:pt x="1099130" y="3956858"/>
                  <a:pt x="471064" y="3956858"/>
                </a:cubicBezTo>
                <a:cubicBezTo>
                  <a:pt x="210903" y="3956858"/>
                  <a:pt x="0" y="3745955"/>
                  <a:pt x="0" y="3485794"/>
                </a:cubicBezTo>
                <a:lnTo>
                  <a:pt x="0" y="471064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751608" y="2992583"/>
            <a:ext cx="3271751" cy="2446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2000" u="none" cap="none" strike="noStrike">
                <a:solidFill>
                  <a:srgbClr val="E2E2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It can be used to create a variety of different programs and isn’t specialized for any specific problems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751609" y="2128058"/>
            <a:ext cx="3072246" cy="78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GENERAL PURPOSE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8551024" y="1916083"/>
            <a:ext cx="3188624" cy="3956858"/>
          </a:xfrm>
          <a:custGeom>
            <a:rect b="b" l="l" r="r" t="t"/>
            <a:pathLst>
              <a:path extrusionOk="0" h="3956858" w="2826327">
                <a:moveTo>
                  <a:pt x="0" y="471064"/>
                </a:moveTo>
                <a:cubicBezTo>
                  <a:pt x="0" y="210903"/>
                  <a:pt x="210903" y="0"/>
                  <a:pt x="471064" y="0"/>
                </a:cubicBezTo>
                <a:lnTo>
                  <a:pt x="2355263" y="0"/>
                </a:lnTo>
                <a:cubicBezTo>
                  <a:pt x="2615424" y="0"/>
                  <a:pt x="2826327" y="210903"/>
                  <a:pt x="2826327" y="471064"/>
                </a:cubicBezTo>
                <a:cubicBezTo>
                  <a:pt x="2826327" y="901475"/>
                  <a:pt x="2726574" y="1381764"/>
                  <a:pt x="2726574" y="1812175"/>
                </a:cubicBezTo>
                <a:lnTo>
                  <a:pt x="2826327" y="3485794"/>
                </a:lnTo>
                <a:cubicBezTo>
                  <a:pt x="2826327" y="3745955"/>
                  <a:pt x="2233038" y="3707476"/>
                  <a:pt x="1972877" y="3707476"/>
                </a:cubicBezTo>
                <a:cubicBezTo>
                  <a:pt x="1344811" y="3707476"/>
                  <a:pt x="1099130" y="3956858"/>
                  <a:pt x="471064" y="3956858"/>
                </a:cubicBezTo>
                <a:cubicBezTo>
                  <a:pt x="210903" y="3956858"/>
                  <a:pt x="0" y="3745955"/>
                  <a:pt x="0" y="3485794"/>
                </a:cubicBezTo>
                <a:lnTo>
                  <a:pt x="0" y="471064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8667400" y="2992583"/>
            <a:ext cx="2889369" cy="2446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2000" u="none" cap="none" strike="noStrike">
                <a:solidFill>
                  <a:srgbClr val="E2E2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Python dynamically finds out the type of our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8667401" y="2128058"/>
            <a:ext cx="3072246" cy="78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DYNAMICALLY-TYPED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4593127" y="1916083"/>
            <a:ext cx="3388129" cy="3956858"/>
          </a:xfrm>
          <a:custGeom>
            <a:rect b="b" l="l" r="r" t="t"/>
            <a:pathLst>
              <a:path extrusionOk="0" h="3956858" w="2826327">
                <a:moveTo>
                  <a:pt x="0" y="471064"/>
                </a:moveTo>
                <a:cubicBezTo>
                  <a:pt x="0" y="210903"/>
                  <a:pt x="210903" y="0"/>
                  <a:pt x="471064" y="0"/>
                </a:cubicBezTo>
                <a:lnTo>
                  <a:pt x="2355263" y="0"/>
                </a:lnTo>
                <a:cubicBezTo>
                  <a:pt x="2615424" y="0"/>
                  <a:pt x="2826327" y="210903"/>
                  <a:pt x="2826327" y="471064"/>
                </a:cubicBezTo>
                <a:cubicBezTo>
                  <a:pt x="2826327" y="901475"/>
                  <a:pt x="2726574" y="1381764"/>
                  <a:pt x="2726574" y="1812175"/>
                </a:cubicBezTo>
                <a:lnTo>
                  <a:pt x="2826327" y="3485794"/>
                </a:lnTo>
                <a:cubicBezTo>
                  <a:pt x="2826327" y="3745955"/>
                  <a:pt x="2233038" y="3707476"/>
                  <a:pt x="1972877" y="3707476"/>
                </a:cubicBezTo>
                <a:cubicBezTo>
                  <a:pt x="1344811" y="3707476"/>
                  <a:pt x="1099130" y="3956858"/>
                  <a:pt x="471064" y="3956858"/>
                </a:cubicBezTo>
                <a:cubicBezTo>
                  <a:pt x="210903" y="3956858"/>
                  <a:pt x="0" y="3745955"/>
                  <a:pt x="0" y="3485794"/>
                </a:cubicBezTo>
                <a:lnTo>
                  <a:pt x="0" y="471064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4709504" y="2992583"/>
            <a:ext cx="3271751" cy="2446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2000" u="none" cap="none" strike="noStrike">
                <a:solidFill>
                  <a:srgbClr val="E2E2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Interpreted languages have Interpreters that run through a program line by line and execute each command.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4709505" y="2128058"/>
            <a:ext cx="3072246" cy="78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INTERPRETED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400"/>
              <a:buFont typeface="Poppins"/>
              <a:buNone/>
            </a:pPr>
            <a:r>
              <a:rPr b="1" i="0" lang="en-US" sz="44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What is programming?</a:t>
            </a:r>
            <a:endParaRPr b="1">
              <a:solidFill>
                <a:srgbClr val="0B52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838199" y="2585811"/>
            <a:ext cx="6330043" cy="210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In simple terms, programming is giving a set of </a:t>
            </a:r>
            <a:r>
              <a:rPr b="1" lang="en-US" sz="3200">
                <a:solidFill>
                  <a:srgbClr val="00ACEE"/>
                </a:solidFill>
                <a:latin typeface="Poppins"/>
                <a:ea typeface="Poppins"/>
                <a:cs typeface="Poppins"/>
                <a:sym typeface="Poppins"/>
              </a:rPr>
              <a:t>instructions</a:t>
            </a: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to a computer to execute.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4466" y="1522473"/>
            <a:ext cx="3893821" cy="3893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31"/>
          <p:cNvGrpSpPr/>
          <p:nvPr/>
        </p:nvGrpSpPr>
        <p:grpSpPr>
          <a:xfrm>
            <a:off x="6602875" y="1774355"/>
            <a:ext cx="737100" cy="737100"/>
            <a:chOff x="991075" y="1881675"/>
            <a:chExt cx="737100" cy="737100"/>
          </a:xfrm>
        </p:grpSpPr>
        <p:sp>
          <p:nvSpPr>
            <p:cNvPr id="230" name="Google Shape;230;p31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31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fmla="val 5438597" name="adj1"/>
                <a:gd fmla="val 1620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31"/>
          <p:cNvGrpSpPr/>
          <p:nvPr/>
        </p:nvGrpSpPr>
        <p:grpSpPr>
          <a:xfrm>
            <a:off x="6602876" y="4048130"/>
            <a:ext cx="737100" cy="737100"/>
            <a:chOff x="991075" y="1881675"/>
            <a:chExt cx="737100" cy="737100"/>
          </a:xfrm>
        </p:grpSpPr>
        <p:sp>
          <p:nvSpPr>
            <p:cNvPr id="233" name="Google Shape;233;p31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31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fmla="val 5438597" name="adj1"/>
                <a:gd fmla="val 1620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31"/>
          <p:cNvGrpSpPr/>
          <p:nvPr/>
        </p:nvGrpSpPr>
        <p:grpSpPr>
          <a:xfrm>
            <a:off x="1283786" y="1897042"/>
            <a:ext cx="737100" cy="737100"/>
            <a:chOff x="991075" y="1881675"/>
            <a:chExt cx="737100" cy="737100"/>
          </a:xfrm>
        </p:grpSpPr>
        <p:sp>
          <p:nvSpPr>
            <p:cNvPr id="236" name="Google Shape;236;p31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31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fmla="val 5438597" name="adj1"/>
                <a:gd fmla="val 1620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31"/>
          <p:cNvGrpSpPr/>
          <p:nvPr/>
        </p:nvGrpSpPr>
        <p:grpSpPr>
          <a:xfrm>
            <a:off x="1276409" y="4052170"/>
            <a:ext cx="737100" cy="737100"/>
            <a:chOff x="991075" y="1881675"/>
            <a:chExt cx="737100" cy="737100"/>
          </a:xfrm>
        </p:grpSpPr>
        <p:sp>
          <p:nvSpPr>
            <p:cNvPr id="239" name="Google Shape;239;p31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31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fmla="val 5438597" name="adj1"/>
                <a:gd fmla="val 1620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31"/>
          <p:cNvSpPr txBox="1"/>
          <p:nvPr>
            <p:ph type="title"/>
          </p:nvPr>
        </p:nvSpPr>
        <p:spPr>
          <a:xfrm>
            <a:off x="2091658" y="1992806"/>
            <a:ext cx="3848004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 Medium"/>
              <a:buNone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/WEB AND SOFTWARE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2396533" y="2456511"/>
            <a:ext cx="3334000" cy="13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Python is often used to develop the back end of a website or application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31"/>
          <p:cNvSpPr txBox="1"/>
          <p:nvPr>
            <p:ph idx="2" type="title"/>
          </p:nvPr>
        </p:nvSpPr>
        <p:spPr>
          <a:xfrm>
            <a:off x="7395067" y="1945683"/>
            <a:ext cx="3334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 Medium"/>
              <a:buNone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/ML &amp; AI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4" name="Google Shape;244;p31"/>
          <p:cNvSpPr txBox="1"/>
          <p:nvPr>
            <p:ph idx="4" type="title"/>
          </p:nvPr>
        </p:nvSpPr>
        <p:spPr>
          <a:xfrm>
            <a:off x="2128676" y="4129889"/>
            <a:ext cx="3334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 Medium"/>
              <a:buNone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/AUTOMATION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5" name="Google Shape;245;p31"/>
          <p:cNvSpPr txBox="1"/>
          <p:nvPr>
            <p:ph idx="6" type="title"/>
          </p:nvPr>
        </p:nvSpPr>
        <p:spPr>
          <a:xfrm>
            <a:off x="7395067" y="4124896"/>
            <a:ext cx="3334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 Medium"/>
              <a:buNone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/DATA ANALYSIS</a:t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6" name="Google Shape;246;p31"/>
          <p:cNvSpPr txBox="1"/>
          <p:nvPr>
            <p:ph idx="7" type="subTitle"/>
          </p:nvPr>
        </p:nvSpPr>
        <p:spPr>
          <a:xfrm>
            <a:off x="7418093" y="2598809"/>
            <a:ext cx="3616800" cy="10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Python is used for Machine Learning (ML) and Artificial Intelligence (AI) projects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31"/>
          <p:cNvSpPr txBox="1"/>
          <p:nvPr>
            <p:ph idx="8"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3000"/>
              <a:buFont typeface="Poppins"/>
              <a:buNone/>
            </a:pPr>
            <a:r>
              <a:rPr b="1" lang="en-US" sz="32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why is it so popular?</a:t>
            </a:r>
            <a:endParaRPr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31"/>
          <p:cNvSpPr txBox="1"/>
          <p:nvPr>
            <p:ph idx="4294967295" type="subTitle"/>
          </p:nvPr>
        </p:nvSpPr>
        <p:spPr>
          <a:xfrm>
            <a:off x="2319535" y="4626652"/>
            <a:ext cx="3486311" cy="7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can write Python code to automate task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31"/>
          <p:cNvSpPr txBox="1"/>
          <p:nvPr>
            <p:ph idx="4294967295" type="subTitle"/>
          </p:nvPr>
        </p:nvSpPr>
        <p:spPr>
          <a:xfrm>
            <a:off x="7395067" y="4541022"/>
            <a:ext cx="3831979" cy="1087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Python can be used to analyse and visualize data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0" name="Google Shape;250;p31"/>
          <p:cNvGrpSpPr/>
          <p:nvPr/>
        </p:nvGrpSpPr>
        <p:grpSpPr>
          <a:xfrm>
            <a:off x="6684216" y="1933619"/>
            <a:ext cx="540921" cy="467541"/>
            <a:chOff x="3075107" y="1965828"/>
            <a:chExt cx="405691" cy="350656"/>
          </a:xfrm>
        </p:grpSpPr>
        <p:sp>
          <p:nvSpPr>
            <p:cNvPr id="251" name="Google Shape;251;p31"/>
            <p:cNvSpPr/>
            <p:nvPr/>
          </p:nvSpPr>
          <p:spPr>
            <a:xfrm>
              <a:off x="3262704" y="1965828"/>
              <a:ext cx="218094" cy="237315"/>
            </a:xfrm>
            <a:custGeom>
              <a:rect b="b" l="l" r="r" t="t"/>
              <a:pathLst>
                <a:path extrusionOk="0" h="8297" w="7625">
                  <a:moveTo>
                    <a:pt x="579" y="0"/>
                  </a:moveTo>
                  <a:lnTo>
                    <a:pt x="0" y="8297"/>
                  </a:lnTo>
                  <a:lnTo>
                    <a:pt x="7625" y="7717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3075107" y="1965828"/>
              <a:ext cx="204193" cy="237315"/>
            </a:xfrm>
            <a:custGeom>
              <a:rect b="b" l="l" r="r" t="t"/>
              <a:pathLst>
                <a:path extrusionOk="0" h="8297" w="7139">
                  <a:moveTo>
                    <a:pt x="1" y="0"/>
                  </a:moveTo>
                  <a:lnTo>
                    <a:pt x="1" y="7717"/>
                  </a:lnTo>
                  <a:lnTo>
                    <a:pt x="7138" y="8297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3262704" y="2239574"/>
              <a:ext cx="82861" cy="66301"/>
            </a:xfrm>
            <a:custGeom>
              <a:rect b="b" l="l" r="r" t="t"/>
              <a:pathLst>
                <a:path extrusionOk="0" h="2318" w="2897">
                  <a:moveTo>
                    <a:pt x="0" y="0"/>
                  </a:moveTo>
                  <a:lnTo>
                    <a:pt x="579" y="2318"/>
                  </a:lnTo>
                  <a:lnTo>
                    <a:pt x="2897" y="2318"/>
                  </a:lnTo>
                  <a:lnTo>
                    <a:pt x="2897" y="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3210335" y="2239574"/>
              <a:ext cx="68961" cy="66301"/>
            </a:xfrm>
            <a:custGeom>
              <a:rect b="b" l="l" r="r" t="t"/>
              <a:pathLst>
                <a:path extrusionOk="0" h="2318" w="2411">
                  <a:moveTo>
                    <a:pt x="2410" y="0"/>
                  </a:moveTo>
                  <a:lnTo>
                    <a:pt x="0" y="464"/>
                  </a:lnTo>
                  <a:lnTo>
                    <a:pt x="0" y="2318"/>
                  </a:lnTo>
                  <a:lnTo>
                    <a:pt x="2410" y="2318"/>
                  </a:lnTo>
                  <a:lnTo>
                    <a:pt x="24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3271313" y="2291943"/>
              <a:ext cx="113380" cy="24541"/>
            </a:xfrm>
            <a:custGeom>
              <a:rect b="b" l="l" r="r" t="t"/>
              <a:pathLst>
                <a:path extrusionOk="0" h="858" w="3964">
                  <a:moveTo>
                    <a:pt x="278" y="0"/>
                  </a:moveTo>
                  <a:lnTo>
                    <a:pt x="0" y="487"/>
                  </a:lnTo>
                  <a:lnTo>
                    <a:pt x="278" y="858"/>
                  </a:lnTo>
                  <a:lnTo>
                    <a:pt x="3963" y="858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3174526" y="2291943"/>
              <a:ext cx="104771" cy="24541"/>
            </a:xfrm>
            <a:custGeom>
              <a:rect b="b" l="l" r="r" t="t"/>
              <a:pathLst>
                <a:path extrusionOk="0" h="858" w="3663">
                  <a:moveTo>
                    <a:pt x="1" y="0"/>
                  </a:moveTo>
                  <a:lnTo>
                    <a:pt x="1" y="858"/>
                  </a:lnTo>
                  <a:lnTo>
                    <a:pt x="3662" y="858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3262704" y="2186546"/>
              <a:ext cx="218094" cy="66301"/>
            </a:xfrm>
            <a:custGeom>
              <a:rect b="b" l="l" r="r" t="t"/>
              <a:pathLst>
                <a:path extrusionOk="0" h="2318" w="7625">
                  <a:moveTo>
                    <a:pt x="579" y="0"/>
                  </a:moveTo>
                  <a:lnTo>
                    <a:pt x="0" y="1159"/>
                  </a:lnTo>
                  <a:lnTo>
                    <a:pt x="579" y="2318"/>
                  </a:lnTo>
                  <a:lnTo>
                    <a:pt x="7625" y="231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3075107" y="2186546"/>
              <a:ext cx="204193" cy="66301"/>
            </a:xfrm>
            <a:custGeom>
              <a:rect b="b" l="l" r="r" t="t"/>
              <a:pathLst>
                <a:path extrusionOk="0" h="2318" w="7139">
                  <a:moveTo>
                    <a:pt x="1" y="0"/>
                  </a:moveTo>
                  <a:lnTo>
                    <a:pt x="1" y="2318"/>
                  </a:lnTo>
                  <a:lnTo>
                    <a:pt x="7138" y="2318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3169235" y="2010218"/>
              <a:ext cx="71621" cy="135261"/>
            </a:xfrm>
            <a:custGeom>
              <a:rect b="b" l="l" r="r" t="t"/>
              <a:pathLst>
                <a:path extrusionOk="0" h="4729" w="2504">
                  <a:moveTo>
                    <a:pt x="1831" y="1"/>
                  </a:moveTo>
                  <a:lnTo>
                    <a:pt x="0" y="2318"/>
                  </a:lnTo>
                  <a:lnTo>
                    <a:pt x="1831" y="4729"/>
                  </a:lnTo>
                  <a:lnTo>
                    <a:pt x="2503" y="4242"/>
                  </a:lnTo>
                  <a:lnTo>
                    <a:pt x="1043" y="2318"/>
                  </a:lnTo>
                  <a:lnTo>
                    <a:pt x="2503" y="488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3318362" y="2010218"/>
              <a:ext cx="71621" cy="135261"/>
            </a:xfrm>
            <a:custGeom>
              <a:rect b="b" l="l" r="r" t="t"/>
              <a:pathLst>
                <a:path extrusionOk="0" h="4729" w="2504">
                  <a:moveTo>
                    <a:pt x="580" y="1"/>
                  </a:moveTo>
                  <a:lnTo>
                    <a:pt x="1" y="488"/>
                  </a:lnTo>
                  <a:lnTo>
                    <a:pt x="1438" y="2318"/>
                  </a:lnTo>
                  <a:lnTo>
                    <a:pt x="1" y="4242"/>
                  </a:lnTo>
                  <a:lnTo>
                    <a:pt x="580" y="4729"/>
                  </a:lnTo>
                  <a:lnTo>
                    <a:pt x="2504" y="2318"/>
                  </a:lnTo>
                  <a:lnTo>
                    <a:pt x="5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265335" y="2010218"/>
              <a:ext cx="25227" cy="135261"/>
            </a:xfrm>
            <a:custGeom>
              <a:rect b="b" l="l" r="r" t="t"/>
              <a:pathLst>
                <a:path extrusionOk="0" h="4729" w="882">
                  <a:moveTo>
                    <a:pt x="1" y="1"/>
                  </a:moveTo>
                  <a:lnTo>
                    <a:pt x="1" y="4729"/>
                  </a:lnTo>
                  <a:lnTo>
                    <a:pt x="881" y="4729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62" name="Google Shape;262;p31"/>
          <p:cNvGrpSpPr/>
          <p:nvPr/>
        </p:nvGrpSpPr>
        <p:grpSpPr>
          <a:xfrm>
            <a:off x="1366836" y="1979121"/>
            <a:ext cx="545341" cy="541835"/>
            <a:chOff x="2213404" y="1937970"/>
            <a:chExt cx="409006" cy="406376"/>
          </a:xfrm>
        </p:grpSpPr>
        <p:sp>
          <p:nvSpPr>
            <p:cNvPr id="263" name="Google Shape;263;p31"/>
            <p:cNvSpPr/>
            <p:nvPr/>
          </p:nvSpPr>
          <p:spPr>
            <a:xfrm>
              <a:off x="2461979" y="2186546"/>
              <a:ext cx="160431" cy="157800"/>
            </a:xfrm>
            <a:custGeom>
              <a:rect b="b" l="l" r="r" t="t"/>
              <a:pathLst>
                <a:path extrusionOk="0" h="5517" w="5609">
                  <a:moveTo>
                    <a:pt x="1553" y="0"/>
                  </a:moveTo>
                  <a:lnTo>
                    <a:pt x="0" y="1461"/>
                  </a:lnTo>
                  <a:lnTo>
                    <a:pt x="4056" y="5516"/>
                  </a:lnTo>
                  <a:lnTo>
                    <a:pt x="5609" y="4056"/>
                  </a:lnTo>
                  <a:lnTo>
                    <a:pt x="15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2373829" y="1937970"/>
              <a:ext cx="192924" cy="354013"/>
            </a:xfrm>
            <a:custGeom>
              <a:rect b="b" l="l" r="r" t="t"/>
              <a:pathLst>
                <a:path extrusionOk="0" h="12377" w="6745">
                  <a:moveTo>
                    <a:pt x="580" y="1"/>
                  </a:moveTo>
                  <a:lnTo>
                    <a:pt x="0" y="6096"/>
                  </a:lnTo>
                  <a:lnTo>
                    <a:pt x="580" y="12376"/>
                  </a:lnTo>
                  <a:cubicBezTo>
                    <a:pt x="3940" y="12376"/>
                    <a:pt x="6744" y="9572"/>
                    <a:pt x="6744" y="6189"/>
                  </a:cubicBezTo>
                  <a:cubicBezTo>
                    <a:pt x="6744" y="2805"/>
                    <a:pt x="3940" y="1"/>
                    <a:pt x="5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2213404" y="1937970"/>
              <a:ext cx="177021" cy="354013"/>
            </a:xfrm>
            <a:custGeom>
              <a:rect b="b" l="l" r="r" t="t"/>
              <a:pathLst>
                <a:path extrusionOk="0" h="12377" w="6189">
                  <a:moveTo>
                    <a:pt x="6189" y="1"/>
                  </a:moveTo>
                  <a:cubicBezTo>
                    <a:pt x="2805" y="1"/>
                    <a:pt x="1" y="2805"/>
                    <a:pt x="1" y="6189"/>
                  </a:cubicBezTo>
                  <a:cubicBezTo>
                    <a:pt x="1" y="9572"/>
                    <a:pt x="2805" y="12376"/>
                    <a:pt x="6189" y="12376"/>
                  </a:cubicBezTo>
                  <a:lnTo>
                    <a:pt x="6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2373829" y="1979728"/>
              <a:ext cx="151822" cy="267834"/>
            </a:xfrm>
            <a:custGeom>
              <a:rect b="b" l="l" r="r" t="t"/>
              <a:pathLst>
                <a:path extrusionOk="0" h="9364" w="5308">
                  <a:moveTo>
                    <a:pt x="580" y="1"/>
                  </a:moveTo>
                  <a:lnTo>
                    <a:pt x="0" y="4636"/>
                  </a:lnTo>
                  <a:lnTo>
                    <a:pt x="580" y="9364"/>
                  </a:lnTo>
                  <a:cubicBezTo>
                    <a:pt x="3175" y="9364"/>
                    <a:pt x="5307" y="7347"/>
                    <a:pt x="5307" y="4729"/>
                  </a:cubicBezTo>
                  <a:cubicBezTo>
                    <a:pt x="5307" y="2133"/>
                    <a:pt x="3175" y="1"/>
                    <a:pt x="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2254504" y="1979728"/>
              <a:ext cx="135919" cy="267834"/>
            </a:xfrm>
            <a:custGeom>
              <a:rect b="b" l="l" r="r" t="t"/>
              <a:pathLst>
                <a:path extrusionOk="0" h="9364" w="4752">
                  <a:moveTo>
                    <a:pt x="4752" y="1"/>
                  </a:moveTo>
                  <a:cubicBezTo>
                    <a:pt x="2133" y="1"/>
                    <a:pt x="1" y="2133"/>
                    <a:pt x="1" y="4729"/>
                  </a:cubicBezTo>
                  <a:cubicBezTo>
                    <a:pt x="1" y="7347"/>
                    <a:pt x="2133" y="9364"/>
                    <a:pt x="4752" y="9364"/>
                  </a:cubicBezTo>
                  <a:lnTo>
                    <a:pt x="4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2381780" y="2062587"/>
              <a:ext cx="91499" cy="102111"/>
            </a:xfrm>
            <a:custGeom>
              <a:rect b="b" l="l" r="r" t="t"/>
              <a:pathLst>
                <a:path extrusionOk="0" h="3570" w="3199">
                  <a:moveTo>
                    <a:pt x="2619" y="1"/>
                  </a:moveTo>
                  <a:lnTo>
                    <a:pt x="302" y="2318"/>
                  </a:lnTo>
                  <a:lnTo>
                    <a:pt x="0" y="3176"/>
                  </a:lnTo>
                  <a:lnTo>
                    <a:pt x="302" y="3570"/>
                  </a:lnTo>
                  <a:lnTo>
                    <a:pt x="3198" y="580"/>
                  </a:lnTo>
                  <a:lnTo>
                    <a:pt x="2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2307531" y="2098396"/>
              <a:ext cx="82890" cy="82890"/>
            </a:xfrm>
            <a:custGeom>
              <a:rect b="b" l="l" r="r" t="t"/>
              <a:pathLst>
                <a:path extrusionOk="0" h="2898" w="2898">
                  <a:moveTo>
                    <a:pt x="580" y="0"/>
                  </a:moveTo>
                  <a:lnTo>
                    <a:pt x="1" y="672"/>
                  </a:lnTo>
                  <a:lnTo>
                    <a:pt x="2202" y="2897"/>
                  </a:lnTo>
                  <a:lnTo>
                    <a:pt x="2898" y="2318"/>
                  </a:lnTo>
                  <a:lnTo>
                    <a:pt x="2898" y="1066"/>
                  </a:lnTo>
                  <a:lnTo>
                    <a:pt x="2202" y="1738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70" name="Google Shape;270;p31"/>
          <p:cNvGrpSpPr/>
          <p:nvPr/>
        </p:nvGrpSpPr>
        <p:grpSpPr>
          <a:xfrm>
            <a:off x="6691285" y="4168893"/>
            <a:ext cx="526773" cy="452555"/>
            <a:chOff x="3936811" y="3186773"/>
            <a:chExt cx="395080" cy="339416"/>
          </a:xfrm>
        </p:grpSpPr>
        <p:sp>
          <p:nvSpPr>
            <p:cNvPr id="271" name="Google Shape;271;p31"/>
            <p:cNvSpPr/>
            <p:nvPr/>
          </p:nvSpPr>
          <p:spPr>
            <a:xfrm>
              <a:off x="4193337" y="3186773"/>
              <a:ext cx="138551" cy="229392"/>
            </a:xfrm>
            <a:custGeom>
              <a:rect b="b" l="l" r="r" t="t"/>
              <a:pathLst>
                <a:path extrusionOk="0" h="8020" w="4844">
                  <a:moveTo>
                    <a:pt x="487" y="1"/>
                  </a:moveTo>
                  <a:lnTo>
                    <a:pt x="0" y="8019"/>
                  </a:lnTo>
                  <a:lnTo>
                    <a:pt x="4844" y="7440"/>
                  </a:lnTo>
                  <a:lnTo>
                    <a:pt x="48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4119088" y="3186773"/>
              <a:ext cx="88182" cy="229392"/>
            </a:xfrm>
            <a:custGeom>
              <a:rect b="b" l="l" r="r" t="t"/>
              <a:pathLst>
                <a:path extrusionOk="0" h="8020" w="3083">
                  <a:moveTo>
                    <a:pt x="487" y="1"/>
                  </a:moveTo>
                  <a:lnTo>
                    <a:pt x="0" y="8019"/>
                  </a:lnTo>
                  <a:lnTo>
                    <a:pt x="3083" y="7440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3936811" y="3186773"/>
              <a:ext cx="196242" cy="229392"/>
            </a:xfrm>
            <a:custGeom>
              <a:rect b="b" l="l" r="r" t="t"/>
              <a:pathLst>
                <a:path extrusionOk="0" h="8020" w="6861">
                  <a:moveTo>
                    <a:pt x="0" y="1"/>
                  </a:moveTo>
                  <a:lnTo>
                    <a:pt x="0" y="7440"/>
                  </a:lnTo>
                  <a:lnTo>
                    <a:pt x="6860" y="8019"/>
                  </a:lnTo>
                  <a:lnTo>
                    <a:pt x="68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4146917" y="3280243"/>
              <a:ext cx="24570" cy="22567"/>
            </a:xfrm>
            <a:custGeom>
              <a:rect b="b" l="l" r="r" t="t"/>
              <a:pathLst>
                <a:path extrusionOk="0" h="789" w="859">
                  <a:moveTo>
                    <a:pt x="1" y="0"/>
                  </a:moveTo>
                  <a:lnTo>
                    <a:pt x="1" y="788"/>
                  </a:lnTo>
                  <a:lnTo>
                    <a:pt x="858" y="788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75251" y="3280243"/>
              <a:ext cx="146531" cy="22567"/>
            </a:xfrm>
            <a:custGeom>
              <a:rect b="b" l="l" r="r" t="t"/>
              <a:pathLst>
                <a:path extrusionOk="0" h="789" w="5123">
                  <a:moveTo>
                    <a:pt x="0" y="0"/>
                  </a:moveTo>
                  <a:lnTo>
                    <a:pt x="0" y="788"/>
                  </a:lnTo>
                  <a:lnTo>
                    <a:pt x="5122" y="788"/>
                  </a:lnTo>
                  <a:lnTo>
                    <a:pt x="51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3975251" y="3230534"/>
              <a:ext cx="25227" cy="22539"/>
            </a:xfrm>
            <a:custGeom>
              <a:rect b="b" l="l" r="r" t="t"/>
              <a:pathLst>
                <a:path extrusionOk="0" h="788" w="882">
                  <a:moveTo>
                    <a:pt x="0" y="0"/>
                  </a:moveTo>
                  <a:lnTo>
                    <a:pt x="0" y="788"/>
                  </a:lnTo>
                  <a:lnTo>
                    <a:pt x="881" y="788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3975251" y="3327293"/>
              <a:ext cx="25227" cy="25227"/>
            </a:xfrm>
            <a:custGeom>
              <a:rect b="b" l="l" r="r" t="t"/>
              <a:pathLst>
                <a:path extrusionOk="0" h="882" w="882">
                  <a:moveTo>
                    <a:pt x="0" y="1"/>
                  </a:moveTo>
                  <a:lnTo>
                    <a:pt x="0" y="881"/>
                  </a:lnTo>
                  <a:lnTo>
                    <a:pt x="881" y="881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4246364" y="3230534"/>
              <a:ext cx="46422" cy="22539"/>
            </a:xfrm>
            <a:custGeom>
              <a:rect b="b" l="l" r="r" t="t"/>
              <a:pathLst>
                <a:path extrusionOk="0" h="788" w="1623">
                  <a:moveTo>
                    <a:pt x="0" y="0"/>
                  </a:moveTo>
                  <a:lnTo>
                    <a:pt x="0" y="788"/>
                  </a:lnTo>
                  <a:lnTo>
                    <a:pt x="1622" y="788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4246364" y="3280243"/>
              <a:ext cx="46422" cy="22567"/>
            </a:xfrm>
            <a:custGeom>
              <a:rect b="b" l="l" r="r" t="t"/>
              <a:pathLst>
                <a:path extrusionOk="0" h="789" w="1623">
                  <a:moveTo>
                    <a:pt x="0" y="0"/>
                  </a:moveTo>
                  <a:lnTo>
                    <a:pt x="0" y="788"/>
                  </a:lnTo>
                  <a:lnTo>
                    <a:pt x="1622" y="788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4246364" y="3327293"/>
              <a:ext cx="46422" cy="25227"/>
            </a:xfrm>
            <a:custGeom>
              <a:rect b="b" l="l" r="r" t="t"/>
              <a:pathLst>
                <a:path extrusionOk="0" h="882" w="1623">
                  <a:moveTo>
                    <a:pt x="0" y="1"/>
                  </a:moveTo>
                  <a:lnTo>
                    <a:pt x="0" y="881"/>
                  </a:lnTo>
                  <a:lnTo>
                    <a:pt x="1622" y="881"/>
                  </a:lnTo>
                  <a:lnTo>
                    <a:pt x="1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4119088" y="3449250"/>
              <a:ext cx="80230" cy="66329"/>
            </a:xfrm>
            <a:custGeom>
              <a:rect b="b" l="l" r="r" t="t"/>
              <a:pathLst>
                <a:path extrusionOk="0" h="2319" w="2805">
                  <a:moveTo>
                    <a:pt x="0" y="1"/>
                  </a:moveTo>
                  <a:lnTo>
                    <a:pt x="487" y="2318"/>
                  </a:lnTo>
                  <a:lnTo>
                    <a:pt x="2805" y="2318"/>
                  </a:lnTo>
                  <a:lnTo>
                    <a:pt x="2805" y="5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4069378" y="3449250"/>
              <a:ext cx="63669" cy="66329"/>
            </a:xfrm>
            <a:custGeom>
              <a:rect b="b" l="l" r="r" t="t"/>
              <a:pathLst>
                <a:path extrusionOk="0" h="2319" w="2226">
                  <a:moveTo>
                    <a:pt x="2225" y="1"/>
                  </a:moveTo>
                  <a:lnTo>
                    <a:pt x="0" y="580"/>
                  </a:lnTo>
                  <a:lnTo>
                    <a:pt x="0" y="2318"/>
                  </a:lnTo>
                  <a:lnTo>
                    <a:pt x="2225" y="2318"/>
                  </a:lnTo>
                  <a:lnTo>
                    <a:pt x="2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127039" y="3504279"/>
              <a:ext cx="108089" cy="21910"/>
            </a:xfrm>
            <a:custGeom>
              <a:rect b="b" l="l" r="r" t="t"/>
              <a:pathLst>
                <a:path extrusionOk="0" h="766" w="3779">
                  <a:moveTo>
                    <a:pt x="209" y="0"/>
                  </a:moveTo>
                  <a:lnTo>
                    <a:pt x="1" y="394"/>
                  </a:lnTo>
                  <a:lnTo>
                    <a:pt x="209" y="765"/>
                  </a:lnTo>
                  <a:lnTo>
                    <a:pt x="3778" y="765"/>
                  </a:lnTo>
                  <a:lnTo>
                    <a:pt x="37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4033570" y="3504279"/>
              <a:ext cx="99479" cy="21910"/>
            </a:xfrm>
            <a:custGeom>
              <a:rect b="b" l="l" r="r" t="t"/>
              <a:pathLst>
                <a:path extrusionOk="0" h="766" w="3478">
                  <a:moveTo>
                    <a:pt x="1" y="0"/>
                  </a:moveTo>
                  <a:lnTo>
                    <a:pt x="1" y="765"/>
                  </a:lnTo>
                  <a:lnTo>
                    <a:pt x="3477" y="765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119088" y="3399540"/>
              <a:ext cx="212803" cy="66329"/>
            </a:xfrm>
            <a:custGeom>
              <a:rect b="b" l="l" r="r" t="t"/>
              <a:pathLst>
                <a:path extrusionOk="0" h="2319" w="7440">
                  <a:moveTo>
                    <a:pt x="487" y="1"/>
                  </a:moveTo>
                  <a:lnTo>
                    <a:pt x="0" y="1159"/>
                  </a:lnTo>
                  <a:lnTo>
                    <a:pt x="487" y="2318"/>
                  </a:lnTo>
                  <a:lnTo>
                    <a:pt x="7440" y="2318"/>
                  </a:lnTo>
                  <a:lnTo>
                    <a:pt x="74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3936811" y="3399540"/>
              <a:ext cx="196242" cy="66329"/>
            </a:xfrm>
            <a:custGeom>
              <a:rect b="b" l="l" r="r" t="t"/>
              <a:pathLst>
                <a:path extrusionOk="0" h="2319" w="6861">
                  <a:moveTo>
                    <a:pt x="0" y="1"/>
                  </a:moveTo>
                  <a:lnTo>
                    <a:pt x="0" y="2318"/>
                  </a:lnTo>
                  <a:lnTo>
                    <a:pt x="6860" y="2318"/>
                  </a:lnTo>
                  <a:lnTo>
                    <a:pt x="68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4127039" y="3230534"/>
              <a:ext cx="44448" cy="22539"/>
            </a:xfrm>
            <a:custGeom>
              <a:rect b="b" l="l" r="r" t="t"/>
              <a:pathLst>
                <a:path extrusionOk="0" h="788" w="1554">
                  <a:moveTo>
                    <a:pt x="209" y="0"/>
                  </a:moveTo>
                  <a:lnTo>
                    <a:pt x="1" y="394"/>
                  </a:lnTo>
                  <a:lnTo>
                    <a:pt x="209" y="788"/>
                  </a:lnTo>
                  <a:lnTo>
                    <a:pt x="1553" y="788"/>
                  </a:lnTo>
                  <a:lnTo>
                    <a:pt x="15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4127039" y="3327293"/>
              <a:ext cx="44448" cy="25227"/>
            </a:xfrm>
            <a:custGeom>
              <a:rect b="b" l="l" r="r" t="t"/>
              <a:pathLst>
                <a:path extrusionOk="0" h="882" w="1554">
                  <a:moveTo>
                    <a:pt x="209" y="1"/>
                  </a:moveTo>
                  <a:lnTo>
                    <a:pt x="1" y="487"/>
                  </a:lnTo>
                  <a:lnTo>
                    <a:pt x="209" y="881"/>
                  </a:lnTo>
                  <a:lnTo>
                    <a:pt x="1553" y="881"/>
                  </a:lnTo>
                  <a:lnTo>
                    <a:pt x="15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4024960" y="3230534"/>
              <a:ext cx="108089" cy="22539"/>
            </a:xfrm>
            <a:custGeom>
              <a:rect b="b" l="l" r="r" t="t"/>
              <a:pathLst>
                <a:path extrusionOk="0" h="788" w="3779">
                  <a:moveTo>
                    <a:pt x="1" y="0"/>
                  </a:moveTo>
                  <a:lnTo>
                    <a:pt x="1" y="788"/>
                  </a:lnTo>
                  <a:lnTo>
                    <a:pt x="3778" y="788"/>
                  </a:lnTo>
                  <a:lnTo>
                    <a:pt x="37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4024960" y="3327293"/>
              <a:ext cx="108089" cy="25227"/>
            </a:xfrm>
            <a:custGeom>
              <a:rect b="b" l="l" r="r" t="t"/>
              <a:pathLst>
                <a:path extrusionOk="0" h="882" w="3779">
                  <a:moveTo>
                    <a:pt x="1" y="1"/>
                  </a:moveTo>
                  <a:lnTo>
                    <a:pt x="1" y="881"/>
                  </a:lnTo>
                  <a:lnTo>
                    <a:pt x="3778" y="881"/>
                  </a:lnTo>
                  <a:lnTo>
                    <a:pt x="37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91" name="Google Shape;291;p31"/>
          <p:cNvGrpSpPr/>
          <p:nvPr/>
        </p:nvGrpSpPr>
        <p:grpSpPr>
          <a:xfrm>
            <a:off x="1361864" y="4129889"/>
            <a:ext cx="545345" cy="540915"/>
            <a:chOff x="1351729" y="3153624"/>
            <a:chExt cx="409009" cy="405686"/>
          </a:xfrm>
        </p:grpSpPr>
        <p:sp>
          <p:nvSpPr>
            <p:cNvPr id="292" name="Google Shape;292;p31"/>
            <p:cNvSpPr/>
            <p:nvPr/>
          </p:nvSpPr>
          <p:spPr>
            <a:xfrm>
              <a:off x="1539297" y="3208653"/>
              <a:ext cx="221441" cy="237315"/>
            </a:xfrm>
            <a:custGeom>
              <a:rect b="b" l="l" r="r" t="t"/>
              <a:pathLst>
                <a:path extrusionOk="0" h="8297" w="7742">
                  <a:moveTo>
                    <a:pt x="580" y="0"/>
                  </a:moveTo>
                  <a:lnTo>
                    <a:pt x="1" y="8297"/>
                  </a:lnTo>
                  <a:lnTo>
                    <a:pt x="7741" y="7718"/>
                  </a:lnTo>
                  <a:lnTo>
                    <a:pt x="77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3" name="Google Shape;293;p31"/>
            <p:cNvSpPr/>
            <p:nvPr/>
          </p:nvSpPr>
          <p:spPr>
            <a:xfrm>
              <a:off x="1351729" y="3208653"/>
              <a:ext cx="204165" cy="237315"/>
            </a:xfrm>
            <a:custGeom>
              <a:rect b="b" l="l" r="r" t="t"/>
              <a:pathLst>
                <a:path extrusionOk="0" h="8297" w="7138">
                  <a:moveTo>
                    <a:pt x="0" y="0"/>
                  </a:moveTo>
                  <a:lnTo>
                    <a:pt x="0" y="7718"/>
                  </a:lnTo>
                  <a:lnTo>
                    <a:pt x="7138" y="8297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4" name="Google Shape;294;p31"/>
            <p:cNvSpPr/>
            <p:nvPr/>
          </p:nvSpPr>
          <p:spPr>
            <a:xfrm>
              <a:off x="1539297" y="3482399"/>
              <a:ext cx="85550" cy="66329"/>
            </a:xfrm>
            <a:custGeom>
              <a:rect b="b" l="l" r="r" t="t"/>
              <a:pathLst>
                <a:path extrusionOk="0" h="2319" w="2991">
                  <a:moveTo>
                    <a:pt x="1" y="1"/>
                  </a:moveTo>
                  <a:lnTo>
                    <a:pt x="580" y="2318"/>
                  </a:lnTo>
                  <a:lnTo>
                    <a:pt x="2990" y="2318"/>
                  </a:lnTo>
                  <a:lnTo>
                    <a:pt x="2990" y="5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5" name="Google Shape;295;p31"/>
            <p:cNvSpPr/>
            <p:nvPr/>
          </p:nvSpPr>
          <p:spPr>
            <a:xfrm>
              <a:off x="1489588" y="3482399"/>
              <a:ext cx="66301" cy="66329"/>
            </a:xfrm>
            <a:custGeom>
              <a:rect b="b" l="l" r="r" t="t"/>
              <a:pathLst>
                <a:path extrusionOk="0" h="2319" w="2318">
                  <a:moveTo>
                    <a:pt x="2318" y="1"/>
                  </a:moveTo>
                  <a:lnTo>
                    <a:pt x="0" y="580"/>
                  </a:lnTo>
                  <a:lnTo>
                    <a:pt x="0" y="2318"/>
                  </a:lnTo>
                  <a:lnTo>
                    <a:pt x="2318" y="2318"/>
                  </a:lnTo>
                  <a:lnTo>
                    <a:pt x="2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1547906" y="3537429"/>
              <a:ext cx="113380" cy="21881"/>
            </a:xfrm>
            <a:custGeom>
              <a:rect b="b" l="l" r="r" t="t"/>
              <a:pathLst>
                <a:path extrusionOk="0" h="765" w="3964">
                  <a:moveTo>
                    <a:pt x="279" y="0"/>
                  </a:moveTo>
                  <a:lnTo>
                    <a:pt x="1" y="394"/>
                  </a:lnTo>
                  <a:lnTo>
                    <a:pt x="279" y="765"/>
                  </a:lnTo>
                  <a:lnTo>
                    <a:pt x="3964" y="765"/>
                  </a:lnTo>
                  <a:lnTo>
                    <a:pt x="39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7" name="Google Shape;297;p31"/>
            <p:cNvSpPr/>
            <p:nvPr/>
          </p:nvSpPr>
          <p:spPr>
            <a:xfrm>
              <a:off x="1451147" y="3537429"/>
              <a:ext cx="104742" cy="21881"/>
            </a:xfrm>
            <a:custGeom>
              <a:rect b="b" l="l" r="r" t="t"/>
              <a:pathLst>
                <a:path extrusionOk="0" h="765" w="3662">
                  <a:moveTo>
                    <a:pt x="0" y="0"/>
                  </a:moveTo>
                  <a:lnTo>
                    <a:pt x="0" y="765"/>
                  </a:lnTo>
                  <a:lnTo>
                    <a:pt x="3662" y="765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8" name="Google Shape;298;p31"/>
            <p:cNvSpPr/>
            <p:nvPr/>
          </p:nvSpPr>
          <p:spPr>
            <a:xfrm>
              <a:off x="1539297" y="3429372"/>
              <a:ext cx="221441" cy="69618"/>
            </a:xfrm>
            <a:custGeom>
              <a:rect b="b" l="l" r="r" t="t"/>
              <a:pathLst>
                <a:path extrusionOk="0" h="2434" w="7742">
                  <a:moveTo>
                    <a:pt x="580" y="1"/>
                  </a:moveTo>
                  <a:lnTo>
                    <a:pt x="1" y="1159"/>
                  </a:lnTo>
                  <a:lnTo>
                    <a:pt x="580" y="2434"/>
                  </a:lnTo>
                  <a:lnTo>
                    <a:pt x="7741" y="2434"/>
                  </a:lnTo>
                  <a:lnTo>
                    <a:pt x="77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9" name="Google Shape;299;p31"/>
            <p:cNvSpPr/>
            <p:nvPr/>
          </p:nvSpPr>
          <p:spPr>
            <a:xfrm>
              <a:off x="1351729" y="3429372"/>
              <a:ext cx="204165" cy="69618"/>
            </a:xfrm>
            <a:custGeom>
              <a:rect b="b" l="l" r="r" t="t"/>
              <a:pathLst>
                <a:path extrusionOk="0" h="2434" w="7138">
                  <a:moveTo>
                    <a:pt x="0" y="1"/>
                  </a:moveTo>
                  <a:lnTo>
                    <a:pt x="0" y="2434"/>
                  </a:lnTo>
                  <a:lnTo>
                    <a:pt x="7138" y="2434"/>
                  </a:lnTo>
                  <a:lnTo>
                    <a:pt x="71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0" name="Google Shape;300;p31"/>
            <p:cNvSpPr/>
            <p:nvPr/>
          </p:nvSpPr>
          <p:spPr>
            <a:xfrm>
              <a:off x="1539297" y="3153624"/>
              <a:ext cx="102111" cy="218123"/>
            </a:xfrm>
            <a:custGeom>
              <a:rect b="b" l="l" r="r" t="t"/>
              <a:pathLst>
                <a:path extrusionOk="0" h="7626" w="3570">
                  <a:moveTo>
                    <a:pt x="580" y="1"/>
                  </a:moveTo>
                  <a:lnTo>
                    <a:pt x="1" y="4242"/>
                  </a:lnTo>
                  <a:lnTo>
                    <a:pt x="580" y="7625"/>
                  </a:lnTo>
                  <a:lnTo>
                    <a:pt x="2040" y="7625"/>
                  </a:lnTo>
                  <a:lnTo>
                    <a:pt x="2040" y="3384"/>
                  </a:lnTo>
                  <a:lnTo>
                    <a:pt x="3570" y="3384"/>
                  </a:lnTo>
                  <a:lnTo>
                    <a:pt x="5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1" name="Google Shape;301;p31"/>
            <p:cNvSpPr/>
            <p:nvPr/>
          </p:nvSpPr>
          <p:spPr>
            <a:xfrm>
              <a:off x="1470368" y="3153624"/>
              <a:ext cx="85521" cy="218123"/>
            </a:xfrm>
            <a:custGeom>
              <a:rect b="b" l="l" r="r" t="t"/>
              <a:pathLst>
                <a:path extrusionOk="0" h="7626" w="2990">
                  <a:moveTo>
                    <a:pt x="2990" y="1"/>
                  </a:moveTo>
                  <a:lnTo>
                    <a:pt x="0" y="3384"/>
                  </a:lnTo>
                  <a:lnTo>
                    <a:pt x="1553" y="3384"/>
                  </a:lnTo>
                  <a:lnTo>
                    <a:pt x="1553" y="7625"/>
                  </a:lnTo>
                  <a:lnTo>
                    <a:pt x="2990" y="7625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02" name="Google Shape;3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/>
          <p:nvPr>
            <p:ph idx="1" type="body"/>
          </p:nvPr>
        </p:nvSpPr>
        <p:spPr>
          <a:xfrm>
            <a:off x="739931" y="2557287"/>
            <a:ext cx="6158710" cy="3999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In space: </a:t>
            </a:r>
            <a:r>
              <a:rPr lang="en-US" sz="2400">
                <a:solidFill>
                  <a:srgbClr val="00AC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NASA</a:t>
            </a: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uses Python for its central command system.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music and Social Media platforms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YouTube, Instagram, Spotify…etc.</a:t>
            </a:r>
            <a:endParaRPr/>
          </a:p>
        </p:txBody>
      </p:sp>
      <p:sp>
        <p:nvSpPr>
          <p:cNvPr id="308" name="Google Shape;308;p32"/>
          <p:cNvSpPr txBox="1"/>
          <p:nvPr/>
        </p:nvSpPr>
        <p:spPr>
          <a:xfrm>
            <a:off x="577142" y="493258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Poppins"/>
              <a:buNone/>
            </a:pPr>
            <a:r>
              <a:rPr b="1" i="0" lang="en-US" sz="48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What’s Python used for?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1790" y="2814585"/>
            <a:ext cx="3077352" cy="1742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"/>
          <p:cNvSpPr txBox="1"/>
          <p:nvPr>
            <p:ph type="title"/>
          </p:nvPr>
        </p:nvSpPr>
        <p:spPr>
          <a:xfrm>
            <a:off x="800100" y="557580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400"/>
              <a:buFont typeface="Poppins"/>
              <a:buNone/>
            </a:pPr>
            <a:r>
              <a:rPr b="1" lang="en-US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Python Installation. </a:t>
            </a:r>
            <a:endParaRPr/>
          </a:p>
        </p:txBody>
      </p:sp>
      <p:pic>
        <p:nvPicPr>
          <p:cNvPr id="316" name="Google Shape;3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3"/>
          <p:cNvPicPr preferRelativeResize="0"/>
          <p:nvPr/>
        </p:nvPicPr>
        <p:blipFill rotWithShape="1">
          <a:blip r:embed="rId4">
            <a:alphaModFix/>
          </a:blip>
          <a:srcRect b="7932" l="0" r="7437" t="0"/>
          <a:stretch/>
        </p:blipFill>
        <p:spPr>
          <a:xfrm>
            <a:off x="1053770" y="1264544"/>
            <a:ext cx="9803245" cy="490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 txBox="1"/>
          <p:nvPr>
            <p:ph type="title"/>
          </p:nvPr>
        </p:nvSpPr>
        <p:spPr>
          <a:xfrm>
            <a:off x="800100" y="557580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3200"/>
              <a:buFont typeface="Poppins"/>
              <a:buNone/>
            </a:pPr>
            <a:r>
              <a:rPr b="1" lang="en-US" sz="32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Python Installation(windows). </a:t>
            </a:r>
            <a:r>
              <a:rPr b="1" lang="en-US" sz="16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Cont.…</a:t>
            </a:r>
            <a:endParaRPr b="1" sz="3200">
              <a:solidFill>
                <a:srgbClr val="0B52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3" name="Google Shape;3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6133" y="1361967"/>
            <a:ext cx="8325380" cy="513313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4"/>
          <p:cNvSpPr/>
          <p:nvPr/>
        </p:nvSpPr>
        <p:spPr>
          <a:xfrm rot="-2699539">
            <a:off x="2160398" y="4085741"/>
            <a:ext cx="1159095" cy="172500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5400"/>
              <a:buFont typeface="Poppins"/>
              <a:buNone/>
            </a:pPr>
            <a:r>
              <a:rPr b="1" lang="en-US" sz="54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What’s IDE</a:t>
            </a:r>
            <a:endParaRPr/>
          </a:p>
        </p:txBody>
      </p:sp>
      <p:sp>
        <p:nvSpPr>
          <p:cNvPr id="331" name="Google Shape;331;p35"/>
          <p:cNvSpPr txBox="1"/>
          <p:nvPr>
            <p:ph idx="1" type="body"/>
          </p:nvPr>
        </p:nvSpPr>
        <p:spPr>
          <a:xfrm>
            <a:off x="1079127" y="2238375"/>
            <a:ext cx="10033746" cy="42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 stands for Integrated Development Environment. It's a software application that provides a comprehensive set of tools and features to facilitate software development.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 IDE typically combines a source code editor, a compiler or interpreter, build automation tools, debugging tools, and other utilities into a single integrated interface.</a:t>
            </a:r>
            <a:endParaRPr b="1" sz="3200">
              <a:solidFill>
                <a:srgbClr val="C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2" name="Google Shape;33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5400"/>
              <a:buFont typeface="Poppins"/>
              <a:buNone/>
            </a:pPr>
            <a:r>
              <a:rPr b="1" lang="en-US" sz="54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Vs Code Installation.</a:t>
            </a:r>
            <a:endParaRPr/>
          </a:p>
        </p:txBody>
      </p:sp>
      <p:pic>
        <p:nvPicPr>
          <p:cNvPr id="338" name="Google Shape;338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199" y="1400380"/>
            <a:ext cx="10357601" cy="467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title"/>
          </p:nvPr>
        </p:nvSpPr>
        <p:spPr>
          <a:xfrm>
            <a:off x="721987" y="709899"/>
            <a:ext cx="9690846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5400"/>
              <a:buFont typeface="Poppins"/>
              <a:buNone/>
            </a:pPr>
            <a:r>
              <a:rPr b="1" lang="en-US" sz="54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Print statement </a:t>
            </a:r>
            <a:endParaRPr/>
          </a:p>
        </p:txBody>
      </p:sp>
      <p:sp>
        <p:nvSpPr>
          <p:cNvPr id="345" name="Google Shape;345;p37"/>
          <p:cNvSpPr txBox="1"/>
          <p:nvPr>
            <p:ph idx="1" type="body"/>
          </p:nvPr>
        </p:nvSpPr>
        <p:spPr>
          <a:xfrm>
            <a:off x="926355" y="2683936"/>
            <a:ext cx="5169645" cy="1743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b="1" lang="en-US" sz="3500">
                <a:latin typeface="Poppins Medium"/>
                <a:ea typeface="Poppins Medium"/>
                <a:cs typeface="Poppins Medium"/>
                <a:sym typeface="Poppins Medium"/>
              </a:rPr>
              <a:t>*Does exactly what it sounds like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/>
              <a:t>	</a:t>
            </a:r>
            <a:r>
              <a:rPr lang="en-US" sz="3200">
                <a:latin typeface="Poppins Medium"/>
                <a:ea typeface="Poppins Medium"/>
                <a:cs typeface="Poppins Medium"/>
                <a:sym typeface="Poppins Medium"/>
              </a:rPr>
              <a:t>print “hello world”</a:t>
            </a:r>
            <a:endParaRPr sz="40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46" name="Google Shape;34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9578" y="1611270"/>
            <a:ext cx="8179518" cy="524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885721"/>
            <a:ext cx="5352393" cy="535239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800"/>
              <a:buFont typeface="Poppins"/>
              <a:buNone/>
            </a:pPr>
            <a:r>
              <a:rPr b="1" lang="en-US" sz="48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Comments in python</a:t>
            </a:r>
            <a:endParaRPr/>
          </a:p>
        </p:txBody>
      </p:sp>
      <p:sp>
        <p:nvSpPr>
          <p:cNvPr id="354" name="Google Shape;354;p38"/>
          <p:cNvSpPr txBox="1"/>
          <p:nvPr>
            <p:ph idx="1" type="body"/>
          </p:nvPr>
        </p:nvSpPr>
        <p:spPr>
          <a:xfrm>
            <a:off x="838200" y="2506662"/>
            <a:ext cx="6330696" cy="2998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Comments are some piece of English text which explains what the code does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we write comments in the code so that is easier for others to understand.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   #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 used to indicate comment</a:t>
            </a:r>
            <a:endParaRPr/>
          </a:p>
        </p:txBody>
      </p:sp>
      <p:pic>
        <p:nvPicPr>
          <p:cNvPr id="355" name="Google Shape;35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"/>
          <p:cNvSpPr txBox="1"/>
          <p:nvPr>
            <p:ph type="title"/>
          </p:nvPr>
        </p:nvSpPr>
        <p:spPr>
          <a:xfrm>
            <a:off x="723900" y="745068"/>
            <a:ext cx="9690846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5400"/>
              <a:buFont typeface="Poppins"/>
              <a:buNone/>
            </a:pPr>
            <a:r>
              <a:rPr b="1" lang="en-US" sz="54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Python Variables</a:t>
            </a:r>
            <a:endParaRPr/>
          </a:p>
        </p:txBody>
      </p:sp>
      <p:sp>
        <p:nvSpPr>
          <p:cNvPr id="361" name="Google Shape;361;p39"/>
          <p:cNvSpPr txBox="1"/>
          <p:nvPr>
            <p:ph idx="1" type="body"/>
          </p:nvPr>
        </p:nvSpPr>
        <p:spPr>
          <a:xfrm>
            <a:off x="723900" y="1968500"/>
            <a:ext cx="10871200" cy="4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Variables are memory locations that store some data.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Used to store a value, whether it be a </a:t>
            </a:r>
            <a:r>
              <a:rPr lang="en-US">
                <a:solidFill>
                  <a:srgbClr val="B31166"/>
                </a:solidFill>
                <a:latin typeface="Poppins"/>
                <a:ea typeface="Poppins"/>
                <a:cs typeface="Poppins"/>
                <a:sym typeface="Poppins"/>
              </a:rPr>
              <a:t>number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>
                <a:solidFill>
                  <a:srgbClr val="B31166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, or a </a:t>
            </a:r>
            <a:r>
              <a:rPr lang="en-US">
                <a:solidFill>
                  <a:srgbClr val="B31166"/>
                </a:solidFill>
                <a:latin typeface="Poppins"/>
                <a:ea typeface="Poppins"/>
                <a:cs typeface="Poppins"/>
                <a:sym typeface="Poppins"/>
              </a:rPr>
              <a:t>Boolean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(true/false) value.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Later in your code, you can </a:t>
            </a:r>
            <a:r>
              <a:rPr lang="en-US">
                <a:solidFill>
                  <a:srgbClr val="B31166"/>
                </a:solidFill>
                <a:latin typeface="Poppins"/>
                <a:ea typeface="Poppins"/>
                <a:cs typeface="Poppins"/>
                <a:sym typeface="Poppins"/>
              </a:rPr>
              <a:t>simply use the variable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that holds that value.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Python is case-sensitive.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Choosing Good Identifiers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ts val="2800"/>
              <a:buNone/>
            </a:pPr>
            <a:r>
              <a:rPr lang="en-US">
                <a:solidFill>
                  <a:srgbClr val="B31166"/>
                </a:solidFill>
                <a:latin typeface="Poppins"/>
                <a:ea typeface="Poppins"/>
                <a:cs typeface="Poppins"/>
                <a:sym typeface="Poppins"/>
              </a:rPr>
              <a:t>		A-Z, a-z, 0-9 , _ </a:t>
            </a:r>
            <a:endParaRPr sz="2800">
              <a:solidFill>
                <a:srgbClr val="B311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Keywords can not be variables(Identifiers)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B311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2" name="Google Shape;36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20529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0"/>
          <p:cNvSpPr txBox="1"/>
          <p:nvPr>
            <p:ph idx="1" type="body"/>
          </p:nvPr>
        </p:nvSpPr>
        <p:spPr>
          <a:xfrm>
            <a:off x="464040" y="614485"/>
            <a:ext cx="8103207" cy="1143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400"/>
              <a:buNone/>
            </a:pPr>
            <a:r>
              <a:rPr b="1" lang="en-US" sz="44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Python Keywords</a:t>
            </a:r>
            <a:endParaRPr/>
          </a:p>
        </p:txBody>
      </p:sp>
      <p:pic>
        <p:nvPicPr>
          <p:cNvPr id="368" name="Google Shape;36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810" y="1336321"/>
            <a:ext cx="9989644" cy="490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1"/>
          <p:cNvSpPr txBox="1"/>
          <p:nvPr>
            <p:ph type="title"/>
          </p:nvPr>
        </p:nvSpPr>
        <p:spPr>
          <a:xfrm>
            <a:off x="627415" y="621975"/>
            <a:ext cx="9690846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800"/>
              <a:buFont typeface="Poppins"/>
              <a:buNone/>
            </a:pPr>
            <a:r>
              <a:rPr b="1" lang="en-US" sz="48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Python Variables</a:t>
            </a:r>
            <a:endParaRPr/>
          </a:p>
        </p:txBody>
      </p:sp>
      <p:sp>
        <p:nvSpPr>
          <p:cNvPr id="375" name="Google Shape;375;p41"/>
          <p:cNvSpPr txBox="1"/>
          <p:nvPr>
            <p:ph idx="1" type="body"/>
          </p:nvPr>
        </p:nvSpPr>
        <p:spPr>
          <a:xfrm>
            <a:off x="660400" y="1706685"/>
            <a:ext cx="10871200" cy="42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Unlike Java, C++ and C#, Python </a:t>
            </a:r>
            <a:r>
              <a:rPr b="1" lang="en-US">
                <a:solidFill>
                  <a:srgbClr val="B3116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is not a strongly typed </a:t>
            </a: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language.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	In </a:t>
            </a:r>
            <a:r>
              <a:rPr lang="en-US">
                <a:solidFill>
                  <a:srgbClr val="00AC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java</a:t>
            </a: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 or </a:t>
            </a:r>
            <a:r>
              <a:rPr lang="en-US">
                <a:solidFill>
                  <a:srgbClr val="00AC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c++</a:t>
            </a: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      int VariableName = 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	In </a:t>
            </a:r>
            <a:r>
              <a:rPr lang="en-US">
                <a:solidFill>
                  <a:srgbClr val="00AC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python</a:t>
            </a: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              VariableName=3</a:t>
            </a:r>
            <a:endParaRPr/>
          </a:p>
        </p:txBody>
      </p:sp>
      <p:pic>
        <p:nvPicPr>
          <p:cNvPr id="376" name="Google Shape;37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/>
          <p:nvPr>
            <p:ph type="title"/>
          </p:nvPr>
        </p:nvSpPr>
        <p:spPr>
          <a:xfrm>
            <a:off x="722733" y="815406"/>
            <a:ext cx="9690846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000"/>
              <a:buFont typeface="Poppins"/>
              <a:buNone/>
            </a:pPr>
            <a:r>
              <a:rPr b="1" lang="en-US" sz="4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Activity 1</a:t>
            </a:r>
            <a:endParaRPr/>
          </a:p>
        </p:txBody>
      </p:sp>
      <p:sp>
        <p:nvSpPr>
          <p:cNvPr id="382" name="Google Shape;382;p42"/>
          <p:cNvSpPr txBox="1"/>
          <p:nvPr>
            <p:ph idx="1" type="body"/>
          </p:nvPr>
        </p:nvSpPr>
        <p:spPr>
          <a:xfrm>
            <a:off x="1125415" y="1758463"/>
            <a:ext cx="10040816" cy="4009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Which variables are valid and which ones are not.(state your reason)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a. myvar = </a:t>
            </a:r>
            <a:r>
              <a:rPr b="0" i="0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br>
              <a:rPr lang="en-US"/>
            </a:br>
            <a:r>
              <a:rPr lang="en-US"/>
              <a:t>b.    </a:t>
            </a: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my_var = </a:t>
            </a:r>
            <a:r>
              <a:rPr b="0" i="0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br>
              <a:rPr lang="en-US"/>
            </a:br>
            <a:r>
              <a:rPr lang="en-US"/>
              <a:t>c.    </a:t>
            </a: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_my_var = </a:t>
            </a:r>
            <a:r>
              <a:rPr b="0" i="0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br>
              <a:rPr lang="en-US"/>
            </a:br>
            <a:r>
              <a:rPr lang="en-US"/>
              <a:t>d.    </a:t>
            </a: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myVar = </a:t>
            </a:r>
            <a:r>
              <a:rPr b="0" i="0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br>
              <a:rPr lang="en-US"/>
            </a:br>
            <a:r>
              <a:rPr lang="en-US"/>
              <a:t>e.    </a:t>
            </a: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MYVAR = </a:t>
            </a:r>
            <a:r>
              <a:rPr b="0" i="0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br>
              <a:rPr lang="en-US"/>
            </a:br>
            <a:r>
              <a:rPr lang="en-US"/>
              <a:t>f.     </a:t>
            </a: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myvar2 = </a:t>
            </a:r>
            <a:r>
              <a:rPr b="0" i="0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br>
              <a:rPr lang="en-US"/>
            </a:br>
            <a:r>
              <a:rPr lang="en-US"/>
              <a:t>g.    </a:t>
            </a: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2myvar = </a:t>
            </a:r>
            <a:r>
              <a:rPr b="0" i="0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h.    </a:t>
            </a: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 var = </a:t>
            </a:r>
            <a:r>
              <a:rPr b="0" i="0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i. my-var = </a:t>
            </a:r>
            <a:r>
              <a:rPr b="0" i="0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"John“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j. </a:t>
            </a: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 = </a:t>
            </a:r>
            <a:r>
              <a:rPr b="0" i="0" lang="en-US">
                <a:solidFill>
                  <a:srgbClr val="833C0B"/>
                </a:solidFill>
                <a:latin typeface="Consolas"/>
                <a:ea typeface="Consolas"/>
                <a:cs typeface="Consolas"/>
                <a:sym typeface="Consolas"/>
              </a:rPr>
              <a:t>“John”</a:t>
            </a:r>
            <a:endParaRPr/>
          </a:p>
        </p:txBody>
      </p:sp>
      <p:pic>
        <p:nvPicPr>
          <p:cNvPr id="383" name="Google Shape;3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3"/>
          <p:cNvSpPr txBox="1"/>
          <p:nvPr>
            <p:ph type="title"/>
          </p:nvPr>
        </p:nvSpPr>
        <p:spPr>
          <a:xfrm>
            <a:off x="722733" y="815406"/>
            <a:ext cx="9690846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ct val="100000"/>
              <a:buFont typeface="Poppins"/>
              <a:buNone/>
            </a:pPr>
            <a:r>
              <a:rPr b="1" lang="en-US" sz="4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Basic math Operations</a:t>
            </a:r>
            <a:br>
              <a:rPr b="1" lang="en-US" sz="4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4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in Python. </a:t>
            </a:r>
            <a:endParaRPr/>
          </a:p>
        </p:txBody>
      </p:sp>
      <p:sp>
        <p:nvSpPr>
          <p:cNvPr id="389" name="Google Shape;389;p43"/>
          <p:cNvSpPr txBox="1"/>
          <p:nvPr>
            <p:ph idx="1" type="body"/>
          </p:nvPr>
        </p:nvSpPr>
        <p:spPr>
          <a:xfrm>
            <a:off x="1005225" y="2697450"/>
            <a:ext cx="95208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en-US" sz="4400">
                <a:latin typeface="Poppins"/>
                <a:ea typeface="Poppins"/>
                <a:cs typeface="Poppins"/>
                <a:sym typeface="Poppins"/>
              </a:rPr>
              <a:t>+ - * 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en-US" sz="4400">
                <a:latin typeface="Poppins"/>
                <a:ea typeface="Poppins"/>
                <a:cs typeface="Poppins"/>
                <a:sym typeface="Poppins"/>
              </a:rPr>
              <a:t>//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used to display round up results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en-US" sz="4400">
                <a:latin typeface="Poppins"/>
                <a:ea typeface="Poppins"/>
                <a:cs typeface="Poppins"/>
                <a:sym typeface="Poppins"/>
              </a:rPr>
              <a:t>%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used to get the remainder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en-US" sz="4400">
                <a:latin typeface="Poppins"/>
                <a:ea typeface="Poppins"/>
                <a:cs typeface="Poppins"/>
                <a:sym typeface="Poppins"/>
              </a:rPr>
              <a:t>**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used for the “power of”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	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0" name="Google Shape;39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/>
          <p:nvPr>
            <p:ph type="title"/>
          </p:nvPr>
        </p:nvSpPr>
        <p:spPr>
          <a:xfrm>
            <a:off x="900954" y="815407"/>
            <a:ext cx="9690846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400"/>
              <a:buFont typeface="Poppins"/>
              <a:buNone/>
            </a:pPr>
            <a:r>
              <a:rPr b="1" lang="en-US" sz="44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Assigning Variables</a:t>
            </a:r>
            <a:endParaRPr/>
          </a:p>
        </p:txBody>
      </p:sp>
      <p:pic>
        <p:nvPicPr>
          <p:cNvPr id="396" name="Google Shape;3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604" y="586807"/>
            <a:ext cx="9453196" cy="7008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/>
          <p:nvPr>
            <p:ph type="title"/>
          </p:nvPr>
        </p:nvSpPr>
        <p:spPr>
          <a:xfrm>
            <a:off x="722733" y="815406"/>
            <a:ext cx="9690846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000"/>
              <a:buFont typeface="Poppins"/>
              <a:buNone/>
            </a:pPr>
            <a:r>
              <a:rPr b="1" lang="en-US" sz="4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Activity 2</a:t>
            </a:r>
            <a:endParaRPr/>
          </a:p>
        </p:txBody>
      </p:sp>
      <p:sp>
        <p:nvSpPr>
          <p:cNvPr id="403" name="Google Shape;403;p45"/>
          <p:cNvSpPr txBox="1"/>
          <p:nvPr>
            <p:ph idx="1" type="body"/>
          </p:nvPr>
        </p:nvSpPr>
        <p:spPr>
          <a:xfrm>
            <a:off x="1125415" y="1758463"/>
            <a:ext cx="10040816" cy="4009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>
                <a:latin typeface="Poppins"/>
                <a:ea typeface="Poppins"/>
                <a:cs typeface="Poppins"/>
                <a:sym typeface="Poppins"/>
              </a:rPr>
              <a:t>Question one.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	write a code that divides 18 by 4 and display the result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>
                <a:latin typeface="Poppins"/>
                <a:ea typeface="Poppins"/>
                <a:cs typeface="Poppins"/>
                <a:sym typeface="Poppins"/>
              </a:rPr>
              <a:t>Question two: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Poppins"/>
                <a:ea typeface="Poppins"/>
                <a:cs typeface="Poppins"/>
                <a:sym typeface="Poppins"/>
              </a:rPr>
              <a:t>	Write a code that shows result of </a:t>
            </a:r>
            <a:r>
              <a:rPr b="1" lang="en-US" sz="3600">
                <a:latin typeface="Poppins"/>
                <a:ea typeface="Poppins"/>
                <a:cs typeface="Poppins"/>
                <a:sym typeface="Poppins"/>
              </a:rPr>
              <a:t>5</a:t>
            </a:r>
            <a:endParaRPr b="1" sz="2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Question three: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	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write a code to get the remainder of 18 divided by 4?</a:t>
            </a:r>
            <a:endParaRPr sz="4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45"/>
          <p:cNvSpPr txBox="1"/>
          <p:nvPr/>
        </p:nvSpPr>
        <p:spPr>
          <a:xfrm>
            <a:off x="6540933" y="3013777"/>
            <a:ext cx="39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6000"/>
              <a:buFont typeface="Poppins"/>
              <a:buNone/>
            </a:pP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Python Data Types</a:t>
            </a:r>
            <a:endParaRPr/>
          </a:p>
        </p:txBody>
      </p:sp>
      <p:pic>
        <p:nvPicPr>
          <p:cNvPr id="411" name="Google Shape;41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6"/>
          <p:cNvSpPr txBox="1"/>
          <p:nvPr/>
        </p:nvSpPr>
        <p:spPr>
          <a:xfrm>
            <a:off x="1616431" y="1818169"/>
            <a:ext cx="3054729" cy="1021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500"/>
              <a:buFont typeface="Oswald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/Integers -</a:t>
            </a:r>
            <a:r>
              <a:rPr b="0" i="0" lang="en-US" sz="18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13" name="Google Shape;413;p46"/>
          <p:cNvSpPr txBox="1"/>
          <p:nvPr/>
        </p:nvSpPr>
        <p:spPr>
          <a:xfrm>
            <a:off x="1616431" y="2327076"/>
            <a:ext cx="2977213" cy="1599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contains positive or negative whole numbers (without fraction or decimal)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6"/>
          <p:cNvSpPr txBox="1"/>
          <p:nvPr/>
        </p:nvSpPr>
        <p:spPr>
          <a:xfrm>
            <a:off x="4833000" y="1871606"/>
            <a:ext cx="3054729" cy="1021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500"/>
              <a:buFont typeface="Oswald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/Float-</a:t>
            </a:r>
            <a:r>
              <a:rPr b="0" i="0" lang="en-US" sz="16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15" name="Google Shape;415;p46"/>
          <p:cNvSpPr txBox="1"/>
          <p:nvPr/>
        </p:nvSpPr>
        <p:spPr>
          <a:xfrm>
            <a:off x="4903736" y="2326946"/>
            <a:ext cx="3054727" cy="1412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Is a real number with floating point representation.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6"/>
          <p:cNvSpPr txBox="1"/>
          <p:nvPr/>
        </p:nvSpPr>
        <p:spPr>
          <a:xfrm>
            <a:off x="1699826" y="3858790"/>
            <a:ext cx="3294060" cy="1021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500"/>
              <a:buFont typeface="Oswald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/Booleans-</a:t>
            </a:r>
            <a:r>
              <a:rPr b="0" i="0" lang="en-US" sz="17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bool</a:t>
            </a: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17" name="Google Shape;417;p46"/>
          <p:cNvSpPr txBox="1"/>
          <p:nvPr/>
        </p:nvSpPr>
        <p:spPr>
          <a:xfrm>
            <a:off x="1652334" y="4316060"/>
            <a:ext cx="3054729" cy="1187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Represents either True or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6"/>
          <p:cNvSpPr txBox="1"/>
          <p:nvPr/>
        </p:nvSpPr>
        <p:spPr>
          <a:xfrm>
            <a:off x="4880467" y="3841549"/>
            <a:ext cx="3054729" cy="1021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500"/>
              <a:buFont typeface="Oswald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6"/>
          <p:cNvSpPr txBox="1"/>
          <p:nvPr/>
        </p:nvSpPr>
        <p:spPr>
          <a:xfrm>
            <a:off x="4833000" y="4318771"/>
            <a:ext cx="2675578" cy="1187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store multiple items in a single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6"/>
          <p:cNvSpPr txBox="1"/>
          <p:nvPr/>
        </p:nvSpPr>
        <p:spPr>
          <a:xfrm>
            <a:off x="7747958" y="1838360"/>
            <a:ext cx="3054729" cy="1021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500"/>
              <a:buFont typeface="Oswald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/Strings-</a:t>
            </a:r>
            <a:r>
              <a:rPr b="0" i="0" lang="en-US" sz="18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str</a:t>
            </a: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21" name="Google Shape;421;p46"/>
          <p:cNvSpPr txBox="1"/>
          <p:nvPr/>
        </p:nvSpPr>
        <p:spPr>
          <a:xfrm>
            <a:off x="7700465" y="2066823"/>
            <a:ext cx="3766713" cy="201679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a collection of 1 or more characters put in a single quote, double-quote or triple quote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6"/>
          <p:cNvSpPr txBox="1"/>
          <p:nvPr/>
        </p:nvSpPr>
        <p:spPr>
          <a:xfrm>
            <a:off x="7747933" y="3841549"/>
            <a:ext cx="3054729" cy="1021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2500"/>
              <a:buFont typeface="Oswald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/Set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6"/>
          <p:cNvSpPr txBox="1"/>
          <p:nvPr/>
        </p:nvSpPr>
        <p:spPr>
          <a:xfrm>
            <a:off x="7747958" y="4316060"/>
            <a:ext cx="3294060" cy="1187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store multiple unique items in a single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6000"/>
              <a:buFont typeface="Poppins"/>
              <a:buNone/>
            </a:pP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Python Strings</a:t>
            </a:r>
            <a:endParaRPr/>
          </a:p>
        </p:txBody>
      </p:sp>
      <p:sp>
        <p:nvSpPr>
          <p:cNvPr id="429" name="Google Shape;429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In Python, a string is a sequence of characters enclosed within single quotes (') or double quotes ("). Strings are one of the fundamental data types in Python and are commonly used to represent text or a sequence of characters.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Strings in Python are </a:t>
            </a:r>
            <a:r>
              <a:rPr b="1"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immutable</a:t>
            </a:r>
            <a:r>
              <a:rPr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which means they cannot be changed once created. Operations on strings, such as concatenation or slicing, result in the creation of a new string.</a:t>
            </a:r>
            <a:endParaRPr/>
          </a:p>
        </p:txBody>
      </p:sp>
      <p:pic>
        <p:nvPicPr>
          <p:cNvPr id="430" name="Google Shape;43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800"/>
              <a:buFont typeface="Poppins"/>
              <a:buNone/>
            </a:pPr>
            <a:r>
              <a:rPr b="1" lang="en-US" sz="48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Strings concatenation </a:t>
            </a:r>
            <a:endParaRPr/>
          </a:p>
        </p:txBody>
      </p:sp>
      <p:sp>
        <p:nvSpPr>
          <p:cNvPr id="436" name="Google Shape;436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Example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	fname = “Abebe”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	lname = “Almaz”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	print fname + lname  == print “Abebe”+”Almaz”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	print “Abebe”,”Almaz” = this gives space b/n them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		</a:t>
            </a:r>
            <a:endParaRPr/>
          </a:p>
        </p:txBody>
      </p:sp>
      <p:pic>
        <p:nvPicPr>
          <p:cNvPr id="437" name="Google Shape;43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/>
        </p:nvSpPr>
        <p:spPr>
          <a:xfrm>
            <a:off x="740426" y="833840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800"/>
              <a:buFont typeface="Poppins"/>
              <a:buNone/>
            </a:pPr>
            <a:r>
              <a:rPr b="1" i="0" lang="en-US" sz="48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String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12025"/>
          <a:stretch/>
        </p:blipFill>
        <p:spPr>
          <a:xfrm>
            <a:off x="-250771" y="2175758"/>
            <a:ext cx="12693542" cy="464911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9"/>
          <p:cNvSpPr txBox="1"/>
          <p:nvPr/>
        </p:nvSpPr>
        <p:spPr>
          <a:xfrm>
            <a:off x="740426" y="1822276"/>
            <a:ext cx="10238232" cy="706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Which approach do you think will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0"/>
          <p:cNvSpPr txBox="1"/>
          <p:nvPr>
            <p:ph idx="1" type="body"/>
          </p:nvPr>
        </p:nvSpPr>
        <p:spPr>
          <a:xfrm>
            <a:off x="879232" y="2603500"/>
            <a:ext cx="11037046" cy="42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change string to integer we use </a:t>
            </a:r>
            <a:r>
              <a:rPr lang="en-US" sz="2600">
                <a:solidFill>
                  <a:srgbClr val="00AC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int(value)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change integer to string we use </a:t>
            </a:r>
            <a:r>
              <a:rPr lang="en-US" sz="2600">
                <a:solidFill>
                  <a:srgbClr val="00AC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Str(value)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51" name="Google Shape;451;p50"/>
          <p:cNvSpPr txBox="1"/>
          <p:nvPr/>
        </p:nvSpPr>
        <p:spPr>
          <a:xfrm>
            <a:off x="879232" y="897468"/>
            <a:ext cx="9101382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5400"/>
              <a:buFont typeface="Poppins"/>
              <a:buNone/>
            </a:pPr>
            <a:r>
              <a:rPr b="1" i="0" lang="en-US" sz="54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Converting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One Type into Another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9745" y="2867246"/>
            <a:ext cx="8232510" cy="421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"/>
          <p:cNvSpPr txBox="1"/>
          <p:nvPr>
            <p:ph idx="1" type="body"/>
          </p:nvPr>
        </p:nvSpPr>
        <p:spPr>
          <a:xfrm>
            <a:off x="896113" y="2198116"/>
            <a:ext cx="10442448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Write a program to display your information</a:t>
            </a:r>
            <a:r>
              <a:rPr lang="en-US"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>
                <a:solidFill>
                  <a:srgbClr val="26262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one statement.</a:t>
            </a:r>
            <a:endParaRPr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ts val="2800"/>
              <a:buNone/>
            </a:pPr>
            <a:r>
              <a:rPr b="1" lang="en-US">
                <a:solidFill>
                  <a:srgbClr val="B3116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Name, age, hobby, favorite-animal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B3116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b="1" lang="en-US">
                <a:solidFill>
                  <a:srgbClr val="26262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Sample output: 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n-US" sz="2400">
                <a:solidFill>
                  <a:srgbClr val="26262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My name is Abdi, I am 30 years old.and as a hobby I love reading books and my favorite animal is dog.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262626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59" name="Google Shape;459;p51"/>
          <p:cNvSpPr txBox="1"/>
          <p:nvPr/>
        </p:nvSpPr>
        <p:spPr>
          <a:xfrm>
            <a:off x="630698" y="914400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800"/>
              <a:buFont typeface="Poppins"/>
              <a:buNone/>
            </a:pPr>
            <a:r>
              <a:rPr b="1" i="0" lang="en-US" sz="48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Activity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"/>
          <p:cNvSpPr txBox="1"/>
          <p:nvPr>
            <p:ph type="title"/>
          </p:nvPr>
        </p:nvSpPr>
        <p:spPr>
          <a:xfrm>
            <a:off x="1821802" y="2548488"/>
            <a:ext cx="85483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ct val="100000"/>
              <a:buFont typeface="Poppins"/>
              <a:buNone/>
            </a:pPr>
            <a:r>
              <a:rPr b="1" lang="en-US" sz="49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Deep dive into </a:t>
            </a:r>
            <a:b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8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Python  String  &gt;&gt;&gt;</a:t>
            </a:r>
            <a:endParaRPr b="1" sz="6000">
              <a:solidFill>
                <a:srgbClr val="0B529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6" name="Google Shape;46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4238" y="5404239"/>
            <a:ext cx="2923524" cy="68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53"/>
          <p:cNvPicPr preferRelativeResize="0"/>
          <p:nvPr/>
        </p:nvPicPr>
        <p:blipFill rotWithShape="1">
          <a:blip r:embed="rId3">
            <a:alphaModFix/>
          </a:blip>
          <a:srcRect b="16578" l="0" r="5808" t="25106"/>
          <a:stretch/>
        </p:blipFill>
        <p:spPr>
          <a:xfrm>
            <a:off x="189722" y="3657600"/>
            <a:ext cx="10515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6000"/>
              <a:buFont typeface="Poppins"/>
              <a:buNone/>
            </a:pP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String Operations </a:t>
            </a:r>
            <a:endParaRPr/>
          </a:p>
        </p:txBody>
      </p:sp>
      <p:sp>
        <p:nvSpPr>
          <p:cNvPr id="473" name="Google Shape;473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oppins Medium"/>
                <a:ea typeface="Poppins Medium"/>
                <a:cs typeface="Poppins Medium"/>
                <a:sym typeface="Poppins Medium"/>
              </a:rPr>
              <a:t>Python provides a variety of string operations that allow you to manipulate and work with strings effectively. Here are some commonly used string operations in Python:</a:t>
            </a:r>
            <a:endParaRPr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1, Concatenation: </a:t>
            </a:r>
            <a:r>
              <a:rPr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 can concatenate two or more strings using   			the + operator. For example:</a:t>
            </a:r>
            <a:endParaRPr/>
          </a:p>
        </p:txBody>
      </p:sp>
      <p:pic>
        <p:nvPicPr>
          <p:cNvPr id="474" name="Google Shape;47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6000"/>
              <a:buFont typeface="Poppins"/>
              <a:buNone/>
            </a:pP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String Operations </a:t>
            </a:r>
            <a:r>
              <a:rPr b="1" lang="en-US" sz="32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cont.…</a:t>
            </a: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480" name="Google Shape;480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2, Repetition</a:t>
            </a:r>
            <a:r>
              <a:rPr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You can repeat a string multiple times using the * operator. For example:</a:t>
            </a:r>
            <a:endParaRPr/>
          </a:p>
        </p:txBody>
      </p:sp>
      <p:pic>
        <p:nvPicPr>
          <p:cNvPr id="481" name="Google Shape;48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59583" y="873469"/>
            <a:ext cx="13911166" cy="625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6000"/>
              <a:buFont typeface="Poppins"/>
              <a:buNone/>
            </a:pP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String Operations </a:t>
            </a:r>
            <a:r>
              <a:rPr b="1" lang="en-US" sz="32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cont.…</a:t>
            </a: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488" name="Google Shape;488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  <a:r>
              <a:rPr b="1"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Indexing: </a:t>
            </a:r>
            <a:r>
              <a:rPr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Strings are sequences of characters, and you can 			access individual characters by their index using 			square brackets []. Python uses 0-based indexing. </a:t>
            </a:r>
            <a:endParaRPr/>
          </a:p>
        </p:txBody>
      </p:sp>
      <p:pic>
        <p:nvPicPr>
          <p:cNvPr id="489" name="Google Shape;48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1838" y="2228850"/>
            <a:ext cx="7867650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6"/>
          <p:cNvSpPr txBox="1"/>
          <p:nvPr>
            <p:ph type="title"/>
          </p:nvPr>
        </p:nvSpPr>
        <p:spPr>
          <a:xfrm>
            <a:off x="653143" y="34646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6000"/>
              <a:buFont typeface="Poppins"/>
              <a:buNone/>
            </a:pP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String Operations </a:t>
            </a:r>
            <a:r>
              <a:rPr b="1" lang="en-US" sz="32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cont.…</a:t>
            </a: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496" name="Google Shape;496;p56"/>
          <p:cNvSpPr txBox="1"/>
          <p:nvPr>
            <p:ph idx="1" type="body"/>
          </p:nvPr>
        </p:nvSpPr>
        <p:spPr>
          <a:xfrm>
            <a:off x="653143" y="1672027"/>
            <a:ext cx="11201400" cy="1756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4, Slicing: </a:t>
            </a:r>
            <a:r>
              <a:rPr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 can extract a substring from a string using 	slicing. It allows you to specify the start and end indices 	to create a new string that includes characters within 	that range. The slicing syntax is </a:t>
            </a:r>
            <a:r>
              <a:rPr lang="en-US">
                <a:solidFill>
                  <a:srgbClr val="00AC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start:end:step.</a:t>
            </a:r>
            <a:endParaRPr/>
          </a:p>
        </p:txBody>
      </p:sp>
      <p:pic>
        <p:nvPicPr>
          <p:cNvPr id="497" name="Google Shape;49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2439" y="2527767"/>
            <a:ext cx="8207121" cy="4330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7"/>
          <p:cNvSpPr txBox="1"/>
          <p:nvPr>
            <p:ph type="title"/>
          </p:nvPr>
        </p:nvSpPr>
        <p:spPr>
          <a:xfrm>
            <a:off x="653143" y="34646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6000"/>
              <a:buFont typeface="Poppins"/>
              <a:buNone/>
            </a:pP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String Operations </a:t>
            </a:r>
            <a:r>
              <a:rPr b="1" lang="en-US" sz="32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cont.…</a:t>
            </a: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504" name="Google Shape;504;p57"/>
          <p:cNvSpPr txBox="1"/>
          <p:nvPr>
            <p:ph idx="1" type="body"/>
          </p:nvPr>
        </p:nvSpPr>
        <p:spPr>
          <a:xfrm>
            <a:off x="653143" y="1672027"/>
            <a:ext cx="11201400" cy="1756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  <a:r>
              <a:rPr b="1"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Length: </a:t>
            </a:r>
            <a:r>
              <a:rPr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 can determine the length of a string using the len() function. It returns the number of characters in the string. For example:</a:t>
            </a:r>
            <a:endParaRPr>
              <a:solidFill>
                <a:srgbClr val="00AC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05" name="Google Shape;50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931" y="1987281"/>
            <a:ext cx="9425601" cy="4512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8"/>
          <p:cNvSpPr txBox="1"/>
          <p:nvPr>
            <p:ph type="title"/>
          </p:nvPr>
        </p:nvSpPr>
        <p:spPr>
          <a:xfrm>
            <a:off x="653143" y="34646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6000"/>
              <a:buFont typeface="Poppins"/>
              <a:buNone/>
            </a:pP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String Operations </a:t>
            </a:r>
            <a:r>
              <a:rPr b="1" lang="en-US" sz="32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cont.…</a:t>
            </a:r>
            <a:r>
              <a:rPr b="1" lang="en-US" sz="6000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512" name="Google Shape;512;p58"/>
          <p:cNvSpPr txBox="1"/>
          <p:nvPr>
            <p:ph idx="1" type="body"/>
          </p:nvPr>
        </p:nvSpPr>
        <p:spPr>
          <a:xfrm>
            <a:off x="653143" y="1672027"/>
            <a:ext cx="11201400" cy="4187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  <a:r>
              <a:rPr b="1"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String Methods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Python provides a variety of built-in string methods that perform various operations on strings. Some commonly used methods include: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lower(): Converts the string to lowercase.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upper(): Converts the string to uppercase.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split(): Splits the string into a list of substrings based on a specified separator.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strip(): Removes leading and trailing whitespace from the string.</a:t>
            </a:r>
            <a:endParaRPr>
              <a:solidFill>
                <a:srgbClr val="00AC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13" name="Google Shape;51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9"/>
          <p:cNvSpPr txBox="1"/>
          <p:nvPr>
            <p:ph idx="1" type="body"/>
          </p:nvPr>
        </p:nvSpPr>
        <p:spPr>
          <a:xfrm>
            <a:off x="896113" y="1847461"/>
            <a:ext cx="10442448" cy="4390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Write a Python program that accomplishes the following tasks for a given sentence: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Concatenate the first three characters of the sentence with the last three characters of the sentence.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Convert the concatenated string to uppercase.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Repeat the uppercase string two times.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Extract the substring from the 5th to the 10th character (inclusive) from the repeated string.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Convert each word to lowercase.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3611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Print the modified list of lowercase words along with its length.</a:t>
            </a:r>
            <a:endParaRPr sz="2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9" name="Google Shape;519;p59"/>
          <p:cNvSpPr txBox="1"/>
          <p:nvPr/>
        </p:nvSpPr>
        <p:spPr>
          <a:xfrm>
            <a:off x="630698" y="914400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296"/>
              </a:buClr>
              <a:buSzPts val="4800"/>
              <a:buFont typeface="Poppins"/>
              <a:buNone/>
            </a:pPr>
            <a:r>
              <a:rPr b="1" i="0" lang="en-US" sz="4800" u="none" cap="none" strike="noStrike">
                <a:solidFill>
                  <a:srgbClr val="0B5296"/>
                </a:solidFill>
                <a:latin typeface="Poppins"/>
                <a:ea typeface="Poppins"/>
                <a:cs typeface="Poppins"/>
                <a:sym typeface="Poppins"/>
              </a:rPr>
              <a:t>Assignment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0" name="Google Shape;52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9488" y="6238114"/>
            <a:ext cx="1995055" cy="46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