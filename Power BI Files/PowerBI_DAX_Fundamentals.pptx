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960120"/>
            <a:ext cx="4236415" cy="589788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58368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10274E"/>
                </a:solidFill>
                <a:latin typeface="Aptos"/>
              </a:rPr>
              <a:t>Power BI DAX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176272"/>
            <a:ext cx="621792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0">
                <a:solidFill>
                  <a:srgbClr val="5F656E"/>
                </a:solidFill>
                <a:latin typeface="Aptos"/>
              </a:rPr>
              <a:t>A structured approach to building measures, ratios, filter logic, and business calculations.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011680"/>
            <a:ext cx="3017520" cy="182880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2121408"/>
            <a:ext cx="26517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84D6FF"/>
                </a:solidFill>
                <a:latin typeface="Aptos"/>
              </a:rPr>
              <a:t>Measure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9368" y="2423160"/>
            <a:ext cx="2615184" cy="1325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nsolas"/>
              </a:rPr>
              <a:t>Total Charges =
SUM(Appointment_Records[ChargeAmount])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4160520"/>
            <a:ext cx="3017520" cy="123444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58200" y="416052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4297680"/>
            <a:ext cx="26060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4727448"/>
            <a:ext cx="2606040" cy="5486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Aptos"/>
              </a:defRPr>
            </a:pPr>
            <a:r>
              <a:t>DAX turns modeled data into business calculations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Where DAX Fits in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DAX is used after the data has been cleaned and modeled.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200400" cy="196596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73152" cy="19659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27889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1. Power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67128"/>
            <a:ext cx="2788920" cy="128016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Clean raw data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Fix data types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Create usable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00400" cy="196596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600200"/>
            <a:ext cx="73152" cy="1965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737360"/>
            <a:ext cx="27889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2. Data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167128"/>
            <a:ext cx="2788920" cy="128016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Create relationships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Build a star schema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Connect facts and dimensions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200400" cy="196596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73152" cy="1965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37360"/>
            <a:ext cx="27889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Aptos"/>
              </a:rPr>
              <a:t>3. DAX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67128"/>
            <a:ext cx="2788920" cy="128016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Create measures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Calculate KPIs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Apply business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996696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10274E"/>
                </a:solidFill>
                <a:latin typeface="Aptos"/>
              </a:rPr>
              <a:t>DAX should not replace poor modeling. A clean model makes DAX easier, shorter, and more reliable.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What DAX Is Used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3383280" cy="196596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73152" cy="19659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Business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01368"/>
            <a:ext cx="2971800" cy="128016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Total appointments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Total charges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Average duration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83280" cy="196596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965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Ratios and Percentages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801368"/>
            <a:ext cx="2971800" cy="128016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No-show rate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Completion rate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Contribution percentage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383280" cy="196596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73152" cy="1965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7160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Aptos"/>
              </a:rPr>
              <a:t>Filter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01368"/>
            <a:ext cx="2971800" cy="128016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Ignore filters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Apply conditions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Compare segments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840480"/>
            <a:ext cx="4754880" cy="105156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950208"/>
            <a:ext cx="438912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84D6FF"/>
                </a:solidFill>
                <a:latin typeface="Aptos"/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251960"/>
            <a:ext cx="4352544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onsolas"/>
              </a:rPr>
              <a:t>No Show Rate =
DIVIDE([No Show Appointments], [Total Appointments])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977639"/>
            <a:ext cx="5029200" cy="685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100" b="1">
                <a:solidFill>
                  <a:srgbClr val="10274E"/>
                </a:solidFill>
                <a:latin typeface="Aptos"/>
              </a:rPr>
              <a:t>DAX helps convert raw numeric columns into reusable business definitions.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108813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4069080"/>
            <a:ext cx="4434840" cy="123444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187952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4D6FF"/>
                </a:solidFill>
                <a:latin typeface="Aptos"/>
              </a:rPr>
              <a:t>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80560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onsolas"/>
              </a:rPr>
              <a:t>No Show Rate =
DIVIDE([No Show Appointments], [Total Appointments])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114800"/>
            <a:ext cx="5074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274E"/>
                </a:solidFill>
                <a:latin typeface="Aptos"/>
              </a:rPr>
              <a:t>DAX helps convert raw numeric columns</a:t>
            </a:r>
          </a:p>
          <a:p>
            <a:pPr algn="l"/>
            <a:r>
              <a:rPr sz="1900" b="1">
                <a:solidFill>
                  <a:srgbClr val="10274E"/>
                </a:solidFill>
                <a:latin typeface="Aptos"/>
              </a:rPr>
              <a:t>into reusable business definitions.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Measures vs Calculated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Choose based on how the calculation should behave.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166360" cy="306324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3063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Use a measure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67128"/>
            <a:ext cx="4754880" cy="23774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The value must change with filters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The calculation is an aggregation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The result is used in cards, KPIs, and visuals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166360" cy="30632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73152" cy="30632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Use a calculated column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167128"/>
            <a:ext cx="4754880" cy="23774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A value is needed for every row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The result is used as a category, slicer, or relationship key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The value should be stored in the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489204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900" b="1">
                <a:solidFill>
                  <a:srgbClr val="009688"/>
                </a:solidFill>
                <a:latin typeface="Aptos"/>
              </a:rPr>
              <a:t>Measure example: Total Charges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74920"/>
            <a:ext cx="489204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900" b="1">
                <a:solidFill>
                  <a:srgbClr val="2962FF"/>
                </a:solidFill>
                <a:latin typeface="Aptos"/>
              </a:rPr>
              <a:t>Column example: Appointment Status Group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DAX Formula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A measure has a name, an equals sign, and an expression.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10241280" cy="123444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856232"/>
            <a:ext cx="9838944" cy="9784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Consolas"/>
              </a:rPr>
              <a:t>Total Charges = SUM(Appointment_Records[ChargeAmount])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29000"/>
            <a:ext cx="2423160" cy="12344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73152" cy="12344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66160"/>
            <a:ext cx="20116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Measure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995928"/>
            <a:ext cx="2011680" cy="5486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Total Charges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429000"/>
            <a:ext cx="1920240" cy="123444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342900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3566160"/>
            <a:ext cx="15087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Operator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3995928"/>
            <a:ext cx="1508760" cy="5486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72F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3429000"/>
            <a:ext cx="2423160" cy="123444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3429000"/>
            <a:ext cx="73152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566160"/>
            <a:ext cx="20116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Aptos"/>
              </a:rPr>
              <a:t>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3995928"/>
            <a:ext cx="2011680" cy="5486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429000"/>
            <a:ext cx="269748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3429000"/>
            <a:ext cx="73152" cy="1234440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3566160"/>
            <a:ext cx="22860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0274E"/>
                </a:solidFill>
                <a:latin typeface="Aptos"/>
              </a:rPr>
              <a:t>Column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3995928"/>
            <a:ext cx="2286000" cy="5486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Table[Column]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2870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10274E"/>
                </a:solidFill>
                <a:latin typeface="Aptos"/>
              </a:rPr>
              <a:t>Syntax rule: table names come before column names, and column names are placed inside square brackets.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Base Aggregation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Start with simple reusable measures.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303520" cy="315468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49377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84D6FF"/>
                </a:solidFill>
                <a:latin typeface="Aptos"/>
              </a:rPr>
              <a:t>Core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965960"/>
            <a:ext cx="4901184" cy="2651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50">
                <a:solidFill>
                  <a:srgbClr val="FFFFFF"/>
                </a:solidFill>
                <a:latin typeface="Consolas"/>
              </a:rPr>
              <a:t>Total Appointments =
SUM(Appointment_Records[AppointmentCount])
Total Charges =
SUM(Appointment_Records[ChargeAmount])
Average Duration =
AVERAGE(Appointment_Records[DurationMinutes])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645920"/>
            <a:ext cx="4709160" cy="246888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645920"/>
            <a:ext cx="73152" cy="2468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83080"/>
            <a:ext cx="42976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Why base measures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2212848"/>
            <a:ext cx="4297680" cy="178308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They define standard calculations once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They can be reused inside other measures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They reduce mistakes across report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526280"/>
            <a:ext cx="434340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10274E"/>
                </a:solidFill>
                <a:latin typeface="Aptos"/>
              </a:rPr>
              <a:t>Build simple measures first. Then use them to create ratios and comparisons.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DIVIDE and Safe 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Use DIVIDE instead of manual division for ratios.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5166360" cy="233172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09928"/>
            <a:ext cx="4800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84D6FF"/>
                </a:solidFill>
                <a:latin typeface="Aptos"/>
              </a:rPr>
              <a:t>Recommended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011680"/>
            <a:ext cx="4764024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nsolas"/>
              </a:rPr>
              <a:t>No Show Rate =
DIVIDE(
    [No Show Appointments],
    [Total Appointments]
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4983480" cy="233172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09928"/>
            <a:ext cx="461772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84D6FF"/>
                </a:solidFill>
                <a:latin typeface="Aptos"/>
              </a:rPr>
              <a:t>Manual division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011680"/>
            <a:ext cx="4581144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nsolas"/>
              </a:rPr>
              <a:t>Avoid:
[No Show Appointments] / [Total Appointments]
Reason:
The denominator may be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434840"/>
            <a:ext cx="9875520" cy="96012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434840"/>
            <a:ext cx="7315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94640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Aptos"/>
              </a:rPr>
              <a:t>Business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5001768"/>
            <a:ext cx="9464040" cy="27432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No Show Rate shows what percentage of appointments were missed.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Filter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A measure result changes depending on filters applied to the visual.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383280" cy="21488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21488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Visual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67128"/>
            <a:ext cx="2971800" cy="14630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Provider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Clinic region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Service 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83280" cy="214884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73152" cy="2148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Slicers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167128"/>
            <a:ext cx="2971800" cy="14630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Month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Appointment status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Insurance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383280" cy="214884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600200"/>
            <a:ext cx="73152" cy="2148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3736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Aptos"/>
              </a:rPr>
              <a:t>Report/page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167128"/>
            <a:ext cx="2971800" cy="14630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Year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Clinic type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10241280" cy="685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10274E"/>
                </a:solidFill>
                <a:latin typeface="Aptos"/>
              </a:rPr>
              <a:t>The same measure can return different results on different visuals because each visual has its own filter context.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CALCULATE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CALCULATE changes the filter context of a measure.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5486400" cy="219456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09928"/>
            <a:ext cx="512064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84D6FF"/>
                </a:solidFill>
                <a:latin typeface="Aptos"/>
              </a:rPr>
              <a:t>Filtered 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5084064" cy="1691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50">
                <a:solidFill>
                  <a:srgbClr val="FFFFFF"/>
                </a:solidFill>
                <a:latin typeface="Consolas"/>
              </a:rPr>
              <a:t>Completed Appointments =
CALCULATE(
    [Total Appointments],
    Appointment_Records[AppointmentStatus] = "Completed"
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91640"/>
            <a:ext cx="4480560" cy="192024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691640"/>
            <a:ext cx="73152" cy="1920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069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How to read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258568"/>
            <a:ext cx="4069080" cy="12344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Start with Total Appointments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Apply filter: Status = Completed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Return the filtered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1014984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10274E"/>
                </a:solidFill>
                <a:latin typeface="Aptos"/>
              </a:rPr>
              <a:t>CALCULATE is the main function used to create filtered business measures.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Common Filter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3474720" cy="30632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25880"/>
            <a:ext cx="73152" cy="30632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KEEP existing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92808"/>
            <a:ext cx="3063240" cy="23774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Default behavior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Visual and slicer filters stay active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Most measures work this 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474720" cy="306324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3063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6304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Remove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892808"/>
            <a:ext cx="3063240" cy="23774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Used for percentages of total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Common functions: ALL, REMOVEFILTERS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Useful for comparisons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74720" cy="306324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73152" cy="3063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Aptos"/>
              </a:rPr>
              <a:t>Add 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92808"/>
            <a:ext cx="3063240" cy="23774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Used inside CALCULATE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Example: Completed only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Creates focused KPIs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00600"/>
            <a:ext cx="9875520" cy="82296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4965192"/>
            <a:ext cx="9473184" cy="56692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320">
                <a:solidFill>
                  <a:srgbClr val="FFFFFF"/>
                </a:solidFill>
                <a:latin typeface="Consolas"/>
              </a:rPr>
              <a:t>% of All Appointments = DIVIDE([Total Appointments], CALCULATE([Total Appointments], ALL(Clinics)))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Row Context and Iterators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Iterator functions calculate row by row, then aggregate the result.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5349240" cy="242316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09928"/>
            <a:ext cx="498348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84D6FF"/>
                </a:solidFill>
                <a:latin typeface="Aptos"/>
              </a:rPr>
              <a:t>SUMX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011680"/>
            <a:ext cx="4946904" cy="1920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nsolas"/>
              </a:rPr>
              <a:t>Estimated Revenue =
SUMX(
    Appointment_Records,
    Appointment_Records[ChargeAmount]
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91640"/>
            <a:ext cx="4709160" cy="214884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691640"/>
            <a:ext cx="73152" cy="2148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28800"/>
            <a:ext cx="42976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When iterators are useful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2258568"/>
            <a:ext cx="4297680" cy="14630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Row-by-row calculations are required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Multiplication or custom row logic is needed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The result must then be summed or averaged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80560"/>
            <a:ext cx="1014984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10274E"/>
                </a:solidFill>
                <a:latin typeface="Aptos"/>
              </a:rPr>
              <a:t>SUMX, AVERAGEX, MINX, and MAXX are iterator functions.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Variables make longer measures easier to read and maintain.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5760720" cy="333756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18488"/>
            <a:ext cx="5394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84D6FF"/>
                </a:solidFill>
                <a:latin typeface="Aptos"/>
              </a:rPr>
              <a:t>Measure with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920240"/>
            <a:ext cx="5358384" cy="2834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nsolas"/>
              </a:rPr>
              <a:t>No Show Rate =
VAR NoShows = [No Show Appointments]
VAR TotalAppts = [Total Appointments]
RETURN
    DIVIDE(NoShows, TotalAppts)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691640"/>
            <a:ext cx="4251960" cy="242316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1691640"/>
            <a:ext cx="73152" cy="2423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828800"/>
            <a:ext cx="38404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2258568"/>
            <a:ext cx="3840480" cy="173736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Cleaner formulas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Less repeated logic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Easier troubleshooting</a:t>
            </a:r>
          </a:p>
          <a:p>
            <a:pPr>
              <a:spcAft>
                <a:spcPts val="8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Better readability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4434840"/>
            <a:ext cx="406908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10274E"/>
                </a:solidFill>
                <a:latin typeface="Aptos"/>
              </a:rPr>
              <a:t>Pattern: VAR → calculation → RETURN final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Time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Time intelligence measures require a proper date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383280" cy="21488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73152" cy="21488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75688"/>
            <a:ext cx="2971800" cy="14630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Calendar table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One row per date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Relationship to the fact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83280" cy="214884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73152" cy="2148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Common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075688"/>
            <a:ext cx="2971800" cy="14630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Month-to-date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Year-to-date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Previous period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383280" cy="214884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73152" cy="2148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Aptos"/>
              </a:rPr>
              <a:t>Example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75688"/>
            <a:ext cx="2971800" cy="14630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Appointments by month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Charges by quarter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Trend over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251960"/>
            <a:ext cx="10058400" cy="1005840"/>
          </a:xfrm>
          <a:prstGeom prst="roundRect">
            <a:avLst/>
          </a:prstGeom>
          <a:solidFill>
            <a:srgbClr val="0D1526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361688"/>
            <a:ext cx="969264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84D6FF"/>
                </a:solidFill>
                <a:latin typeface="Aptos"/>
              </a:rP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663440"/>
            <a:ext cx="9656064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Consolas"/>
              </a:rPr>
              <a:t>YTD Charges = TOTALYTD([Total Charges], Calendar[FullDate])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Measure Layer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Organize measures so the model stays readable as the report grows.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3291840" cy="233172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73152" cy="23317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8803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Base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21408"/>
            <a:ext cx="2880360" cy="164592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Total Appointments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Total Charges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Total Patient Paid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233172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73152" cy="2331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28803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Derived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121408"/>
            <a:ext cx="2880360" cy="164592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No Show Rate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Completion Rate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Average Duration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291840" cy="233172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554480"/>
            <a:ext cx="73152" cy="2331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91640"/>
            <a:ext cx="28803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Aptos"/>
              </a:rPr>
              <a:t>Comparison 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121408"/>
            <a:ext cx="2880360" cy="164592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YTD Charges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Previous Month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% of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102870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100" b="1">
                <a:solidFill>
                  <a:srgbClr val="10274E"/>
                </a:solidFill>
                <a:latin typeface="Aptos"/>
              </a:rPr>
              <a:t>Keep measure names clear and consistent. A good measure name should explain the business meaning.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Common DAX 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3383280" cy="205740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73152" cy="205740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BE4141"/>
                </a:solidFill>
                <a:latin typeface="Aptos"/>
              </a:rPr>
              <a:t>Mistake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01368"/>
            <a:ext cx="2971800" cy="137160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Using calculated columns for values that should be measures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83280" cy="205740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205740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BE4141"/>
                </a:solidFill>
                <a:latin typeface="Aptos"/>
              </a:rPr>
              <a:t>Mistake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801368"/>
            <a:ext cx="2971800" cy="137160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Writing one large formula instead of reusable base measures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383280" cy="205740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73152" cy="205740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71600"/>
            <a:ext cx="2971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BE4141"/>
                </a:solidFill>
                <a:latin typeface="Aptos"/>
              </a:rPr>
              <a:t>Mistake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01368"/>
            <a:ext cx="2971800" cy="137160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Ignoring filter context and expecting one fixed answer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86200"/>
            <a:ext cx="9875520" cy="1234440"/>
          </a:xfrm>
          <a:prstGeom prst="roundRect">
            <a:avLst/>
          </a:prstGeom>
          <a:solidFill>
            <a:srgbClr val="E8F8F6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8620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023360"/>
            <a:ext cx="94640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Professional habit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9464040" cy="548640"/>
          </a:xfrm>
          <a:prstGeom prst="rect">
            <a:avLst/>
          </a:prstGeom>
          <a:noFill/>
        </p:spPr>
        <p:txBody>
          <a:bodyPr wrap="square" lIns="127000" rIns="76200" tIns="50800" bIns="2540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72F"/>
                </a:solidFill>
                <a:latin typeface="Aptos"/>
              </a:defRPr>
            </a:pPr>
            <a:r>
              <a:t>Build small measures, test each one, then combine them into larger calculations.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DAX Practice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0274E"/>
                </a:solidFill>
                <a:latin typeface="Aptos"/>
              </a:rPr>
              <a:t>Use the same workflow for every new measure.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566928" cy="566928"/>
          </a:xfrm>
          <a:prstGeom prst="ellipse">
            <a:avLst/>
          </a:prstGeom>
          <a:solidFill>
            <a:srgbClr val="10274E"/>
          </a:solidFill>
          <a:ln>
            <a:solidFill>
              <a:srgbClr val="10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88920"/>
            <a:ext cx="1508760" cy="132588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788920"/>
            <a:ext cx="73152" cy="1325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097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Define the business question</a:t>
            </a:r>
          </a:p>
        </p:txBody>
      </p:sp>
      <p:sp>
        <p:nvSpPr>
          <p:cNvPr id="9" name="Oval 8"/>
          <p:cNvSpPr/>
          <p:nvPr/>
        </p:nvSpPr>
        <p:spPr>
          <a:xfrm>
            <a:off x="2971800" y="2011680"/>
            <a:ext cx="566928" cy="566928"/>
          </a:xfrm>
          <a:prstGeom prst="ellipse">
            <a:avLst/>
          </a:prstGeom>
          <a:solidFill>
            <a:srgbClr val="10274E"/>
          </a:solidFill>
          <a:ln>
            <a:solidFill>
              <a:srgbClr val="10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788920"/>
            <a:ext cx="1508760" cy="132588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2788920"/>
            <a:ext cx="73152" cy="1325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926080"/>
            <a:ext cx="1097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Find the required columns</a:t>
            </a:r>
          </a:p>
        </p:txBody>
      </p:sp>
      <p:sp>
        <p:nvSpPr>
          <p:cNvPr id="13" name="Oval 12"/>
          <p:cNvSpPr/>
          <p:nvPr/>
        </p:nvSpPr>
        <p:spPr>
          <a:xfrm>
            <a:off x="5257800" y="2011680"/>
            <a:ext cx="566928" cy="566928"/>
          </a:xfrm>
          <a:prstGeom prst="ellipse">
            <a:avLst/>
          </a:prstGeom>
          <a:solidFill>
            <a:srgbClr val="10274E"/>
          </a:solidFill>
          <a:ln>
            <a:solidFill>
              <a:srgbClr val="10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788920"/>
            <a:ext cx="1508760" cy="132588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2788920"/>
            <a:ext cx="73152" cy="1325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926080"/>
            <a:ext cx="1097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Create base measures</a:t>
            </a:r>
          </a:p>
        </p:txBody>
      </p:sp>
      <p:sp>
        <p:nvSpPr>
          <p:cNvPr id="17" name="Oval 16"/>
          <p:cNvSpPr/>
          <p:nvPr/>
        </p:nvSpPr>
        <p:spPr>
          <a:xfrm>
            <a:off x="7543800" y="2011680"/>
            <a:ext cx="566928" cy="566928"/>
          </a:xfrm>
          <a:prstGeom prst="ellipse">
            <a:avLst/>
          </a:prstGeom>
          <a:solidFill>
            <a:srgbClr val="10274E"/>
          </a:solidFill>
          <a:ln>
            <a:solidFill>
              <a:srgbClr val="10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788920"/>
            <a:ext cx="1508760" cy="132588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2788920"/>
            <a:ext cx="73152" cy="1325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926080"/>
            <a:ext cx="1097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Apply filter logic</a:t>
            </a:r>
          </a:p>
        </p:txBody>
      </p:sp>
      <p:sp>
        <p:nvSpPr>
          <p:cNvPr id="21" name="Oval 20"/>
          <p:cNvSpPr/>
          <p:nvPr/>
        </p:nvSpPr>
        <p:spPr>
          <a:xfrm>
            <a:off x="9829800" y="2011680"/>
            <a:ext cx="566928" cy="566928"/>
          </a:xfrm>
          <a:prstGeom prst="ellipse">
            <a:avLst/>
          </a:prstGeom>
          <a:solidFill>
            <a:srgbClr val="10274E"/>
          </a:solidFill>
          <a:ln>
            <a:solidFill>
              <a:srgbClr val="10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2788920"/>
            <a:ext cx="1508760" cy="132588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2788920"/>
            <a:ext cx="73152" cy="1325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926080"/>
            <a:ext cx="1097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2962FF"/>
                </a:solidFill>
                <a:latin typeface="Aptos"/>
              </a:rPr>
              <a:t>Validate in a simple visual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1014984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10274E"/>
                </a:solidFill>
                <a:latin typeface="Aptos"/>
              </a:rPr>
              <a:t>DAX mastery comes from understanding business logic, filter context, and validation—not from memorizing formulas.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583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Power BI DAX Fundamentals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