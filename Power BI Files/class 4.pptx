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74" r:id="rId1"/>
  </p:sldMasterIdLst>
  <p:notesMasterIdLst>
    <p:notesMasterId r:id="rId27"/>
  </p:notesMasterIdLst>
  <p:sldIdLst>
    <p:sldId id="256" r:id="rId2"/>
    <p:sldId id="310" r:id="rId3"/>
    <p:sldId id="312" r:id="rId4"/>
    <p:sldId id="313" r:id="rId5"/>
    <p:sldId id="314" r:id="rId6"/>
    <p:sldId id="315" r:id="rId7"/>
    <p:sldId id="341" r:id="rId8"/>
    <p:sldId id="316" r:id="rId9"/>
    <p:sldId id="317" r:id="rId10"/>
    <p:sldId id="320" r:id="rId11"/>
    <p:sldId id="319" r:id="rId12"/>
    <p:sldId id="342" r:id="rId13"/>
    <p:sldId id="322" r:id="rId14"/>
    <p:sldId id="321" r:id="rId15"/>
    <p:sldId id="323" r:id="rId16"/>
    <p:sldId id="324" r:id="rId17"/>
    <p:sldId id="325" r:id="rId18"/>
    <p:sldId id="326" r:id="rId19"/>
    <p:sldId id="327" r:id="rId20"/>
    <p:sldId id="329" r:id="rId21"/>
    <p:sldId id="339" r:id="rId22"/>
    <p:sldId id="340" r:id="rId23"/>
    <p:sldId id="343" r:id="rId24"/>
    <p:sldId id="344" r:id="rId25"/>
    <p:sldId id="345"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B5296"/>
    <a:srgbClr val="00ACEE"/>
    <a:srgbClr val="00EB8F"/>
    <a:srgbClr val="B311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2574" autoAdjust="0"/>
    <p:restoredTop sz="94660"/>
  </p:normalViewPr>
  <p:slideViewPr>
    <p:cSldViewPr snapToGrid="0">
      <p:cViewPr varScale="1">
        <p:scale>
          <a:sx n="75" d="100"/>
          <a:sy n="75" d="100"/>
        </p:scale>
        <p:origin x="636" y="6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D033AB2-457B-483C-A6BF-091D9EEA21D1}" type="datetimeFigureOut">
              <a:rPr lang="en-US" smtClean="0"/>
              <a:t>2/1/2024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A0E5B2B-AC46-46D3-B23A-7D4BCC1DBB66}" type="slidenum">
              <a:rPr lang="en-US" smtClean="0"/>
              <a:t>‹#›</a:t>
            </a:fld>
            <a:endParaRPr lang="en-US"/>
          </a:p>
        </p:txBody>
      </p:sp>
    </p:spTree>
    <p:extLst>
      <p:ext uri="{BB962C8B-B14F-4D97-AF65-F5344CB8AC3E}">
        <p14:creationId xmlns:p14="http://schemas.microsoft.com/office/powerpoint/2010/main" val="271406297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BC0BCB-0FE7-9C64-FB17-47A08CC042F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C4CA68E2-589F-921A-C7E1-559699E1DD7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F26E7863-181A-3AAB-8FA6-B5642C44289F}"/>
              </a:ext>
            </a:extLst>
          </p:cNvPr>
          <p:cNvSpPr>
            <a:spLocks noGrp="1"/>
          </p:cNvSpPr>
          <p:nvPr>
            <p:ph type="dt" sz="half" idx="10"/>
          </p:nvPr>
        </p:nvSpPr>
        <p:spPr/>
        <p:txBody>
          <a:bodyPr/>
          <a:lstStyle/>
          <a:p>
            <a:fld id="{5923F103-BC34-4FE4-A40E-EDDEECFDA5D0}" type="datetimeFigureOut">
              <a:rPr lang="en-US" smtClean="0"/>
              <a:pPr/>
              <a:t>2/1/2024</a:t>
            </a:fld>
            <a:endParaRPr lang="en-US" dirty="0"/>
          </a:p>
        </p:txBody>
      </p:sp>
      <p:sp>
        <p:nvSpPr>
          <p:cNvPr id="5" name="Footer Placeholder 4">
            <a:extLst>
              <a:ext uri="{FF2B5EF4-FFF2-40B4-BE49-F238E27FC236}">
                <a16:creationId xmlns:a16="http://schemas.microsoft.com/office/drawing/2014/main" id="{2065529F-610E-4D9D-AD6A-59ABC3E9D46B}"/>
              </a:ext>
            </a:extLst>
          </p:cNvPr>
          <p:cNvSpPr>
            <a:spLocks noGrp="1"/>
          </p:cNvSpPr>
          <p:nvPr>
            <p:ph type="ftr" sz="quarter" idx="11"/>
          </p:nvPr>
        </p:nvSpPr>
        <p:spPr/>
        <p:txBody>
          <a:bodyPr/>
          <a:lstStyle/>
          <a:p>
            <a:r>
              <a:rPr lang="en-US"/>
              <a:t>
              </a:t>
            </a:r>
            <a:endParaRPr lang="en-US" dirty="0"/>
          </a:p>
        </p:txBody>
      </p:sp>
      <p:sp>
        <p:nvSpPr>
          <p:cNvPr id="6" name="Slide Number Placeholder 5">
            <a:extLst>
              <a:ext uri="{FF2B5EF4-FFF2-40B4-BE49-F238E27FC236}">
                <a16:creationId xmlns:a16="http://schemas.microsoft.com/office/drawing/2014/main" id="{1A97C484-C333-F647-A664-6ACCBD56E73C}"/>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224295789"/>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AB16EF-C84E-7020-01F3-B914454756B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849DD6D-6522-675D-43D8-7DB9B0FF7CB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DD2716F-3400-E1DC-5EB6-2571D948C5D7}"/>
              </a:ext>
            </a:extLst>
          </p:cNvPr>
          <p:cNvSpPr>
            <a:spLocks noGrp="1"/>
          </p:cNvSpPr>
          <p:nvPr>
            <p:ph type="dt" sz="half" idx="10"/>
          </p:nvPr>
        </p:nvSpPr>
        <p:spPr/>
        <p:txBody>
          <a:bodyPr/>
          <a:lstStyle/>
          <a:p>
            <a:fld id="{19C9CA7B-DFD4-44B5-8C60-D14B8CD1FB59}" type="datetimeFigureOut">
              <a:rPr lang="en-US" smtClean="0"/>
              <a:t>2/1/2024</a:t>
            </a:fld>
            <a:endParaRPr lang="en-US" dirty="0"/>
          </a:p>
        </p:txBody>
      </p:sp>
      <p:sp>
        <p:nvSpPr>
          <p:cNvPr id="5" name="Footer Placeholder 4">
            <a:extLst>
              <a:ext uri="{FF2B5EF4-FFF2-40B4-BE49-F238E27FC236}">
                <a16:creationId xmlns:a16="http://schemas.microsoft.com/office/drawing/2014/main" id="{C23CFAA7-E577-5BDD-AFC3-CD37FD4FB09D}"/>
              </a:ext>
            </a:extLst>
          </p:cNvPr>
          <p:cNvSpPr>
            <a:spLocks noGrp="1"/>
          </p:cNvSpPr>
          <p:nvPr>
            <p:ph type="ftr" sz="quarter" idx="11"/>
          </p:nvPr>
        </p:nvSpPr>
        <p:spPr/>
        <p:txBody>
          <a:bodyPr/>
          <a:lstStyle/>
          <a:p>
            <a:r>
              <a:rPr lang="en-US"/>
              <a:t>
              </a:t>
            </a:r>
            <a:endParaRPr lang="en-US" dirty="0"/>
          </a:p>
        </p:txBody>
      </p:sp>
      <p:sp>
        <p:nvSpPr>
          <p:cNvPr id="6" name="Slide Number Placeholder 5">
            <a:extLst>
              <a:ext uri="{FF2B5EF4-FFF2-40B4-BE49-F238E27FC236}">
                <a16:creationId xmlns:a16="http://schemas.microsoft.com/office/drawing/2014/main" id="{C5FFACA6-9F53-4A00-F729-99106937E9B7}"/>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70024114"/>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507869-91F0-88FF-931C-13F1E0B194E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D961E4BB-2B08-FA52-4679-49F32BA9BB6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116DD27-A052-B893-6D31-280567907534}"/>
              </a:ext>
            </a:extLst>
          </p:cNvPr>
          <p:cNvSpPr>
            <a:spLocks noGrp="1"/>
          </p:cNvSpPr>
          <p:nvPr>
            <p:ph type="dt" sz="half" idx="10"/>
          </p:nvPr>
        </p:nvSpPr>
        <p:spPr/>
        <p:txBody>
          <a:bodyPr/>
          <a:lstStyle/>
          <a:p>
            <a:fld id="{F34E6425-0181-43F2-84FC-787E803FD2F8}" type="datetimeFigureOut">
              <a:rPr lang="en-US" smtClean="0"/>
              <a:t>2/1/2024</a:t>
            </a:fld>
            <a:endParaRPr lang="en-US" dirty="0"/>
          </a:p>
        </p:txBody>
      </p:sp>
      <p:sp>
        <p:nvSpPr>
          <p:cNvPr id="5" name="Footer Placeholder 4">
            <a:extLst>
              <a:ext uri="{FF2B5EF4-FFF2-40B4-BE49-F238E27FC236}">
                <a16:creationId xmlns:a16="http://schemas.microsoft.com/office/drawing/2014/main" id="{81E8DCF5-93B3-01DD-A157-456AFD0F1F5B}"/>
              </a:ext>
            </a:extLst>
          </p:cNvPr>
          <p:cNvSpPr>
            <a:spLocks noGrp="1"/>
          </p:cNvSpPr>
          <p:nvPr>
            <p:ph type="ftr" sz="quarter" idx="11"/>
          </p:nvPr>
        </p:nvSpPr>
        <p:spPr/>
        <p:txBody>
          <a:bodyPr/>
          <a:lstStyle/>
          <a:p>
            <a:r>
              <a:rPr lang="en-US"/>
              <a:t>
              </a:t>
            </a:r>
            <a:endParaRPr lang="en-US" dirty="0"/>
          </a:p>
        </p:txBody>
      </p:sp>
      <p:sp>
        <p:nvSpPr>
          <p:cNvPr id="6" name="Slide Number Placeholder 5">
            <a:extLst>
              <a:ext uri="{FF2B5EF4-FFF2-40B4-BE49-F238E27FC236}">
                <a16:creationId xmlns:a16="http://schemas.microsoft.com/office/drawing/2014/main" id="{2D2BDDC2-6E87-4B77-56F7-8BAE81575EF0}"/>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49266172"/>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1AD21E-AE57-0DA3-354F-2B60A75EB35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C6CDFBE-2549-B927-4F8A-F95AF614018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ED17ACA-CEB3-CDBF-5081-286BE206DA9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D2B0C18C-295A-0270-8C78-B77F3D5DEA29}"/>
              </a:ext>
            </a:extLst>
          </p:cNvPr>
          <p:cNvSpPr>
            <a:spLocks noGrp="1"/>
          </p:cNvSpPr>
          <p:nvPr>
            <p:ph type="dt" sz="half" idx="10"/>
          </p:nvPr>
        </p:nvSpPr>
        <p:spPr/>
        <p:txBody>
          <a:bodyPr/>
          <a:lstStyle/>
          <a:p>
            <a:fld id="{3BDB8791-F1B0-41E7-B7FD-A781E65C4266}" type="datetimeFigureOut">
              <a:rPr lang="en-US" smtClean="0"/>
              <a:t>2/1/2024</a:t>
            </a:fld>
            <a:endParaRPr lang="en-US" dirty="0"/>
          </a:p>
        </p:txBody>
      </p:sp>
      <p:sp>
        <p:nvSpPr>
          <p:cNvPr id="6" name="Footer Placeholder 5">
            <a:extLst>
              <a:ext uri="{FF2B5EF4-FFF2-40B4-BE49-F238E27FC236}">
                <a16:creationId xmlns:a16="http://schemas.microsoft.com/office/drawing/2014/main" id="{A8F19453-4297-CE3B-635B-0DF5CCE9729F}"/>
              </a:ext>
            </a:extLst>
          </p:cNvPr>
          <p:cNvSpPr>
            <a:spLocks noGrp="1"/>
          </p:cNvSpPr>
          <p:nvPr>
            <p:ph type="ftr" sz="quarter" idx="11"/>
          </p:nvPr>
        </p:nvSpPr>
        <p:spPr/>
        <p:txBody>
          <a:bodyPr/>
          <a:lstStyle/>
          <a:p>
            <a:r>
              <a:rPr lang="en-US"/>
              <a:t>
              </a:t>
            </a:r>
            <a:endParaRPr lang="en-US" dirty="0"/>
          </a:p>
        </p:txBody>
      </p:sp>
      <p:sp>
        <p:nvSpPr>
          <p:cNvPr id="7" name="Slide Number Placeholder 6">
            <a:extLst>
              <a:ext uri="{FF2B5EF4-FFF2-40B4-BE49-F238E27FC236}">
                <a16:creationId xmlns:a16="http://schemas.microsoft.com/office/drawing/2014/main" id="{636FC621-E016-41E7-621A-E06188A2404E}"/>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768438338"/>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188032-DD47-08E2-557F-EF92F10AD281}"/>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59254883-E766-0167-816A-3FAD04F9C9C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B9BB996-DC12-4EAB-2584-CB327A810CC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FFEFDA71-7A9E-23FA-FAA7-055F91F9E2F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B2ADC07-E2D7-074B-83AE-BC80B926CA0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9B88E27-C9C9-D5AD-4D46-A51DC1493FA3}"/>
              </a:ext>
            </a:extLst>
          </p:cNvPr>
          <p:cNvSpPr>
            <a:spLocks noGrp="1"/>
          </p:cNvSpPr>
          <p:nvPr>
            <p:ph type="dt" sz="half" idx="10"/>
          </p:nvPr>
        </p:nvSpPr>
        <p:spPr/>
        <p:txBody>
          <a:bodyPr/>
          <a:lstStyle/>
          <a:p>
            <a:fld id="{5FDD63B2-E120-4ED8-B27B-C685F510A5FE}" type="datetimeFigureOut">
              <a:rPr lang="en-US" smtClean="0"/>
              <a:t>2/1/2024</a:t>
            </a:fld>
            <a:endParaRPr lang="en-US" dirty="0"/>
          </a:p>
        </p:txBody>
      </p:sp>
      <p:sp>
        <p:nvSpPr>
          <p:cNvPr id="8" name="Footer Placeholder 7">
            <a:extLst>
              <a:ext uri="{FF2B5EF4-FFF2-40B4-BE49-F238E27FC236}">
                <a16:creationId xmlns:a16="http://schemas.microsoft.com/office/drawing/2014/main" id="{4BA2553F-B65F-F61E-2563-BB2BD0040436}"/>
              </a:ext>
            </a:extLst>
          </p:cNvPr>
          <p:cNvSpPr>
            <a:spLocks noGrp="1"/>
          </p:cNvSpPr>
          <p:nvPr>
            <p:ph type="ftr" sz="quarter" idx="11"/>
          </p:nvPr>
        </p:nvSpPr>
        <p:spPr/>
        <p:txBody>
          <a:bodyPr/>
          <a:lstStyle/>
          <a:p>
            <a:r>
              <a:rPr lang="en-US"/>
              <a:t>
              </a:t>
            </a:r>
            <a:endParaRPr lang="en-US" dirty="0"/>
          </a:p>
        </p:txBody>
      </p:sp>
      <p:sp>
        <p:nvSpPr>
          <p:cNvPr id="9" name="Slide Number Placeholder 8">
            <a:extLst>
              <a:ext uri="{FF2B5EF4-FFF2-40B4-BE49-F238E27FC236}">
                <a16:creationId xmlns:a16="http://schemas.microsoft.com/office/drawing/2014/main" id="{4A0FFB81-BF63-ECD6-10E1-2E438181BF7D}"/>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26603369"/>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6D3D75-B9C9-EF81-6D6A-EEA80276DB9C}"/>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8BE720E5-BCAF-2E88-118C-6C1C6B3A330C}"/>
              </a:ext>
            </a:extLst>
          </p:cNvPr>
          <p:cNvSpPr>
            <a:spLocks noGrp="1"/>
          </p:cNvSpPr>
          <p:nvPr>
            <p:ph type="dt" sz="half" idx="10"/>
          </p:nvPr>
        </p:nvSpPr>
        <p:spPr/>
        <p:txBody>
          <a:bodyPr/>
          <a:lstStyle/>
          <a:p>
            <a:fld id="{7AA18ACC-A947-437B-A130-35BD54FDF1E9}" type="datetimeFigureOut">
              <a:rPr lang="en-US" smtClean="0"/>
              <a:t>2/1/2024</a:t>
            </a:fld>
            <a:endParaRPr lang="en-US" dirty="0"/>
          </a:p>
        </p:txBody>
      </p:sp>
      <p:sp>
        <p:nvSpPr>
          <p:cNvPr id="4" name="Footer Placeholder 3">
            <a:extLst>
              <a:ext uri="{FF2B5EF4-FFF2-40B4-BE49-F238E27FC236}">
                <a16:creationId xmlns:a16="http://schemas.microsoft.com/office/drawing/2014/main" id="{093610B2-A4C3-1B7F-F217-353A23A65FF3}"/>
              </a:ext>
            </a:extLst>
          </p:cNvPr>
          <p:cNvSpPr>
            <a:spLocks noGrp="1"/>
          </p:cNvSpPr>
          <p:nvPr>
            <p:ph type="ftr" sz="quarter" idx="11"/>
          </p:nvPr>
        </p:nvSpPr>
        <p:spPr/>
        <p:txBody>
          <a:bodyPr/>
          <a:lstStyle/>
          <a:p>
            <a:r>
              <a:rPr lang="en-US"/>
              <a:t>
              </a:t>
            </a:r>
            <a:endParaRPr lang="en-US" dirty="0"/>
          </a:p>
        </p:txBody>
      </p:sp>
      <p:sp>
        <p:nvSpPr>
          <p:cNvPr id="5" name="Slide Number Placeholder 4">
            <a:extLst>
              <a:ext uri="{FF2B5EF4-FFF2-40B4-BE49-F238E27FC236}">
                <a16:creationId xmlns:a16="http://schemas.microsoft.com/office/drawing/2014/main" id="{FE4627CE-A03E-09A5-37C0-308AEB9287DA}"/>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7230415"/>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75CED01-E29D-4ED1-2A90-0EBF3E399D1A}"/>
              </a:ext>
            </a:extLst>
          </p:cNvPr>
          <p:cNvSpPr>
            <a:spLocks noGrp="1"/>
          </p:cNvSpPr>
          <p:nvPr>
            <p:ph type="dt" sz="half" idx="10"/>
          </p:nvPr>
        </p:nvSpPr>
        <p:spPr/>
        <p:txBody>
          <a:bodyPr/>
          <a:lstStyle/>
          <a:p>
            <a:fld id="{7C8D7E02-BCB8-4D50-A234-369438C08659}" type="datetimeFigureOut">
              <a:rPr lang="en-US" smtClean="0"/>
              <a:t>2/1/2024</a:t>
            </a:fld>
            <a:endParaRPr lang="en-US" dirty="0"/>
          </a:p>
        </p:txBody>
      </p:sp>
      <p:sp>
        <p:nvSpPr>
          <p:cNvPr id="3" name="Footer Placeholder 2">
            <a:extLst>
              <a:ext uri="{FF2B5EF4-FFF2-40B4-BE49-F238E27FC236}">
                <a16:creationId xmlns:a16="http://schemas.microsoft.com/office/drawing/2014/main" id="{6E6B414D-A2AB-D344-1A29-CBB539C82906}"/>
              </a:ext>
            </a:extLst>
          </p:cNvPr>
          <p:cNvSpPr>
            <a:spLocks noGrp="1"/>
          </p:cNvSpPr>
          <p:nvPr>
            <p:ph type="ftr" sz="quarter" idx="11"/>
          </p:nvPr>
        </p:nvSpPr>
        <p:spPr/>
        <p:txBody>
          <a:bodyPr/>
          <a:lstStyle/>
          <a:p>
            <a:r>
              <a:rPr lang="en-US"/>
              <a:t>
              </a:t>
            </a:r>
            <a:endParaRPr lang="en-US" dirty="0"/>
          </a:p>
        </p:txBody>
      </p:sp>
      <p:sp>
        <p:nvSpPr>
          <p:cNvPr id="4" name="Slide Number Placeholder 3">
            <a:extLst>
              <a:ext uri="{FF2B5EF4-FFF2-40B4-BE49-F238E27FC236}">
                <a16:creationId xmlns:a16="http://schemas.microsoft.com/office/drawing/2014/main" id="{66079005-7263-28CC-EBC3-C3294319DDDE}"/>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76263472"/>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6D0B7A-64AD-DF78-3FFE-90F85B5DE64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CD353E0A-122E-234A-FDF0-2873038A8ED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2F0D54E1-B92E-65CD-231F-162D5EDDE32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F8C964C-4C91-876D-2339-234CC22E1367}"/>
              </a:ext>
            </a:extLst>
          </p:cNvPr>
          <p:cNvSpPr>
            <a:spLocks noGrp="1"/>
          </p:cNvSpPr>
          <p:nvPr>
            <p:ph type="dt" sz="half" idx="10"/>
          </p:nvPr>
        </p:nvSpPr>
        <p:spPr/>
        <p:txBody>
          <a:bodyPr/>
          <a:lstStyle/>
          <a:p>
            <a:fld id="{76E86A4C-8E40-4F87-A4F0-01A0687C5742}" type="datetimeFigureOut">
              <a:rPr lang="en-US" smtClean="0"/>
              <a:t>2/1/2024</a:t>
            </a:fld>
            <a:endParaRPr lang="en-US" dirty="0"/>
          </a:p>
        </p:txBody>
      </p:sp>
      <p:sp>
        <p:nvSpPr>
          <p:cNvPr id="6" name="Footer Placeholder 5">
            <a:extLst>
              <a:ext uri="{FF2B5EF4-FFF2-40B4-BE49-F238E27FC236}">
                <a16:creationId xmlns:a16="http://schemas.microsoft.com/office/drawing/2014/main" id="{C68AEFB9-598A-0ADB-0E6C-C4CC23503CC2}"/>
              </a:ext>
            </a:extLst>
          </p:cNvPr>
          <p:cNvSpPr>
            <a:spLocks noGrp="1"/>
          </p:cNvSpPr>
          <p:nvPr>
            <p:ph type="ftr" sz="quarter" idx="11"/>
          </p:nvPr>
        </p:nvSpPr>
        <p:spPr/>
        <p:txBody>
          <a:bodyPr/>
          <a:lstStyle/>
          <a:p>
            <a:r>
              <a:rPr lang="en-US"/>
              <a:t>
              </a:t>
            </a:r>
            <a:endParaRPr lang="en-US" dirty="0"/>
          </a:p>
        </p:txBody>
      </p:sp>
      <p:sp>
        <p:nvSpPr>
          <p:cNvPr id="7" name="Slide Number Placeholder 6">
            <a:extLst>
              <a:ext uri="{FF2B5EF4-FFF2-40B4-BE49-F238E27FC236}">
                <a16:creationId xmlns:a16="http://schemas.microsoft.com/office/drawing/2014/main" id="{B9C67A16-4DF4-9ABD-22B5-F814ADB6E4C5}"/>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542569866"/>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39FB48-459F-BB20-2704-99B1FBD6AA5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8A8C8CB4-0F5F-16D8-50CD-53E13A2B8CF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14C3C69-0AD6-8D35-FC3F-D0A6864F4B9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6C12BB8-FB15-1F8D-AB3F-61168B3DB0E2}"/>
              </a:ext>
            </a:extLst>
          </p:cNvPr>
          <p:cNvSpPr>
            <a:spLocks noGrp="1"/>
          </p:cNvSpPr>
          <p:nvPr>
            <p:ph type="dt" sz="half" idx="10"/>
          </p:nvPr>
        </p:nvSpPr>
        <p:spPr/>
        <p:txBody>
          <a:bodyPr/>
          <a:lstStyle/>
          <a:p>
            <a:fld id="{35E72C73-2D91-4E12-BA25-F0AA0C03599B}" type="datetimeFigureOut">
              <a:rPr lang="en-US" smtClean="0"/>
              <a:t>2/1/2024</a:t>
            </a:fld>
            <a:endParaRPr lang="en-US" dirty="0"/>
          </a:p>
        </p:txBody>
      </p:sp>
      <p:sp>
        <p:nvSpPr>
          <p:cNvPr id="6" name="Footer Placeholder 5">
            <a:extLst>
              <a:ext uri="{FF2B5EF4-FFF2-40B4-BE49-F238E27FC236}">
                <a16:creationId xmlns:a16="http://schemas.microsoft.com/office/drawing/2014/main" id="{9DAD4040-4FC0-DA46-4E18-40D537D5C237}"/>
              </a:ext>
            </a:extLst>
          </p:cNvPr>
          <p:cNvSpPr>
            <a:spLocks noGrp="1"/>
          </p:cNvSpPr>
          <p:nvPr>
            <p:ph type="ftr" sz="quarter" idx="11"/>
          </p:nvPr>
        </p:nvSpPr>
        <p:spPr/>
        <p:txBody>
          <a:bodyPr/>
          <a:lstStyle/>
          <a:p>
            <a:r>
              <a:rPr lang="en-US"/>
              <a:t>
              </a:t>
            </a:r>
            <a:endParaRPr lang="en-US" dirty="0"/>
          </a:p>
        </p:txBody>
      </p:sp>
      <p:sp>
        <p:nvSpPr>
          <p:cNvPr id="7" name="Slide Number Placeholder 6">
            <a:extLst>
              <a:ext uri="{FF2B5EF4-FFF2-40B4-BE49-F238E27FC236}">
                <a16:creationId xmlns:a16="http://schemas.microsoft.com/office/drawing/2014/main" id="{A2689E8C-0848-8F58-E05E-80A8509048EB}"/>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266184696"/>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AA85DA-02F9-457F-B827-8890E1AB271C}"/>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CB2CB516-30A3-3F29-10A7-98E0913033C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4A1FD12-633E-CD53-CE13-59792303E8BF}"/>
              </a:ext>
            </a:extLst>
          </p:cNvPr>
          <p:cNvSpPr>
            <a:spLocks noGrp="1"/>
          </p:cNvSpPr>
          <p:nvPr>
            <p:ph type="dt" sz="half" idx="10"/>
          </p:nvPr>
        </p:nvSpPr>
        <p:spPr/>
        <p:txBody>
          <a:bodyPr/>
          <a:lstStyle/>
          <a:p>
            <a:fld id="{53086D93-FCAC-47E0-A2EE-787E62CA814C}" type="datetimeFigureOut">
              <a:rPr lang="en-US" smtClean="0"/>
              <a:t>2/1/2024</a:t>
            </a:fld>
            <a:endParaRPr lang="en-US" dirty="0"/>
          </a:p>
        </p:txBody>
      </p:sp>
      <p:sp>
        <p:nvSpPr>
          <p:cNvPr id="5" name="Footer Placeholder 4">
            <a:extLst>
              <a:ext uri="{FF2B5EF4-FFF2-40B4-BE49-F238E27FC236}">
                <a16:creationId xmlns:a16="http://schemas.microsoft.com/office/drawing/2014/main" id="{A07DA7EF-754C-F260-D422-84363C4025AC}"/>
              </a:ext>
            </a:extLst>
          </p:cNvPr>
          <p:cNvSpPr>
            <a:spLocks noGrp="1"/>
          </p:cNvSpPr>
          <p:nvPr>
            <p:ph type="ftr" sz="quarter" idx="11"/>
          </p:nvPr>
        </p:nvSpPr>
        <p:spPr/>
        <p:txBody>
          <a:bodyPr/>
          <a:lstStyle/>
          <a:p>
            <a:r>
              <a:rPr lang="en-US"/>
              <a:t>
              </a:t>
            </a:r>
            <a:endParaRPr lang="en-US" dirty="0"/>
          </a:p>
        </p:txBody>
      </p:sp>
      <p:sp>
        <p:nvSpPr>
          <p:cNvPr id="6" name="Slide Number Placeholder 5">
            <a:extLst>
              <a:ext uri="{FF2B5EF4-FFF2-40B4-BE49-F238E27FC236}">
                <a16:creationId xmlns:a16="http://schemas.microsoft.com/office/drawing/2014/main" id="{1771E28B-0D23-3AB2-E20D-04105379C76C}"/>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727461178"/>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06BB4D7-7DC9-4108-383C-ED3990FF4544}"/>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B0B361E1-7E1D-C590-4BE6-BF7FA5906F1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E0A045B-5139-F5CC-5BD5-FAB9E2756F6D}"/>
              </a:ext>
            </a:extLst>
          </p:cNvPr>
          <p:cNvSpPr>
            <a:spLocks noGrp="1"/>
          </p:cNvSpPr>
          <p:nvPr>
            <p:ph type="dt" sz="half" idx="10"/>
          </p:nvPr>
        </p:nvSpPr>
        <p:spPr/>
        <p:txBody>
          <a:bodyPr/>
          <a:lstStyle/>
          <a:p>
            <a:fld id="{CDA879A6-0FD0-4734-A311-86BFCA472E6E}" type="datetimeFigureOut">
              <a:rPr lang="en-US" smtClean="0"/>
              <a:t>2/1/2024</a:t>
            </a:fld>
            <a:endParaRPr lang="en-US" dirty="0"/>
          </a:p>
        </p:txBody>
      </p:sp>
      <p:sp>
        <p:nvSpPr>
          <p:cNvPr id="5" name="Footer Placeholder 4">
            <a:extLst>
              <a:ext uri="{FF2B5EF4-FFF2-40B4-BE49-F238E27FC236}">
                <a16:creationId xmlns:a16="http://schemas.microsoft.com/office/drawing/2014/main" id="{2F5D54F3-E514-6270-CE10-8F828AAE76EA}"/>
              </a:ext>
            </a:extLst>
          </p:cNvPr>
          <p:cNvSpPr>
            <a:spLocks noGrp="1"/>
          </p:cNvSpPr>
          <p:nvPr>
            <p:ph type="ftr" sz="quarter" idx="11"/>
          </p:nvPr>
        </p:nvSpPr>
        <p:spPr/>
        <p:txBody>
          <a:bodyPr/>
          <a:lstStyle/>
          <a:p>
            <a:r>
              <a:rPr lang="en-US"/>
              <a:t>
              </a:t>
            </a:r>
            <a:endParaRPr lang="en-US" dirty="0"/>
          </a:p>
        </p:txBody>
      </p:sp>
      <p:sp>
        <p:nvSpPr>
          <p:cNvPr id="6" name="Slide Number Placeholder 5">
            <a:extLst>
              <a:ext uri="{FF2B5EF4-FFF2-40B4-BE49-F238E27FC236}">
                <a16:creationId xmlns:a16="http://schemas.microsoft.com/office/drawing/2014/main" id="{4D27EA23-BFC2-6335-E1F1-777237CF33CA}"/>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266968736"/>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A2F1CFD-AE92-DCD7-EF83-091D653B64D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A04B3051-438A-B6E4-53C4-2CE83200146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20498FA-7B9A-FF60-8667-B8C48A700FE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BE451C3-0FF4-47C4-B829-773ADF60F88C}" type="datetimeFigureOut">
              <a:rPr lang="en-US" smtClean="0"/>
              <a:t>2/1/2024</a:t>
            </a:fld>
            <a:endParaRPr lang="en-US" dirty="0"/>
          </a:p>
        </p:txBody>
      </p:sp>
      <p:sp>
        <p:nvSpPr>
          <p:cNvPr id="5" name="Footer Placeholder 4">
            <a:extLst>
              <a:ext uri="{FF2B5EF4-FFF2-40B4-BE49-F238E27FC236}">
                <a16:creationId xmlns:a16="http://schemas.microsoft.com/office/drawing/2014/main" id="{9A7D1D9D-E806-370A-EFB8-931004D4618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
              </a:t>
            </a:r>
            <a:endParaRPr lang="en-US" dirty="0"/>
          </a:p>
        </p:txBody>
      </p:sp>
      <p:sp>
        <p:nvSpPr>
          <p:cNvPr id="6" name="Slide Number Placeholder 5">
            <a:extLst>
              <a:ext uri="{FF2B5EF4-FFF2-40B4-BE49-F238E27FC236}">
                <a16:creationId xmlns:a16="http://schemas.microsoft.com/office/drawing/2014/main" id="{58ED7851-51C2-9F3D-5D19-772F41554F6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02996475"/>
      </p:ext>
    </p:extLst>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Lst>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1.png"/><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683171" y="1409997"/>
            <a:ext cx="8825658" cy="2546541"/>
          </a:xfrm>
        </p:spPr>
        <p:txBody>
          <a:bodyPr>
            <a:normAutofit/>
          </a:bodyPr>
          <a:lstStyle/>
          <a:p>
            <a:r>
              <a:rPr lang="en-US" sz="4400" b="1" dirty="0">
                <a:solidFill>
                  <a:srgbClr val="00ACEE"/>
                </a:solidFill>
                <a:latin typeface="Poppins" panose="00000500000000000000" pitchFamily="2" charset="0"/>
                <a:cs typeface="Poppins" panose="00000500000000000000" pitchFamily="2" charset="0"/>
              </a:rPr>
              <a:t>INTRO TO </a:t>
            </a:r>
            <a:br>
              <a:rPr lang="en-US" sz="4800" b="1" dirty="0">
                <a:latin typeface="Poppins" panose="00000500000000000000" pitchFamily="2" charset="0"/>
                <a:cs typeface="Poppins" panose="00000500000000000000" pitchFamily="2" charset="0"/>
              </a:rPr>
            </a:br>
            <a:r>
              <a:rPr lang="en-US" sz="9600" b="1" dirty="0">
                <a:solidFill>
                  <a:srgbClr val="0B5296"/>
                </a:solidFill>
                <a:latin typeface="Poppins" panose="00000500000000000000" pitchFamily="2" charset="0"/>
                <a:cs typeface="Poppins" panose="00000500000000000000" pitchFamily="2" charset="0"/>
              </a:rPr>
              <a:t>PYTHON</a:t>
            </a:r>
            <a:br>
              <a:rPr lang="en-US" sz="9600" b="1" dirty="0">
                <a:solidFill>
                  <a:srgbClr val="0B5296"/>
                </a:solidFill>
                <a:latin typeface="Poppins" panose="00000500000000000000" pitchFamily="2" charset="0"/>
                <a:cs typeface="Poppins" panose="00000500000000000000" pitchFamily="2" charset="0"/>
              </a:rPr>
            </a:br>
            <a:r>
              <a:rPr lang="en-US" sz="2800" b="1" dirty="0">
                <a:solidFill>
                  <a:srgbClr val="0B5296"/>
                </a:solidFill>
                <a:latin typeface="Poppins" panose="00000500000000000000" pitchFamily="2" charset="0"/>
                <a:cs typeface="Poppins" panose="00000500000000000000" pitchFamily="2" charset="0"/>
              </a:rPr>
              <a:t>Section Four</a:t>
            </a:r>
            <a:endParaRPr lang="en-US" sz="3200" b="1" dirty="0">
              <a:solidFill>
                <a:srgbClr val="0B5296"/>
              </a:solidFill>
              <a:latin typeface="Poppins" panose="00000500000000000000" pitchFamily="2" charset="0"/>
              <a:cs typeface="Poppins" panose="00000500000000000000" pitchFamily="2" charset="0"/>
            </a:endParaRPr>
          </a:p>
        </p:txBody>
      </p:sp>
      <p:pic>
        <p:nvPicPr>
          <p:cNvPr id="1026" name="Picture 2">
            <a:extLst>
              <a:ext uri="{FF2B5EF4-FFF2-40B4-BE49-F238E27FC236}">
                <a16:creationId xmlns:a16="http://schemas.microsoft.com/office/drawing/2014/main" id="{3A0B3D93-A82F-31A0-5E09-D6DFAAE3EDD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67200" y="5514975"/>
            <a:ext cx="3657600" cy="8572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17927922"/>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8C5244-7E79-06E5-9076-8C9E53D6C939}"/>
              </a:ext>
            </a:extLst>
          </p:cNvPr>
          <p:cNvSpPr>
            <a:spLocks noGrp="1"/>
          </p:cNvSpPr>
          <p:nvPr>
            <p:ph type="title"/>
          </p:nvPr>
        </p:nvSpPr>
        <p:spPr/>
        <p:txBody>
          <a:bodyPr/>
          <a:lstStyle/>
          <a:p>
            <a:r>
              <a:rPr kumimoji="0" lang="en-US" sz="4400" b="1" i="0" u="none" strike="noStrike" kern="0" cap="none" spc="0" normalizeH="0" baseline="0" noProof="0" dirty="0">
                <a:ln>
                  <a:noFill/>
                </a:ln>
                <a:solidFill>
                  <a:srgbClr val="0B5296"/>
                </a:solidFill>
                <a:effectLst/>
                <a:uLnTx/>
                <a:uFillTx/>
                <a:latin typeface="Poppins" panose="00000500000000000000" pitchFamily="2" charset="0"/>
                <a:ea typeface="Fira Code"/>
                <a:cs typeface="Poppins" panose="00000500000000000000" pitchFamily="2" charset="0"/>
                <a:sym typeface="Fira Code"/>
              </a:rPr>
              <a:t>Python Set</a:t>
            </a:r>
            <a:endParaRPr lang="en-US" b="1" dirty="0">
              <a:solidFill>
                <a:srgbClr val="0B5296"/>
              </a:solidFill>
              <a:latin typeface="Poppins" panose="00000500000000000000" pitchFamily="2" charset="0"/>
              <a:cs typeface="Poppins" panose="00000500000000000000" pitchFamily="2" charset="0"/>
            </a:endParaRPr>
          </a:p>
        </p:txBody>
      </p:sp>
      <p:sp>
        <p:nvSpPr>
          <p:cNvPr id="3" name="Content Placeholder 2">
            <a:extLst>
              <a:ext uri="{FF2B5EF4-FFF2-40B4-BE49-F238E27FC236}">
                <a16:creationId xmlns:a16="http://schemas.microsoft.com/office/drawing/2014/main" id="{425AEB74-134D-1AF8-F00C-EB345EEFC9E9}"/>
              </a:ext>
            </a:extLst>
          </p:cNvPr>
          <p:cNvSpPr>
            <a:spLocks noGrp="1"/>
          </p:cNvSpPr>
          <p:nvPr>
            <p:ph idx="1"/>
          </p:nvPr>
        </p:nvSpPr>
        <p:spPr>
          <a:xfrm>
            <a:off x="1072242" y="1690688"/>
            <a:ext cx="10091057" cy="3325812"/>
          </a:xfrm>
        </p:spPr>
        <p:txBody>
          <a:bodyPr>
            <a:normAutofit fontScale="92500" lnSpcReduction="10000"/>
          </a:bodyPr>
          <a:lstStyle/>
          <a:p>
            <a:pPr marL="0" indent="0">
              <a:lnSpc>
                <a:spcPct val="100000"/>
              </a:lnSpc>
              <a:buNone/>
            </a:pPr>
            <a:r>
              <a:rPr lang="en-US" sz="2400" dirty="0">
                <a:latin typeface="Poppins" panose="00000500000000000000" pitchFamily="2" charset="0"/>
                <a:cs typeface="Poppins" panose="00000500000000000000" pitchFamily="2" charset="0"/>
              </a:rPr>
              <a:t>A Python set is the collection of the unordered items. Each element in the set must be unique, immutable, and the sets remove the duplicate elements. Sets are mutable which means we can modify it after its creation.</a:t>
            </a:r>
          </a:p>
          <a:p>
            <a:pPr marL="0" indent="0">
              <a:lnSpc>
                <a:spcPct val="100000"/>
              </a:lnSpc>
              <a:buNone/>
            </a:pPr>
            <a:endParaRPr lang="en-US" sz="2400" dirty="0">
              <a:latin typeface="Poppins" panose="00000500000000000000" pitchFamily="2" charset="0"/>
              <a:cs typeface="Poppins" panose="00000500000000000000" pitchFamily="2" charset="0"/>
            </a:endParaRPr>
          </a:p>
          <a:p>
            <a:pPr marL="0" indent="0">
              <a:lnSpc>
                <a:spcPct val="100000"/>
              </a:lnSpc>
              <a:buNone/>
            </a:pPr>
            <a:r>
              <a:rPr lang="en-US" sz="2400" dirty="0">
                <a:latin typeface="Poppins" panose="00000500000000000000" pitchFamily="2" charset="0"/>
                <a:cs typeface="Poppins" panose="00000500000000000000" pitchFamily="2" charset="0"/>
              </a:rPr>
              <a:t>Unlike other collections in Python, there is no index attached to the elements of the set, i.e., we cannot directly access any element of the set by the index. However, we can print them all together, or we can get the list of elements by looping through the set.</a:t>
            </a:r>
          </a:p>
        </p:txBody>
      </p:sp>
      <p:pic>
        <p:nvPicPr>
          <p:cNvPr id="7" name="Picture 2">
            <a:extLst>
              <a:ext uri="{FF2B5EF4-FFF2-40B4-BE49-F238E27FC236}">
                <a16:creationId xmlns:a16="http://schemas.microsoft.com/office/drawing/2014/main" id="{ADAB9628-45ED-95B0-D11B-679BE689FDC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859488" y="6238114"/>
            <a:ext cx="1995055" cy="46759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71648685"/>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8C5244-7E79-06E5-9076-8C9E53D6C939}"/>
              </a:ext>
            </a:extLst>
          </p:cNvPr>
          <p:cNvSpPr>
            <a:spLocks noGrp="1"/>
          </p:cNvSpPr>
          <p:nvPr>
            <p:ph type="title"/>
          </p:nvPr>
        </p:nvSpPr>
        <p:spPr/>
        <p:txBody>
          <a:bodyPr/>
          <a:lstStyle/>
          <a:p>
            <a:r>
              <a:rPr kumimoji="0" lang="en-US" sz="4400" b="1" i="0" u="none" strike="noStrike" kern="0" cap="none" spc="0" normalizeH="0" baseline="0" noProof="0" dirty="0">
                <a:ln>
                  <a:noFill/>
                </a:ln>
                <a:solidFill>
                  <a:srgbClr val="0B5296"/>
                </a:solidFill>
                <a:effectLst/>
                <a:uLnTx/>
                <a:uFillTx/>
                <a:latin typeface="Poppins" panose="00000500000000000000" pitchFamily="2" charset="0"/>
                <a:ea typeface="Fira Code"/>
                <a:cs typeface="Poppins" panose="00000500000000000000" pitchFamily="2" charset="0"/>
                <a:sym typeface="Fira Code"/>
              </a:rPr>
              <a:t>Syntax of Set</a:t>
            </a:r>
            <a:endParaRPr lang="en-US" b="1" dirty="0">
              <a:solidFill>
                <a:srgbClr val="0B5296"/>
              </a:solidFill>
              <a:latin typeface="Poppins" panose="00000500000000000000" pitchFamily="2" charset="0"/>
              <a:cs typeface="Poppins" panose="00000500000000000000" pitchFamily="2" charset="0"/>
            </a:endParaRPr>
          </a:p>
        </p:txBody>
      </p:sp>
      <p:pic>
        <p:nvPicPr>
          <p:cNvPr id="7" name="Picture 2">
            <a:extLst>
              <a:ext uri="{FF2B5EF4-FFF2-40B4-BE49-F238E27FC236}">
                <a16:creationId xmlns:a16="http://schemas.microsoft.com/office/drawing/2014/main" id="{ADAB9628-45ED-95B0-D11B-679BE689FDC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859488" y="6238114"/>
            <a:ext cx="1995055" cy="467591"/>
          </a:xfrm>
          <a:prstGeom prst="rect">
            <a:avLst/>
          </a:prstGeom>
          <a:noFill/>
          <a:extLst>
            <a:ext uri="{909E8E84-426E-40DD-AFC4-6F175D3DCCD1}">
              <a14:hiddenFill xmlns:a14="http://schemas.microsoft.com/office/drawing/2010/main">
                <a:solidFill>
                  <a:srgbClr val="FFFFFF"/>
                </a:solidFill>
              </a14:hiddenFill>
            </a:ext>
          </a:extLst>
        </p:spPr>
      </p:pic>
      <p:sp>
        <p:nvSpPr>
          <p:cNvPr id="5" name="Content Placeholder 4">
            <a:extLst>
              <a:ext uri="{FF2B5EF4-FFF2-40B4-BE49-F238E27FC236}">
                <a16:creationId xmlns:a16="http://schemas.microsoft.com/office/drawing/2014/main" id="{F85FCCE3-5DD6-B237-CDA3-DE089C3EA67F}"/>
              </a:ext>
            </a:extLst>
          </p:cNvPr>
          <p:cNvSpPr>
            <a:spLocks noGrp="1"/>
          </p:cNvSpPr>
          <p:nvPr>
            <p:ph idx="1"/>
          </p:nvPr>
        </p:nvSpPr>
        <p:spPr>
          <a:xfrm>
            <a:off x="838200" y="1825625"/>
            <a:ext cx="10515600" cy="2117725"/>
          </a:xfrm>
        </p:spPr>
        <p:txBody>
          <a:bodyPr/>
          <a:lstStyle/>
          <a:p>
            <a:pPr marL="0" indent="0">
              <a:buNone/>
            </a:pPr>
            <a:r>
              <a:rPr lang="en-US" dirty="0">
                <a:latin typeface="Poppins" panose="00000500000000000000" pitchFamily="2" charset="0"/>
                <a:cs typeface="Poppins" panose="00000500000000000000" pitchFamily="2" charset="0"/>
              </a:rPr>
              <a:t>The set can be created by enclosing the comma-separated immutable items with the curly braces {}. Python also provides the </a:t>
            </a:r>
            <a:r>
              <a:rPr lang="en-US" b="1" dirty="0">
                <a:latin typeface="Poppins" panose="00000500000000000000" pitchFamily="2" charset="0"/>
                <a:cs typeface="Poppins" panose="00000500000000000000" pitchFamily="2" charset="0"/>
              </a:rPr>
              <a:t>set()</a:t>
            </a:r>
            <a:r>
              <a:rPr lang="en-US" dirty="0">
                <a:latin typeface="Poppins" panose="00000500000000000000" pitchFamily="2" charset="0"/>
                <a:cs typeface="Poppins" panose="00000500000000000000" pitchFamily="2" charset="0"/>
              </a:rPr>
              <a:t> method, which can be used to create the set by the passed sequence.</a:t>
            </a:r>
          </a:p>
        </p:txBody>
      </p:sp>
      <p:pic>
        <p:nvPicPr>
          <p:cNvPr id="6" name="Picture 5">
            <a:extLst>
              <a:ext uri="{FF2B5EF4-FFF2-40B4-BE49-F238E27FC236}">
                <a16:creationId xmlns:a16="http://schemas.microsoft.com/office/drawing/2014/main" id="{BE194768-C8DC-C5A4-AD70-0A5F0AAAC1E7}"/>
              </a:ext>
            </a:extLst>
          </p:cNvPr>
          <p:cNvPicPr>
            <a:picLocks noChangeAspect="1"/>
          </p:cNvPicPr>
          <p:nvPr/>
        </p:nvPicPr>
        <p:blipFill>
          <a:blip r:embed="rId3"/>
          <a:stretch>
            <a:fillRect/>
          </a:stretch>
        </p:blipFill>
        <p:spPr>
          <a:xfrm>
            <a:off x="0" y="3022693"/>
            <a:ext cx="12192000" cy="2723299"/>
          </a:xfrm>
          <a:prstGeom prst="rect">
            <a:avLst/>
          </a:prstGeom>
        </p:spPr>
      </p:pic>
    </p:spTree>
    <p:extLst>
      <p:ext uri="{BB962C8B-B14F-4D97-AF65-F5344CB8AC3E}">
        <p14:creationId xmlns:p14="http://schemas.microsoft.com/office/powerpoint/2010/main" val="3418987629"/>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8C5244-7E79-06E5-9076-8C9E53D6C939}"/>
              </a:ext>
            </a:extLst>
          </p:cNvPr>
          <p:cNvSpPr>
            <a:spLocks noGrp="1"/>
          </p:cNvSpPr>
          <p:nvPr>
            <p:ph type="title"/>
          </p:nvPr>
        </p:nvSpPr>
        <p:spPr/>
        <p:txBody>
          <a:bodyPr/>
          <a:lstStyle/>
          <a:p>
            <a:r>
              <a:rPr kumimoji="0" lang="en-US" sz="4400" b="1" i="0" u="none" strike="noStrike" kern="0" cap="none" spc="0" normalizeH="0" baseline="0" noProof="0" dirty="0">
                <a:ln>
                  <a:noFill/>
                </a:ln>
                <a:solidFill>
                  <a:srgbClr val="0B5296"/>
                </a:solidFill>
                <a:effectLst/>
                <a:uLnTx/>
                <a:uFillTx/>
                <a:latin typeface="Poppins" panose="00000500000000000000" pitchFamily="2" charset="0"/>
                <a:ea typeface="Fira Code"/>
                <a:cs typeface="Poppins" panose="00000500000000000000" pitchFamily="2" charset="0"/>
                <a:sym typeface="Fira Code"/>
              </a:rPr>
              <a:t>Adding items to the set</a:t>
            </a:r>
          </a:p>
        </p:txBody>
      </p:sp>
      <p:sp>
        <p:nvSpPr>
          <p:cNvPr id="3" name="Content Placeholder 2">
            <a:extLst>
              <a:ext uri="{FF2B5EF4-FFF2-40B4-BE49-F238E27FC236}">
                <a16:creationId xmlns:a16="http://schemas.microsoft.com/office/drawing/2014/main" id="{425AEB74-134D-1AF8-F00C-EB345EEFC9E9}"/>
              </a:ext>
            </a:extLst>
          </p:cNvPr>
          <p:cNvSpPr>
            <a:spLocks noGrp="1"/>
          </p:cNvSpPr>
          <p:nvPr>
            <p:ph idx="1"/>
          </p:nvPr>
        </p:nvSpPr>
        <p:spPr>
          <a:xfrm>
            <a:off x="1072243" y="1690688"/>
            <a:ext cx="10626272" cy="1966912"/>
          </a:xfrm>
        </p:spPr>
        <p:txBody>
          <a:bodyPr>
            <a:normAutofit fontScale="92500" lnSpcReduction="10000"/>
          </a:bodyPr>
          <a:lstStyle/>
          <a:p>
            <a:pPr marL="0" indent="0">
              <a:lnSpc>
                <a:spcPct val="100000"/>
              </a:lnSpc>
              <a:buNone/>
            </a:pPr>
            <a:r>
              <a:rPr lang="en-US" dirty="0">
                <a:latin typeface="Poppins" panose="00000500000000000000" pitchFamily="2" charset="0"/>
                <a:cs typeface="Poppins" panose="00000500000000000000" pitchFamily="2" charset="0"/>
              </a:rPr>
              <a:t>Python provides the </a:t>
            </a:r>
            <a:r>
              <a:rPr lang="en-US" b="1" dirty="0">
                <a:latin typeface="Poppins" panose="00000500000000000000" pitchFamily="2" charset="0"/>
                <a:cs typeface="Poppins" panose="00000500000000000000" pitchFamily="2" charset="0"/>
              </a:rPr>
              <a:t>add() </a:t>
            </a:r>
            <a:r>
              <a:rPr lang="en-US" dirty="0">
                <a:latin typeface="Poppins" panose="00000500000000000000" pitchFamily="2" charset="0"/>
                <a:cs typeface="Poppins" panose="00000500000000000000" pitchFamily="2" charset="0"/>
              </a:rPr>
              <a:t>method and </a:t>
            </a:r>
            <a:r>
              <a:rPr lang="en-US" b="1" dirty="0">
                <a:latin typeface="Poppins" panose="00000500000000000000" pitchFamily="2" charset="0"/>
                <a:cs typeface="Poppins" panose="00000500000000000000" pitchFamily="2" charset="0"/>
              </a:rPr>
              <a:t>update() </a:t>
            </a:r>
            <a:r>
              <a:rPr lang="en-US" dirty="0">
                <a:latin typeface="Poppins" panose="00000500000000000000" pitchFamily="2" charset="0"/>
                <a:cs typeface="Poppins" panose="00000500000000000000" pitchFamily="2" charset="0"/>
              </a:rPr>
              <a:t>method which can be used to add some particular item to the set. The add() method is used to add a single element whereas the update() method is used to add multiple elements to the set. Consider the following example.</a:t>
            </a:r>
          </a:p>
        </p:txBody>
      </p:sp>
      <p:pic>
        <p:nvPicPr>
          <p:cNvPr id="7" name="Picture 2">
            <a:extLst>
              <a:ext uri="{FF2B5EF4-FFF2-40B4-BE49-F238E27FC236}">
                <a16:creationId xmlns:a16="http://schemas.microsoft.com/office/drawing/2014/main" id="{ADAB9628-45ED-95B0-D11B-679BE689FDC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859488" y="6238114"/>
            <a:ext cx="1995055" cy="467591"/>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a:extLst>
              <a:ext uri="{FF2B5EF4-FFF2-40B4-BE49-F238E27FC236}">
                <a16:creationId xmlns:a16="http://schemas.microsoft.com/office/drawing/2014/main" id="{38D1993A-8AE9-95BF-695E-A6EABDD1EF30}"/>
              </a:ext>
            </a:extLst>
          </p:cNvPr>
          <p:cNvPicPr>
            <a:picLocks noChangeAspect="1"/>
          </p:cNvPicPr>
          <p:nvPr/>
        </p:nvPicPr>
        <p:blipFill>
          <a:blip r:embed="rId3"/>
          <a:stretch>
            <a:fillRect/>
          </a:stretch>
        </p:blipFill>
        <p:spPr>
          <a:xfrm>
            <a:off x="337457" y="2715597"/>
            <a:ext cx="11223009" cy="4155504"/>
          </a:xfrm>
          <a:prstGeom prst="rect">
            <a:avLst/>
          </a:prstGeom>
        </p:spPr>
      </p:pic>
    </p:spTree>
    <p:extLst>
      <p:ext uri="{BB962C8B-B14F-4D97-AF65-F5344CB8AC3E}">
        <p14:creationId xmlns:p14="http://schemas.microsoft.com/office/powerpoint/2010/main" val="1476150110"/>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8C5244-7E79-06E5-9076-8C9E53D6C939}"/>
              </a:ext>
            </a:extLst>
          </p:cNvPr>
          <p:cNvSpPr>
            <a:spLocks noGrp="1"/>
          </p:cNvSpPr>
          <p:nvPr>
            <p:ph type="title"/>
          </p:nvPr>
        </p:nvSpPr>
        <p:spPr/>
        <p:txBody>
          <a:bodyPr>
            <a:normAutofit/>
          </a:bodyPr>
          <a:lstStyle/>
          <a:p>
            <a:r>
              <a:rPr kumimoji="0" lang="en-US" sz="3200" b="1" i="0" u="none" strike="noStrike" kern="0" cap="none" spc="0" normalizeH="0" baseline="0" noProof="0" dirty="0">
                <a:ln>
                  <a:noFill/>
                </a:ln>
                <a:solidFill>
                  <a:srgbClr val="0B5296"/>
                </a:solidFill>
                <a:effectLst/>
                <a:uLnTx/>
                <a:uFillTx/>
                <a:latin typeface="Poppins" panose="00000500000000000000" pitchFamily="2" charset="0"/>
                <a:ea typeface="Fira Code"/>
                <a:cs typeface="Poppins" panose="00000500000000000000" pitchFamily="2" charset="0"/>
                <a:sym typeface="Fira Code"/>
              </a:rPr>
              <a:t>Removing items from the set</a:t>
            </a:r>
          </a:p>
        </p:txBody>
      </p:sp>
      <p:sp>
        <p:nvSpPr>
          <p:cNvPr id="3" name="Content Placeholder 2">
            <a:extLst>
              <a:ext uri="{FF2B5EF4-FFF2-40B4-BE49-F238E27FC236}">
                <a16:creationId xmlns:a16="http://schemas.microsoft.com/office/drawing/2014/main" id="{425AEB74-134D-1AF8-F00C-EB345EEFC9E9}"/>
              </a:ext>
            </a:extLst>
          </p:cNvPr>
          <p:cNvSpPr>
            <a:spLocks noGrp="1"/>
          </p:cNvSpPr>
          <p:nvPr>
            <p:ph idx="1"/>
          </p:nvPr>
        </p:nvSpPr>
        <p:spPr>
          <a:xfrm>
            <a:off x="1072243" y="1690688"/>
            <a:ext cx="10515600" cy="1545998"/>
          </a:xfrm>
        </p:spPr>
        <p:txBody>
          <a:bodyPr>
            <a:normAutofit fontScale="77500" lnSpcReduction="20000"/>
          </a:bodyPr>
          <a:lstStyle/>
          <a:p>
            <a:pPr marL="0" indent="0">
              <a:lnSpc>
                <a:spcPct val="100000"/>
              </a:lnSpc>
              <a:buNone/>
            </a:pPr>
            <a:r>
              <a:rPr lang="en-US" dirty="0">
                <a:latin typeface="Poppins" panose="00000500000000000000" pitchFamily="2" charset="0"/>
                <a:cs typeface="Poppins" panose="00000500000000000000" pitchFamily="2" charset="0"/>
              </a:rPr>
              <a:t>Python provides the discard() method and remove() method which can be used to remove the items from the set. The difference between these function, using discard() function if the item does not exist in the set then the set remain unchanged whereas remove() method will throw an error.</a:t>
            </a:r>
          </a:p>
        </p:txBody>
      </p:sp>
      <p:pic>
        <p:nvPicPr>
          <p:cNvPr id="7" name="Picture 2">
            <a:extLst>
              <a:ext uri="{FF2B5EF4-FFF2-40B4-BE49-F238E27FC236}">
                <a16:creationId xmlns:a16="http://schemas.microsoft.com/office/drawing/2014/main" id="{ADAB9628-45ED-95B0-D11B-679BE689FDC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859488" y="6238114"/>
            <a:ext cx="1995055" cy="467591"/>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a:extLst>
              <a:ext uri="{FF2B5EF4-FFF2-40B4-BE49-F238E27FC236}">
                <a16:creationId xmlns:a16="http://schemas.microsoft.com/office/drawing/2014/main" id="{F7601600-3B86-46AA-5A81-55C5BC568D1A}"/>
              </a:ext>
            </a:extLst>
          </p:cNvPr>
          <p:cNvPicPr>
            <a:picLocks noChangeAspect="1"/>
          </p:cNvPicPr>
          <p:nvPr/>
        </p:nvPicPr>
        <p:blipFill>
          <a:blip r:embed="rId3"/>
          <a:stretch>
            <a:fillRect/>
          </a:stretch>
        </p:blipFill>
        <p:spPr>
          <a:xfrm>
            <a:off x="333476" y="2508419"/>
            <a:ext cx="11020324" cy="3508574"/>
          </a:xfrm>
          <a:prstGeom prst="rect">
            <a:avLst/>
          </a:prstGeom>
        </p:spPr>
      </p:pic>
    </p:spTree>
    <p:extLst>
      <p:ext uri="{BB962C8B-B14F-4D97-AF65-F5344CB8AC3E}">
        <p14:creationId xmlns:p14="http://schemas.microsoft.com/office/powerpoint/2010/main" val="2145507016"/>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8C5244-7E79-06E5-9076-8C9E53D6C939}"/>
              </a:ext>
            </a:extLst>
          </p:cNvPr>
          <p:cNvSpPr>
            <a:spLocks noGrp="1"/>
          </p:cNvSpPr>
          <p:nvPr>
            <p:ph type="title"/>
          </p:nvPr>
        </p:nvSpPr>
        <p:spPr/>
        <p:txBody>
          <a:bodyPr>
            <a:normAutofit/>
          </a:bodyPr>
          <a:lstStyle/>
          <a:p>
            <a:r>
              <a:rPr kumimoji="0" lang="en-US" sz="4800" b="1" i="0" u="none" strike="noStrike" kern="0" cap="none" spc="0" normalizeH="0" baseline="0" noProof="0" dirty="0">
                <a:ln>
                  <a:noFill/>
                </a:ln>
                <a:solidFill>
                  <a:srgbClr val="0B5296"/>
                </a:solidFill>
                <a:effectLst/>
                <a:uLnTx/>
                <a:uFillTx/>
                <a:latin typeface="Poppins" panose="00000500000000000000" pitchFamily="2" charset="0"/>
                <a:ea typeface="Fira Code"/>
                <a:cs typeface="Poppins" panose="00000500000000000000" pitchFamily="2" charset="0"/>
                <a:sym typeface="Fira Code"/>
              </a:rPr>
              <a:t>Activity</a:t>
            </a:r>
          </a:p>
        </p:txBody>
      </p:sp>
      <p:sp>
        <p:nvSpPr>
          <p:cNvPr id="3" name="Content Placeholder 2">
            <a:extLst>
              <a:ext uri="{FF2B5EF4-FFF2-40B4-BE49-F238E27FC236}">
                <a16:creationId xmlns:a16="http://schemas.microsoft.com/office/drawing/2014/main" id="{425AEB74-134D-1AF8-F00C-EB345EEFC9E9}"/>
              </a:ext>
            </a:extLst>
          </p:cNvPr>
          <p:cNvSpPr>
            <a:spLocks noGrp="1"/>
          </p:cNvSpPr>
          <p:nvPr>
            <p:ph idx="1"/>
          </p:nvPr>
        </p:nvSpPr>
        <p:spPr>
          <a:xfrm>
            <a:off x="842983" y="1690688"/>
            <a:ext cx="10648951" cy="3815167"/>
          </a:xfrm>
        </p:spPr>
        <p:txBody>
          <a:bodyPr>
            <a:normAutofit/>
          </a:bodyPr>
          <a:lstStyle/>
          <a:p>
            <a:pPr marL="0" indent="0">
              <a:lnSpc>
                <a:spcPct val="100000"/>
              </a:lnSpc>
              <a:buNone/>
            </a:pPr>
            <a:r>
              <a:rPr lang="en-US" sz="2600" dirty="0">
                <a:solidFill>
                  <a:srgbClr val="0B5296"/>
                </a:solidFill>
                <a:latin typeface="Poppins" panose="00000500000000000000" pitchFamily="2" charset="0"/>
                <a:cs typeface="Poppins" panose="00000500000000000000" pitchFamily="2" charset="0"/>
              </a:rPr>
              <a:t>#given set</a:t>
            </a:r>
            <a:br>
              <a:rPr lang="en-US" sz="2600" dirty="0">
                <a:solidFill>
                  <a:srgbClr val="0B5296"/>
                </a:solidFill>
                <a:latin typeface="Poppins" panose="00000500000000000000" pitchFamily="2" charset="0"/>
                <a:cs typeface="Poppins" panose="00000500000000000000" pitchFamily="2" charset="0"/>
              </a:rPr>
            </a:br>
            <a:r>
              <a:rPr lang="en-US" sz="2600" dirty="0" err="1">
                <a:solidFill>
                  <a:srgbClr val="0B5296"/>
                </a:solidFill>
                <a:latin typeface="Poppins" panose="00000500000000000000" pitchFamily="2" charset="0"/>
                <a:cs typeface="Poppins" panose="00000500000000000000" pitchFamily="2" charset="0"/>
              </a:rPr>
              <a:t>sample_set</a:t>
            </a:r>
            <a:r>
              <a:rPr lang="en-US" sz="2600" dirty="0">
                <a:solidFill>
                  <a:srgbClr val="0B5296"/>
                </a:solidFill>
                <a:latin typeface="Poppins" panose="00000500000000000000" pitchFamily="2" charset="0"/>
                <a:cs typeface="Poppins" panose="00000500000000000000" pitchFamily="2" charset="0"/>
              </a:rPr>
              <a:t> = {"Yellow", "Orange", "Black"}</a:t>
            </a:r>
          </a:p>
          <a:p>
            <a:pPr marL="0" indent="0">
              <a:lnSpc>
                <a:spcPct val="100000"/>
              </a:lnSpc>
              <a:buNone/>
            </a:pPr>
            <a:endParaRPr lang="en-US" sz="2600" dirty="0">
              <a:solidFill>
                <a:srgbClr val="0B5296"/>
              </a:solidFill>
              <a:latin typeface="Poppins" panose="00000500000000000000" pitchFamily="2" charset="0"/>
              <a:cs typeface="Poppins" panose="00000500000000000000" pitchFamily="2" charset="0"/>
            </a:endParaRPr>
          </a:p>
          <a:p>
            <a:pPr marL="0" indent="0">
              <a:lnSpc>
                <a:spcPct val="100000"/>
              </a:lnSpc>
              <a:buNone/>
            </a:pPr>
            <a:r>
              <a:rPr lang="en-US" sz="2600" dirty="0">
                <a:latin typeface="Poppins" panose="00000500000000000000" pitchFamily="2" charset="0"/>
                <a:cs typeface="Poppins" panose="00000500000000000000" pitchFamily="2" charset="0"/>
              </a:rPr>
              <a:t>Exercise 1: Add a list of elements to a set</a:t>
            </a:r>
          </a:p>
          <a:p>
            <a:pPr marL="0" indent="0">
              <a:lnSpc>
                <a:spcPct val="100000"/>
              </a:lnSpc>
              <a:buNone/>
            </a:pPr>
            <a:r>
              <a:rPr lang="en-US" sz="2600" dirty="0">
                <a:latin typeface="Poppins" panose="00000500000000000000" pitchFamily="2" charset="0"/>
                <a:cs typeface="Poppins" panose="00000500000000000000" pitchFamily="2" charset="0"/>
              </a:rPr>
              <a:t>Exercise 2: Remove item orange from the set </a:t>
            </a:r>
          </a:p>
          <a:p>
            <a:pPr marL="0" indent="0">
              <a:lnSpc>
                <a:spcPct val="100000"/>
              </a:lnSpc>
              <a:buNone/>
            </a:pPr>
            <a:endParaRPr lang="en-US" sz="2600" dirty="0">
              <a:latin typeface="Poppins" panose="00000500000000000000" pitchFamily="2" charset="0"/>
              <a:cs typeface="Poppins" panose="00000500000000000000" pitchFamily="2" charset="0"/>
            </a:endParaRPr>
          </a:p>
        </p:txBody>
      </p:sp>
      <p:pic>
        <p:nvPicPr>
          <p:cNvPr id="7" name="Picture 2">
            <a:extLst>
              <a:ext uri="{FF2B5EF4-FFF2-40B4-BE49-F238E27FC236}">
                <a16:creationId xmlns:a16="http://schemas.microsoft.com/office/drawing/2014/main" id="{ADAB9628-45ED-95B0-D11B-679BE689FDC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859488" y="6238114"/>
            <a:ext cx="1995055" cy="46759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86702061"/>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8C5244-7E79-06E5-9076-8C9E53D6C939}"/>
              </a:ext>
            </a:extLst>
          </p:cNvPr>
          <p:cNvSpPr>
            <a:spLocks noGrp="1"/>
          </p:cNvSpPr>
          <p:nvPr>
            <p:ph type="title"/>
          </p:nvPr>
        </p:nvSpPr>
        <p:spPr/>
        <p:txBody>
          <a:bodyPr>
            <a:normAutofit/>
          </a:bodyPr>
          <a:lstStyle/>
          <a:p>
            <a:r>
              <a:rPr kumimoji="0" lang="en-US" sz="2800" b="1" i="0" u="none" strike="noStrike" kern="0" cap="none" spc="0" normalizeH="0" baseline="0" noProof="0" dirty="0">
                <a:ln>
                  <a:noFill/>
                </a:ln>
                <a:solidFill>
                  <a:srgbClr val="0B5296"/>
                </a:solidFill>
                <a:effectLst/>
                <a:uLnTx/>
                <a:uFillTx/>
                <a:latin typeface="Poppins" panose="00000500000000000000" pitchFamily="2" charset="0"/>
                <a:ea typeface="Fira Code"/>
                <a:cs typeface="Poppins" panose="00000500000000000000" pitchFamily="2" charset="0"/>
                <a:sym typeface="Fira Code"/>
              </a:rPr>
              <a:t>Python Set Operations</a:t>
            </a:r>
          </a:p>
        </p:txBody>
      </p:sp>
      <p:sp>
        <p:nvSpPr>
          <p:cNvPr id="3" name="Content Placeholder 2">
            <a:extLst>
              <a:ext uri="{FF2B5EF4-FFF2-40B4-BE49-F238E27FC236}">
                <a16:creationId xmlns:a16="http://schemas.microsoft.com/office/drawing/2014/main" id="{425AEB74-134D-1AF8-F00C-EB345EEFC9E9}"/>
              </a:ext>
            </a:extLst>
          </p:cNvPr>
          <p:cNvSpPr>
            <a:spLocks noGrp="1"/>
          </p:cNvSpPr>
          <p:nvPr>
            <p:ph idx="1"/>
          </p:nvPr>
        </p:nvSpPr>
        <p:spPr>
          <a:xfrm>
            <a:off x="842983" y="1690688"/>
            <a:ext cx="5966379" cy="4126452"/>
          </a:xfrm>
        </p:spPr>
        <p:txBody>
          <a:bodyPr>
            <a:normAutofit/>
          </a:bodyPr>
          <a:lstStyle/>
          <a:p>
            <a:pPr marL="0" indent="0">
              <a:lnSpc>
                <a:spcPct val="100000"/>
              </a:lnSpc>
              <a:buNone/>
            </a:pPr>
            <a:r>
              <a:rPr lang="en-US" sz="2600" dirty="0">
                <a:latin typeface="Poppins" panose="00000500000000000000" pitchFamily="2" charset="0"/>
                <a:cs typeface="Poppins" panose="00000500000000000000" pitchFamily="2" charset="0"/>
              </a:rPr>
              <a:t>Set can be performed mathematical operation such as union, intersection, difference, and symmetric difference. Python provides the facility to carry out these operations with operators or methods. </a:t>
            </a:r>
          </a:p>
        </p:txBody>
      </p:sp>
      <p:pic>
        <p:nvPicPr>
          <p:cNvPr id="7" name="Picture 2">
            <a:extLst>
              <a:ext uri="{FF2B5EF4-FFF2-40B4-BE49-F238E27FC236}">
                <a16:creationId xmlns:a16="http://schemas.microsoft.com/office/drawing/2014/main" id="{ADAB9628-45ED-95B0-D11B-679BE689FDC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859488" y="6238114"/>
            <a:ext cx="1995055" cy="467591"/>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a:extLst>
              <a:ext uri="{FF2B5EF4-FFF2-40B4-BE49-F238E27FC236}">
                <a16:creationId xmlns:a16="http://schemas.microsoft.com/office/drawing/2014/main" id="{B424FFAE-F758-6267-601C-C65B59361953}"/>
              </a:ext>
            </a:extLst>
          </p:cNvPr>
          <p:cNvPicPr>
            <a:picLocks noChangeAspect="1"/>
          </p:cNvPicPr>
          <p:nvPr/>
        </p:nvPicPr>
        <p:blipFill>
          <a:blip r:embed="rId3"/>
          <a:stretch>
            <a:fillRect/>
          </a:stretch>
        </p:blipFill>
        <p:spPr>
          <a:xfrm flipH="1">
            <a:off x="6536138" y="773141"/>
            <a:ext cx="5090887" cy="5464973"/>
          </a:xfrm>
          <a:prstGeom prst="rect">
            <a:avLst/>
          </a:prstGeom>
        </p:spPr>
      </p:pic>
    </p:spTree>
    <p:extLst>
      <p:ext uri="{BB962C8B-B14F-4D97-AF65-F5344CB8AC3E}">
        <p14:creationId xmlns:p14="http://schemas.microsoft.com/office/powerpoint/2010/main" val="2974460807"/>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8C5244-7E79-06E5-9076-8C9E53D6C939}"/>
              </a:ext>
            </a:extLst>
          </p:cNvPr>
          <p:cNvSpPr>
            <a:spLocks noGrp="1"/>
          </p:cNvSpPr>
          <p:nvPr>
            <p:ph type="title"/>
          </p:nvPr>
        </p:nvSpPr>
        <p:spPr/>
        <p:txBody>
          <a:bodyPr/>
          <a:lstStyle/>
          <a:p>
            <a:r>
              <a:rPr kumimoji="0" lang="en-US" sz="4400" b="1" i="0" u="none" strike="noStrike" kern="0" cap="none" spc="0" normalizeH="0" baseline="0" noProof="0" dirty="0">
                <a:ln>
                  <a:noFill/>
                </a:ln>
                <a:solidFill>
                  <a:srgbClr val="0B5296"/>
                </a:solidFill>
                <a:effectLst/>
                <a:uLnTx/>
                <a:uFillTx/>
                <a:latin typeface="Poppins" panose="00000500000000000000" pitchFamily="2" charset="0"/>
                <a:ea typeface="Fira Code"/>
                <a:cs typeface="Poppins" panose="00000500000000000000" pitchFamily="2" charset="0"/>
                <a:sym typeface="Fira Code"/>
              </a:rPr>
              <a:t>Union of two Sets</a:t>
            </a:r>
          </a:p>
        </p:txBody>
      </p:sp>
      <p:sp>
        <p:nvSpPr>
          <p:cNvPr id="3" name="Content Placeholder 2">
            <a:extLst>
              <a:ext uri="{FF2B5EF4-FFF2-40B4-BE49-F238E27FC236}">
                <a16:creationId xmlns:a16="http://schemas.microsoft.com/office/drawing/2014/main" id="{425AEB74-134D-1AF8-F00C-EB345EEFC9E9}"/>
              </a:ext>
            </a:extLst>
          </p:cNvPr>
          <p:cNvSpPr>
            <a:spLocks noGrp="1"/>
          </p:cNvSpPr>
          <p:nvPr>
            <p:ph idx="1"/>
          </p:nvPr>
        </p:nvSpPr>
        <p:spPr>
          <a:xfrm>
            <a:off x="1072243" y="1690688"/>
            <a:ext cx="10281558" cy="1923369"/>
          </a:xfrm>
        </p:spPr>
        <p:txBody>
          <a:bodyPr>
            <a:normAutofit fontScale="70000" lnSpcReduction="20000"/>
          </a:bodyPr>
          <a:lstStyle/>
          <a:p>
            <a:pPr marL="0" indent="0">
              <a:lnSpc>
                <a:spcPct val="100000"/>
              </a:lnSpc>
              <a:buNone/>
            </a:pPr>
            <a:r>
              <a:rPr lang="en-US" dirty="0">
                <a:latin typeface="Poppins" panose="00000500000000000000" pitchFamily="2" charset="0"/>
                <a:cs typeface="Poppins" panose="00000500000000000000" pitchFamily="2" charset="0"/>
              </a:rPr>
              <a:t>To combine two or more sets into one set in Python, use the union() function. All of the distinctive characteristics from each combined set are present in the final set. As parameters, one or more sets may be passed to the union() function. The function </a:t>
            </a:r>
            <a:r>
              <a:rPr lang="en-US" b="1" dirty="0">
                <a:latin typeface="Poppins" panose="00000500000000000000" pitchFamily="2" charset="0"/>
                <a:cs typeface="Poppins" panose="00000500000000000000" pitchFamily="2" charset="0"/>
              </a:rPr>
              <a:t>returns a copy </a:t>
            </a:r>
            <a:r>
              <a:rPr lang="en-US" dirty="0">
                <a:latin typeface="Poppins" panose="00000500000000000000" pitchFamily="2" charset="0"/>
                <a:cs typeface="Poppins" panose="00000500000000000000" pitchFamily="2" charset="0"/>
              </a:rPr>
              <a:t>of the set supplied as the lone parameter if there is just one set. The method returns a new set containing all the different items from all the arguments if more than one set is supplied as an argument.</a:t>
            </a:r>
          </a:p>
        </p:txBody>
      </p:sp>
      <p:pic>
        <p:nvPicPr>
          <p:cNvPr id="7" name="Picture 2">
            <a:extLst>
              <a:ext uri="{FF2B5EF4-FFF2-40B4-BE49-F238E27FC236}">
                <a16:creationId xmlns:a16="http://schemas.microsoft.com/office/drawing/2014/main" id="{ADAB9628-45ED-95B0-D11B-679BE689FDC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859488" y="6238114"/>
            <a:ext cx="1995055" cy="467591"/>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a:extLst>
              <a:ext uri="{FF2B5EF4-FFF2-40B4-BE49-F238E27FC236}">
                <a16:creationId xmlns:a16="http://schemas.microsoft.com/office/drawing/2014/main" id="{B6BC4952-6C02-AA35-11E4-FE633445364A}"/>
              </a:ext>
            </a:extLst>
          </p:cNvPr>
          <p:cNvPicPr>
            <a:picLocks noChangeAspect="1"/>
          </p:cNvPicPr>
          <p:nvPr/>
        </p:nvPicPr>
        <p:blipFill>
          <a:blip r:embed="rId3"/>
          <a:stretch>
            <a:fillRect/>
          </a:stretch>
        </p:blipFill>
        <p:spPr>
          <a:xfrm>
            <a:off x="195943" y="2276760"/>
            <a:ext cx="11658600" cy="4324350"/>
          </a:xfrm>
          <a:prstGeom prst="rect">
            <a:avLst/>
          </a:prstGeom>
        </p:spPr>
      </p:pic>
      <p:pic>
        <p:nvPicPr>
          <p:cNvPr id="1026" name="Picture 2" descr="Python Set">
            <a:extLst>
              <a:ext uri="{FF2B5EF4-FFF2-40B4-BE49-F238E27FC236}">
                <a16:creationId xmlns:a16="http://schemas.microsoft.com/office/drawing/2014/main" id="{9766292D-0F74-2F69-FFAE-5D59F286A0DA}"/>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12778" t="12099" r="11578" b="16548"/>
          <a:stretch/>
        </p:blipFill>
        <p:spPr bwMode="auto">
          <a:xfrm>
            <a:off x="9752115" y="95449"/>
            <a:ext cx="2209800" cy="130220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93486496"/>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8C5244-7E79-06E5-9076-8C9E53D6C939}"/>
              </a:ext>
            </a:extLst>
          </p:cNvPr>
          <p:cNvSpPr>
            <a:spLocks noGrp="1"/>
          </p:cNvSpPr>
          <p:nvPr>
            <p:ph type="title"/>
          </p:nvPr>
        </p:nvSpPr>
        <p:spPr/>
        <p:txBody>
          <a:bodyPr/>
          <a:lstStyle/>
          <a:p>
            <a:r>
              <a:rPr kumimoji="0" lang="en-US" sz="4400" b="1" i="0" u="none" strike="noStrike" kern="0" cap="none" spc="0" normalizeH="0" baseline="0" noProof="0" dirty="0">
                <a:ln>
                  <a:noFill/>
                </a:ln>
                <a:solidFill>
                  <a:srgbClr val="0B5296"/>
                </a:solidFill>
                <a:effectLst/>
                <a:uLnTx/>
                <a:uFillTx/>
                <a:latin typeface="Poppins" panose="00000500000000000000" pitchFamily="2" charset="0"/>
                <a:ea typeface="Fira Code"/>
                <a:cs typeface="Poppins" panose="00000500000000000000" pitchFamily="2" charset="0"/>
                <a:sym typeface="Fira Code"/>
              </a:rPr>
              <a:t>The intersection of two sets</a:t>
            </a:r>
          </a:p>
        </p:txBody>
      </p:sp>
      <p:pic>
        <p:nvPicPr>
          <p:cNvPr id="7" name="Picture 2">
            <a:extLst>
              <a:ext uri="{FF2B5EF4-FFF2-40B4-BE49-F238E27FC236}">
                <a16:creationId xmlns:a16="http://schemas.microsoft.com/office/drawing/2014/main" id="{ADAB9628-45ED-95B0-D11B-679BE689FDC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859488" y="6238114"/>
            <a:ext cx="1995055" cy="467591"/>
          </a:xfrm>
          <a:prstGeom prst="rect">
            <a:avLst/>
          </a:prstGeom>
          <a:noFill/>
          <a:extLst>
            <a:ext uri="{909E8E84-426E-40DD-AFC4-6F175D3DCCD1}">
              <a14:hiddenFill xmlns:a14="http://schemas.microsoft.com/office/drawing/2010/main">
                <a:solidFill>
                  <a:srgbClr val="FFFFFF"/>
                </a:solidFill>
              </a14:hiddenFill>
            </a:ext>
          </a:extLst>
        </p:spPr>
      </p:pic>
      <p:sp>
        <p:nvSpPr>
          <p:cNvPr id="9" name="Content Placeholder 2">
            <a:extLst>
              <a:ext uri="{FF2B5EF4-FFF2-40B4-BE49-F238E27FC236}">
                <a16:creationId xmlns:a16="http://schemas.microsoft.com/office/drawing/2014/main" id="{D4891504-F219-BE7D-C77A-E150B6B8F222}"/>
              </a:ext>
            </a:extLst>
          </p:cNvPr>
          <p:cNvSpPr txBox="1">
            <a:spLocks/>
          </p:cNvSpPr>
          <p:nvPr/>
        </p:nvSpPr>
        <p:spPr>
          <a:xfrm>
            <a:off x="960129" y="1509488"/>
            <a:ext cx="10515600" cy="2394856"/>
          </a:xfrm>
          <a:prstGeom prst="rect">
            <a:avLst/>
          </a:prstGeom>
        </p:spPr>
        <p:txBody>
          <a:bodyPr vert="horz" lIns="91440" tIns="45720" rIns="91440" bIns="45720" rtlCol="0">
            <a:normAutofit fontScale="70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Font typeface="Arial" panose="020B0604020202020204" pitchFamily="34" charset="0"/>
              <a:buNone/>
            </a:pPr>
            <a:r>
              <a:rPr lang="en-US" dirty="0">
                <a:latin typeface="Poppins" panose="00000500000000000000" pitchFamily="2" charset="0"/>
                <a:cs typeface="Poppins" panose="00000500000000000000" pitchFamily="2" charset="0"/>
              </a:rPr>
              <a:t>Only the items in all sets being compared are included in the final set. One or more sets can also be used as the intersection() function parameters. The function </a:t>
            </a:r>
            <a:r>
              <a:rPr lang="en-US" b="1" dirty="0">
                <a:latin typeface="Poppins" panose="00000500000000000000" pitchFamily="2" charset="0"/>
                <a:cs typeface="Poppins" panose="00000500000000000000" pitchFamily="2" charset="0"/>
              </a:rPr>
              <a:t>returns a copy of the set</a:t>
            </a:r>
            <a:r>
              <a:rPr lang="en-US" dirty="0">
                <a:latin typeface="Poppins" panose="00000500000000000000" pitchFamily="2" charset="0"/>
                <a:cs typeface="Poppins" panose="00000500000000000000" pitchFamily="2" charset="0"/>
              </a:rPr>
              <a:t> supplied as the lone parameter if there is just one set. The method returns a new set that only contains the elements in all the compared sets if multiple sets are supplied as arguments.</a:t>
            </a:r>
          </a:p>
          <a:p>
            <a:pPr marL="0" indent="0">
              <a:lnSpc>
                <a:spcPct val="100000"/>
              </a:lnSpc>
              <a:buFont typeface="Arial" panose="020B0604020202020204" pitchFamily="34" charset="0"/>
              <a:buNone/>
            </a:pPr>
            <a:r>
              <a:rPr lang="en-US" dirty="0">
                <a:latin typeface="Poppins" panose="00000500000000000000" pitchFamily="2" charset="0"/>
                <a:cs typeface="Poppins" panose="00000500000000000000" pitchFamily="2" charset="0"/>
              </a:rPr>
              <a:t>The intersection of two sets can be performed by the and &amp; operator or the intersection() function. The intersection of the two sets is given as the set of the elements that common in both sets.</a:t>
            </a:r>
          </a:p>
        </p:txBody>
      </p:sp>
      <p:pic>
        <p:nvPicPr>
          <p:cNvPr id="4" name="Picture 3">
            <a:extLst>
              <a:ext uri="{FF2B5EF4-FFF2-40B4-BE49-F238E27FC236}">
                <a16:creationId xmlns:a16="http://schemas.microsoft.com/office/drawing/2014/main" id="{EEFAB1F1-6C9D-A193-11E5-344BB123593E}"/>
              </a:ext>
            </a:extLst>
          </p:cNvPr>
          <p:cNvPicPr>
            <a:picLocks noChangeAspect="1"/>
          </p:cNvPicPr>
          <p:nvPr/>
        </p:nvPicPr>
        <p:blipFill>
          <a:blip r:embed="rId3"/>
          <a:stretch>
            <a:fillRect/>
          </a:stretch>
        </p:blipFill>
        <p:spPr>
          <a:xfrm>
            <a:off x="1216356" y="2914285"/>
            <a:ext cx="9347010" cy="3791420"/>
          </a:xfrm>
          <a:prstGeom prst="rect">
            <a:avLst/>
          </a:prstGeom>
        </p:spPr>
      </p:pic>
      <p:pic>
        <p:nvPicPr>
          <p:cNvPr id="2050" name="Picture 2" descr="Python Set">
            <a:extLst>
              <a:ext uri="{FF2B5EF4-FFF2-40B4-BE49-F238E27FC236}">
                <a16:creationId xmlns:a16="http://schemas.microsoft.com/office/drawing/2014/main" id="{8BB335E7-8FAD-520F-6FD7-448D4C5E52AB}"/>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12031" t="16078" r="13502" b="16078"/>
          <a:stretch/>
        </p:blipFill>
        <p:spPr bwMode="auto">
          <a:xfrm>
            <a:off x="9971627" y="152295"/>
            <a:ext cx="1882916" cy="107169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36392612"/>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8C5244-7E79-06E5-9076-8C9E53D6C939}"/>
              </a:ext>
            </a:extLst>
          </p:cNvPr>
          <p:cNvSpPr>
            <a:spLocks noGrp="1"/>
          </p:cNvSpPr>
          <p:nvPr>
            <p:ph type="title"/>
          </p:nvPr>
        </p:nvSpPr>
        <p:spPr/>
        <p:txBody>
          <a:bodyPr>
            <a:normAutofit/>
          </a:bodyPr>
          <a:lstStyle/>
          <a:p>
            <a:r>
              <a:rPr kumimoji="0" lang="en-US" sz="3200" b="1" i="0" u="none" strike="noStrike" kern="0" cap="none" spc="0" normalizeH="0" baseline="0" noProof="0" dirty="0">
                <a:ln>
                  <a:noFill/>
                </a:ln>
                <a:solidFill>
                  <a:srgbClr val="0B5296"/>
                </a:solidFill>
                <a:effectLst/>
                <a:uLnTx/>
                <a:uFillTx/>
                <a:latin typeface="Poppins" panose="00000500000000000000" pitchFamily="2" charset="0"/>
                <a:ea typeface="Fira Code"/>
                <a:cs typeface="Poppins" panose="00000500000000000000" pitchFamily="2" charset="0"/>
                <a:sym typeface="Fira Code"/>
              </a:rPr>
              <a:t>The </a:t>
            </a:r>
            <a:r>
              <a:rPr kumimoji="0" lang="en-US" sz="3200" b="1" i="0" u="none" strike="noStrike" kern="0" cap="none" spc="0" normalizeH="0" baseline="0" noProof="0" dirty="0" err="1">
                <a:ln>
                  <a:noFill/>
                </a:ln>
                <a:solidFill>
                  <a:srgbClr val="0B5296"/>
                </a:solidFill>
                <a:effectLst/>
                <a:uLnTx/>
                <a:uFillTx/>
                <a:latin typeface="Poppins" panose="00000500000000000000" pitchFamily="2" charset="0"/>
                <a:ea typeface="Fira Code"/>
                <a:cs typeface="Poppins" panose="00000500000000000000" pitchFamily="2" charset="0"/>
                <a:sym typeface="Fira Code"/>
              </a:rPr>
              <a:t>intersection_update</a:t>
            </a:r>
            <a:r>
              <a:rPr kumimoji="0" lang="en-US" sz="3200" b="1" i="0" u="none" strike="noStrike" kern="0" cap="none" spc="0" normalizeH="0" baseline="0" noProof="0" dirty="0">
                <a:ln>
                  <a:noFill/>
                </a:ln>
                <a:solidFill>
                  <a:srgbClr val="0B5296"/>
                </a:solidFill>
                <a:effectLst/>
                <a:uLnTx/>
                <a:uFillTx/>
                <a:latin typeface="Poppins" panose="00000500000000000000" pitchFamily="2" charset="0"/>
                <a:ea typeface="Fira Code"/>
                <a:cs typeface="Poppins" panose="00000500000000000000" pitchFamily="2" charset="0"/>
                <a:sym typeface="Fira Code"/>
              </a:rPr>
              <a:t>() method</a:t>
            </a:r>
          </a:p>
        </p:txBody>
      </p:sp>
      <p:pic>
        <p:nvPicPr>
          <p:cNvPr id="7" name="Picture 2">
            <a:extLst>
              <a:ext uri="{FF2B5EF4-FFF2-40B4-BE49-F238E27FC236}">
                <a16:creationId xmlns:a16="http://schemas.microsoft.com/office/drawing/2014/main" id="{ADAB9628-45ED-95B0-D11B-679BE689FDC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859488" y="6238114"/>
            <a:ext cx="1995055" cy="467591"/>
          </a:xfrm>
          <a:prstGeom prst="rect">
            <a:avLst/>
          </a:prstGeom>
          <a:noFill/>
          <a:extLst>
            <a:ext uri="{909E8E84-426E-40DD-AFC4-6F175D3DCCD1}">
              <a14:hiddenFill xmlns:a14="http://schemas.microsoft.com/office/drawing/2010/main">
                <a:solidFill>
                  <a:srgbClr val="FFFFFF"/>
                </a:solidFill>
              </a14:hiddenFill>
            </a:ext>
          </a:extLst>
        </p:spPr>
      </p:pic>
      <p:sp>
        <p:nvSpPr>
          <p:cNvPr id="3" name="Content Placeholder 2">
            <a:extLst>
              <a:ext uri="{FF2B5EF4-FFF2-40B4-BE49-F238E27FC236}">
                <a16:creationId xmlns:a16="http://schemas.microsoft.com/office/drawing/2014/main" id="{DCBB259F-8E4E-187A-9F65-B1280538489B}"/>
              </a:ext>
            </a:extLst>
          </p:cNvPr>
          <p:cNvSpPr>
            <a:spLocks noGrp="1"/>
          </p:cNvSpPr>
          <p:nvPr>
            <p:ph idx="1"/>
          </p:nvPr>
        </p:nvSpPr>
        <p:spPr>
          <a:xfrm>
            <a:off x="1072242" y="1538516"/>
            <a:ext cx="10648951" cy="2187324"/>
          </a:xfrm>
        </p:spPr>
        <p:txBody>
          <a:bodyPr>
            <a:normAutofit fontScale="77500" lnSpcReduction="20000"/>
          </a:bodyPr>
          <a:lstStyle/>
          <a:p>
            <a:pPr marL="0" indent="0">
              <a:lnSpc>
                <a:spcPct val="100000"/>
              </a:lnSpc>
              <a:buNone/>
            </a:pPr>
            <a:r>
              <a:rPr lang="en-US" dirty="0">
                <a:latin typeface="Poppins" panose="00000500000000000000" pitchFamily="2" charset="0"/>
                <a:cs typeface="Poppins" panose="00000500000000000000" pitchFamily="2" charset="0"/>
              </a:rPr>
              <a:t>The </a:t>
            </a:r>
            <a:r>
              <a:rPr lang="en-US" b="1" dirty="0" err="1">
                <a:latin typeface="Poppins" panose="00000500000000000000" pitchFamily="2" charset="0"/>
                <a:cs typeface="Poppins" panose="00000500000000000000" pitchFamily="2" charset="0"/>
              </a:rPr>
              <a:t>intersection_update</a:t>
            </a:r>
            <a:r>
              <a:rPr lang="en-US" b="1" dirty="0">
                <a:latin typeface="Poppins" panose="00000500000000000000" pitchFamily="2" charset="0"/>
                <a:cs typeface="Poppins" panose="00000500000000000000" pitchFamily="2" charset="0"/>
              </a:rPr>
              <a:t>() </a:t>
            </a:r>
            <a:r>
              <a:rPr lang="en-US" dirty="0">
                <a:latin typeface="Poppins" panose="00000500000000000000" pitchFamily="2" charset="0"/>
                <a:cs typeface="Poppins" panose="00000500000000000000" pitchFamily="2" charset="0"/>
              </a:rPr>
              <a:t>method removes the items from the original set that are not present in both the sets (all the sets if more than one are specified).</a:t>
            </a:r>
          </a:p>
          <a:p>
            <a:pPr marL="0" indent="0">
              <a:lnSpc>
                <a:spcPct val="100000"/>
              </a:lnSpc>
              <a:buNone/>
            </a:pPr>
            <a:r>
              <a:rPr lang="en-US" dirty="0">
                <a:latin typeface="Poppins" panose="00000500000000000000" pitchFamily="2" charset="0"/>
                <a:cs typeface="Poppins" panose="00000500000000000000" pitchFamily="2" charset="0"/>
              </a:rPr>
              <a:t>The </a:t>
            </a:r>
            <a:r>
              <a:rPr lang="en-US" b="1" dirty="0" err="1">
                <a:latin typeface="Poppins" panose="00000500000000000000" pitchFamily="2" charset="0"/>
                <a:cs typeface="Poppins" panose="00000500000000000000" pitchFamily="2" charset="0"/>
              </a:rPr>
              <a:t>intersection_update</a:t>
            </a:r>
            <a:r>
              <a:rPr lang="en-US" b="1" dirty="0">
                <a:latin typeface="Poppins" panose="00000500000000000000" pitchFamily="2" charset="0"/>
                <a:cs typeface="Poppins" panose="00000500000000000000" pitchFamily="2" charset="0"/>
              </a:rPr>
              <a:t>() </a:t>
            </a:r>
            <a:r>
              <a:rPr lang="en-US" dirty="0">
                <a:latin typeface="Poppins" panose="00000500000000000000" pitchFamily="2" charset="0"/>
                <a:cs typeface="Poppins" panose="00000500000000000000" pitchFamily="2" charset="0"/>
              </a:rPr>
              <a:t>method is different from the intersection() method since it </a:t>
            </a:r>
            <a:r>
              <a:rPr lang="en-US" b="1" dirty="0">
                <a:solidFill>
                  <a:srgbClr val="0B5296"/>
                </a:solidFill>
                <a:latin typeface="Poppins" panose="00000500000000000000" pitchFamily="2" charset="0"/>
                <a:cs typeface="Poppins" panose="00000500000000000000" pitchFamily="2" charset="0"/>
              </a:rPr>
              <a:t>modifies the original </a:t>
            </a:r>
            <a:r>
              <a:rPr lang="en-US" dirty="0">
                <a:latin typeface="Poppins" panose="00000500000000000000" pitchFamily="2" charset="0"/>
                <a:cs typeface="Poppins" panose="00000500000000000000" pitchFamily="2" charset="0"/>
              </a:rPr>
              <a:t>set by removing the unwanted items, on the other hand, the intersection() method returns a new set.</a:t>
            </a:r>
          </a:p>
        </p:txBody>
      </p:sp>
      <p:pic>
        <p:nvPicPr>
          <p:cNvPr id="6" name="Picture 5">
            <a:extLst>
              <a:ext uri="{FF2B5EF4-FFF2-40B4-BE49-F238E27FC236}">
                <a16:creationId xmlns:a16="http://schemas.microsoft.com/office/drawing/2014/main" id="{D6F8ACB4-7FA0-8B6C-04FE-2F58DBB557E5}"/>
              </a:ext>
            </a:extLst>
          </p:cNvPr>
          <p:cNvPicPr>
            <a:picLocks noChangeAspect="1"/>
          </p:cNvPicPr>
          <p:nvPr/>
        </p:nvPicPr>
        <p:blipFill>
          <a:blip r:embed="rId3"/>
          <a:stretch>
            <a:fillRect/>
          </a:stretch>
        </p:blipFill>
        <p:spPr>
          <a:xfrm>
            <a:off x="2307467" y="2672595"/>
            <a:ext cx="6645465" cy="4033110"/>
          </a:xfrm>
          <a:prstGeom prst="rect">
            <a:avLst/>
          </a:prstGeom>
        </p:spPr>
      </p:pic>
    </p:spTree>
    <p:extLst>
      <p:ext uri="{BB962C8B-B14F-4D97-AF65-F5344CB8AC3E}">
        <p14:creationId xmlns:p14="http://schemas.microsoft.com/office/powerpoint/2010/main" val="290624241"/>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descr="Python Set">
            <a:extLst>
              <a:ext uri="{FF2B5EF4-FFF2-40B4-BE49-F238E27FC236}">
                <a16:creationId xmlns:a16="http://schemas.microsoft.com/office/drawing/2014/main" id="{44D83E30-BD5A-F0FB-621F-727BEEE134F4}"/>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3502" t="13271" r="14974" b="13836"/>
          <a:stretch/>
        </p:blipFill>
        <p:spPr bwMode="auto">
          <a:xfrm>
            <a:off x="4724399" y="4995030"/>
            <a:ext cx="2006601" cy="1196324"/>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948C5244-7E79-06E5-9076-8C9E53D6C939}"/>
              </a:ext>
            </a:extLst>
          </p:cNvPr>
          <p:cNvSpPr>
            <a:spLocks noGrp="1"/>
          </p:cNvSpPr>
          <p:nvPr>
            <p:ph type="title"/>
          </p:nvPr>
        </p:nvSpPr>
        <p:spPr/>
        <p:txBody>
          <a:bodyPr/>
          <a:lstStyle/>
          <a:p>
            <a:r>
              <a:rPr lang="en-US" b="1" kern="0" dirty="0">
                <a:solidFill>
                  <a:srgbClr val="0B5296"/>
                </a:solidFill>
                <a:latin typeface="Poppins" panose="00000500000000000000" pitchFamily="2" charset="0"/>
                <a:ea typeface="Fira Code"/>
                <a:cs typeface="Poppins" panose="00000500000000000000" pitchFamily="2" charset="0"/>
                <a:sym typeface="Fira Code"/>
              </a:rPr>
              <a:t>Difference between the two sets</a:t>
            </a:r>
            <a:endParaRPr lang="en-US" b="1" dirty="0">
              <a:solidFill>
                <a:srgbClr val="0B5296"/>
              </a:solidFill>
              <a:latin typeface="Poppins" panose="00000500000000000000" pitchFamily="2" charset="0"/>
              <a:cs typeface="Poppins" panose="00000500000000000000" pitchFamily="2" charset="0"/>
            </a:endParaRPr>
          </a:p>
        </p:txBody>
      </p:sp>
      <p:sp>
        <p:nvSpPr>
          <p:cNvPr id="3" name="Content Placeholder 2">
            <a:extLst>
              <a:ext uri="{FF2B5EF4-FFF2-40B4-BE49-F238E27FC236}">
                <a16:creationId xmlns:a16="http://schemas.microsoft.com/office/drawing/2014/main" id="{425AEB74-134D-1AF8-F00C-EB345EEFC9E9}"/>
              </a:ext>
            </a:extLst>
          </p:cNvPr>
          <p:cNvSpPr>
            <a:spLocks noGrp="1"/>
          </p:cNvSpPr>
          <p:nvPr>
            <p:ph idx="1"/>
          </p:nvPr>
        </p:nvSpPr>
        <p:spPr>
          <a:xfrm>
            <a:off x="838200" y="1690688"/>
            <a:ext cx="10749643" cy="1325563"/>
          </a:xfrm>
        </p:spPr>
        <p:txBody>
          <a:bodyPr>
            <a:normAutofit fontScale="85000" lnSpcReduction="20000"/>
          </a:bodyPr>
          <a:lstStyle/>
          <a:p>
            <a:pPr marL="0" indent="0">
              <a:lnSpc>
                <a:spcPct val="100000"/>
              </a:lnSpc>
              <a:buNone/>
            </a:pPr>
            <a:r>
              <a:rPr lang="en-US" dirty="0">
                <a:latin typeface="Poppins" panose="00000500000000000000" pitchFamily="2" charset="0"/>
                <a:cs typeface="Poppins" panose="00000500000000000000" pitchFamily="2" charset="0"/>
              </a:rPr>
              <a:t>The difference of two sets can be calculated by using the subtraction (-) operator or </a:t>
            </a:r>
            <a:r>
              <a:rPr lang="en-US" b="0" i="0" dirty="0">
                <a:solidFill>
                  <a:srgbClr val="000000"/>
                </a:solidFill>
                <a:effectLst/>
                <a:latin typeface="inter-regular"/>
              </a:rPr>
              <a:t>difference </a:t>
            </a:r>
            <a:r>
              <a:rPr lang="en-US" dirty="0">
                <a:latin typeface="Poppins" panose="00000500000000000000" pitchFamily="2" charset="0"/>
                <a:cs typeface="Poppins" panose="00000500000000000000" pitchFamily="2" charset="0"/>
              </a:rPr>
              <a:t>() method. Suppose there are two sets A and B, and the difference is A-B that denotes the resulting set will be obtained that element of A, which is not present in the set B.</a:t>
            </a:r>
          </a:p>
        </p:txBody>
      </p:sp>
      <p:pic>
        <p:nvPicPr>
          <p:cNvPr id="7" name="Picture 2">
            <a:extLst>
              <a:ext uri="{FF2B5EF4-FFF2-40B4-BE49-F238E27FC236}">
                <a16:creationId xmlns:a16="http://schemas.microsoft.com/office/drawing/2014/main" id="{ADAB9628-45ED-95B0-D11B-679BE689FDC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859488" y="6238114"/>
            <a:ext cx="1995055" cy="467591"/>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a:extLst>
              <a:ext uri="{FF2B5EF4-FFF2-40B4-BE49-F238E27FC236}">
                <a16:creationId xmlns:a16="http://schemas.microsoft.com/office/drawing/2014/main" id="{2F7980B1-7901-5F39-4ED9-A31BD45487A5}"/>
              </a:ext>
            </a:extLst>
          </p:cNvPr>
          <p:cNvPicPr>
            <a:picLocks noChangeAspect="1"/>
          </p:cNvPicPr>
          <p:nvPr/>
        </p:nvPicPr>
        <p:blipFill>
          <a:blip r:embed="rId4"/>
          <a:stretch>
            <a:fillRect/>
          </a:stretch>
        </p:blipFill>
        <p:spPr>
          <a:xfrm>
            <a:off x="456442" y="2023442"/>
            <a:ext cx="10749643" cy="3636615"/>
          </a:xfrm>
          <a:prstGeom prst="rect">
            <a:avLst/>
          </a:prstGeom>
        </p:spPr>
      </p:pic>
    </p:spTree>
    <p:extLst>
      <p:ext uri="{BB962C8B-B14F-4D97-AF65-F5344CB8AC3E}">
        <p14:creationId xmlns:p14="http://schemas.microsoft.com/office/powerpoint/2010/main" val="3671359918"/>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8C5244-7E79-06E5-9076-8C9E53D6C939}"/>
              </a:ext>
            </a:extLst>
          </p:cNvPr>
          <p:cNvSpPr>
            <a:spLocks noGrp="1"/>
          </p:cNvSpPr>
          <p:nvPr>
            <p:ph type="title"/>
          </p:nvPr>
        </p:nvSpPr>
        <p:spPr/>
        <p:txBody>
          <a:bodyPr>
            <a:normAutofit/>
          </a:bodyPr>
          <a:lstStyle/>
          <a:p>
            <a:r>
              <a:rPr kumimoji="0" lang="en-US" sz="4800" b="1" i="0" u="none" strike="noStrike" kern="0" cap="none" spc="0" normalizeH="0" baseline="0" noProof="0" dirty="0">
                <a:ln>
                  <a:noFill/>
                </a:ln>
                <a:solidFill>
                  <a:srgbClr val="0B5296"/>
                </a:solidFill>
                <a:effectLst/>
                <a:uLnTx/>
                <a:uFillTx/>
                <a:latin typeface="Poppins" panose="00000500000000000000" pitchFamily="2" charset="0"/>
                <a:ea typeface="Fira Code"/>
                <a:cs typeface="Poppins" panose="00000500000000000000" pitchFamily="2" charset="0"/>
                <a:sym typeface="Fira Code"/>
              </a:rPr>
              <a:t>Activity</a:t>
            </a:r>
          </a:p>
        </p:txBody>
      </p:sp>
      <p:sp>
        <p:nvSpPr>
          <p:cNvPr id="3" name="Content Placeholder 2">
            <a:extLst>
              <a:ext uri="{FF2B5EF4-FFF2-40B4-BE49-F238E27FC236}">
                <a16:creationId xmlns:a16="http://schemas.microsoft.com/office/drawing/2014/main" id="{425AEB74-134D-1AF8-F00C-EB345EEFC9E9}"/>
              </a:ext>
            </a:extLst>
          </p:cNvPr>
          <p:cNvSpPr>
            <a:spLocks noGrp="1"/>
          </p:cNvSpPr>
          <p:nvPr>
            <p:ph idx="1"/>
          </p:nvPr>
        </p:nvSpPr>
        <p:spPr>
          <a:xfrm>
            <a:off x="842983" y="1690688"/>
            <a:ext cx="10713477" cy="4204274"/>
          </a:xfrm>
        </p:spPr>
        <p:txBody>
          <a:bodyPr>
            <a:normAutofit/>
          </a:bodyPr>
          <a:lstStyle/>
          <a:p>
            <a:pPr marL="0" indent="0">
              <a:lnSpc>
                <a:spcPct val="100000"/>
              </a:lnSpc>
              <a:buNone/>
            </a:pPr>
            <a:r>
              <a:rPr lang="en-US" sz="2600" dirty="0">
                <a:solidFill>
                  <a:srgbClr val="0B5296"/>
                </a:solidFill>
                <a:latin typeface="Poppins" panose="00000500000000000000" pitchFamily="2" charset="0"/>
                <a:cs typeface="Poppins" panose="00000500000000000000" pitchFamily="2" charset="0"/>
              </a:rPr>
              <a:t>#given set</a:t>
            </a:r>
            <a:br>
              <a:rPr lang="en-US" sz="2600" dirty="0">
                <a:solidFill>
                  <a:srgbClr val="0B5296"/>
                </a:solidFill>
                <a:latin typeface="Poppins" panose="00000500000000000000" pitchFamily="2" charset="0"/>
                <a:cs typeface="Poppins" panose="00000500000000000000" pitchFamily="2" charset="0"/>
              </a:rPr>
            </a:br>
            <a:r>
              <a:rPr lang="en-US" sz="2600" dirty="0" err="1">
                <a:solidFill>
                  <a:srgbClr val="0B5296"/>
                </a:solidFill>
                <a:latin typeface="Poppins" panose="00000500000000000000" pitchFamily="2" charset="0"/>
                <a:cs typeface="Poppins" panose="00000500000000000000" pitchFamily="2" charset="0"/>
              </a:rPr>
              <a:t>sample_set_A</a:t>
            </a:r>
            <a:r>
              <a:rPr lang="en-US" sz="2600" dirty="0">
                <a:solidFill>
                  <a:srgbClr val="0B5296"/>
                </a:solidFill>
                <a:latin typeface="Poppins" panose="00000500000000000000" pitchFamily="2" charset="0"/>
                <a:cs typeface="Poppins" panose="00000500000000000000" pitchFamily="2" charset="0"/>
              </a:rPr>
              <a:t>= {"Yellow", "Orange", "Black"}</a:t>
            </a:r>
          </a:p>
          <a:p>
            <a:pPr marL="0" indent="0">
              <a:lnSpc>
                <a:spcPct val="100000"/>
              </a:lnSpc>
              <a:buNone/>
            </a:pPr>
            <a:r>
              <a:rPr lang="en-US" sz="2600" dirty="0" err="1">
                <a:solidFill>
                  <a:srgbClr val="0B5296"/>
                </a:solidFill>
                <a:latin typeface="Poppins" panose="00000500000000000000" pitchFamily="2" charset="0"/>
                <a:cs typeface="Poppins" panose="00000500000000000000" pitchFamily="2" charset="0"/>
              </a:rPr>
              <a:t>sample_set_B</a:t>
            </a:r>
            <a:r>
              <a:rPr lang="en-US" sz="2600" dirty="0">
                <a:solidFill>
                  <a:srgbClr val="0B5296"/>
                </a:solidFill>
                <a:latin typeface="Poppins" panose="00000500000000000000" pitchFamily="2" charset="0"/>
                <a:cs typeface="Poppins" panose="00000500000000000000" pitchFamily="2" charset="0"/>
              </a:rPr>
              <a:t>= {“Black", “Blue", “Yellow"}</a:t>
            </a:r>
          </a:p>
          <a:p>
            <a:pPr marL="0" indent="0">
              <a:lnSpc>
                <a:spcPct val="100000"/>
              </a:lnSpc>
              <a:buNone/>
            </a:pPr>
            <a:r>
              <a:rPr lang="en-US" sz="2200" dirty="0">
                <a:latin typeface="Poppins" panose="00000500000000000000" pitchFamily="2" charset="0"/>
                <a:cs typeface="Poppins" panose="00000500000000000000" pitchFamily="2" charset="0"/>
              </a:rPr>
              <a:t>Exercise 1: Return a set of elements present in Set A or B, but not both</a:t>
            </a:r>
          </a:p>
          <a:p>
            <a:pPr marL="0" indent="0">
              <a:lnSpc>
                <a:spcPct val="100000"/>
              </a:lnSpc>
              <a:buNone/>
            </a:pPr>
            <a:r>
              <a:rPr lang="en-US" sz="2200" dirty="0">
                <a:latin typeface="Poppins" panose="00000500000000000000" pitchFamily="2" charset="0"/>
                <a:cs typeface="Poppins" panose="00000500000000000000" pitchFamily="2" charset="0"/>
              </a:rPr>
              <a:t>Exercise 2: Check if two sets have any elements in common. If yes, display 	        the common elements</a:t>
            </a:r>
          </a:p>
          <a:p>
            <a:pPr marL="0" indent="0">
              <a:lnSpc>
                <a:spcPct val="100000"/>
              </a:lnSpc>
              <a:buNone/>
            </a:pPr>
            <a:r>
              <a:rPr lang="en-US" sz="2200" dirty="0">
                <a:latin typeface="Poppins" panose="00000500000000000000" pitchFamily="2" charset="0"/>
                <a:cs typeface="Poppins" panose="00000500000000000000" pitchFamily="2" charset="0"/>
              </a:rPr>
              <a:t>Exercise 3: Update </a:t>
            </a:r>
            <a:r>
              <a:rPr lang="en-US" sz="2200" dirty="0" err="1">
                <a:latin typeface="Poppins" panose="00000500000000000000" pitchFamily="2" charset="0"/>
                <a:cs typeface="Poppins" panose="00000500000000000000" pitchFamily="2" charset="0"/>
              </a:rPr>
              <a:t>setA</a:t>
            </a:r>
            <a:r>
              <a:rPr lang="en-US" sz="2200" dirty="0">
                <a:latin typeface="Poppins" panose="00000500000000000000" pitchFamily="2" charset="0"/>
                <a:cs typeface="Poppins" panose="00000500000000000000" pitchFamily="2" charset="0"/>
              </a:rPr>
              <a:t> by adding items from </a:t>
            </a:r>
            <a:r>
              <a:rPr lang="en-US" sz="2200" dirty="0" err="1">
                <a:latin typeface="Poppins" panose="00000500000000000000" pitchFamily="2" charset="0"/>
                <a:cs typeface="Poppins" panose="00000500000000000000" pitchFamily="2" charset="0"/>
              </a:rPr>
              <a:t>setB</a:t>
            </a:r>
            <a:r>
              <a:rPr lang="en-US" sz="2200" dirty="0">
                <a:latin typeface="Poppins" panose="00000500000000000000" pitchFamily="2" charset="0"/>
                <a:cs typeface="Poppins" panose="00000500000000000000" pitchFamily="2" charset="0"/>
              </a:rPr>
              <a:t>, except common items</a:t>
            </a:r>
          </a:p>
          <a:p>
            <a:pPr marL="0" indent="0">
              <a:lnSpc>
                <a:spcPct val="100000"/>
              </a:lnSpc>
              <a:buNone/>
            </a:pPr>
            <a:r>
              <a:rPr lang="en-US" sz="2200" dirty="0">
                <a:latin typeface="Poppins" panose="00000500000000000000" pitchFamily="2" charset="0"/>
                <a:cs typeface="Poppins" panose="00000500000000000000" pitchFamily="2" charset="0"/>
              </a:rPr>
              <a:t>Exercise 4: Remove items from </a:t>
            </a:r>
            <a:r>
              <a:rPr lang="en-US" sz="2200" dirty="0" err="1">
                <a:latin typeface="Poppins" panose="00000500000000000000" pitchFamily="2" charset="0"/>
                <a:cs typeface="Poppins" panose="00000500000000000000" pitchFamily="2" charset="0"/>
              </a:rPr>
              <a:t>setA</a:t>
            </a:r>
            <a:r>
              <a:rPr lang="en-US" sz="2200" dirty="0">
                <a:latin typeface="Poppins" panose="00000500000000000000" pitchFamily="2" charset="0"/>
                <a:cs typeface="Poppins" panose="00000500000000000000" pitchFamily="2" charset="0"/>
              </a:rPr>
              <a:t> that are not common to both </a:t>
            </a:r>
            <a:r>
              <a:rPr lang="en-US" sz="2200" dirty="0" err="1">
                <a:latin typeface="Poppins" panose="00000500000000000000" pitchFamily="2" charset="0"/>
                <a:cs typeface="Poppins" panose="00000500000000000000" pitchFamily="2" charset="0"/>
              </a:rPr>
              <a:t>setA</a:t>
            </a:r>
            <a:r>
              <a:rPr lang="en-US" sz="2200" dirty="0">
                <a:latin typeface="Poppins" panose="00000500000000000000" pitchFamily="2" charset="0"/>
                <a:cs typeface="Poppins" panose="00000500000000000000" pitchFamily="2" charset="0"/>
              </a:rPr>
              <a:t> and 	        </a:t>
            </a:r>
            <a:r>
              <a:rPr lang="en-US" sz="2200" dirty="0" err="1">
                <a:latin typeface="Poppins" panose="00000500000000000000" pitchFamily="2" charset="0"/>
                <a:cs typeface="Poppins" panose="00000500000000000000" pitchFamily="2" charset="0"/>
              </a:rPr>
              <a:t>setB</a:t>
            </a:r>
            <a:endParaRPr lang="en-US" sz="2200" dirty="0">
              <a:latin typeface="Poppins" panose="00000500000000000000" pitchFamily="2" charset="0"/>
              <a:cs typeface="Poppins" panose="00000500000000000000" pitchFamily="2" charset="0"/>
            </a:endParaRPr>
          </a:p>
        </p:txBody>
      </p:sp>
      <p:pic>
        <p:nvPicPr>
          <p:cNvPr id="7" name="Picture 2">
            <a:extLst>
              <a:ext uri="{FF2B5EF4-FFF2-40B4-BE49-F238E27FC236}">
                <a16:creationId xmlns:a16="http://schemas.microsoft.com/office/drawing/2014/main" id="{ADAB9628-45ED-95B0-D11B-679BE689FDC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859488" y="6238114"/>
            <a:ext cx="1995055" cy="46759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90645025"/>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8C5244-7E79-06E5-9076-8C9E53D6C939}"/>
              </a:ext>
            </a:extLst>
          </p:cNvPr>
          <p:cNvSpPr>
            <a:spLocks noGrp="1"/>
          </p:cNvSpPr>
          <p:nvPr>
            <p:ph type="title"/>
          </p:nvPr>
        </p:nvSpPr>
        <p:spPr>
          <a:xfrm>
            <a:off x="1549400" y="2409825"/>
            <a:ext cx="9563100" cy="1325563"/>
          </a:xfrm>
        </p:spPr>
        <p:txBody>
          <a:bodyPr/>
          <a:lstStyle/>
          <a:p>
            <a:pPr algn="ctr"/>
            <a:r>
              <a:rPr kumimoji="0" lang="en-US" sz="4000" b="1" i="0" u="none" strike="noStrike" kern="0" cap="none" spc="0" normalizeH="0" baseline="0" noProof="0" dirty="0">
                <a:ln>
                  <a:noFill/>
                </a:ln>
                <a:solidFill>
                  <a:srgbClr val="0B5296"/>
                </a:solidFill>
                <a:effectLst/>
                <a:uLnTx/>
                <a:uFillTx/>
                <a:latin typeface="Poppins" panose="00000500000000000000" pitchFamily="2" charset="0"/>
                <a:ea typeface="Fira Code"/>
                <a:cs typeface="Poppins" panose="00000500000000000000" pitchFamily="2" charset="0"/>
                <a:sym typeface="Fira Code"/>
              </a:rPr>
              <a:t>PYTHON</a:t>
            </a:r>
            <a:r>
              <a:rPr kumimoji="0" lang="en-US" sz="4400" b="1" i="0" u="none" strike="noStrike" kern="0" cap="none" spc="0" normalizeH="0" baseline="0" noProof="0" dirty="0">
                <a:ln>
                  <a:noFill/>
                </a:ln>
                <a:solidFill>
                  <a:srgbClr val="0B5296"/>
                </a:solidFill>
                <a:effectLst/>
                <a:uLnTx/>
                <a:uFillTx/>
                <a:latin typeface="Poppins" panose="00000500000000000000" pitchFamily="2" charset="0"/>
                <a:ea typeface="Fira Code"/>
                <a:cs typeface="Poppins" panose="00000500000000000000" pitchFamily="2" charset="0"/>
                <a:sym typeface="Fira Code"/>
              </a:rPr>
              <a:t>            		 DICTIONARY</a:t>
            </a:r>
            <a:endParaRPr lang="en-US" b="1" dirty="0">
              <a:solidFill>
                <a:srgbClr val="0B5296"/>
              </a:solidFill>
              <a:latin typeface="Poppins" panose="00000500000000000000" pitchFamily="2" charset="0"/>
              <a:cs typeface="Poppins" panose="00000500000000000000" pitchFamily="2" charset="0"/>
            </a:endParaRPr>
          </a:p>
        </p:txBody>
      </p:sp>
      <p:pic>
        <p:nvPicPr>
          <p:cNvPr id="7" name="Picture 2">
            <a:extLst>
              <a:ext uri="{FF2B5EF4-FFF2-40B4-BE49-F238E27FC236}">
                <a16:creationId xmlns:a16="http://schemas.microsoft.com/office/drawing/2014/main" id="{ADAB9628-45ED-95B0-D11B-679BE689FDC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859488" y="6238114"/>
            <a:ext cx="1995055" cy="467591"/>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a:extLst>
              <a:ext uri="{FF2B5EF4-FFF2-40B4-BE49-F238E27FC236}">
                <a16:creationId xmlns:a16="http://schemas.microsoft.com/office/drawing/2014/main" id="{E912515E-502C-B99E-7649-2F1A6A59028B}"/>
              </a:ext>
            </a:extLst>
          </p:cNvPr>
          <p:cNvPicPr>
            <a:picLocks noChangeAspect="1"/>
          </p:cNvPicPr>
          <p:nvPr/>
        </p:nvPicPr>
        <p:blipFill>
          <a:blip r:embed="rId3"/>
          <a:stretch>
            <a:fillRect/>
          </a:stretch>
        </p:blipFill>
        <p:spPr>
          <a:xfrm>
            <a:off x="2420557" y="-1013586"/>
            <a:ext cx="7947786" cy="7947786"/>
          </a:xfrm>
          <a:prstGeom prst="rect">
            <a:avLst/>
          </a:prstGeom>
        </p:spPr>
      </p:pic>
    </p:spTree>
    <p:extLst>
      <p:ext uri="{BB962C8B-B14F-4D97-AF65-F5344CB8AC3E}">
        <p14:creationId xmlns:p14="http://schemas.microsoft.com/office/powerpoint/2010/main" val="451058140"/>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8C5244-7E79-06E5-9076-8C9E53D6C939}"/>
              </a:ext>
            </a:extLst>
          </p:cNvPr>
          <p:cNvSpPr>
            <a:spLocks noGrp="1"/>
          </p:cNvSpPr>
          <p:nvPr>
            <p:ph type="title"/>
          </p:nvPr>
        </p:nvSpPr>
        <p:spPr/>
        <p:txBody>
          <a:bodyPr/>
          <a:lstStyle/>
          <a:p>
            <a:r>
              <a:rPr kumimoji="0" lang="en-US" sz="4400" b="1" i="0" u="none" strike="noStrike" kern="0" cap="none" spc="0" normalizeH="0" baseline="0" noProof="0" dirty="0">
                <a:ln>
                  <a:noFill/>
                </a:ln>
                <a:solidFill>
                  <a:srgbClr val="0B5296"/>
                </a:solidFill>
                <a:effectLst/>
                <a:uLnTx/>
                <a:uFillTx/>
                <a:latin typeface="Poppins" panose="00000500000000000000" pitchFamily="2" charset="0"/>
                <a:ea typeface="Fira Code"/>
                <a:cs typeface="Poppins" panose="00000500000000000000" pitchFamily="2" charset="0"/>
                <a:sym typeface="Fira Code"/>
              </a:rPr>
              <a:t>Python Dictionary</a:t>
            </a:r>
            <a:endParaRPr lang="en-US" b="1" dirty="0">
              <a:solidFill>
                <a:srgbClr val="0B5296"/>
              </a:solidFill>
              <a:latin typeface="Poppins" panose="00000500000000000000" pitchFamily="2" charset="0"/>
              <a:cs typeface="Poppins" panose="00000500000000000000" pitchFamily="2" charset="0"/>
            </a:endParaRPr>
          </a:p>
        </p:txBody>
      </p:sp>
      <p:pic>
        <p:nvPicPr>
          <p:cNvPr id="7" name="Picture 2">
            <a:extLst>
              <a:ext uri="{FF2B5EF4-FFF2-40B4-BE49-F238E27FC236}">
                <a16:creationId xmlns:a16="http://schemas.microsoft.com/office/drawing/2014/main" id="{ADAB9628-45ED-95B0-D11B-679BE689FDC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859488" y="6238114"/>
            <a:ext cx="1995055" cy="467591"/>
          </a:xfrm>
          <a:prstGeom prst="rect">
            <a:avLst/>
          </a:prstGeom>
          <a:noFill/>
          <a:extLst>
            <a:ext uri="{909E8E84-426E-40DD-AFC4-6F175D3DCCD1}">
              <a14:hiddenFill xmlns:a14="http://schemas.microsoft.com/office/drawing/2010/main">
                <a:solidFill>
                  <a:srgbClr val="FFFFFF"/>
                </a:solidFill>
              </a14:hiddenFill>
            </a:ext>
          </a:extLst>
        </p:spPr>
      </p:pic>
      <p:sp>
        <p:nvSpPr>
          <p:cNvPr id="3" name="Content Placeholder 2">
            <a:extLst>
              <a:ext uri="{FF2B5EF4-FFF2-40B4-BE49-F238E27FC236}">
                <a16:creationId xmlns:a16="http://schemas.microsoft.com/office/drawing/2014/main" id="{DCBB259F-8E4E-187A-9F65-B1280538489B}"/>
              </a:ext>
            </a:extLst>
          </p:cNvPr>
          <p:cNvSpPr>
            <a:spLocks noGrp="1"/>
          </p:cNvSpPr>
          <p:nvPr>
            <p:ph idx="1"/>
          </p:nvPr>
        </p:nvSpPr>
        <p:spPr>
          <a:xfrm>
            <a:off x="1005334" y="1690688"/>
            <a:ext cx="10515599" cy="4068085"/>
          </a:xfrm>
        </p:spPr>
        <p:txBody>
          <a:bodyPr>
            <a:normAutofit fontScale="85000" lnSpcReduction="10000"/>
          </a:bodyPr>
          <a:lstStyle/>
          <a:p>
            <a:pPr marL="0" indent="0">
              <a:lnSpc>
                <a:spcPct val="100000"/>
              </a:lnSpc>
              <a:buNone/>
            </a:pPr>
            <a:r>
              <a:rPr lang="en-US" dirty="0">
                <a:latin typeface="Poppins" panose="00000500000000000000" pitchFamily="2" charset="0"/>
                <a:cs typeface="Poppins" panose="00000500000000000000" pitchFamily="2" charset="0"/>
              </a:rPr>
              <a:t>Dictionaries are a useful data structure for storing data in Python because they are capable of imitating real-world data arrangements where a certain value exists for a given key.</a:t>
            </a:r>
          </a:p>
          <a:p>
            <a:pPr marL="0" indent="0">
              <a:lnSpc>
                <a:spcPct val="100000"/>
              </a:lnSpc>
              <a:buNone/>
            </a:pPr>
            <a:endParaRPr lang="en-US" dirty="0">
              <a:latin typeface="Poppins" panose="00000500000000000000" pitchFamily="2" charset="0"/>
              <a:cs typeface="Poppins" panose="00000500000000000000" pitchFamily="2" charset="0"/>
            </a:endParaRPr>
          </a:p>
          <a:p>
            <a:pPr marL="0" indent="0">
              <a:lnSpc>
                <a:spcPct val="100000"/>
              </a:lnSpc>
              <a:buNone/>
            </a:pPr>
            <a:r>
              <a:rPr lang="en-US" dirty="0">
                <a:latin typeface="Poppins" panose="00000500000000000000" pitchFamily="2" charset="0"/>
                <a:cs typeface="Poppins" panose="00000500000000000000" pitchFamily="2" charset="0"/>
              </a:rPr>
              <a:t>The data is stored as key-value pairs using a Python dictionary.</a:t>
            </a:r>
          </a:p>
          <a:p>
            <a:pPr>
              <a:lnSpc>
                <a:spcPct val="100000"/>
              </a:lnSpc>
              <a:buFont typeface="Wingdings" panose="05000000000000000000" pitchFamily="2" charset="2"/>
              <a:buChar char="§"/>
            </a:pPr>
            <a:r>
              <a:rPr lang="en-US" dirty="0">
                <a:latin typeface="Poppins" panose="00000500000000000000" pitchFamily="2" charset="0"/>
                <a:cs typeface="Poppins" panose="00000500000000000000" pitchFamily="2" charset="0"/>
              </a:rPr>
              <a:t>This data structure is mutable</a:t>
            </a:r>
          </a:p>
          <a:p>
            <a:pPr>
              <a:lnSpc>
                <a:spcPct val="100000"/>
              </a:lnSpc>
              <a:buFont typeface="Wingdings" panose="05000000000000000000" pitchFamily="2" charset="2"/>
              <a:buChar char="§"/>
            </a:pPr>
            <a:r>
              <a:rPr lang="en-US" dirty="0">
                <a:latin typeface="Poppins" panose="00000500000000000000" pitchFamily="2" charset="0"/>
                <a:cs typeface="Poppins" panose="00000500000000000000" pitchFamily="2" charset="0"/>
              </a:rPr>
              <a:t>The components of dictionary were made using keys and values.</a:t>
            </a:r>
          </a:p>
          <a:p>
            <a:pPr>
              <a:lnSpc>
                <a:spcPct val="100000"/>
              </a:lnSpc>
              <a:buFont typeface="Wingdings" panose="05000000000000000000" pitchFamily="2" charset="2"/>
              <a:buChar char="§"/>
            </a:pPr>
            <a:r>
              <a:rPr lang="en-US" dirty="0">
                <a:latin typeface="Poppins" panose="00000500000000000000" pitchFamily="2" charset="0"/>
                <a:cs typeface="Poppins" panose="00000500000000000000" pitchFamily="2" charset="0"/>
              </a:rPr>
              <a:t>Keys must only have one component.</a:t>
            </a:r>
          </a:p>
          <a:p>
            <a:pPr>
              <a:lnSpc>
                <a:spcPct val="100000"/>
              </a:lnSpc>
              <a:buFont typeface="Wingdings" panose="05000000000000000000" pitchFamily="2" charset="2"/>
              <a:buChar char="§"/>
            </a:pPr>
            <a:r>
              <a:rPr lang="en-US" dirty="0">
                <a:latin typeface="Poppins" panose="00000500000000000000" pitchFamily="2" charset="0"/>
                <a:cs typeface="Poppins" panose="00000500000000000000" pitchFamily="2" charset="0"/>
              </a:rPr>
              <a:t>Values can be of any type, including integer, list, and tuple.</a:t>
            </a:r>
          </a:p>
        </p:txBody>
      </p:sp>
    </p:spTree>
    <p:extLst>
      <p:ext uri="{BB962C8B-B14F-4D97-AF65-F5344CB8AC3E}">
        <p14:creationId xmlns:p14="http://schemas.microsoft.com/office/powerpoint/2010/main" val="1398505869"/>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8C5244-7E79-06E5-9076-8C9E53D6C939}"/>
              </a:ext>
            </a:extLst>
          </p:cNvPr>
          <p:cNvSpPr>
            <a:spLocks noGrp="1"/>
          </p:cNvSpPr>
          <p:nvPr>
            <p:ph type="title"/>
          </p:nvPr>
        </p:nvSpPr>
        <p:spPr/>
        <p:txBody>
          <a:bodyPr/>
          <a:lstStyle/>
          <a:p>
            <a:r>
              <a:rPr kumimoji="0" lang="en-US" sz="4400" b="1" i="0" u="none" strike="noStrike" kern="0" cap="none" spc="0" normalizeH="0" baseline="0" noProof="0" dirty="0">
                <a:ln>
                  <a:noFill/>
                </a:ln>
                <a:solidFill>
                  <a:srgbClr val="0B5296"/>
                </a:solidFill>
                <a:effectLst/>
                <a:uLnTx/>
                <a:uFillTx/>
                <a:latin typeface="Poppins" panose="00000500000000000000" pitchFamily="2" charset="0"/>
                <a:ea typeface="Fira Code"/>
                <a:cs typeface="Poppins" panose="00000500000000000000" pitchFamily="2" charset="0"/>
                <a:sym typeface="Fira Code"/>
              </a:rPr>
              <a:t>Creating the Dictionary</a:t>
            </a:r>
            <a:endParaRPr lang="en-US" b="1" dirty="0">
              <a:solidFill>
                <a:srgbClr val="0B5296"/>
              </a:solidFill>
              <a:latin typeface="Poppins" panose="00000500000000000000" pitchFamily="2" charset="0"/>
              <a:cs typeface="Poppins" panose="00000500000000000000" pitchFamily="2" charset="0"/>
            </a:endParaRPr>
          </a:p>
        </p:txBody>
      </p:sp>
      <p:sp>
        <p:nvSpPr>
          <p:cNvPr id="3" name="Content Placeholder 2">
            <a:extLst>
              <a:ext uri="{FF2B5EF4-FFF2-40B4-BE49-F238E27FC236}">
                <a16:creationId xmlns:a16="http://schemas.microsoft.com/office/drawing/2014/main" id="{425AEB74-134D-1AF8-F00C-EB345EEFC9E9}"/>
              </a:ext>
            </a:extLst>
          </p:cNvPr>
          <p:cNvSpPr>
            <a:spLocks noGrp="1"/>
          </p:cNvSpPr>
          <p:nvPr>
            <p:ph idx="1"/>
          </p:nvPr>
        </p:nvSpPr>
        <p:spPr>
          <a:xfrm>
            <a:off x="1072243" y="1690688"/>
            <a:ext cx="10281558" cy="1738312"/>
          </a:xfrm>
        </p:spPr>
        <p:txBody>
          <a:bodyPr>
            <a:normAutofit lnSpcReduction="10000"/>
          </a:bodyPr>
          <a:lstStyle/>
          <a:p>
            <a:pPr marL="0" indent="0">
              <a:lnSpc>
                <a:spcPct val="100000"/>
              </a:lnSpc>
              <a:buNone/>
            </a:pPr>
            <a:r>
              <a:rPr lang="en-US" dirty="0">
                <a:latin typeface="Poppins" panose="00000500000000000000" pitchFamily="2" charset="0"/>
                <a:cs typeface="Poppins" panose="00000500000000000000" pitchFamily="2" charset="0"/>
              </a:rPr>
              <a:t>Curly brackets are the simplest way to generate a Python dictionary, although there are other approaches as well. With many key-value pairs surrounded in curly brackets and a colon separating each key from its value</a:t>
            </a:r>
            <a:endParaRPr lang="en-US" sz="3200" b="1" dirty="0">
              <a:solidFill>
                <a:srgbClr val="00ACEE"/>
              </a:solidFill>
              <a:latin typeface="Poppins" panose="00000500000000000000" pitchFamily="2" charset="0"/>
              <a:cs typeface="Poppins" panose="00000500000000000000" pitchFamily="2" charset="0"/>
            </a:endParaRPr>
          </a:p>
        </p:txBody>
      </p:sp>
      <p:pic>
        <p:nvPicPr>
          <p:cNvPr id="7" name="Picture 2">
            <a:extLst>
              <a:ext uri="{FF2B5EF4-FFF2-40B4-BE49-F238E27FC236}">
                <a16:creationId xmlns:a16="http://schemas.microsoft.com/office/drawing/2014/main" id="{ADAB9628-45ED-95B0-D11B-679BE689FDC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859488" y="6238114"/>
            <a:ext cx="1995055" cy="467591"/>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7">
            <a:extLst>
              <a:ext uri="{FF2B5EF4-FFF2-40B4-BE49-F238E27FC236}">
                <a16:creationId xmlns:a16="http://schemas.microsoft.com/office/drawing/2014/main" id="{1242013B-8280-E869-B615-FFE6094358B8}"/>
              </a:ext>
            </a:extLst>
          </p:cNvPr>
          <p:cNvPicPr>
            <a:picLocks noChangeAspect="1"/>
          </p:cNvPicPr>
          <p:nvPr/>
        </p:nvPicPr>
        <p:blipFill>
          <a:blip r:embed="rId3"/>
          <a:stretch>
            <a:fillRect/>
          </a:stretch>
        </p:blipFill>
        <p:spPr>
          <a:xfrm>
            <a:off x="1724025" y="2523364"/>
            <a:ext cx="8743950" cy="3714750"/>
          </a:xfrm>
          <a:prstGeom prst="rect">
            <a:avLst/>
          </a:prstGeom>
        </p:spPr>
      </p:pic>
    </p:spTree>
    <p:extLst>
      <p:ext uri="{BB962C8B-B14F-4D97-AF65-F5344CB8AC3E}">
        <p14:creationId xmlns:p14="http://schemas.microsoft.com/office/powerpoint/2010/main" val="39085949"/>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8C5244-7E79-06E5-9076-8C9E53D6C939}"/>
              </a:ext>
            </a:extLst>
          </p:cNvPr>
          <p:cNvSpPr>
            <a:spLocks noGrp="1"/>
          </p:cNvSpPr>
          <p:nvPr>
            <p:ph type="title"/>
          </p:nvPr>
        </p:nvSpPr>
        <p:spPr>
          <a:xfrm>
            <a:off x="838200" y="365126"/>
            <a:ext cx="10515600" cy="984704"/>
          </a:xfrm>
        </p:spPr>
        <p:txBody>
          <a:bodyPr/>
          <a:lstStyle/>
          <a:p>
            <a:r>
              <a:rPr kumimoji="0" lang="en-US" sz="4400" b="1" i="0" u="none" strike="noStrike" kern="0" cap="none" spc="0" normalizeH="0" baseline="0" noProof="0" dirty="0">
                <a:ln>
                  <a:noFill/>
                </a:ln>
                <a:solidFill>
                  <a:srgbClr val="0B5296"/>
                </a:solidFill>
                <a:effectLst/>
                <a:uLnTx/>
                <a:uFillTx/>
                <a:latin typeface="Poppins" panose="00000500000000000000" pitchFamily="2" charset="0"/>
                <a:ea typeface="Fira Code"/>
                <a:cs typeface="Poppins" panose="00000500000000000000" pitchFamily="2" charset="0"/>
                <a:sym typeface="Fira Code"/>
              </a:rPr>
              <a:t>Example</a:t>
            </a:r>
            <a:endParaRPr lang="en-US" b="1" dirty="0">
              <a:solidFill>
                <a:srgbClr val="0B5296"/>
              </a:solidFill>
              <a:latin typeface="Poppins" panose="00000500000000000000" pitchFamily="2" charset="0"/>
              <a:cs typeface="Poppins" panose="00000500000000000000" pitchFamily="2" charset="0"/>
            </a:endParaRPr>
          </a:p>
        </p:txBody>
      </p:sp>
      <p:pic>
        <p:nvPicPr>
          <p:cNvPr id="7" name="Picture 2">
            <a:extLst>
              <a:ext uri="{FF2B5EF4-FFF2-40B4-BE49-F238E27FC236}">
                <a16:creationId xmlns:a16="http://schemas.microsoft.com/office/drawing/2014/main" id="{ADAB9628-45ED-95B0-D11B-679BE689FDC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859488" y="6238114"/>
            <a:ext cx="1995055" cy="467591"/>
          </a:xfrm>
          <a:prstGeom prst="rect">
            <a:avLst/>
          </a:prstGeom>
          <a:noFill/>
          <a:extLst>
            <a:ext uri="{909E8E84-426E-40DD-AFC4-6F175D3DCCD1}">
              <a14:hiddenFill xmlns:a14="http://schemas.microsoft.com/office/drawing/2010/main">
                <a:solidFill>
                  <a:srgbClr val="FFFFFF"/>
                </a:solidFill>
              </a14:hiddenFill>
            </a:ext>
          </a:extLst>
        </p:spPr>
      </p:pic>
      <p:pic>
        <p:nvPicPr>
          <p:cNvPr id="15" name="Picture 14">
            <a:extLst>
              <a:ext uri="{FF2B5EF4-FFF2-40B4-BE49-F238E27FC236}">
                <a16:creationId xmlns:a16="http://schemas.microsoft.com/office/drawing/2014/main" id="{64BAA866-01C1-5B0B-5A85-25B258E5B984}"/>
              </a:ext>
            </a:extLst>
          </p:cNvPr>
          <p:cNvPicPr>
            <a:picLocks noChangeAspect="1"/>
          </p:cNvPicPr>
          <p:nvPr/>
        </p:nvPicPr>
        <p:blipFill>
          <a:blip r:embed="rId3"/>
          <a:stretch>
            <a:fillRect/>
          </a:stretch>
        </p:blipFill>
        <p:spPr>
          <a:xfrm>
            <a:off x="0" y="728544"/>
            <a:ext cx="12192000" cy="5400912"/>
          </a:xfrm>
          <a:prstGeom prst="rect">
            <a:avLst/>
          </a:prstGeom>
        </p:spPr>
      </p:pic>
    </p:spTree>
    <p:extLst>
      <p:ext uri="{BB962C8B-B14F-4D97-AF65-F5344CB8AC3E}">
        <p14:creationId xmlns:p14="http://schemas.microsoft.com/office/powerpoint/2010/main" val="3997792102"/>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8C5244-7E79-06E5-9076-8C9E53D6C939}"/>
              </a:ext>
            </a:extLst>
          </p:cNvPr>
          <p:cNvSpPr>
            <a:spLocks noGrp="1"/>
          </p:cNvSpPr>
          <p:nvPr>
            <p:ph type="title"/>
          </p:nvPr>
        </p:nvSpPr>
        <p:spPr>
          <a:xfrm>
            <a:off x="838200" y="365125"/>
            <a:ext cx="9706583" cy="1325563"/>
          </a:xfrm>
        </p:spPr>
        <p:txBody>
          <a:bodyPr/>
          <a:lstStyle/>
          <a:p>
            <a:r>
              <a:rPr kumimoji="0" lang="en-US" sz="4400" b="1" i="0" u="none" strike="noStrike" kern="0" cap="none" spc="0" normalizeH="0" baseline="0" noProof="0" dirty="0">
                <a:ln>
                  <a:noFill/>
                </a:ln>
                <a:solidFill>
                  <a:srgbClr val="0B5296"/>
                </a:solidFill>
                <a:effectLst/>
                <a:uLnTx/>
                <a:uFillTx/>
                <a:latin typeface="Poppins" panose="00000500000000000000" pitchFamily="2" charset="0"/>
                <a:ea typeface="Fira Code"/>
                <a:cs typeface="Poppins" panose="00000500000000000000" pitchFamily="2" charset="0"/>
                <a:sym typeface="Fira Code"/>
              </a:rPr>
              <a:t>Accessing the </a:t>
            </a:r>
            <a:r>
              <a:rPr kumimoji="0" lang="en-US" b="1" i="0" u="none" strike="noStrike" kern="0" cap="none" spc="0" normalizeH="0" baseline="0" noProof="0" dirty="0">
                <a:ln>
                  <a:noFill/>
                </a:ln>
                <a:solidFill>
                  <a:srgbClr val="0B5296"/>
                </a:solidFill>
                <a:effectLst/>
                <a:uLnTx/>
                <a:uFillTx/>
                <a:latin typeface="Poppins" panose="00000500000000000000" pitchFamily="2" charset="0"/>
                <a:ea typeface="Fira Code"/>
                <a:cs typeface="Poppins" panose="00000500000000000000" pitchFamily="2" charset="0"/>
                <a:sym typeface="Fira Code"/>
              </a:rPr>
              <a:t>dictionary values</a:t>
            </a:r>
            <a:endParaRPr lang="en-US" b="1" dirty="0">
              <a:solidFill>
                <a:srgbClr val="0B5296"/>
              </a:solidFill>
              <a:latin typeface="Poppins" panose="00000500000000000000" pitchFamily="2" charset="0"/>
              <a:cs typeface="Poppins" panose="00000500000000000000" pitchFamily="2" charset="0"/>
            </a:endParaRPr>
          </a:p>
        </p:txBody>
      </p:sp>
      <p:sp>
        <p:nvSpPr>
          <p:cNvPr id="3" name="Content Placeholder 2">
            <a:extLst>
              <a:ext uri="{FF2B5EF4-FFF2-40B4-BE49-F238E27FC236}">
                <a16:creationId xmlns:a16="http://schemas.microsoft.com/office/drawing/2014/main" id="{425AEB74-134D-1AF8-F00C-EB345EEFC9E9}"/>
              </a:ext>
            </a:extLst>
          </p:cNvPr>
          <p:cNvSpPr>
            <a:spLocks noGrp="1"/>
          </p:cNvSpPr>
          <p:nvPr>
            <p:ph idx="1"/>
          </p:nvPr>
        </p:nvSpPr>
        <p:spPr>
          <a:xfrm>
            <a:off x="838200" y="1690688"/>
            <a:ext cx="10874829" cy="2620055"/>
          </a:xfrm>
        </p:spPr>
        <p:txBody>
          <a:bodyPr>
            <a:normAutofit/>
          </a:bodyPr>
          <a:lstStyle/>
          <a:p>
            <a:pPr marL="0" indent="0">
              <a:lnSpc>
                <a:spcPct val="100000"/>
              </a:lnSpc>
              <a:buNone/>
            </a:pPr>
            <a:r>
              <a:rPr lang="en-US" dirty="0">
                <a:latin typeface="Poppins" panose="00000500000000000000" pitchFamily="2" charset="0"/>
                <a:cs typeface="Poppins" panose="00000500000000000000" pitchFamily="2" charset="0"/>
              </a:rPr>
              <a:t>To access data contained in lists and tuples, indexing has been studied. The keys of the dictionary can be used to obtain the values because they are unique from one another. The following method can be used to access dictionary values.</a:t>
            </a:r>
            <a:endParaRPr lang="en-US" b="1" dirty="0">
              <a:solidFill>
                <a:srgbClr val="00ACEE"/>
              </a:solidFill>
              <a:latin typeface="Poppins" panose="00000500000000000000" pitchFamily="2" charset="0"/>
              <a:cs typeface="Poppins" panose="00000500000000000000" pitchFamily="2" charset="0"/>
            </a:endParaRPr>
          </a:p>
        </p:txBody>
      </p:sp>
      <p:pic>
        <p:nvPicPr>
          <p:cNvPr id="7" name="Picture 2">
            <a:extLst>
              <a:ext uri="{FF2B5EF4-FFF2-40B4-BE49-F238E27FC236}">
                <a16:creationId xmlns:a16="http://schemas.microsoft.com/office/drawing/2014/main" id="{ADAB9628-45ED-95B0-D11B-679BE689FDC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859488" y="6238114"/>
            <a:ext cx="1995055" cy="467591"/>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a:extLst>
              <a:ext uri="{FF2B5EF4-FFF2-40B4-BE49-F238E27FC236}">
                <a16:creationId xmlns:a16="http://schemas.microsoft.com/office/drawing/2014/main" id="{FAB5EDF5-CB12-CDA5-0079-ECFC6D35A9F6}"/>
              </a:ext>
            </a:extLst>
          </p:cNvPr>
          <p:cNvPicPr>
            <a:picLocks noChangeAspect="1"/>
          </p:cNvPicPr>
          <p:nvPr/>
        </p:nvPicPr>
        <p:blipFill>
          <a:blip r:embed="rId3"/>
          <a:stretch>
            <a:fillRect/>
          </a:stretch>
        </p:blipFill>
        <p:spPr>
          <a:xfrm>
            <a:off x="38910" y="3144158"/>
            <a:ext cx="12192000" cy="3674301"/>
          </a:xfrm>
          <a:prstGeom prst="rect">
            <a:avLst/>
          </a:prstGeom>
        </p:spPr>
      </p:pic>
    </p:spTree>
    <p:extLst>
      <p:ext uri="{BB962C8B-B14F-4D97-AF65-F5344CB8AC3E}">
        <p14:creationId xmlns:p14="http://schemas.microsoft.com/office/powerpoint/2010/main" val="3190316652"/>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8C5244-7E79-06E5-9076-8C9E53D6C939}"/>
              </a:ext>
            </a:extLst>
          </p:cNvPr>
          <p:cNvSpPr>
            <a:spLocks noGrp="1"/>
          </p:cNvSpPr>
          <p:nvPr>
            <p:ph type="title"/>
          </p:nvPr>
        </p:nvSpPr>
        <p:spPr/>
        <p:txBody>
          <a:bodyPr/>
          <a:lstStyle/>
          <a:p>
            <a:r>
              <a:rPr kumimoji="0" lang="en-US" sz="4400" b="1" i="0" u="none" strike="noStrike" kern="0" cap="none" spc="0" normalizeH="0" baseline="0" noProof="0" dirty="0">
                <a:ln>
                  <a:noFill/>
                </a:ln>
                <a:solidFill>
                  <a:srgbClr val="0B5296"/>
                </a:solidFill>
                <a:effectLst/>
                <a:uLnTx/>
                <a:uFillTx/>
                <a:latin typeface="Poppins" panose="00000500000000000000" pitchFamily="2" charset="0"/>
                <a:ea typeface="Fira Code"/>
                <a:cs typeface="Poppins" panose="00000500000000000000" pitchFamily="2" charset="0"/>
                <a:sym typeface="Fira Code"/>
              </a:rPr>
              <a:t>Adding Dictionary Values</a:t>
            </a:r>
            <a:endParaRPr lang="en-US" b="1" dirty="0">
              <a:solidFill>
                <a:srgbClr val="0B5296"/>
              </a:solidFill>
              <a:latin typeface="Poppins" panose="00000500000000000000" pitchFamily="2" charset="0"/>
              <a:cs typeface="Poppins" panose="00000500000000000000" pitchFamily="2" charset="0"/>
            </a:endParaRPr>
          </a:p>
        </p:txBody>
      </p:sp>
      <p:sp>
        <p:nvSpPr>
          <p:cNvPr id="3" name="Content Placeholder 2">
            <a:extLst>
              <a:ext uri="{FF2B5EF4-FFF2-40B4-BE49-F238E27FC236}">
                <a16:creationId xmlns:a16="http://schemas.microsoft.com/office/drawing/2014/main" id="{425AEB74-134D-1AF8-F00C-EB345EEFC9E9}"/>
              </a:ext>
            </a:extLst>
          </p:cNvPr>
          <p:cNvSpPr>
            <a:spLocks noGrp="1"/>
          </p:cNvSpPr>
          <p:nvPr>
            <p:ph idx="1"/>
          </p:nvPr>
        </p:nvSpPr>
        <p:spPr>
          <a:xfrm>
            <a:off x="838200" y="1690688"/>
            <a:ext cx="10874829" cy="1597261"/>
          </a:xfrm>
        </p:spPr>
        <p:txBody>
          <a:bodyPr>
            <a:normAutofit fontScale="92500" lnSpcReduction="10000"/>
          </a:bodyPr>
          <a:lstStyle/>
          <a:p>
            <a:pPr marL="0" indent="0">
              <a:lnSpc>
                <a:spcPct val="100000"/>
              </a:lnSpc>
              <a:buNone/>
            </a:pPr>
            <a:r>
              <a:rPr lang="en-US" b="0" i="0" dirty="0">
                <a:solidFill>
                  <a:srgbClr val="333333"/>
                </a:solidFill>
                <a:effectLst/>
                <a:latin typeface="inter-regular"/>
              </a:rPr>
              <a:t>The dictionary is a mutable data type, and </a:t>
            </a:r>
            <a:r>
              <a:rPr lang="en-US" b="0" i="0" dirty="0" err="1">
                <a:solidFill>
                  <a:srgbClr val="333333"/>
                </a:solidFill>
                <a:effectLst/>
                <a:latin typeface="inter-regular"/>
              </a:rPr>
              <a:t>utilising</a:t>
            </a:r>
            <a:r>
              <a:rPr lang="en-US" b="0" i="0" dirty="0">
                <a:solidFill>
                  <a:srgbClr val="333333"/>
                </a:solidFill>
                <a:effectLst/>
                <a:latin typeface="inter-regular"/>
              </a:rPr>
              <a:t> the right keys allows you to change its values. </a:t>
            </a:r>
            <a:r>
              <a:rPr lang="en-US" b="0" i="0" dirty="0" err="1">
                <a:solidFill>
                  <a:srgbClr val="333333"/>
                </a:solidFill>
                <a:effectLst/>
                <a:latin typeface="inter-regular"/>
              </a:rPr>
              <a:t>Dict</a:t>
            </a:r>
            <a:r>
              <a:rPr lang="en-US" b="0" i="0" dirty="0">
                <a:solidFill>
                  <a:srgbClr val="333333"/>
                </a:solidFill>
                <a:effectLst/>
                <a:latin typeface="inter-regular"/>
              </a:rPr>
              <a:t>[key] = value and the value can both be modified. An existing value can also be updated using the update() </a:t>
            </a:r>
            <a:r>
              <a:rPr lang="en-US" b="0" i="0" dirty="0" err="1">
                <a:solidFill>
                  <a:srgbClr val="333333"/>
                </a:solidFill>
                <a:effectLst/>
                <a:latin typeface="inter-regular"/>
              </a:rPr>
              <a:t>method.if</a:t>
            </a:r>
            <a:r>
              <a:rPr lang="en-US" b="0" i="0" dirty="0">
                <a:solidFill>
                  <a:srgbClr val="333333"/>
                </a:solidFill>
                <a:effectLst/>
                <a:latin typeface="inter-regular"/>
              </a:rPr>
              <a:t> the key-value pair is not present it will add new one.</a:t>
            </a:r>
            <a:endParaRPr lang="en-US" sz="2200" b="1" dirty="0">
              <a:solidFill>
                <a:srgbClr val="00ACEE"/>
              </a:solidFill>
              <a:latin typeface="Poppins" panose="00000500000000000000" pitchFamily="2" charset="0"/>
              <a:cs typeface="Poppins" panose="00000500000000000000" pitchFamily="2" charset="0"/>
            </a:endParaRPr>
          </a:p>
        </p:txBody>
      </p:sp>
      <p:pic>
        <p:nvPicPr>
          <p:cNvPr id="7" name="Picture 2">
            <a:extLst>
              <a:ext uri="{FF2B5EF4-FFF2-40B4-BE49-F238E27FC236}">
                <a16:creationId xmlns:a16="http://schemas.microsoft.com/office/drawing/2014/main" id="{ADAB9628-45ED-95B0-D11B-679BE689FDC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859488" y="6238114"/>
            <a:ext cx="1995055" cy="467591"/>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a:extLst>
              <a:ext uri="{FF2B5EF4-FFF2-40B4-BE49-F238E27FC236}">
                <a16:creationId xmlns:a16="http://schemas.microsoft.com/office/drawing/2014/main" id="{3808B2B9-FC8C-8DF4-D3E0-8ECE9E24FC33}"/>
              </a:ext>
            </a:extLst>
          </p:cNvPr>
          <p:cNvPicPr>
            <a:picLocks noChangeAspect="1"/>
          </p:cNvPicPr>
          <p:nvPr/>
        </p:nvPicPr>
        <p:blipFill>
          <a:blip r:embed="rId3"/>
          <a:stretch>
            <a:fillRect/>
          </a:stretch>
        </p:blipFill>
        <p:spPr>
          <a:xfrm>
            <a:off x="1403351" y="2231886"/>
            <a:ext cx="8791236" cy="4763252"/>
          </a:xfrm>
          <a:prstGeom prst="rect">
            <a:avLst/>
          </a:prstGeom>
        </p:spPr>
      </p:pic>
    </p:spTree>
    <p:extLst>
      <p:ext uri="{BB962C8B-B14F-4D97-AF65-F5344CB8AC3E}">
        <p14:creationId xmlns:p14="http://schemas.microsoft.com/office/powerpoint/2010/main" val="3687285015"/>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8C5244-7E79-06E5-9076-8C9E53D6C939}"/>
              </a:ext>
            </a:extLst>
          </p:cNvPr>
          <p:cNvSpPr>
            <a:spLocks noGrp="1"/>
          </p:cNvSpPr>
          <p:nvPr>
            <p:ph type="title"/>
          </p:nvPr>
        </p:nvSpPr>
        <p:spPr/>
        <p:txBody>
          <a:bodyPr/>
          <a:lstStyle/>
          <a:p>
            <a:r>
              <a:rPr kumimoji="0" lang="en-US" sz="4400" b="1" i="0" u="none" strike="noStrike" kern="0" cap="none" spc="0" normalizeH="0" baseline="0" noProof="0" dirty="0">
                <a:ln>
                  <a:noFill/>
                </a:ln>
                <a:solidFill>
                  <a:srgbClr val="0B5296"/>
                </a:solidFill>
                <a:effectLst/>
                <a:uLnTx/>
                <a:uFillTx/>
                <a:latin typeface="Poppins" panose="00000500000000000000" pitchFamily="2" charset="0"/>
                <a:ea typeface="Fira Code"/>
                <a:cs typeface="Poppins" panose="00000500000000000000" pitchFamily="2" charset="0"/>
                <a:sym typeface="Fira Code"/>
              </a:rPr>
              <a:t>Deleting Elements </a:t>
            </a:r>
            <a:endParaRPr lang="en-US" b="1" dirty="0">
              <a:solidFill>
                <a:srgbClr val="0B5296"/>
              </a:solidFill>
              <a:latin typeface="Poppins" panose="00000500000000000000" pitchFamily="2" charset="0"/>
              <a:cs typeface="Poppins" panose="00000500000000000000" pitchFamily="2" charset="0"/>
            </a:endParaRPr>
          </a:p>
        </p:txBody>
      </p:sp>
      <p:sp>
        <p:nvSpPr>
          <p:cNvPr id="3" name="Content Placeholder 2">
            <a:extLst>
              <a:ext uri="{FF2B5EF4-FFF2-40B4-BE49-F238E27FC236}">
                <a16:creationId xmlns:a16="http://schemas.microsoft.com/office/drawing/2014/main" id="{425AEB74-134D-1AF8-F00C-EB345EEFC9E9}"/>
              </a:ext>
            </a:extLst>
          </p:cNvPr>
          <p:cNvSpPr>
            <a:spLocks noGrp="1"/>
          </p:cNvSpPr>
          <p:nvPr>
            <p:ph idx="1"/>
          </p:nvPr>
        </p:nvSpPr>
        <p:spPr>
          <a:xfrm>
            <a:off x="838200" y="1690688"/>
            <a:ext cx="10874829" cy="2620055"/>
          </a:xfrm>
        </p:spPr>
        <p:txBody>
          <a:bodyPr>
            <a:normAutofit/>
          </a:bodyPr>
          <a:lstStyle/>
          <a:p>
            <a:pPr marL="0" indent="0">
              <a:lnSpc>
                <a:spcPct val="100000"/>
              </a:lnSpc>
              <a:buNone/>
            </a:pPr>
            <a:r>
              <a:rPr lang="en-US" dirty="0">
                <a:latin typeface="Poppins" panose="00000500000000000000" pitchFamily="2" charset="0"/>
                <a:cs typeface="Poppins" panose="00000500000000000000" pitchFamily="2" charset="0"/>
              </a:rPr>
              <a:t>The items of the dictionary can be deleted by using the del keyword as given below.</a:t>
            </a:r>
            <a:endParaRPr lang="en-US" sz="1800" dirty="0">
              <a:latin typeface="Poppins" panose="00000500000000000000" pitchFamily="2" charset="0"/>
              <a:cs typeface="Poppins" panose="00000500000000000000" pitchFamily="2" charset="0"/>
            </a:endParaRPr>
          </a:p>
        </p:txBody>
      </p:sp>
      <p:pic>
        <p:nvPicPr>
          <p:cNvPr id="7" name="Picture 2">
            <a:extLst>
              <a:ext uri="{FF2B5EF4-FFF2-40B4-BE49-F238E27FC236}">
                <a16:creationId xmlns:a16="http://schemas.microsoft.com/office/drawing/2014/main" id="{ADAB9628-45ED-95B0-D11B-679BE689FDC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859488" y="6238114"/>
            <a:ext cx="1995055" cy="467591"/>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a:extLst>
              <a:ext uri="{FF2B5EF4-FFF2-40B4-BE49-F238E27FC236}">
                <a16:creationId xmlns:a16="http://schemas.microsoft.com/office/drawing/2014/main" id="{1DB22CEE-E5E4-3668-63C7-A5A0097AE27B}"/>
              </a:ext>
            </a:extLst>
          </p:cNvPr>
          <p:cNvPicPr>
            <a:picLocks noChangeAspect="1"/>
          </p:cNvPicPr>
          <p:nvPr/>
        </p:nvPicPr>
        <p:blipFill>
          <a:blip r:embed="rId3"/>
          <a:stretch>
            <a:fillRect/>
          </a:stretch>
        </p:blipFill>
        <p:spPr>
          <a:xfrm>
            <a:off x="0" y="2149150"/>
            <a:ext cx="12192000" cy="3530930"/>
          </a:xfrm>
          <a:prstGeom prst="rect">
            <a:avLst/>
          </a:prstGeom>
        </p:spPr>
      </p:pic>
    </p:spTree>
    <p:extLst>
      <p:ext uri="{BB962C8B-B14F-4D97-AF65-F5344CB8AC3E}">
        <p14:creationId xmlns:p14="http://schemas.microsoft.com/office/powerpoint/2010/main" val="78308955"/>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8C5244-7E79-06E5-9076-8C9E53D6C939}"/>
              </a:ext>
            </a:extLst>
          </p:cNvPr>
          <p:cNvSpPr>
            <a:spLocks noGrp="1"/>
          </p:cNvSpPr>
          <p:nvPr>
            <p:ph type="title"/>
          </p:nvPr>
        </p:nvSpPr>
        <p:spPr/>
        <p:txBody>
          <a:bodyPr/>
          <a:lstStyle/>
          <a:p>
            <a:r>
              <a:rPr kumimoji="0" lang="en-US" sz="4400" b="1" i="0" u="none" strike="noStrike" kern="0" cap="none" spc="0" normalizeH="0" baseline="0" noProof="0" dirty="0">
                <a:ln>
                  <a:noFill/>
                </a:ln>
                <a:solidFill>
                  <a:srgbClr val="0B5296"/>
                </a:solidFill>
                <a:effectLst/>
                <a:uLnTx/>
                <a:uFillTx/>
                <a:latin typeface="Poppins" panose="00000500000000000000" pitchFamily="2" charset="0"/>
                <a:ea typeface="Fira Code"/>
                <a:cs typeface="Poppins" panose="00000500000000000000" pitchFamily="2" charset="0"/>
                <a:sym typeface="Fira Code"/>
              </a:rPr>
              <a:t>Iterating Dictionary</a:t>
            </a:r>
          </a:p>
        </p:txBody>
      </p:sp>
      <p:sp>
        <p:nvSpPr>
          <p:cNvPr id="3" name="Content Placeholder 2">
            <a:extLst>
              <a:ext uri="{FF2B5EF4-FFF2-40B4-BE49-F238E27FC236}">
                <a16:creationId xmlns:a16="http://schemas.microsoft.com/office/drawing/2014/main" id="{425AEB74-134D-1AF8-F00C-EB345EEFC9E9}"/>
              </a:ext>
            </a:extLst>
          </p:cNvPr>
          <p:cNvSpPr>
            <a:spLocks noGrp="1"/>
          </p:cNvSpPr>
          <p:nvPr>
            <p:ph idx="1"/>
          </p:nvPr>
        </p:nvSpPr>
        <p:spPr>
          <a:xfrm>
            <a:off x="1072244" y="1690688"/>
            <a:ext cx="10281556" cy="1071968"/>
          </a:xfrm>
        </p:spPr>
        <p:txBody>
          <a:bodyPr>
            <a:normAutofit/>
          </a:bodyPr>
          <a:lstStyle/>
          <a:p>
            <a:pPr marL="0" indent="0">
              <a:lnSpc>
                <a:spcPct val="100000"/>
              </a:lnSpc>
              <a:buNone/>
            </a:pPr>
            <a:r>
              <a:rPr lang="en-US" dirty="0">
                <a:latin typeface="Poppins" panose="00000500000000000000" pitchFamily="2" charset="0"/>
                <a:cs typeface="Poppins" panose="00000500000000000000" pitchFamily="2" charset="0"/>
              </a:rPr>
              <a:t>A dictionary can be iterated using for loop as given below.</a:t>
            </a:r>
            <a:endParaRPr lang="en-US" sz="3200" b="1" dirty="0">
              <a:solidFill>
                <a:srgbClr val="00ACEE"/>
              </a:solidFill>
              <a:latin typeface="Poppins" panose="00000500000000000000" pitchFamily="2" charset="0"/>
              <a:cs typeface="Poppins" panose="00000500000000000000" pitchFamily="2" charset="0"/>
            </a:endParaRPr>
          </a:p>
        </p:txBody>
      </p:sp>
      <p:pic>
        <p:nvPicPr>
          <p:cNvPr id="7" name="Picture 2">
            <a:extLst>
              <a:ext uri="{FF2B5EF4-FFF2-40B4-BE49-F238E27FC236}">
                <a16:creationId xmlns:a16="http://schemas.microsoft.com/office/drawing/2014/main" id="{ADAB9628-45ED-95B0-D11B-679BE689FDC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859488" y="6238114"/>
            <a:ext cx="1995055" cy="467591"/>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a:extLst>
              <a:ext uri="{FF2B5EF4-FFF2-40B4-BE49-F238E27FC236}">
                <a16:creationId xmlns:a16="http://schemas.microsoft.com/office/drawing/2014/main" id="{2746286B-647C-CCCB-7D17-4D5BFD3789AD}"/>
              </a:ext>
            </a:extLst>
          </p:cNvPr>
          <p:cNvPicPr>
            <a:picLocks noChangeAspect="1"/>
          </p:cNvPicPr>
          <p:nvPr/>
        </p:nvPicPr>
        <p:blipFill>
          <a:blip r:embed="rId3"/>
          <a:stretch>
            <a:fillRect/>
          </a:stretch>
        </p:blipFill>
        <p:spPr>
          <a:xfrm>
            <a:off x="117022" y="2005486"/>
            <a:ext cx="12192000" cy="4165466"/>
          </a:xfrm>
          <a:prstGeom prst="rect">
            <a:avLst/>
          </a:prstGeom>
        </p:spPr>
      </p:pic>
    </p:spTree>
    <p:extLst>
      <p:ext uri="{BB962C8B-B14F-4D97-AF65-F5344CB8AC3E}">
        <p14:creationId xmlns:p14="http://schemas.microsoft.com/office/powerpoint/2010/main" val="2620905258"/>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8C5244-7E79-06E5-9076-8C9E53D6C939}"/>
              </a:ext>
            </a:extLst>
          </p:cNvPr>
          <p:cNvSpPr>
            <a:spLocks noGrp="1"/>
          </p:cNvSpPr>
          <p:nvPr>
            <p:ph type="title"/>
          </p:nvPr>
        </p:nvSpPr>
        <p:spPr/>
        <p:txBody>
          <a:bodyPr/>
          <a:lstStyle/>
          <a:p>
            <a:r>
              <a:rPr kumimoji="0" lang="en-US" sz="4400" b="1" i="0" u="none" strike="noStrike" kern="0" cap="none" spc="0" normalizeH="0" baseline="0" noProof="0" dirty="0">
                <a:ln>
                  <a:noFill/>
                </a:ln>
                <a:solidFill>
                  <a:srgbClr val="0B5296"/>
                </a:solidFill>
                <a:effectLst/>
                <a:uLnTx/>
                <a:uFillTx/>
                <a:latin typeface="Poppins" panose="00000500000000000000" pitchFamily="2" charset="0"/>
                <a:ea typeface="Fira Code"/>
                <a:cs typeface="Poppins" panose="00000500000000000000" pitchFamily="2" charset="0"/>
                <a:sym typeface="Fira Code"/>
              </a:rPr>
              <a:t>Properties of Dictionary Keys</a:t>
            </a:r>
          </a:p>
        </p:txBody>
      </p:sp>
      <p:sp>
        <p:nvSpPr>
          <p:cNvPr id="3" name="Content Placeholder 2">
            <a:extLst>
              <a:ext uri="{FF2B5EF4-FFF2-40B4-BE49-F238E27FC236}">
                <a16:creationId xmlns:a16="http://schemas.microsoft.com/office/drawing/2014/main" id="{425AEB74-134D-1AF8-F00C-EB345EEFC9E9}"/>
              </a:ext>
            </a:extLst>
          </p:cNvPr>
          <p:cNvSpPr>
            <a:spLocks noGrp="1"/>
          </p:cNvSpPr>
          <p:nvPr>
            <p:ph idx="1"/>
          </p:nvPr>
        </p:nvSpPr>
        <p:spPr>
          <a:xfrm>
            <a:off x="1072244" y="1690688"/>
            <a:ext cx="10281556" cy="1071968"/>
          </a:xfrm>
        </p:spPr>
        <p:txBody>
          <a:bodyPr>
            <a:normAutofit fontScale="85000" lnSpcReduction="20000"/>
          </a:bodyPr>
          <a:lstStyle/>
          <a:p>
            <a:pPr marL="0" indent="0">
              <a:lnSpc>
                <a:spcPct val="100000"/>
              </a:lnSpc>
              <a:buNone/>
            </a:pPr>
            <a:r>
              <a:rPr lang="en-US" sz="3300" b="1" dirty="0">
                <a:latin typeface="Poppins" panose="00000500000000000000" pitchFamily="2" charset="0"/>
                <a:cs typeface="Poppins" panose="00000500000000000000" pitchFamily="2" charset="0"/>
              </a:rPr>
              <a:t>1</a:t>
            </a:r>
            <a:r>
              <a:rPr lang="en-US" dirty="0">
                <a:latin typeface="Poppins" panose="00000500000000000000" pitchFamily="2" charset="0"/>
                <a:cs typeface="Poppins" panose="00000500000000000000" pitchFamily="2" charset="0"/>
              </a:rPr>
              <a:t>. In the dictionary, we cannot store multiple values for the same keys. If we pass more than one value for a single key, then the value which is last assigned is considered as the value of the key.</a:t>
            </a:r>
            <a:endParaRPr lang="en-US" sz="3200" b="1" dirty="0">
              <a:solidFill>
                <a:srgbClr val="00ACEE"/>
              </a:solidFill>
              <a:latin typeface="Poppins" panose="00000500000000000000" pitchFamily="2" charset="0"/>
              <a:cs typeface="Poppins" panose="00000500000000000000" pitchFamily="2" charset="0"/>
            </a:endParaRPr>
          </a:p>
        </p:txBody>
      </p:sp>
      <p:pic>
        <p:nvPicPr>
          <p:cNvPr id="7" name="Picture 2">
            <a:extLst>
              <a:ext uri="{FF2B5EF4-FFF2-40B4-BE49-F238E27FC236}">
                <a16:creationId xmlns:a16="http://schemas.microsoft.com/office/drawing/2014/main" id="{ADAB9628-45ED-95B0-D11B-679BE689FDC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859488" y="6238114"/>
            <a:ext cx="1995055" cy="467591"/>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a:extLst>
              <a:ext uri="{FF2B5EF4-FFF2-40B4-BE49-F238E27FC236}">
                <a16:creationId xmlns:a16="http://schemas.microsoft.com/office/drawing/2014/main" id="{8594954E-F5D7-1A94-8B41-B4018D6600FC}"/>
              </a:ext>
            </a:extLst>
          </p:cNvPr>
          <p:cNvPicPr>
            <a:picLocks noChangeAspect="1"/>
          </p:cNvPicPr>
          <p:nvPr/>
        </p:nvPicPr>
        <p:blipFill>
          <a:blip r:embed="rId3"/>
          <a:stretch>
            <a:fillRect/>
          </a:stretch>
        </p:blipFill>
        <p:spPr>
          <a:xfrm>
            <a:off x="133350" y="1861809"/>
            <a:ext cx="11925300" cy="4610100"/>
          </a:xfrm>
          <a:prstGeom prst="rect">
            <a:avLst/>
          </a:prstGeom>
        </p:spPr>
      </p:pic>
    </p:spTree>
    <p:extLst>
      <p:ext uri="{BB962C8B-B14F-4D97-AF65-F5344CB8AC3E}">
        <p14:creationId xmlns:p14="http://schemas.microsoft.com/office/powerpoint/2010/main" val="3070066296"/>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8C5244-7E79-06E5-9076-8C9E53D6C939}"/>
              </a:ext>
            </a:extLst>
          </p:cNvPr>
          <p:cNvSpPr>
            <a:spLocks noGrp="1"/>
          </p:cNvSpPr>
          <p:nvPr>
            <p:ph type="title"/>
          </p:nvPr>
        </p:nvSpPr>
        <p:spPr/>
        <p:txBody>
          <a:bodyPr/>
          <a:lstStyle/>
          <a:p>
            <a:r>
              <a:rPr kumimoji="0" lang="en-US" sz="4400" b="1" i="0" u="none" strike="noStrike" kern="0" cap="none" spc="0" normalizeH="0" baseline="0" noProof="0" dirty="0">
                <a:ln>
                  <a:noFill/>
                </a:ln>
                <a:solidFill>
                  <a:srgbClr val="0B5296"/>
                </a:solidFill>
                <a:effectLst/>
                <a:uLnTx/>
                <a:uFillTx/>
                <a:latin typeface="Poppins" panose="00000500000000000000" pitchFamily="2" charset="0"/>
                <a:ea typeface="Fira Code"/>
                <a:cs typeface="Poppins" panose="00000500000000000000" pitchFamily="2" charset="0"/>
                <a:sym typeface="Fira Code"/>
              </a:rPr>
              <a:t>Properties of Dictionary cont.</a:t>
            </a:r>
          </a:p>
        </p:txBody>
      </p:sp>
      <p:sp>
        <p:nvSpPr>
          <p:cNvPr id="3" name="Content Placeholder 2">
            <a:extLst>
              <a:ext uri="{FF2B5EF4-FFF2-40B4-BE49-F238E27FC236}">
                <a16:creationId xmlns:a16="http://schemas.microsoft.com/office/drawing/2014/main" id="{425AEB74-134D-1AF8-F00C-EB345EEFC9E9}"/>
              </a:ext>
            </a:extLst>
          </p:cNvPr>
          <p:cNvSpPr>
            <a:spLocks noGrp="1"/>
          </p:cNvSpPr>
          <p:nvPr>
            <p:ph idx="1"/>
          </p:nvPr>
        </p:nvSpPr>
        <p:spPr>
          <a:xfrm>
            <a:off x="1072244" y="1690688"/>
            <a:ext cx="10281556" cy="1071968"/>
          </a:xfrm>
        </p:spPr>
        <p:txBody>
          <a:bodyPr>
            <a:normAutofit fontScale="70000" lnSpcReduction="20000"/>
          </a:bodyPr>
          <a:lstStyle/>
          <a:p>
            <a:pPr marL="0" indent="0">
              <a:lnSpc>
                <a:spcPct val="100000"/>
              </a:lnSpc>
              <a:buNone/>
            </a:pPr>
            <a:r>
              <a:rPr lang="en-US" sz="4000" b="1" dirty="0">
                <a:latin typeface="Poppins" panose="00000500000000000000" pitchFamily="2" charset="0"/>
                <a:cs typeface="Poppins" panose="00000500000000000000" pitchFamily="2" charset="0"/>
              </a:rPr>
              <a:t>2. </a:t>
            </a:r>
            <a:r>
              <a:rPr lang="en-US" sz="3300" dirty="0">
                <a:latin typeface="Poppins" panose="00000500000000000000" pitchFamily="2" charset="0"/>
                <a:cs typeface="Poppins" panose="00000500000000000000" pitchFamily="2" charset="0"/>
              </a:rPr>
              <a:t>The key cannot belong to any mutable object in Python. Numbers, strings, or tuples can be used as the key, however mutable objects like lists cannot be used as the key in a dictionary.</a:t>
            </a:r>
            <a:endParaRPr lang="en-US" sz="3200" dirty="0">
              <a:solidFill>
                <a:srgbClr val="00ACEE"/>
              </a:solidFill>
              <a:latin typeface="Poppins" panose="00000500000000000000" pitchFamily="2" charset="0"/>
              <a:cs typeface="Poppins" panose="00000500000000000000" pitchFamily="2" charset="0"/>
            </a:endParaRPr>
          </a:p>
        </p:txBody>
      </p:sp>
      <p:pic>
        <p:nvPicPr>
          <p:cNvPr id="7" name="Picture 2">
            <a:extLst>
              <a:ext uri="{FF2B5EF4-FFF2-40B4-BE49-F238E27FC236}">
                <a16:creationId xmlns:a16="http://schemas.microsoft.com/office/drawing/2014/main" id="{ADAB9628-45ED-95B0-D11B-679BE689FDC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859488" y="6238114"/>
            <a:ext cx="1995055" cy="467591"/>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a:extLst>
              <a:ext uri="{FF2B5EF4-FFF2-40B4-BE49-F238E27FC236}">
                <a16:creationId xmlns:a16="http://schemas.microsoft.com/office/drawing/2014/main" id="{DCD536D8-F980-D7E0-D488-3ABEE2E5EA37}"/>
              </a:ext>
            </a:extLst>
          </p:cNvPr>
          <p:cNvPicPr>
            <a:picLocks noChangeAspect="1"/>
          </p:cNvPicPr>
          <p:nvPr/>
        </p:nvPicPr>
        <p:blipFill>
          <a:blip r:embed="rId3"/>
          <a:stretch>
            <a:fillRect/>
          </a:stretch>
        </p:blipFill>
        <p:spPr>
          <a:xfrm>
            <a:off x="95250" y="1861809"/>
            <a:ext cx="12096750" cy="4610100"/>
          </a:xfrm>
          <a:prstGeom prst="rect">
            <a:avLst/>
          </a:prstGeom>
        </p:spPr>
      </p:pic>
    </p:spTree>
    <p:extLst>
      <p:ext uri="{BB962C8B-B14F-4D97-AF65-F5344CB8AC3E}">
        <p14:creationId xmlns:p14="http://schemas.microsoft.com/office/powerpoint/2010/main" val="703304807"/>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8C5244-7E79-06E5-9076-8C9E53D6C939}"/>
              </a:ext>
            </a:extLst>
          </p:cNvPr>
          <p:cNvSpPr>
            <a:spLocks noGrp="1"/>
          </p:cNvSpPr>
          <p:nvPr>
            <p:ph type="title"/>
          </p:nvPr>
        </p:nvSpPr>
        <p:spPr/>
        <p:txBody>
          <a:bodyPr>
            <a:normAutofit/>
          </a:bodyPr>
          <a:lstStyle/>
          <a:p>
            <a:r>
              <a:rPr kumimoji="0" lang="en-US" sz="4800" b="1" i="0" u="none" strike="noStrike" kern="0" cap="none" spc="0" normalizeH="0" baseline="0" noProof="0" dirty="0">
                <a:ln>
                  <a:noFill/>
                </a:ln>
                <a:solidFill>
                  <a:srgbClr val="0B5296"/>
                </a:solidFill>
                <a:effectLst/>
                <a:uLnTx/>
                <a:uFillTx/>
                <a:latin typeface="Poppins" panose="00000500000000000000" pitchFamily="2" charset="0"/>
                <a:ea typeface="Fira Code"/>
                <a:cs typeface="Poppins" panose="00000500000000000000" pitchFamily="2" charset="0"/>
                <a:sym typeface="Fira Code"/>
              </a:rPr>
              <a:t>Activity 1</a:t>
            </a:r>
          </a:p>
        </p:txBody>
      </p:sp>
      <p:sp>
        <p:nvSpPr>
          <p:cNvPr id="3" name="Content Placeholder 2">
            <a:extLst>
              <a:ext uri="{FF2B5EF4-FFF2-40B4-BE49-F238E27FC236}">
                <a16:creationId xmlns:a16="http://schemas.microsoft.com/office/drawing/2014/main" id="{425AEB74-134D-1AF8-F00C-EB345EEFC9E9}"/>
              </a:ext>
            </a:extLst>
          </p:cNvPr>
          <p:cNvSpPr>
            <a:spLocks noGrp="1"/>
          </p:cNvSpPr>
          <p:nvPr>
            <p:ph idx="1"/>
          </p:nvPr>
        </p:nvSpPr>
        <p:spPr>
          <a:xfrm>
            <a:off x="842983" y="1690688"/>
            <a:ext cx="10713477" cy="4204274"/>
          </a:xfrm>
        </p:spPr>
        <p:txBody>
          <a:bodyPr>
            <a:normAutofit/>
          </a:bodyPr>
          <a:lstStyle/>
          <a:p>
            <a:pPr marL="0" indent="0">
              <a:lnSpc>
                <a:spcPct val="100000"/>
              </a:lnSpc>
              <a:buNone/>
            </a:pPr>
            <a:r>
              <a:rPr lang="en-US" sz="2600" dirty="0">
                <a:solidFill>
                  <a:srgbClr val="0B5296"/>
                </a:solidFill>
                <a:latin typeface="Poppins" panose="00000500000000000000" pitchFamily="2" charset="0"/>
                <a:cs typeface="Poppins" panose="00000500000000000000" pitchFamily="2" charset="0"/>
              </a:rPr>
              <a:t>#Exercise 1: Convert two lists into a dictionary</a:t>
            </a:r>
            <a:br>
              <a:rPr lang="en-US" sz="2600" dirty="0">
                <a:solidFill>
                  <a:srgbClr val="0B5296"/>
                </a:solidFill>
                <a:latin typeface="Poppins" panose="00000500000000000000" pitchFamily="2" charset="0"/>
                <a:cs typeface="Poppins" panose="00000500000000000000" pitchFamily="2" charset="0"/>
              </a:rPr>
            </a:br>
            <a:endParaRPr lang="en-US" sz="2600" dirty="0">
              <a:solidFill>
                <a:srgbClr val="0B5296"/>
              </a:solidFill>
              <a:latin typeface="Poppins" panose="00000500000000000000" pitchFamily="2" charset="0"/>
              <a:cs typeface="Poppins" panose="00000500000000000000" pitchFamily="2" charset="0"/>
            </a:endParaRPr>
          </a:p>
          <a:p>
            <a:pPr marL="0" indent="0">
              <a:lnSpc>
                <a:spcPct val="100000"/>
              </a:lnSpc>
              <a:buNone/>
            </a:pPr>
            <a:r>
              <a:rPr lang="en-US" sz="2600" dirty="0">
                <a:solidFill>
                  <a:schemeClr val="tx1">
                    <a:lumMod val="95000"/>
                    <a:lumOff val="5000"/>
                  </a:schemeClr>
                </a:solidFill>
                <a:latin typeface="Poppins" panose="00000500000000000000" pitchFamily="2" charset="0"/>
                <a:cs typeface="Poppins" panose="00000500000000000000" pitchFamily="2" charset="0"/>
              </a:rPr>
              <a:t>Below are the two lists. Write a Python program to convert them into a dictionary in a way that item from list1 is the key and item from list2 is the value</a:t>
            </a:r>
          </a:p>
          <a:p>
            <a:pPr marL="0" indent="0">
              <a:lnSpc>
                <a:spcPct val="100000"/>
              </a:lnSpc>
              <a:buNone/>
            </a:pPr>
            <a:endParaRPr lang="en-US" sz="2600" dirty="0">
              <a:solidFill>
                <a:srgbClr val="0B5296"/>
              </a:solidFill>
              <a:latin typeface="Poppins" panose="00000500000000000000" pitchFamily="2" charset="0"/>
              <a:cs typeface="Poppins" panose="00000500000000000000" pitchFamily="2" charset="0"/>
            </a:endParaRPr>
          </a:p>
          <a:p>
            <a:pPr marL="0" indent="0">
              <a:lnSpc>
                <a:spcPct val="100000"/>
              </a:lnSpc>
              <a:buNone/>
            </a:pPr>
            <a:r>
              <a:rPr lang="en-US" sz="2600" dirty="0">
                <a:solidFill>
                  <a:srgbClr val="0B5296"/>
                </a:solidFill>
                <a:latin typeface="Poppins" panose="00000500000000000000" pitchFamily="2" charset="0"/>
                <a:cs typeface="Poppins" panose="00000500000000000000" pitchFamily="2" charset="0"/>
              </a:rPr>
              <a:t>keys = ['Ten', 'Twenty', 'Thirty']</a:t>
            </a:r>
          </a:p>
          <a:p>
            <a:pPr marL="0" indent="0">
              <a:lnSpc>
                <a:spcPct val="100000"/>
              </a:lnSpc>
              <a:buNone/>
            </a:pPr>
            <a:r>
              <a:rPr lang="en-US" sz="2600" dirty="0">
                <a:solidFill>
                  <a:srgbClr val="0B5296"/>
                </a:solidFill>
                <a:latin typeface="Poppins" panose="00000500000000000000" pitchFamily="2" charset="0"/>
                <a:cs typeface="Poppins" panose="00000500000000000000" pitchFamily="2" charset="0"/>
              </a:rPr>
              <a:t>values = [10, 20, 30]</a:t>
            </a:r>
          </a:p>
          <a:p>
            <a:pPr marL="0" indent="0">
              <a:lnSpc>
                <a:spcPct val="100000"/>
              </a:lnSpc>
              <a:buNone/>
            </a:pPr>
            <a:endParaRPr lang="en-US" sz="2200" dirty="0">
              <a:latin typeface="Poppins" panose="00000500000000000000" pitchFamily="2" charset="0"/>
              <a:cs typeface="Poppins" panose="00000500000000000000" pitchFamily="2" charset="0"/>
            </a:endParaRPr>
          </a:p>
        </p:txBody>
      </p:sp>
      <p:pic>
        <p:nvPicPr>
          <p:cNvPr id="7" name="Picture 2">
            <a:extLst>
              <a:ext uri="{FF2B5EF4-FFF2-40B4-BE49-F238E27FC236}">
                <a16:creationId xmlns:a16="http://schemas.microsoft.com/office/drawing/2014/main" id="{ADAB9628-45ED-95B0-D11B-679BE689FDC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859488" y="6238114"/>
            <a:ext cx="1995055" cy="46759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8175337"/>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8C5244-7E79-06E5-9076-8C9E53D6C939}"/>
              </a:ext>
            </a:extLst>
          </p:cNvPr>
          <p:cNvSpPr>
            <a:spLocks noGrp="1"/>
          </p:cNvSpPr>
          <p:nvPr>
            <p:ph type="title"/>
          </p:nvPr>
        </p:nvSpPr>
        <p:spPr/>
        <p:txBody>
          <a:bodyPr>
            <a:normAutofit/>
          </a:bodyPr>
          <a:lstStyle/>
          <a:p>
            <a:r>
              <a:rPr kumimoji="0" lang="en-US" sz="4800" b="1" i="0" u="none" strike="noStrike" kern="0" cap="none" spc="0" normalizeH="0" baseline="0" noProof="0" dirty="0">
                <a:ln>
                  <a:noFill/>
                </a:ln>
                <a:solidFill>
                  <a:srgbClr val="0B5296"/>
                </a:solidFill>
                <a:effectLst/>
                <a:uLnTx/>
                <a:uFillTx/>
                <a:latin typeface="Poppins" panose="00000500000000000000" pitchFamily="2" charset="0"/>
                <a:ea typeface="Fira Code"/>
                <a:cs typeface="Poppins" panose="00000500000000000000" pitchFamily="2" charset="0"/>
                <a:sym typeface="Fira Code"/>
              </a:rPr>
              <a:t>Activity 2</a:t>
            </a:r>
          </a:p>
        </p:txBody>
      </p:sp>
      <p:sp>
        <p:nvSpPr>
          <p:cNvPr id="3" name="Content Placeholder 2">
            <a:extLst>
              <a:ext uri="{FF2B5EF4-FFF2-40B4-BE49-F238E27FC236}">
                <a16:creationId xmlns:a16="http://schemas.microsoft.com/office/drawing/2014/main" id="{425AEB74-134D-1AF8-F00C-EB345EEFC9E9}"/>
              </a:ext>
            </a:extLst>
          </p:cNvPr>
          <p:cNvSpPr>
            <a:spLocks noGrp="1"/>
          </p:cNvSpPr>
          <p:nvPr>
            <p:ph idx="1"/>
          </p:nvPr>
        </p:nvSpPr>
        <p:spPr>
          <a:xfrm>
            <a:off x="842983" y="1690688"/>
            <a:ext cx="10713477" cy="4204274"/>
          </a:xfrm>
        </p:spPr>
        <p:txBody>
          <a:bodyPr>
            <a:normAutofit/>
          </a:bodyPr>
          <a:lstStyle/>
          <a:p>
            <a:pPr marL="0" indent="0">
              <a:lnSpc>
                <a:spcPct val="100000"/>
              </a:lnSpc>
              <a:buNone/>
            </a:pPr>
            <a:r>
              <a:rPr lang="en-US" sz="2600" dirty="0">
                <a:solidFill>
                  <a:srgbClr val="0B5296"/>
                </a:solidFill>
                <a:latin typeface="Poppins" panose="00000500000000000000" pitchFamily="2" charset="0"/>
                <a:cs typeface="Poppins" panose="00000500000000000000" pitchFamily="2" charset="0"/>
              </a:rPr>
              <a:t>#Exercise 2: Merge two Python dictionaries into one</a:t>
            </a:r>
          </a:p>
          <a:p>
            <a:pPr marL="0" indent="0">
              <a:lnSpc>
                <a:spcPct val="100000"/>
              </a:lnSpc>
              <a:buNone/>
            </a:pPr>
            <a:r>
              <a:rPr lang="en-US" sz="2600" dirty="0">
                <a:solidFill>
                  <a:srgbClr val="0B5296"/>
                </a:solidFill>
                <a:latin typeface="Poppins" panose="00000500000000000000" pitchFamily="2" charset="0"/>
                <a:cs typeface="Poppins" panose="00000500000000000000" pitchFamily="2" charset="0"/>
              </a:rPr>
              <a:t>dict1 = {'Ten': 10, 'Twenty': 20, 'Thirty': 30}</a:t>
            </a:r>
          </a:p>
          <a:p>
            <a:pPr marL="0" indent="0">
              <a:lnSpc>
                <a:spcPct val="100000"/>
              </a:lnSpc>
              <a:buNone/>
            </a:pPr>
            <a:r>
              <a:rPr lang="en-US" sz="2600" dirty="0">
                <a:solidFill>
                  <a:srgbClr val="0B5296"/>
                </a:solidFill>
                <a:latin typeface="Poppins" panose="00000500000000000000" pitchFamily="2" charset="0"/>
                <a:cs typeface="Poppins" panose="00000500000000000000" pitchFamily="2" charset="0"/>
              </a:rPr>
              <a:t>dict2 = {'Thirty': 30, '</a:t>
            </a:r>
            <a:r>
              <a:rPr lang="en-US" sz="2600" dirty="0" err="1">
                <a:solidFill>
                  <a:srgbClr val="0B5296"/>
                </a:solidFill>
                <a:latin typeface="Poppins" panose="00000500000000000000" pitchFamily="2" charset="0"/>
                <a:cs typeface="Poppins" panose="00000500000000000000" pitchFamily="2" charset="0"/>
              </a:rPr>
              <a:t>Fourty</a:t>
            </a:r>
            <a:r>
              <a:rPr lang="en-US" sz="2600" dirty="0">
                <a:solidFill>
                  <a:srgbClr val="0B5296"/>
                </a:solidFill>
                <a:latin typeface="Poppins" panose="00000500000000000000" pitchFamily="2" charset="0"/>
                <a:cs typeface="Poppins" panose="00000500000000000000" pitchFamily="2" charset="0"/>
              </a:rPr>
              <a:t>': 40, 'Fifty': 50}</a:t>
            </a:r>
          </a:p>
          <a:p>
            <a:pPr marL="0" indent="0">
              <a:lnSpc>
                <a:spcPct val="100000"/>
              </a:lnSpc>
              <a:buNone/>
            </a:pPr>
            <a:endParaRPr lang="en-US" sz="2600" dirty="0">
              <a:solidFill>
                <a:srgbClr val="0B5296"/>
              </a:solidFill>
              <a:latin typeface="Poppins" panose="00000500000000000000" pitchFamily="2" charset="0"/>
              <a:cs typeface="Poppins" panose="00000500000000000000" pitchFamily="2" charset="0"/>
            </a:endParaRPr>
          </a:p>
          <a:p>
            <a:pPr marL="0" indent="0">
              <a:lnSpc>
                <a:spcPct val="100000"/>
              </a:lnSpc>
              <a:buNone/>
            </a:pPr>
            <a:r>
              <a:rPr lang="en-US" sz="2600" dirty="0">
                <a:solidFill>
                  <a:srgbClr val="0B5296"/>
                </a:solidFill>
                <a:latin typeface="Poppins" panose="00000500000000000000" pitchFamily="2" charset="0"/>
                <a:cs typeface="Poppins" panose="00000500000000000000" pitchFamily="2" charset="0"/>
              </a:rPr>
              <a:t>#Expected output</a:t>
            </a:r>
          </a:p>
          <a:p>
            <a:pPr marL="0" indent="0">
              <a:lnSpc>
                <a:spcPct val="100000"/>
              </a:lnSpc>
              <a:buNone/>
            </a:pPr>
            <a:r>
              <a:rPr lang="en-US" sz="2200" dirty="0">
                <a:latin typeface="Poppins" panose="00000500000000000000" pitchFamily="2" charset="0"/>
                <a:cs typeface="Poppins" panose="00000500000000000000" pitchFamily="2" charset="0"/>
              </a:rPr>
              <a:t>{'Ten': 10, 'Twenty': 20, 'Thirty': 30, '</a:t>
            </a:r>
            <a:r>
              <a:rPr lang="en-US" sz="2200" dirty="0" err="1">
                <a:latin typeface="Poppins" panose="00000500000000000000" pitchFamily="2" charset="0"/>
                <a:cs typeface="Poppins" panose="00000500000000000000" pitchFamily="2" charset="0"/>
              </a:rPr>
              <a:t>Fourty</a:t>
            </a:r>
            <a:r>
              <a:rPr lang="en-US" sz="2200" dirty="0">
                <a:latin typeface="Poppins" panose="00000500000000000000" pitchFamily="2" charset="0"/>
                <a:cs typeface="Poppins" panose="00000500000000000000" pitchFamily="2" charset="0"/>
              </a:rPr>
              <a:t>': 40, 'Fifty': 50}</a:t>
            </a:r>
          </a:p>
        </p:txBody>
      </p:sp>
      <p:pic>
        <p:nvPicPr>
          <p:cNvPr id="7" name="Picture 2">
            <a:extLst>
              <a:ext uri="{FF2B5EF4-FFF2-40B4-BE49-F238E27FC236}">
                <a16:creationId xmlns:a16="http://schemas.microsoft.com/office/drawing/2014/main" id="{ADAB9628-45ED-95B0-D11B-679BE689FDC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859488" y="6238114"/>
            <a:ext cx="1995055" cy="46759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00611350"/>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8C5244-7E79-06E5-9076-8C9E53D6C939}"/>
              </a:ext>
            </a:extLst>
          </p:cNvPr>
          <p:cNvSpPr>
            <a:spLocks noGrp="1"/>
          </p:cNvSpPr>
          <p:nvPr>
            <p:ph type="title"/>
          </p:nvPr>
        </p:nvSpPr>
        <p:spPr/>
        <p:txBody>
          <a:bodyPr>
            <a:normAutofit/>
          </a:bodyPr>
          <a:lstStyle/>
          <a:p>
            <a:r>
              <a:rPr kumimoji="0" lang="en-US" sz="4800" b="1" i="0" u="none" strike="noStrike" kern="0" cap="none" spc="0" normalizeH="0" baseline="0" noProof="0" dirty="0">
                <a:ln>
                  <a:noFill/>
                </a:ln>
                <a:solidFill>
                  <a:srgbClr val="0B5296"/>
                </a:solidFill>
                <a:effectLst/>
                <a:uLnTx/>
                <a:uFillTx/>
                <a:latin typeface="Poppins" panose="00000500000000000000" pitchFamily="2" charset="0"/>
                <a:ea typeface="Fira Code"/>
                <a:cs typeface="Poppins" panose="00000500000000000000" pitchFamily="2" charset="0"/>
                <a:sym typeface="Fira Code"/>
              </a:rPr>
              <a:t>Activity 3</a:t>
            </a:r>
          </a:p>
        </p:txBody>
      </p:sp>
      <p:sp>
        <p:nvSpPr>
          <p:cNvPr id="3" name="Content Placeholder 2">
            <a:extLst>
              <a:ext uri="{FF2B5EF4-FFF2-40B4-BE49-F238E27FC236}">
                <a16:creationId xmlns:a16="http://schemas.microsoft.com/office/drawing/2014/main" id="{425AEB74-134D-1AF8-F00C-EB345EEFC9E9}"/>
              </a:ext>
            </a:extLst>
          </p:cNvPr>
          <p:cNvSpPr>
            <a:spLocks noGrp="1"/>
          </p:cNvSpPr>
          <p:nvPr>
            <p:ph idx="1"/>
          </p:nvPr>
        </p:nvSpPr>
        <p:spPr>
          <a:xfrm>
            <a:off x="842983" y="1690688"/>
            <a:ext cx="10713477" cy="4204274"/>
          </a:xfrm>
        </p:spPr>
        <p:txBody>
          <a:bodyPr>
            <a:normAutofit fontScale="62500" lnSpcReduction="20000"/>
          </a:bodyPr>
          <a:lstStyle/>
          <a:p>
            <a:pPr marL="0" indent="0">
              <a:lnSpc>
                <a:spcPct val="100000"/>
              </a:lnSpc>
              <a:buNone/>
            </a:pPr>
            <a:r>
              <a:rPr lang="en-US" sz="2600" dirty="0">
                <a:solidFill>
                  <a:srgbClr val="0B5296"/>
                </a:solidFill>
                <a:latin typeface="Poppins" panose="00000500000000000000" pitchFamily="2" charset="0"/>
                <a:cs typeface="Poppins" panose="00000500000000000000" pitchFamily="2" charset="0"/>
              </a:rPr>
              <a:t>Exercise 2: Print the value of key ‘history’ from the below </a:t>
            </a:r>
            <a:r>
              <a:rPr lang="en-US" sz="2600" dirty="0" err="1">
                <a:solidFill>
                  <a:srgbClr val="0B5296"/>
                </a:solidFill>
                <a:latin typeface="Poppins" panose="00000500000000000000" pitchFamily="2" charset="0"/>
                <a:cs typeface="Poppins" panose="00000500000000000000" pitchFamily="2" charset="0"/>
              </a:rPr>
              <a:t>dict</a:t>
            </a:r>
            <a:br>
              <a:rPr lang="en-US" sz="2600" dirty="0">
                <a:solidFill>
                  <a:srgbClr val="0B5296"/>
                </a:solidFill>
                <a:latin typeface="Poppins" panose="00000500000000000000" pitchFamily="2" charset="0"/>
                <a:cs typeface="Poppins" panose="00000500000000000000" pitchFamily="2" charset="0"/>
              </a:rPr>
            </a:br>
            <a:endParaRPr lang="en-US" sz="2600" dirty="0">
              <a:solidFill>
                <a:srgbClr val="0B5296"/>
              </a:solidFill>
              <a:latin typeface="Poppins" panose="00000500000000000000" pitchFamily="2" charset="0"/>
              <a:cs typeface="Poppins" panose="00000500000000000000" pitchFamily="2" charset="0"/>
            </a:endParaRPr>
          </a:p>
          <a:p>
            <a:pPr marL="0" indent="0">
              <a:lnSpc>
                <a:spcPct val="100000"/>
              </a:lnSpc>
              <a:buNone/>
            </a:pPr>
            <a:r>
              <a:rPr lang="en-US" sz="2600" dirty="0" err="1">
                <a:solidFill>
                  <a:srgbClr val="0B5296"/>
                </a:solidFill>
                <a:latin typeface="Poppins" panose="00000500000000000000" pitchFamily="2" charset="0"/>
                <a:cs typeface="Poppins" panose="00000500000000000000" pitchFamily="2" charset="0"/>
              </a:rPr>
              <a:t>sampleDict</a:t>
            </a:r>
            <a:r>
              <a:rPr lang="en-US" sz="2600" dirty="0">
                <a:solidFill>
                  <a:srgbClr val="0B5296"/>
                </a:solidFill>
                <a:latin typeface="Poppins" panose="00000500000000000000" pitchFamily="2" charset="0"/>
                <a:cs typeface="Poppins" panose="00000500000000000000" pitchFamily="2" charset="0"/>
              </a:rPr>
              <a:t> = {</a:t>
            </a:r>
          </a:p>
          <a:p>
            <a:pPr marL="0" indent="0">
              <a:lnSpc>
                <a:spcPct val="100000"/>
              </a:lnSpc>
              <a:buNone/>
            </a:pPr>
            <a:r>
              <a:rPr lang="en-US" sz="2600" dirty="0">
                <a:solidFill>
                  <a:srgbClr val="0B5296"/>
                </a:solidFill>
                <a:latin typeface="Poppins" panose="00000500000000000000" pitchFamily="2" charset="0"/>
                <a:cs typeface="Poppins" panose="00000500000000000000" pitchFamily="2" charset="0"/>
              </a:rPr>
              <a:t>    "class": {</a:t>
            </a:r>
          </a:p>
          <a:p>
            <a:pPr marL="0" indent="0">
              <a:lnSpc>
                <a:spcPct val="100000"/>
              </a:lnSpc>
              <a:buNone/>
            </a:pPr>
            <a:r>
              <a:rPr lang="en-US" sz="2600" dirty="0">
                <a:solidFill>
                  <a:srgbClr val="0B5296"/>
                </a:solidFill>
                <a:latin typeface="Poppins" panose="00000500000000000000" pitchFamily="2" charset="0"/>
                <a:cs typeface="Poppins" panose="00000500000000000000" pitchFamily="2" charset="0"/>
              </a:rPr>
              <a:t>        "student": {</a:t>
            </a:r>
          </a:p>
          <a:p>
            <a:pPr marL="0" indent="0">
              <a:lnSpc>
                <a:spcPct val="100000"/>
              </a:lnSpc>
              <a:buNone/>
            </a:pPr>
            <a:r>
              <a:rPr lang="en-US" sz="2600" dirty="0">
                <a:solidFill>
                  <a:srgbClr val="0B5296"/>
                </a:solidFill>
                <a:latin typeface="Poppins" panose="00000500000000000000" pitchFamily="2" charset="0"/>
                <a:cs typeface="Poppins" panose="00000500000000000000" pitchFamily="2" charset="0"/>
              </a:rPr>
              <a:t>            "name": "Mike",</a:t>
            </a:r>
          </a:p>
          <a:p>
            <a:pPr marL="0" indent="0">
              <a:lnSpc>
                <a:spcPct val="100000"/>
              </a:lnSpc>
              <a:buNone/>
            </a:pPr>
            <a:r>
              <a:rPr lang="en-US" sz="2600" dirty="0">
                <a:solidFill>
                  <a:srgbClr val="0B5296"/>
                </a:solidFill>
                <a:latin typeface="Poppins" panose="00000500000000000000" pitchFamily="2" charset="0"/>
                <a:cs typeface="Poppins" panose="00000500000000000000" pitchFamily="2" charset="0"/>
              </a:rPr>
              <a:t>            "marks": {</a:t>
            </a:r>
          </a:p>
          <a:p>
            <a:pPr marL="0" indent="0">
              <a:lnSpc>
                <a:spcPct val="100000"/>
              </a:lnSpc>
              <a:buNone/>
            </a:pPr>
            <a:r>
              <a:rPr lang="en-US" sz="2600" dirty="0">
                <a:solidFill>
                  <a:srgbClr val="0B5296"/>
                </a:solidFill>
                <a:latin typeface="Poppins" panose="00000500000000000000" pitchFamily="2" charset="0"/>
                <a:cs typeface="Poppins" panose="00000500000000000000" pitchFamily="2" charset="0"/>
              </a:rPr>
              <a:t>                "physics": 70,</a:t>
            </a:r>
          </a:p>
          <a:p>
            <a:pPr marL="0" indent="0">
              <a:lnSpc>
                <a:spcPct val="100000"/>
              </a:lnSpc>
              <a:buNone/>
            </a:pPr>
            <a:r>
              <a:rPr lang="en-US" sz="2600" dirty="0">
                <a:solidFill>
                  <a:srgbClr val="0B5296"/>
                </a:solidFill>
                <a:latin typeface="Poppins" panose="00000500000000000000" pitchFamily="2" charset="0"/>
                <a:cs typeface="Poppins" panose="00000500000000000000" pitchFamily="2" charset="0"/>
              </a:rPr>
              <a:t>                "history": 80</a:t>
            </a:r>
          </a:p>
          <a:p>
            <a:pPr marL="0" indent="0">
              <a:lnSpc>
                <a:spcPct val="100000"/>
              </a:lnSpc>
              <a:buNone/>
            </a:pPr>
            <a:r>
              <a:rPr lang="en-US" sz="2600" dirty="0">
                <a:solidFill>
                  <a:srgbClr val="0B5296"/>
                </a:solidFill>
                <a:latin typeface="Poppins" panose="00000500000000000000" pitchFamily="2" charset="0"/>
                <a:cs typeface="Poppins" panose="00000500000000000000" pitchFamily="2" charset="0"/>
              </a:rPr>
              <a:t>            }</a:t>
            </a:r>
          </a:p>
          <a:p>
            <a:pPr marL="0" indent="0">
              <a:lnSpc>
                <a:spcPct val="100000"/>
              </a:lnSpc>
              <a:buNone/>
            </a:pPr>
            <a:r>
              <a:rPr lang="en-US" sz="2600" dirty="0">
                <a:solidFill>
                  <a:srgbClr val="0B5296"/>
                </a:solidFill>
                <a:latin typeface="Poppins" panose="00000500000000000000" pitchFamily="2" charset="0"/>
                <a:cs typeface="Poppins" panose="00000500000000000000" pitchFamily="2" charset="0"/>
              </a:rPr>
              <a:t>        }</a:t>
            </a:r>
          </a:p>
          <a:p>
            <a:pPr marL="0" indent="0">
              <a:lnSpc>
                <a:spcPct val="100000"/>
              </a:lnSpc>
              <a:buNone/>
            </a:pPr>
            <a:r>
              <a:rPr lang="en-US" sz="2600" dirty="0">
                <a:solidFill>
                  <a:srgbClr val="0B5296"/>
                </a:solidFill>
                <a:latin typeface="Poppins" panose="00000500000000000000" pitchFamily="2" charset="0"/>
                <a:cs typeface="Poppins" panose="00000500000000000000" pitchFamily="2" charset="0"/>
              </a:rPr>
              <a:t>    }</a:t>
            </a:r>
          </a:p>
          <a:p>
            <a:pPr marL="0" indent="0">
              <a:lnSpc>
                <a:spcPct val="100000"/>
              </a:lnSpc>
              <a:buNone/>
            </a:pPr>
            <a:r>
              <a:rPr lang="en-US" sz="2600" dirty="0">
                <a:solidFill>
                  <a:srgbClr val="0B5296"/>
                </a:solidFill>
                <a:latin typeface="Poppins" panose="00000500000000000000" pitchFamily="2" charset="0"/>
                <a:cs typeface="Poppins" panose="00000500000000000000" pitchFamily="2" charset="0"/>
              </a:rPr>
              <a:t>}</a:t>
            </a:r>
            <a:endParaRPr lang="en-US" sz="2200" dirty="0">
              <a:latin typeface="Poppins" panose="00000500000000000000" pitchFamily="2" charset="0"/>
              <a:cs typeface="Poppins" panose="00000500000000000000" pitchFamily="2" charset="0"/>
            </a:endParaRPr>
          </a:p>
        </p:txBody>
      </p:sp>
      <p:pic>
        <p:nvPicPr>
          <p:cNvPr id="7" name="Picture 2">
            <a:extLst>
              <a:ext uri="{FF2B5EF4-FFF2-40B4-BE49-F238E27FC236}">
                <a16:creationId xmlns:a16="http://schemas.microsoft.com/office/drawing/2014/main" id="{ADAB9628-45ED-95B0-D11B-679BE689FDC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859488" y="6238114"/>
            <a:ext cx="1995055" cy="46759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4353195"/>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3292</TotalTime>
  <Words>1362</Words>
  <Application>Microsoft Office PowerPoint</Application>
  <PresentationFormat>Widescreen</PresentationFormat>
  <Paragraphs>85</Paragraphs>
  <Slides>25</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25</vt:i4>
      </vt:variant>
    </vt:vector>
  </HeadingPairs>
  <TitlesOfParts>
    <vt:vector size="32" baseType="lpstr">
      <vt:lpstr>Arial</vt:lpstr>
      <vt:lpstr>Calibri</vt:lpstr>
      <vt:lpstr>Calibri Light</vt:lpstr>
      <vt:lpstr>inter-regular</vt:lpstr>
      <vt:lpstr>Poppins</vt:lpstr>
      <vt:lpstr>Wingdings</vt:lpstr>
      <vt:lpstr>Office Theme</vt:lpstr>
      <vt:lpstr>INTRO TO  PYTHON Section Four</vt:lpstr>
      <vt:lpstr>Python Set</vt:lpstr>
      <vt:lpstr>Syntax of Set</vt:lpstr>
      <vt:lpstr>Adding items to the set</vt:lpstr>
      <vt:lpstr>Removing items from the set</vt:lpstr>
      <vt:lpstr>Activity</vt:lpstr>
      <vt:lpstr>Python Set Operations</vt:lpstr>
      <vt:lpstr>Union of two Sets</vt:lpstr>
      <vt:lpstr>The intersection of two sets</vt:lpstr>
      <vt:lpstr>The intersection_update() method</vt:lpstr>
      <vt:lpstr>Difference between the two sets</vt:lpstr>
      <vt:lpstr>Activity</vt:lpstr>
      <vt:lpstr>PYTHON               DICTIONARY</vt:lpstr>
      <vt:lpstr>Python Dictionary</vt:lpstr>
      <vt:lpstr>Creating the Dictionary</vt:lpstr>
      <vt:lpstr>Example</vt:lpstr>
      <vt:lpstr>Accessing the dictionary values</vt:lpstr>
      <vt:lpstr>Adding Dictionary Values</vt:lpstr>
      <vt:lpstr>Deleting Elements </vt:lpstr>
      <vt:lpstr>Iterating Dictionary</vt:lpstr>
      <vt:lpstr>Properties of Dictionary Keys</vt:lpstr>
      <vt:lpstr>Properties of Dictionary cont.</vt:lpstr>
      <vt:lpstr>Activity 1</vt:lpstr>
      <vt:lpstr>Activity 2</vt:lpstr>
      <vt:lpstr>Activity 3</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Python</dc:title>
  <dc:creator/>
  <cp:lastModifiedBy>Abdiyu Urgesa</cp:lastModifiedBy>
  <cp:revision>101</cp:revision>
  <dcterms:created xsi:type="dcterms:W3CDTF">2017-11-16T19:31:50Z</dcterms:created>
  <dcterms:modified xsi:type="dcterms:W3CDTF">2024-02-01T00:44:04Z</dcterms:modified>
</cp:coreProperties>
</file>