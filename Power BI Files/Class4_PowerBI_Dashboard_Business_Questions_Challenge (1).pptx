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>
                <a:alpha val="0"/>
              </a:srgbClr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6294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FFFFF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6294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FFFFF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C"/>
          </a:solidFill>
          <a:ln w="12700">
            <a:solidFill>
              <a:srgbClr val="F7FAFC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4572000" cy="685800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658368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A7A5"/>
                </a:solidFill>
              </a:rPr>
              <a:t>Power BI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58368" y="1051560"/>
            <a:ext cx="36118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Dashboard</a:t>
            </a:r>
            <a:endParaRPr lang="en-US" sz="3400" dirty="0"/>
          </a:p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Build Challenge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676656" y="2542032"/>
            <a:ext cx="3566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DEBFF"/>
                </a:solidFill>
              </a:rPr>
              <a:t>Retail Sales Performance | USA Case Study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76656" y="3246120"/>
            <a:ext cx="2468880" cy="0"/>
          </a:xfrm>
          <a:prstGeom prst="line">
            <a:avLst/>
          </a:prstGeom>
          <a:noFill/>
          <a:ln w="38100">
            <a:solidFill>
              <a:srgbClr val="00A7A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76656" y="3657600"/>
            <a:ext cx="3474720" cy="9601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Your task: create dashboard pages that answer the business questions.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</a:rPr>
              <a:t>No chart names are given — choose the best visual yourself.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349240" y="960120"/>
            <a:ext cx="6035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does management need to know?</a:t>
            </a:r>
            <a:endParaRPr lang="en-US" sz="3200" dirty="0"/>
          </a:p>
        </p:txBody>
      </p:sp>
      <p:sp>
        <p:nvSpPr>
          <p:cNvPr id="10" name="Shape 8"/>
          <p:cNvSpPr/>
          <p:nvPr/>
        </p:nvSpPr>
        <p:spPr>
          <a:xfrm>
            <a:off x="5440680" y="1892808"/>
            <a:ext cx="347472" cy="347472"/>
          </a:xfrm>
          <a:prstGeom prst="roundRect">
            <a:avLst>
              <a:gd name="adj" fmla="val 21053"/>
            </a:avLst>
          </a:prstGeom>
          <a:solidFill>
            <a:srgbClr val="2167AE"/>
          </a:solidFill>
          <a:ln w="12700">
            <a:solidFill>
              <a:srgbClr val="2167AE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40680" y="1956816"/>
            <a:ext cx="3474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943600" y="1874520"/>
            <a:ext cx="534924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How is the business performing overall?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5440680" y="2551176"/>
            <a:ext cx="347472" cy="347472"/>
          </a:xfrm>
          <a:prstGeom prst="roundRect">
            <a:avLst>
              <a:gd name="adj" fmla="val 21053"/>
            </a:avLst>
          </a:prstGeom>
          <a:solidFill>
            <a:srgbClr val="00A7A5"/>
          </a:solidFill>
          <a:ln w="12700">
            <a:solidFill>
              <a:srgbClr val="00A7A5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40680" y="2615184"/>
            <a:ext cx="3474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943600" y="2532888"/>
            <a:ext cx="534924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Which products and categories are driving results?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5440680" y="3209544"/>
            <a:ext cx="347472" cy="347472"/>
          </a:xfrm>
          <a:prstGeom prst="roundRect">
            <a:avLst>
              <a:gd name="adj" fmla="val 21053"/>
            </a:avLst>
          </a:prstGeom>
          <a:solidFill>
            <a:srgbClr val="2167AE"/>
          </a:solidFill>
          <a:ln w="12700">
            <a:solidFill>
              <a:srgbClr val="2167AE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40680" y="3273552"/>
            <a:ext cx="3474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943600" y="3191256"/>
            <a:ext cx="534924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Which regions, cities, and salespeople need attention?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5440680" y="3867912"/>
            <a:ext cx="347472" cy="347472"/>
          </a:xfrm>
          <a:prstGeom prst="roundRect">
            <a:avLst>
              <a:gd name="adj" fmla="val 21053"/>
            </a:avLst>
          </a:prstGeom>
          <a:solidFill>
            <a:srgbClr val="00A7A5"/>
          </a:solidFill>
          <a:ln w="12700">
            <a:solidFill>
              <a:srgbClr val="00A7A5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40680" y="3931920"/>
            <a:ext cx="3474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943600" y="3849624"/>
            <a:ext cx="534924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clear insights can we present to management?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5440680" y="5577840"/>
            <a:ext cx="5303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A7A5"/>
                </a:solidFill>
              </a:rPr>
              <a:t>Build first. Then compare with the instructor dashboard.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6294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FFFFF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411480"/>
            <a:ext cx="5303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A7A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PAGE 1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58368" y="704088"/>
            <a:ext cx="7955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Executive Overview Questions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76656" y="1225296"/>
            <a:ext cx="8778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Create one summary page for senior management.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58368" y="1682496"/>
            <a:ext cx="10881360" cy="0"/>
          </a:xfrm>
          <a:prstGeom prst="line">
            <a:avLst/>
          </a:prstGeom>
          <a:noFill/>
          <a:ln w="16510">
            <a:solidFill>
              <a:srgbClr val="D8E2E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915400" y="530352"/>
            <a:ext cx="2514600" cy="438912"/>
          </a:xfrm>
          <a:prstGeom prst="roundRect">
            <a:avLst>
              <a:gd name="adj" fmla="val 25000"/>
            </a:avLst>
          </a:prstGeom>
          <a:solidFill>
            <a:srgbClr val="E6FFFA"/>
          </a:solidFill>
          <a:ln w="12700">
            <a:solidFill>
              <a:srgbClr val="B6EAD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079992" y="658368"/>
            <a:ext cx="21854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671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Page goal: 30-second overview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1005840" y="1984248"/>
            <a:ext cx="347472" cy="347472"/>
          </a:xfrm>
          <a:prstGeom prst="roundRect">
            <a:avLst>
              <a:gd name="adj" fmla="val 21053"/>
            </a:avLst>
          </a:prstGeom>
          <a:solidFill>
            <a:srgbClr val="2167AE"/>
          </a:solidFill>
          <a:ln w="12700">
            <a:solidFill>
              <a:srgbClr val="2167AE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05840" y="2048256"/>
            <a:ext cx="3474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508760" y="1965960"/>
            <a:ext cx="937260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90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is the total sales amount?</a:t>
            </a:r>
            <a:endParaRPr lang="en-US" sz="1900" dirty="0"/>
          </a:p>
        </p:txBody>
      </p:sp>
      <p:sp>
        <p:nvSpPr>
          <p:cNvPr id="11" name="Shape 9"/>
          <p:cNvSpPr/>
          <p:nvPr/>
        </p:nvSpPr>
        <p:spPr>
          <a:xfrm>
            <a:off x="1005840" y="2505456"/>
            <a:ext cx="347472" cy="347472"/>
          </a:xfrm>
          <a:prstGeom prst="roundRect">
            <a:avLst>
              <a:gd name="adj" fmla="val 21053"/>
            </a:avLst>
          </a:prstGeom>
          <a:solidFill>
            <a:srgbClr val="00A7A5"/>
          </a:solidFill>
          <a:ln w="12700">
            <a:solidFill>
              <a:srgbClr val="00A7A5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05840" y="2569464"/>
            <a:ext cx="3474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508760" y="2487168"/>
            <a:ext cx="937260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90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is the total profit?</a:t>
            </a:r>
            <a:endParaRPr lang="en-US" sz="1900" dirty="0"/>
          </a:p>
        </p:txBody>
      </p:sp>
      <p:sp>
        <p:nvSpPr>
          <p:cNvPr id="14" name="Shape 12"/>
          <p:cNvSpPr/>
          <p:nvPr/>
        </p:nvSpPr>
        <p:spPr>
          <a:xfrm>
            <a:off x="1005840" y="3026664"/>
            <a:ext cx="347472" cy="347472"/>
          </a:xfrm>
          <a:prstGeom prst="roundRect">
            <a:avLst>
              <a:gd name="adj" fmla="val 21053"/>
            </a:avLst>
          </a:prstGeom>
          <a:solidFill>
            <a:srgbClr val="2167AE"/>
          </a:solidFill>
          <a:ln w="12700">
            <a:solidFill>
              <a:srgbClr val="2167AE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05840" y="3090672"/>
            <a:ext cx="3474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508760" y="3008376"/>
            <a:ext cx="937260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90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How many orders were processed?</a:t>
            </a:r>
            <a:endParaRPr lang="en-US" sz="1900" dirty="0"/>
          </a:p>
        </p:txBody>
      </p:sp>
      <p:sp>
        <p:nvSpPr>
          <p:cNvPr id="17" name="Shape 15"/>
          <p:cNvSpPr/>
          <p:nvPr/>
        </p:nvSpPr>
        <p:spPr>
          <a:xfrm>
            <a:off x="1005840" y="3547872"/>
            <a:ext cx="347472" cy="347472"/>
          </a:xfrm>
          <a:prstGeom prst="roundRect">
            <a:avLst>
              <a:gd name="adj" fmla="val 21053"/>
            </a:avLst>
          </a:prstGeom>
          <a:solidFill>
            <a:srgbClr val="00A7A5"/>
          </a:solidFill>
          <a:ln w="12700">
            <a:solidFill>
              <a:srgbClr val="00A7A5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05840" y="3611880"/>
            <a:ext cx="3474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508760" y="3529584"/>
            <a:ext cx="937260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90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How many units were sold?</a:t>
            </a:r>
            <a:endParaRPr lang="en-US" sz="1900" dirty="0"/>
          </a:p>
        </p:txBody>
      </p:sp>
      <p:sp>
        <p:nvSpPr>
          <p:cNvPr id="20" name="Shape 18"/>
          <p:cNvSpPr/>
          <p:nvPr/>
        </p:nvSpPr>
        <p:spPr>
          <a:xfrm>
            <a:off x="1005840" y="4069080"/>
            <a:ext cx="347472" cy="347472"/>
          </a:xfrm>
          <a:prstGeom prst="roundRect">
            <a:avLst>
              <a:gd name="adj" fmla="val 21053"/>
            </a:avLst>
          </a:prstGeom>
          <a:solidFill>
            <a:srgbClr val="2167AE"/>
          </a:solidFill>
          <a:ln w="12700">
            <a:solidFill>
              <a:srgbClr val="2167AE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05840" y="4133088"/>
            <a:ext cx="3474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508760" y="4050792"/>
            <a:ext cx="937260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90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How are sales changing month by month?</a:t>
            </a:r>
            <a:endParaRPr lang="en-US" sz="1900" dirty="0"/>
          </a:p>
        </p:txBody>
      </p:sp>
      <p:sp>
        <p:nvSpPr>
          <p:cNvPr id="23" name="Shape 21"/>
          <p:cNvSpPr/>
          <p:nvPr/>
        </p:nvSpPr>
        <p:spPr>
          <a:xfrm>
            <a:off x="1005840" y="4590288"/>
            <a:ext cx="347472" cy="347472"/>
          </a:xfrm>
          <a:prstGeom prst="roundRect">
            <a:avLst>
              <a:gd name="adj" fmla="val 21053"/>
            </a:avLst>
          </a:prstGeom>
          <a:solidFill>
            <a:srgbClr val="00A7A5"/>
          </a:solidFill>
          <a:ln w="12700">
            <a:solidFill>
              <a:srgbClr val="00A7A5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005840" y="4654296"/>
            <a:ext cx="3474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1508760" y="4572000"/>
            <a:ext cx="937260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90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Which region contributes the most sales?</a:t>
            </a:r>
            <a:endParaRPr lang="en-US" sz="1900" dirty="0"/>
          </a:p>
        </p:txBody>
      </p:sp>
      <p:sp>
        <p:nvSpPr>
          <p:cNvPr id="26" name="Shape 24"/>
          <p:cNvSpPr/>
          <p:nvPr/>
        </p:nvSpPr>
        <p:spPr>
          <a:xfrm>
            <a:off x="1005840" y="5111496"/>
            <a:ext cx="347472" cy="347472"/>
          </a:xfrm>
          <a:prstGeom prst="roundRect">
            <a:avLst>
              <a:gd name="adj" fmla="val 21053"/>
            </a:avLst>
          </a:prstGeom>
          <a:solidFill>
            <a:srgbClr val="2167AE"/>
          </a:solidFill>
          <a:ln w="12700">
            <a:solidFill>
              <a:srgbClr val="2167AE">
                <a:alpha val="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005840" y="5175504"/>
            <a:ext cx="3474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1508760" y="5093208"/>
            <a:ext cx="937260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90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Which product category contributes the most sales?</a:t>
            </a:r>
            <a:endParaRPr lang="en-US" sz="1900" dirty="0"/>
          </a:p>
        </p:txBody>
      </p:sp>
      <p:sp>
        <p:nvSpPr>
          <p:cNvPr id="29" name="Text 27"/>
          <p:cNvSpPr/>
          <p:nvPr/>
        </p:nvSpPr>
        <p:spPr>
          <a:xfrm>
            <a:off x="1005840" y="5806440"/>
            <a:ext cx="9601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167AE"/>
                </a:solidFill>
              </a:rPr>
              <a:t>Student instruction: choose the visuals that answer these questions most clearly.</a:t>
            </a:r>
            <a:endParaRPr lang="en-US" sz="1450" dirty="0"/>
          </a:p>
        </p:txBody>
      </p:sp>
      <p:sp>
        <p:nvSpPr>
          <p:cNvPr id="30" name="Text 28"/>
          <p:cNvSpPr/>
          <p:nvPr/>
        </p:nvSpPr>
        <p:spPr>
          <a:xfrm>
            <a:off x="658368" y="6373368"/>
            <a:ext cx="6858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Power BI Dashboard Challenge | Retail Sales Case Study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6294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FFFFF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411480"/>
            <a:ext cx="5303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A7A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PAGE 2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58368" y="704088"/>
            <a:ext cx="7955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Product &amp; Category Questions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76656" y="1225296"/>
            <a:ext cx="8778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Create a product-focused analysis page.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58368" y="1682496"/>
            <a:ext cx="10881360" cy="0"/>
          </a:xfrm>
          <a:prstGeom prst="line">
            <a:avLst/>
          </a:prstGeom>
          <a:noFill/>
          <a:ln w="16510">
            <a:solidFill>
              <a:srgbClr val="D8E2E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915400" y="530352"/>
            <a:ext cx="2514600" cy="438912"/>
          </a:xfrm>
          <a:prstGeom prst="roundRect">
            <a:avLst>
              <a:gd name="adj" fmla="val 25000"/>
            </a:avLst>
          </a:prstGeom>
          <a:solidFill>
            <a:srgbClr val="E6FFFA"/>
          </a:solidFill>
          <a:ln w="12700">
            <a:solidFill>
              <a:srgbClr val="B6EAD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079992" y="658368"/>
            <a:ext cx="21854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671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Page goal: identify winners and weak spots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1005840" y="1984248"/>
            <a:ext cx="347472" cy="347472"/>
          </a:xfrm>
          <a:prstGeom prst="roundRect">
            <a:avLst>
              <a:gd name="adj" fmla="val 21053"/>
            </a:avLst>
          </a:prstGeom>
          <a:solidFill>
            <a:srgbClr val="2167AE"/>
          </a:solidFill>
          <a:ln w="12700">
            <a:solidFill>
              <a:srgbClr val="2167AE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05840" y="2048256"/>
            <a:ext cx="3474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508760" y="1965960"/>
            <a:ext cx="928116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84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Which product categories generate the highest sales?</a:t>
            </a:r>
            <a:endParaRPr lang="en-US" sz="1840" dirty="0"/>
          </a:p>
        </p:txBody>
      </p:sp>
      <p:sp>
        <p:nvSpPr>
          <p:cNvPr id="11" name="Shape 9"/>
          <p:cNvSpPr/>
          <p:nvPr/>
        </p:nvSpPr>
        <p:spPr>
          <a:xfrm>
            <a:off x="1005840" y="2505456"/>
            <a:ext cx="347472" cy="347472"/>
          </a:xfrm>
          <a:prstGeom prst="roundRect">
            <a:avLst>
              <a:gd name="adj" fmla="val 21053"/>
            </a:avLst>
          </a:prstGeom>
          <a:solidFill>
            <a:srgbClr val="00A7A5"/>
          </a:solidFill>
          <a:ln w="12700">
            <a:solidFill>
              <a:srgbClr val="00A7A5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05840" y="2569464"/>
            <a:ext cx="3474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508760" y="2487168"/>
            <a:ext cx="928116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84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Which product categories generate the highest profit?</a:t>
            </a:r>
            <a:endParaRPr lang="en-US" sz="1840" dirty="0"/>
          </a:p>
        </p:txBody>
      </p:sp>
      <p:sp>
        <p:nvSpPr>
          <p:cNvPr id="14" name="Shape 12"/>
          <p:cNvSpPr/>
          <p:nvPr/>
        </p:nvSpPr>
        <p:spPr>
          <a:xfrm>
            <a:off x="1005840" y="3026664"/>
            <a:ext cx="347472" cy="347472"/>
          </a:xfrm>
          <a:prstGeom prst="roundRect">
            <a:avLst>
              <a:gd name="adj" fmla="val 21053"/>
            </a:avLst>
          </a:prstGeom>
          <a:solidFill>
            <a:srgbClr val="2167AE"/>
          </a:solidFill>
          <a:ln w="12700">
            <a:solidFill>
              <a:srgbClr val="2167AE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05840" y="3090672"/>
            <a:ext cx="3474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508760" y="3008376"/>
            <a:ext cx="928116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84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Which products are the top performers by sales?</a:t>
            </a:r>
            <a:endParaRPr lang="en-US" sz="1840" dirty="0"/>
          </a:p>
        </p:txBody>
      </p:sp>
      <p:sp>
        <p:nvSpPr>
          <p:cNvPr id="17" name="Shape 15"/>
          <p:cNvSpPr/>
          <p:nvPr/>
        </p:nvSpPr>
        <p:spPr>
          <a:xfrm>
            <a:off x="1005840" y="3547872"/>
            <a:ext cx="347472" cy="347472"/>
          </a:xfrm>
          <a:prstGeom prst="roundRect">
            <a:avLst>
              <a:gd name="adj" fmla="val 21053"/>
            </a:avLst>
          </a:prstGeom>
          <a:solidFill>
            <a:srgbClr val="00A7A5"/>
          </a:solidFill>
          <a:ln w="12700">
            <a:solidFill>
              <a:srgbClr val="00A7A5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05840" y="3611880"/>
            <a:ext cx="3474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508760" y="3529584"/>
            <a:ext cx="928116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84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Which products are the top performers by profit?</a:t>
            </a:r>
            <a:endParaRPr lang="en-US" sz="1840" dirty="0"/>
          </a:p>
        </p:txBody>
      </p:sp>
      <p:sp>
        <p:nvSpPr>
          <p:cNvPr id="20" name="Shape 18"/>
          <p:cNvSpPr/>
          <p:nvPr/>
        </p:nvSpPr>
        <p:spPr>
          <a:xfrm>
            <a:off x="1005840" y="4069080"/>
            <a:ext cx="347472" cy="347472"/>
          </a:xfrm>
          <a:prstGeom prst="roundRect">
            <a:avLst>
              <a:gd name="adj" fmla="val 21053"/>
            </a:avLst>
          </a:prstGeom>
          <a:solidFill>
            <a:srgbClr val="2167AE"/>
          </a:solidFill>
          <a:ln w="12700">
            <a:solidFill>
              <a:srgbClr val="2167AE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05840" y="4133088"/>
            <a:ext cx="3474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508760" y="4050792"/>
            <a:ext cx="928116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84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Are high-sales products also high-profit products?</a:t>
            </a:r>
            <a:endParaRPr lang="en-US" sz="1840" dirty="0"/>
          </a:p>
        </p:txBody>
      </p:sp>
      <p:sp>
        <p:nvSpPr>
          <p:cNvPr id="23" name="Shape 21"/>
          <p:cNvSpPr/>
          <p:nvPr/>
        </p:nvSpPr>
        <p:spPr>
          <a:xfrm>
            <a:off x="1005840" y="4590288"/>
            <a:ext cx="347472" cy="347472"/>
          </a:xfrm>
          <a:prstGeom prst="roundRect">
            <a:avLst>
              <a:gd name="adj" fmla="val 21053"/>
            </a:avLst>
          </a:prstGeom>
          <a:solidFill>
            <a:srgbClr val="00A7A5"/>
          </a:solidFill>
          <a:ln w="12700">
            <a:solidFill>
              <a:srgbClr val="00A7A5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005840" y="4654296"/>
            <a:ext cx="3474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1508760" y="4572000"/>
            <a:ext cx="928116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84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Which products sell more units but generate lower revenue?</a:t>
            </a:r>
            <a:endParaRPr lang="en-US" sz="1840" dirty="0"/>
          </a:p>
        </p:txBody>
      </p:sp>
      <p:sp>
        <p:nvSpPr>
          <p:cNvPr id="26" name="Shape 24"/>
          <p:cNvSpPr/>
          <p:nvPr/>
        </p:nvSpPr>
        <p:spPr>
          <a:xfrm>
            <a:off x="1005840" y="5111496"/>
            <a:ext cx="347472" cy="347472"/>
          </a:xfrm>
          <a:prstGeom prst="roundRect">
            <a:avLst>
              <a:gd name="adj" fmla="val 21053"/>
            </a:avLst>
          </a:prstGeom>
          <a:solidFill>
            <a:srgbClr val="2167AE"/>
          </a:solidFill>
          <a:ln w="12700">
            <a:solidFill>
              <a:srgbClr val="2167AE">
                <a:alpha val="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005840" y="5175504"/>
            <a:ext cx="3474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1508760" y="5093208"/>
            <a:ext cx="928116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84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Which product or category should management investigate further?</a:t>
            </a:r>
            <a:endParaRPr lang="en-US" sz="1840" dirty="0"/>
          </a:p>
        </p:txBody>
      </p:sp>
      <p:sp>
        <p:nvSpPr>
          <p:cNvPr id="29" name="Text 27"/>
          <p:cNvSpPr/>
          <p:nvPr/>
        </p:nvSpPr>
        <p:spPr>
          <a:xfrm>
            <a:off x="658368" y="6373368"/>
            <a:ext cx="6858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Power BI Dashboard Challenge | Retail Sales Case Study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6294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FFFFF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411480"/>
            <a:ext cx="5303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A7A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PAGE 3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58368" y="704088"/>
            <a:ext cx="7955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Region &amp; City Questions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76656" y="1225296"/>
            <a:ext cx="8778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Create a geography-focused sales performance page.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58368" y="1682496"/>
            <a:ext cx="10881360" cy="0"/>
          </a:xfrm>
          <a:prstGeom prst="line">
            <a:avLst/>
          </a:prstGeom>
          <a:noFill/>
          <a:ln w="16510">
            <a:solidFill>
              <a:srgbClr val="D8E2E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915400" y="530352"/>
            <a:ext cx="2514600" cy="438912"/>
          </a:xfrm>
          <a:prstGeom prst="roundRect">
            <a:avLst>
              <a:gd name="adj" fmla="val 25000"/>
            </a:avLst>
          </a:prstGeom>
          <a:solidFill>
            <a:srgbClr val="E6FFFA"/>
          </a:solidFill>
          <a:ln w="12700">
            <a:solidFill>
              <a:srgbClr val="B6EAD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079992" y="658368"/>
            <a:ext cx="21854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671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Page goal: compare locations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1005840" y="1984248"/>
            <a:ext cx="347472" cy="347472"/>
          </a:xfrm>
          <a:prstGeom prst="roundRect">
            <a:avLst>
              <a:gd name="adj" fmla="val 21053"/>
            </a:avLst>
          </a:prstGeom>
          <a:solidFill>
            <a:srgbClr val="2167AE"/>
          </a:solidFill>
          <a:ln w="12700">
            <a:solidFill>
              <a:srgbClr val="2167AE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05840" y="2048256"/>
            <a:ext cx="3474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508760" y="1965960"/>
            <a:ext cx="928116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86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Which region has the highest sales?</a:t>
            </a:r>
            <a:endParaRPr lang="en-US" sz="1860" dirty="0"/>
          </a:p>
        </p:txBody>
      </p:sp>
      <p:sp>
        <p:nvSpPr>
          <p:cNvPr id="11" name="Shape 9"/>
          <p:cNvSpPr/>
          <p:nvPr/>
        </p:nvSpPr>
        <p:spPr>
          <a:xfrm>
            <a:off x="1005840" y="2505456"/>
            <a:ext cx="347472" cy="347472"/>
          </a:xfrm>
          <a:prstGeom prst="roundRect">
            <a:avLst>
              <a:gd name="adj" fmla="val 21053"/>
            </a:avLst>
          </a:prstGeom>
          <a:solidFill>
            <a:srgbClr val="00A7A5"/>
          </a:solidFill>
          <a:ln w="12700">
            <a:solidFill>
              <a:srgbClr val="00A7A5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05840" y="2569464"/>
            <a:ext cx="3474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508760" y="2487168"/>
            <a:ext cx="928116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86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Which region has the highest profit?</a:t>
            </a:r>
            <a:endParaRPr lang="en-US" sz="1860" dirty="0"/>
          </a:p>
        </p:txBody>
      </p:sp>
      <p:sp>
        <p:nvSpPr>
          <p:cNvPr id="14" name="Shape 12"/>
          <p:cNvSpPr/>
          <p:nvPr/>
        </p:nvSpPr>
        <p:spPr>
          <a:xfrm>
            <a:off x="1005840" y="3026664"/>
            <a:ext cx="347472" cy="347472"/>
          </a:xfrm>
          <a:prstGeom prst="roundRect">
            <a:avLst>
              <a:gd name="adj" fmla="val 21053"/>
            </a:avLst>
          </a:prstGeom>
          <a:solidFill>
            <a:srgbClr val="2167AE"/>
          </a:solidFill>
          <a:ln w="12700">
            <a:solidFill>
              <a:srgbClr val="2167AE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05840" y="3090672"/>
            <a:ext cx="3474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508760" y="3008376"/>
            <a:ext cx="928116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86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Which city generates the highest sales?</a:t>
            </a:r>
            <a:endParaRPr lang="en-US" sz="1860" dirty="0"/>
          </a:p>
        </p:txBody>
      </p:sp>
      <p:sp>
        <p:nvSpPr>
          <p:cNvPr id="17" name="Shape 15"/>
          <p:cNvSpPr/>
          <p:nvPr/>
        </p:nvSpPr>
        <p:spPr>
          <a:xfrm>
            <a:off x="1005840" y="3547872"/>
            <a:ext cx="347472" cy="347472"/>
          </a:xfrm>
          <a:prstGeom prst="roundRect">
            <a:avLst>
              <a:gd name="adj" fmla="val 21053"/>
            </a:avLst>
          </a:prstGeom>
          <a:solidFill>
            <a:srgbClr val="00A7A5"/>
          </a:solidFill>
          <a:ln w="12700">
            <a:solidFill>
              <a:srgbClr val="00A7A5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05840" y="3611880"/>
            <a:ext cx="3474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508760" y="3529584"/>
            <a:ext cx="928116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86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Are there cities with high sales but low profit?</a:t>
            </a:r>
            <a:endParaRPr lang="en-US" sz="1860" dirty="0"/>
          </a:p>
        </p:txBody>
      </p:sp>
      <p:sp>
        <p:nvSpPr>
          <p:cNvPr id="20" name="Shape 18"/>
          <p:cNvSpPr/>
          <p:nvPr/>
        </p:nvSpPr>
        <p:spPr>
          <a:xfrm>
            <a:off x="1005840" y="4069080"/>
            <a:ext cx="347472" cy="347472"/>
          </a:xfrm>
          <a:prstGeom prst="roundRect">
            <a:avLst>
              <a:gd name="adj" fmla="val 21053"/>
            </a:avLst>
          </a:prstGeom>
          <a:solidFill>
            <a:srgbClr val="2167AE"/>
          </a:solidFill>
          <a:ln w="12700">
            <a:solidFill>
              <a:srgbClr val="2167AE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05840" y="4133088"/>
            <a:ext cx="3474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508760" y="4050792"/>
            <a:ext cx="928116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86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Which region or city looks underperforming?</a:t>
            </a:r>
            <a:endParaRPr lang="en-US" sz="1860" dirty="0"/>
          </a:p>
        </p:txBody>
      </p:sp>
      <p:sp>
        <p:nvSpPr>
          <p:cNvPr id="23" name="Shape 21"/>
          <p:cNvSpPr/>
          <p:nvPr/>
        </p:nvSpPr>
        <p:spPr>
          <a:xfrm>
            <a:off x="1005840" y="4590288"/>
            <a:ext cx="347472" cy="347472"/>
          </a:xfrm>
          <a:prstGeom prst="roundRect">
            <a:avLst>
              <a:gd name="adj" fmla="val 21053"/>
            </a:avLst>
          </a:prstGeom>
          <a:solidFill>
            <a:srgbClr val="00A7A5"/>
          </a:solidFill>
          <a:ln w="12700">
            <a:solidFill>
              <a:srgbClr val="00A7A5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005840" y="4654296"/>
            <a:ext cx="3474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1508760" y="4572000"/>
            <a:ext cx="928116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86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How does category performance change by region?</a:t>
            </a:r>
            <a:endParaRPr lang="en-US" sz="1860" dirty="0"/>
          </a:p>
        </p:txBody>
      </p:sp>
      <p:sp>
        <p:nvSpPr>
          <p:cNvPr id="26" name="Shape 24"/>
          <p:cNvSpPr/>
          <p:nvPr/>
        </p:nvSpPr>
        <p:spPr>
          <a:xfrm>
            <a:off x="1005840" y="5111496"/>
            <a:ext cx="347472" cy="347472"/>
          </a:xfrm>
          <a:prstGeom prst="roundRect">
            <a:avLst>
              <a:gd name="adj" fmla="val 21053"/>
            </a:avLst>
          </a:prstGeom>
          <a:solidFill>
            <a:srgbClr val="2167AE"/>
          </a:solidFill>
          <a:ln w="12700">
            <a:solidFill>
              <a:srgbClr val="2167AE">
                <a:alpha val="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005840" y="5175504"/>
            <a:ext cx="3474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1508760" y="5093208"/>
            <a:ext cx="928116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86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Which location should management focus on next?</a:t>
            </a:r>
            <a:endParaRPr lang="en-US" sz="1860" dirty="0"/>
          </a:p>
        </p:txBody>
      </p:sp>
      <p:sp>
        <p:nvSpPr>
          <p:cNvPr id="29" name="Text 27"/>
          <p:cNvSpPr/>
          <p:nvPr/>
        </p:nvSpPr>
        <p:spPr>
          <a:xfrm>
            <a:off x="658368" y="6373368"/>
            <a:ext cx="6858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Power BI Dashboard Challenge | Retail Sales Case Study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6294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FFFFF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411480"/>
            <a:ext cx="5303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A7A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PAGE 4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58368" y="704088"/>
            <a:ext cx="7955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Salesperson &amp; Operations Questions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76656" y="1225296"/>
            <a:ext cx="8778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Create a performance and order review page.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58368" y="1682496"/>
            <a:ext cx="10881360" cy="0"/>
          </a:xfrm>
          <a:prstGeom prst="line">
            <a:avLst/>
          </a:prstGeom>
          <a:noFill/>
          <a:ln w="16510">
            <a:solidFill>
              <a:srgbClr val="D8E2E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915400" y="530352"/>
            <a:ext cx="2514600" cy="438912"/>
          </a:xfrm>
          <a:prstGeom prst="roundRect">
            <a:avLst>
              <a:gd name="adj" fmla="val 25000"/>
            </a:avLst>
          </a:prstGeom>
          <a:solidFill>
            <a:srgbClr val="E6FFFA"/>
          </a:solidFill>
          <a:ln w="12700">
            <a:solidFill>
              <a:srgbClr val="B6EAD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079992" y="658368"/>
            <a:ext cx="21854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671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Page goal: review activity and behavior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1005840" y="1984248"/>
            <a:ext cx="347472" cy="347472"/>
          </a:xfrm>
          <a:prstGeom prst="roundRect">
            <a:avLst>
              <a:gd name="adj" fmla="val 21053"/>
            </a:avLst>
          </a:prstGeom>
          <a:solidFill>
            <a:srgbClr val="2167AE"/>
          </a:solidFill>
          <a:ln w="12700">
            <a:solidFill>
              <a:srgbClr val="2167AE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05840" y="2048256"/>
            <a:ext cx="3474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508760" y="1965960"/>
            <a:ext cx="937260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84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Which salesperson generated the highest sales?</a:t>
            </a:r>
            <a:endParaRPr lang="en-US" sz="1840" dirty="0"/>
          </a:p>
        </p:txBody>
      </p:sp>
      <p:sp>
        <p:nvSpPr>
          <p:cNvPr id="11" name="Shape 9"/>
          <p:cNvSpPr/>
          <p:nvPr/>
        </p:nvSpPr>
        <p:spPr>
          <a:xfrm>
            <a:off x="1005840" y="2505456"/>
            <a:ext cx="347472" cy="347472"/>
          </a:xfrm>
          <a:prstGeom prst="roundRect">
            <a:avLst>
              <a:gd name="adj" fmla="val 21053"/>
            </a:avLst>
          </a:prstGeom>
          <a:solidFill>
            <a:srgbClr val="00A7A5"/>
          </a:solidFill>
          <a:ln w="12700">
            <a:solidFill>
              <a:srgbClr val="00A7A5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05840" y="2569464"/>
            <a:ext cx="3474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508760" y="2487168"/>
            <a:ext cx="937260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84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Which salesperson generated the highest profit?</a:t>
            </a:r>
            <a:endParaRPr lang="en-US" sz="1840" dirty="0"/>
          </a:p>
        </p:txBody>
      </p:sp>
      <p:sp>
        <p:nvSpPr>
          <p:cNvPr id="14" name="Shape 12"/>
          <p:cNvSpPr/>
          <p:nvPr/>
        </p:nvSpPr>
        <p:spPr>
          <a:xfrm>
            <a:off x="1005840" y="3026664"/>
            <a:ext cx="347472" cy="347472"/>
          </a:xfrm>
          <a:prstGeom prst="roundRect">
            <a:avLst>
              <a:gd name="adj" fmla="val 21053"/>
            </a:avLst>
          </a:prstGeom>
          <a:solidFill>
            <a:srgbClr val="2167AE"/>
          </a:solidFill>
          <a:ln w="12700">
            <a:solidFill>
              <a:srgbClr val="2167AE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05840" y="3090672"/>
            <a:ext cx="3474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508760" y="3008376"/>
            <a:ext cx="937260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84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 sales and profit rankings show the same people?</a:t>
            </a:r>
            <a:endParaRPr lang="en-US" sz="1840" dirty="0"/>
          </a:p>
        </p:txBody>
      </p:sp>
      <p:sp>
        <p:nvSpPr>
          <p:cNvPr id="17" name="Shape 15"/>
          <p:cNvSpPr/>
          <p:nvPr/>
        </p:nvSpPr>
        <p:spPr>
          <a:xfrm>
            <a:off x="1005840" y="3547872"/>
            <a:ext cx="347472" cy="347472"/>
          </a:xfrm>
          <a:prstGeom prst="roundRect">
            <a:avLst>
              <a:gd name="adj" fmla="val 21053"/>
            </a:avLst>
          </a:prstGeom>
          <a:solidFill>
            <a:srgbClr val="00A7A5"/>
          </a:solidFill>
          <a:ln w="12700">
            <a:solidFill>
              <a:srgbClr val="00A7A5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05840" y="3611880"/>
            <a:ext cx="3474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508760" y="3529584"/>
            <a:ext cx="937260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84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Which payment method is used most often?</a:t>
            </a:r>
            <a:endParaRPr lang="en-US" sz="1840" dirty="0"/>
          </a:p>
        </p:txBody>
      </p:sp>
      <p:sp>
        <p:nvSpPr>
          <p:cNvPr id="20" name="Shape 18"/>
          <p:cNvSpPr/>
          <p:nvPr/>
        </p:nvSpPr>
        <p:spPr>
          <a:xfrm>
            <a:off x="1005840" y="4069080"/>
            <a:ext cx="347472" cy="347472"/>
          </a:xfrm>
          <a:prstGeom prst="roundRect">
            <a:avLst>
              <a:gd name="adj" fmla="val 21053"/>
            </a:avLst>
          </a:prstGeom>
          <a:solidFill>
            <a:srgbClr val="2167AE"/>
          </a:solidFill>
          <a:ln w="12700">
            <a:solidFill>
              <a:srgbClr val="2167AE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05840" y="4133088"/>
            <a:ext cx="3474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508760" y="4050792"/>
            <a:ext cx="937260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84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is the distribution of order statuses?</a:t>
            </a:r>
            <a:endParaRPr lang="en-US" sz="1840" dirty="0"/>
          </a:p>
        </p:txBody>
      </p:sp>
      <p:sp>
        <p:nvSpPr>
          <p:cNvPr id="23" name="Shape 21"/>
          <p:cNvSpPr/>
          <p:nvPr/>
        </p:nvSpPr>
        <p:spPr>
          <a:xfrm>
            <a:off x="1005840" y="4590288"/>
            <a:ext cx="347472" cy="347472"/>
          </a:xfrm>
          <a:prstGeom prst="roundRect">
            <a:avLst>
              <a:gd name="adj" fmla="val 21053"/>
            </a:avLst>
          </a:prstGeom>
          <a:solidFill>
            <a:srgbClr val="00A7A5"/>
          </a:solidFill>
          <a:ln w="12700">
            <a:solidFill>
              <a:srgbClr val="00A7A5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005840" y="4654296"/>
            <a:ext cx="3474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1508760" y="4572000"/>
            <a:ext cx="937260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84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Which customers or orders need detailed review?</a:t>
            </a:r>
            <a:endParaRPr lang="en-US" sz="1840" dirty="0"/>
          </a:p>
        </p:txBody>
      </p:sp>
      <p:sp>
        <p:nvSpPr>
          <p:cNvPr id="26" name="Shape 24"/>
          <p:cNvSpPr/>
          <p:nvPr/>
        </p:nvSpPr>
        <p:spPr>
          <a:xfrm>
            <a:off x="1005840" y="5111496"/>
            <a:ext cx="347472" cy="347472"/>
          </a:xfrm>
          <a:prstGeom prst="roundRect">
            <a:avLst>
              <a:gd name="adj" fmla="val 21053"/>
            </a:avLst>
          </a:prstGeom>
          <a:solidFill>
            <a:srgbClr val="2167AE"/>
          </a:solidFill>
          <a:ln w="12700">
            <a:solidFill>
              <a:srgbClr val="2167AE">
                <a:alpha val="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005840" y="5175504"/>
            <a:ext cx="3474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1508760" y="5093208"/>
            <a:ext cx="937260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84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operational pattern should management notice?</a:t>
            </a:r>
            <a:endParaRPr lang="en-US" sz="1840" dirty="0"/>
          </a:p>
        </p:txBody>
      </p:sp>
      <p:sp>
        <p:nvSpPr>
          <p:cNvPr id="29" name="Text 27"/>
          <p:cNvSpPr/>
          <p:nvPr/>
        </p:nvSpPr>
        <p:spPr>
          <a:xfrm>
            <a:off x="658368" y="6373368"/>
            <a:ext cx="6858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Power BI Dashboard Challenge | Retail Sales Case Study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6294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FFFFF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411480"/>
            <a:ext cx="5303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A7A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FINAL CHECK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58368" y="704088"/>
            <a:ext cx="7955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0B1F3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Dashboard Storytelling Questions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76656" y="1225296"/>
            <a:ext cx="8778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Before presenting, test whether your dashboard is useful.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58368" y="1682496"/>
            <a:ext cx="10881360" cy="0"/>
          </a:xfrm>
          <a:prstGeom prst="line">
            <a:avLst/>
          </a:prstGeom>
          <a:noFill/>
          <a:ln w="16510">
            <a:solidFill>
              <a:srgbClr val="D8E2E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915400" y="530352"/>
            <a:ext cx="2514600" cy="438912"/>
          </a:xfrm>
          <a:prstGeom prst="roundRect">
            <a:avLst>
              <a:gd name="adj" fmla="val 25000"/>
            </a:avLst>
          </a:prstGeom>
          <a:solidFill>
            <a:srgbClr val="E6FFFA"/>
          </a:solidFill>
          <a:ln w="12700">
            <a:solidFill>
              <a:srgbClr val="B6EAD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079992" y="658368"/>
            <a:ext cx="21854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6716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Page goal: explain insights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1005840" y="1984248"/>
            <a:ext cx="347472" cy="347472"/>
          </a:xfrm>
          <a:prstGeom prst="roundRect">
            <a:avLst>
              <a:gd name="adj" fmla="val 21053"/>
            </a:avLst>
          </a:prstGeom>
          <a:solidFill>
            <a:srgbClr val="2167AE"/>
          </a:solidFill>
          <a:ln w="12700">
            <a:solidFill>
              <a:srgbClr val="2167AE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05840" y="2048256"/>
            <a:ext cx="3474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508760" y="1965960"/>
            <a:ext cx="937260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82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Can someone understand the dashboard in less than 30 seconds?</a:t>
            </a:r>
            <a:endParaRPr lang="en-US" sz="1820" dirty="0"/>
          </a:p>
        </p:txBody>
      </p:sp>
      <p:sp>
        <p:nvSpPr>
          <p:cNvPr id="11" name="Shape 9"/>
          <p:cNvSpPr/>
          <p:nvPr/>
        </p:nvSpPr>
        <p:spPr>
          <a:xfrm>
            <a:off x="1005840" y="2505456"/>
            <a:ext cx="347472" cy="347472"/>
          </a:xfrm>
          <a:prstGeom prst="roundRect">
            <a:avLst>
              <a:gd name="adj" fmla="val 21053"/>
            </a:avLst>
          </a:prstGeom>
          <a:solidFill>
            <a:srgbClr val="00A7A5"/>
          </a:solidFill>
          <a:ln w="12700">
            <a:solidFill>
              <a:srgbClr val="00A7A5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05840" y="2569464"/>
            <a:ext cx="3474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508760" y="2487168"/>
            <a:ext cx="937260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82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are the top three insights from your dashboard?</a:t>
            </a:r>
            <a:endParaRPr lang="en-US" sz="1820" dirty="0"/>
          </a:p>
        </p:txBody>
      </p:sp>
      <p:sp>
        <p:nvSpPr>
          <p:cNvPr id="14" name="Shape 12"/>
          <p:cNvSpPr/>
          <p:nvPr/>
        </p:nvSpPr>
        <p:spPr>
          <a:xfrm>
            <a:off x="1005840" y="3026664"/>
            <a:ext cx="347472" cy="347472"/>
          </a:xfrm>
          <a:prstGeom prst="roundRect">
            <a:avLst>
              <a:gd name="adj" fmla="val 21053"/>
            </a:avLst>
          </a:prstGeom>
          <a:solidFill>
            <a:srgbClr val="2167AE"/>
          </a:solidFill>
          <a:ln w="12700">
            <a:solidFill>
              <a:srgbClr val="2167AE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05840" y="3090672"/>
            <a:ext cx="3474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508760" y="3008376"/>
            <a:ext cx="937260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82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Which filters should users have on each page?</a:t>
            </a:r>
            <a:endParaRPr lang="en-US" sz="1820" dirty="0"/>
          </a:p>
        </p:txBody>
      </p:sp>
      <p:sp>
        <p:nvSpPr>
          <p:cNvPr id="17" name="Shape 15"/>
          <p:cNvSpPr/>
          <p:nvPr/>
        </p:nvSpPr>
        <p:spPr>
          <a:xfrm>
            <a:off x="1005840" y="3547872"/>
            <a:ext cx="347472" cy="347472"/>
          </a:xfrm>
          <a:prstGeom prst="roundRect">
            <a:avLst>
              <a:gd name="adj" fmla="val 21053"/>
            </a:avLst>
          </a:prstGeom>
          <a:solidFill>
            <a:srgbClr val="00A7A5"/>
          </a:solidFill>
          <a:ln w="12700">
            <a:solidFill>
              <a:srgbClr val="00A7A5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05840" y="3611880"/>
            <a:ext cx="3474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508760" y="3529584"/>
            <a:ext cx="937260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82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Which visual is most important on each page?</a:t>
            </a:r>
            <a:endParaRPr lang="en-US" sz="1820" dirty="0"/>
          </a:p>
        </p:txBody>
      </p:sp>
      <p:sp>
        <p:nvSpPr>
          <p:cNvPr id="20" name="Shape 18"/>
          <p:cNvSpPr/>
          <p:nvPr/>
        </p:nvSpPr>
        <p:spPr>
          <a:xfrm>
            <a:off x="1005840" y="4069080"/>
            <a:ext cx="347472" cy="347472"/>
          </a:xfrm>
          <a:prstGeom prst="roundRect">
            <a:avLst>
              <a:gd name="adj" fmla="val 21053"/>
            </a:avLst>
          </a:prstGeom>
          <a:solidFill>
            <a:srgbClr val="2167AE"/>
          </a:solidFill>
          <a:ln w="12700">
            <a:solidFill>
              <a:srgbClr val="2167AE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05840" y="4133088"/>
            <a:ext cx="3474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508760" y="4050792"/>
            <a:ext cx="937260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82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Which visual should be removed because it does not answer a question?</a:t>
            </a:r>
            <a:endParaRPr lang="en-US" sz="1820" dirty="0"/>
          </a:p>
        </p:txBody>
      </p:sp>
      <p:sp>
        <p:nvSpPr>
          <p:cNvPr id="23" name="Shape 21"/>
          <p:cNvSpPr/>
          <p:nvPr/>
        </p:nvSpPr>
        <p:spPr>
          <a:xfrm>
            <a:off x="1005840" y="4590288"/>
            <a:ext cx="347472" cy="347472"/>
          </a:xfrm>
          <a:prstGeom prst="roundRect">
            <a:avLst>
              <a:gd name="adj" fmla="val 21053"/>
            </a:avLst>
          </a:prstGeom>
          <a:solidFill>
            <a:srgbClr val="00A7A5"/>
          </a:solidFill>
          <a:ln w="12700">
            <a:solidFill>
              <a:srgbClr val="00A7A5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005840" y="4654296"/>
            <a:ext cx="3474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1508760" y="4572000"/>
            <a:ext cx="937260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82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recommendation would you give to management?</a:t>
            </a:r>
            <a:endParaRPr lang="en-US" sz="1820" dirty="0"/>
          </a:p>
        </p:txBody>
      </p:sp>
      <p:sp>
        <p:nvSpPr>
          <p:cNvPr id="26" name="Shape 24"/>
          <p:cNvSpPr/>
          <p:nvPr/>
        </p:nvSpPr>
        <p:spPr>
          <a:xfrm>
            <a:off x="1005840" y="5111496"/>
            <a:ext cx="347472" cy="347472"/>
          </a:xfrm>
          <a:prstGeom prst="roundRect">
            <a:avLst>
              <a:gd name="adj" fmla="val 21053"/>
            </a:avLst>
          </a:prstGeom>
          <a:solidFill>
            <a:srgbClr val="2167AE"/>
          </a:solidFill>
          <a:ln w="12700">
            <a:solidFill>
              <a:srgbClr val="2167AE">
                <a:alpha val="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005840" y="5175504"/>
            <a:ext cx="3474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1508760" y="5093208"/>
            <a:ext cx="937260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820" dirty="0">
                <a:solidFill>
                  <a:srgbClr val="0B1F3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limitation exists because we are using a single-table dataset?</a:t>
            </a:r>
            <a:endParaRPr lang="en-US" sz="1820" dirty="0"/>
          </a:p>
        </p:txBody>
      </p:sp>
      <p:sp>
        <p:nvSpPr>
          <p:cNvPr id="29" name="Text 27"/>
          <p:cNvSpPr/>
          <p:nvPr/>
        </p:nvSpPr>
        <p:spPr>
          <a:xfrm>
            <a:off x="658368" y="6373368"/>
            <a:ext cx="6858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Power BI Dashboard Challenge | Retail Sales Case Study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6294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FFFFF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41248" y="777240"/>
            <a:ext cx="6217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Your build challenge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868680" y="1335024"/>
            <a:ext cx="6949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DDEBFF"/>
                </a:solidFill>
              </a:rPr>
              <a:t>Create dashboard pages that answer the questions clearly.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914400" y="2148840"/>
            <a:ext cx="475488" cy="475488"/>
          </a:xfrm>
          <a:prstGeom prst="roundRect">
            <a:avLst>
              <a:gd name="adj" fmla="val 23077"/>
            </a:avLst>
          </a:prstGeom>
          <a:solidFill>
            <a:srgbClr val="00A7A5"/>
          </a:solidFill>
          <a:ln w="12700">
            <a:solidFill>
              <a:srgbClr val="00A7A5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2267712"/>
            <a:ext cx="4754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600200" y="2185416"/>
            <a:ext cx="6217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</a:rPr>
              <a:t>Build the overview page first.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914400" y="2898648"/>
            <a:ext cx="475488" cy="475488"/>
          </a:xfrm>
          <a:prstGeom prst="roundRect">
            <a:avLst>
              <a:gd name="adj" fmla="val 23077"/>
            </a:avLst>
          </a:prstGeom>
          <a:solidFill>
            <a:srgbClr val="00A7A5"/>
          </a:solidFill>
          <a:ln w="12700">
            <a:solidFill>
              <a:srgbClr val="00A7A5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3017520"/>
            <a:ext cx="4754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2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600200" y="2935224"/>
            <a:ext cx="6217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</a:rPr>
              <a:t>Then build product, location, and salesperson pages.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914400" y="3648456"/>
            <a:ext cx="475488" cy="475488"/>
          </a:xfrm>
          <a:prstGeom prst="roundRect">
            <a:avLst>
              <a:gd name="adj" fmla="val 23077"/>
            </a:avLst>
          </a:prstGeom>
          <a:solidFill>
            <a:srgbClr val="00A7A5"/>
          </a:solidFill>
          <a:ln w="12700">
            <a:solidFill>
              <a:srgbClr val="00A7A5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14400" y="3767328"/>
            <a:ext cx="4754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3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600200" y="3685032"/>
            <a:ext cx="6217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</a:rPr>
              <a:t>Choose visuals based on the business question.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914400" y="4398264"/>
            <a:ext cx="475488" cy="475488"/>
          </a:xfrm>
          <a:prstGeom prst="roundRect">
            <a:avLst>
              <a:gd name="adj" fmla="val 23077"/>
            </a:avLst>
          </a:prstGeom>
          <a:solidFill>
            <a:srgbClr val="00A7A5"/>
          </a:solidFill>
          <a:ln w="12700">
            <a:solidFill>
              <a:srgbClr val="00A7A5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4400" y="4517136"/>
            <a:ext cx="4754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4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600200" y="4434840"/>
            <a:ext cx="6217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</a:rPr>
              <a:t>Prepare three insights to explain to the class.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8321040" y="1005840"/>
            <a:ext cx="2971800" cy="4800600"/>
          </a:xfrm>
          <a:prstGeom prst="roundRect">
            <a:avLst>
              <a:gd name="adj" fmla="val 6769"/>
            </a:avLst>
          </a:prstGeom>
          <a:solidFill>
            <a:srgbClr val="102B4D"/>
          </a:solidFill>
          <a:ln w="15240">
            <a:solidFill>
              <a:srgbClr val="27496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641080" y="1417320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A7A5"/>
                </a:solidFill>
              </a:rPr>
              <a:t>Ask yourself: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668512" y="2039112"/>
            <a:ext cx="2240280" cy="1463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“What decision can be made from this dashboard?”</a:t>
            </a:r>
            <a:endParaRPr lang="en-US" sz="2600" dirty="0"/>
          </a:p>
        </p:txBody>
      </p:sp>
      <p:sp>
        <p:nvSpPr>
          <p:cNvPr id="20" name="Shape 18"/>
          <p:cNvSpPr/>
          <p:nvPr/>
        </p:nvSpPr>
        <p:spPr>
          <a:xfrm>
            <a:off x="8796528" y="3977640"/>
            <a:ext cx="1965960" cy="0"/>
          </a:xfrm>
          <a:prstGeom prst="line">
            <a:avLst/>
          </a:prstGeom>
          <a:noFill/>
          <a:ln w="25400">
            <a:solidFill>
              <a:srgbClr val="00A7A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641080" y="4370832"/>
            <a:ext cx="2331720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DDEBFF"/>
                </a:solidFill>
              </a:rPr>
              <a:t>If the answer is unclear, improve the page.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822960" y="6355080"/>
            <a:ext cx="5943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A9C7E8"/>
                </a:solidFill>
              </a:rPr>
              <a:t>Power BI Dashboard Challenge | Retail Sales Case Study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6294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FFFFFF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 BI Retail Dashboard Challenge</dc:title>
  <dc:subject>Power BI Retail Sales Dashboard Business Questions</dc:subject>
  <dc:creator>OpenAI</dc:creator>
  <cp:lastModifiedBy>OpenAI</cp:lastModifiedBy>
  <cp:revision>1</cp:revision>
  <dcterms:created xsi:type="dcterms:W3CDTF">2026-04-27T22:16:57Z</dcterms:created>
  <dcterms:modified xsi:type="dcterms:W3CDTF">2026-04-27T22:16:57Z</dcterms:modified>
</cp:coreProperties>
</file>