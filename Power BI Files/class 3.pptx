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4" r:id="rId1"/>
  </p:sldMasterIdLst>
  <p:notesMasterIdLst>
    <p:notesMasterId r:id="rId19"/>
  </p:notesMasterIdLst>
  <p:sldIdLst>
    <p:sldId id="256" r:id="rId2"/>
    <p:sldId id="310" r:id="rId3"/>
    <p:sldId id="312" r:id="rId4"/>
    <p:sldId id="313" r:id="rId5"/>
    <p:sldId id="314" r:id="rId6"/>
    <p:sldId id="315" r:id="rId7"/>
    <p:sldId id="316" r:id="rId8"/>
    <p:sldId id="317" r:id="rId9"/>
    <p:sldId id="320" r:id="rId10"/>
    <p:sldId id="319" r:id="rId11"/>
    <p:sldId id="321" r:id="rId12"/>
    <p:sldId id="322" r:id="rId13"/>
    <p:sldId id="323" r:id="rId14"/>
    <p:sldId id="324" r:id="rId15"/>
    <p:sldId id="325" r:id="rId16"/>
    <p:sldId id="326" r:id="rId17"/>
    <p:sldId id="32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CEE"/>
    <a:srgbClr val="0B5296"/>
    <a:srgbClr val="00EB8F"/>
    <a:srgbClr val="B311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p:scale>
          <a:sx n="66" d="100"/>
          <a:sy n="66" d="100"/>
        </p:scale>
        <p:origin x="996" y="5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33AB2-457B-483C-A6BF-091D9EEA21D1}" type="datetimeFigureOut">
              <a:rPr lang="en-US" smtClean="0"/>
              <a:t>1/27/2024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E5B2B-AC46-46D3-B23A-7D4BCC1DBB66}" type="slidenum">
              <a:rPr lang="en-US" smtClean="0"/>
              <a:t>‹#›</a:t>
            </a:fld>
            <a:endParaRPr lang="en-US"/>
          </a:p>
        </p:txBody>
      </p:sp>
    </p:spTree>
    <p:extLst>
      <p:ext uri="{BB962C8B-B14F-4D97-AF65-F5344CB8AC3E}">
        <p14:creationId xmlns:p14="http://schemas.microsoft.com/office/powerpoint/2010/main" val="2714062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C0BCB-0FE7-9C64-FB17-47A08CC042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CA68E2-589F-921A-C7E1-559699E1D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6E7863-181A-3AAB-8FA6-B5642C44289F}"/>
              </a:ext>
            </a:extLst>
          </p:cNvPr>
          <p:cNvSpPr>
            <a:spLocks noGrp="1"/>
          </p:cNvSpPr>
          <p:nvPr>
            <p:ph type="dt" sz="half" idx="10"/>
          </p:nvPr>
        </p:nvSpPr>
        <p:spPr/>
        <p:txBody>
          <a:bodyPr/>
          <a:lstStyle/>
          <a:p>
            <a:fld id="{5923F103-BC34-4FE4-A40E-EDDEECFDA5D0}" type="datetimeFigureOut">
              <a:rPr lang="en-US" smtClean="0"/>
              <a:pPr/>
              <a:t>1/27/2024</a:t>
            </a:fld>
            <a:endParaRPr lang="en-US" dirty="0"/>
          </a:p>
        </p:txBody>
      </p:sp>
      <p:sp>
        <p:nvSpPr>
          <p:cNvPr id="5" name="Footer Placeholder 4">
            <a:extLst>
              <a:ext uri="{FF2B5EF4-FFF2-40B4-BE49-F238E27FC236}">
                <a16:creationId xmlns:a16="http://schemas.microsoft.com/office/drawing/2014/main" id="{2065529F-610E-4D9D-AD6A-59ABC3E9D46B}"/>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1A97C484-C333-F647-A664-6ACCBD56E73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242957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B16EF-C84E-7020-01F3-B914454756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9DD6D-6522-675D-43D8-7DB9B0FF7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2716F-3400-E1DC-5EB6-2571D948C5D7}"/>
              </a:ext>
            </a:extLst>
          </p:cNvPr>
          <p:cNvSpPr>
            <a:spLocks noGrp="1"/>
          </p:cNvSpPr>
          <p:nvPr>
            <p:ph type="dt" sz="half" idx="10"/>
          </p:nvPr>
        </p:nvSpPr>
        <p:spPr/>
        <p:txBody>
          <a:bodyPr/>
          <a:lstStyle/>
          <a:p>
            <a:fld id="{19C9CA7B-DFD4-44B5-8C60-D14B8CD1FB59}" type="datetimeFigureOut">
              <a:rPr lang="en-US" smtClean="0"/>
              <a:t>1/27/2024</a:t>
            </a:fld>
            <a:endParaRPr lang="en-US" dirty="0"/>
          </a:p>
        </p:txBody>
      </p:sp>
      <p:sp>
        <p:nvSpPr>
          <p:cNvPr id="5" name="Footer Placeholder 4">
            <a:extLst>
              <a:ext uri="{FF2B5EF4-FFF2-40B4-BE49-F238E27FC236}">
                <a16:creationId xmlns:a16="http://schemas.microsoft.com/office/drawing/2014/main" id="{C23CFAA7-E577-5BDD-AFC3-CD37FD4FB09D}"/>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C5FFACA6-9F53-4A00-F729-99106937E9B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0241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7869-91F0-88FF-931C-13F1E0B194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61E4BB-2B08-FA52-4679-49F32BA9BB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16DD27-A052-B893-6D31-280567907534}"/>
              </a:ext>
            </a:extLst>
          </p:cNvPr>
          <p:cNvSpPr>
            <a:spLocks noGrp="1"/>
          </p:cNvSpPr>
          <p:nvPr>
            <p:ph type="dt" sz="half" idx="10"/>
          </p:nvPr>
        </p:nvSpPr>
        <p:spPr/>
        <p:txBody>
          <a:bodyPr/>
          <a:lstStyle/>
          <a:p>
            <a:fld id="{F34E6425-0181-43F2-84FC-787E803FD2F8}" type="datetimeFigureOut">
              <a:rPr lang="en-US" smtClean="0"/>
              <a:t>1/27/2024</a:t>
            </a:fld>
            <a:endParaRPr lang="en-US" dirty="0"/>
          </a:p>
        </p:txBody>
      </p:sp>
      <p:sp>
        <p:nvSpPr>
          <p:cNvPr id="5" name="Footer Placeholder 4">
            <a:extLst>
              <a:ext uri="{FF2B5EF4-FFF2-40B4-BE49-F238E27FC236}">
                <a16:creationId xmlns:a16="http://schemas.microsoft.com/office/drawing/2014/main" id="{81E8DCF5-93B3-01DD-A157-456AFD0F1F5B}"/>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2D2BDDC2-6E87-4B77-56F7-8BAE81575EF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492661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D21E-AE57-0DA3-354F-2B60A75EB3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6CDFBE-2549-B927-4F8A-F95AF61401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D17ACA-CEB3-CDBF-5081-286BE206D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B0C18C-295A-0270-8C78-B77F3D5DEA29}"/>
              </a:ext>
            </a:extLst>
          </p:cNvPr>
          <p:cNvSpPr>
            <a:spLocks noGrp="1"/>
          </p:cNvSpPr>
          <p:nvPr>
            <p:ph type="dt" sz="half" idx="10"/>
          </p:nvPr>
        </p:nvSpPr>
        <p:spPr/>
        <p:txBody>
          <a:bodyPr/>
          <a:lstStyle/>
          <a:p>
            <a:fld id="{3BDB8791-F1B0-41E7-B7FD-A781E65C4266}" type="datetimeFigureOut">
              <a:rPr lang="en-US" smtClean="0"/>
              <a:t>1/27/2024</a:t>
            </a:fld>
            <a:endParaRPr lang="en-US" dirty="0"/>
          </a:p>
        </p:txBody>
      </p:sp>
      <p:sp>
        <p:nvSpPr>
          <p:cNvPr id="6" name="Footer Placeholder 5">
            <a:extLst>
              <a:ext uri="{FF2B5EF4-FFF2-40B4-BE49-F238E27FC236}">
                <a16:creationId xmlns:a16="http://schemas.microsoft.com/office/drawing/2014/main" id="{A8F19453-4297-CE3B-635B-0DF5CCE9729F}"/>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636FC621-E016-41E7-621A-E06188A2404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84383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88032-DD47-08E2-557F-EF92F10AD2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254883-E766-0167-816A-3FAD04F9C9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9BB996-DC12-4EAB-2584-CB327A810C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EFDA71-7A9E-23FA-FAA7-055F91F9E2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2ADC07-E2D7-074B-83AE-BC80B926CA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B88E27-C9C9-D5AD-4D46-A51DC1493FA3}"/>
              </a:ext>
            </a:extLst>
          </p:cNvPr>
          <p:cNvSpPr>
            <a:spLocks noGrp="1"/>
          </p:cNvSpPr>
          <p:nvPr>
            <p:ph type="dt" sz="half" idx="10"/>
          </p:nvPr>
        </p:nvSpPr>
        <p:spPr/>
        <p:txBody>
          <a:bodyPr/>
          <a:lstStyle/>
          <a:p>
            <a:fld id="{5FDD63B2-E120-4ED8-B27B-C685F510A5FE}" type="datetimeFigureOut">
              <a:rPr lang="en-US" smtClean="0"/>
              <a:t>1/27/2024</a:t>
            </a:fld>
            <a:endParaRPr lang="en-US" dirty="0"/>
          </a:p>
        </p:txBody>
      </p:sp>
      <p:sp>
        <p:nvSpPr>
          <p:cNvPr id="8" name="Footer Placeholder 7">
            <a:extLst>
              <a:ext uri="{FF2B5EF4-FFF2-40B4-BE49-F238E27FC236}">
                <a16:creationId xmlns:a16="http://schemas.microsoft.com/office/drawing/2014/main" id="{4BA2553F-B65F-F61E-2563-BB2BD0040436}"/>
              </a:ext>
            </a:extLst>
          </p:cNvPr>
          <p:cNvSpPr>
            <a:spLocks noGrp="1"/>
          </p:cNvSpPr>
          <p:nvPr>
            <p:ph type="ftr" sz="quarter" idx="11"/>
          </p:nvPr>
        </p:nvSpPr>
        <p:spPr/>
        <p:txBody>
          <a:bodyPr/>
          <a:lstStyle/>
          <a:p>
            <a:r>
              <a:rPr lang="en-US"/>
              <a:t>
              </a:t>
            </a:r>
            <a:endParaRPr lang="en-US" dirty="0"/>
          </a:p>
        </p:txBody>
      </p:sp>
      <p:sp>
        <p:nvSpPr>
          <p:cNvPr id="9" name="Slide Number Placeholder 8">
            <a:extLst>
              <a:ext uri="{FF2B5EF4-FFF2-40B4-BE49-F238E27FC236}">
                <a16:creationId xmlns:a16="http://schemas.microsoft.com/office/drawing/2014/main" id="{4A0FFB81-BF63-ECD6-10E1-2E438181BF7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266033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3D75-B9C9-EF81-6D6A-EEA80276DB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E720E5-BCAF-2E88-118C-6C1C6B3A330C}"/>
              </a:ext>
            </a:extLst>
          </p:cNvPr>
          <p:cNvSpPr>
            <a:spLocks noGrp="1"/>
          </p:cNvSpPr>
          <p:nvPr>
            <p:ph type="dt" sz="half" idx="10"/>
          </p:nvPr>
        </p:nvSpPr>
        <p:spPr/>
        <p:txBody>
          <a:bodyPr/>
          <a:lstStyle/>
          <a:p>
            <a:fld id="{7AA18ACC-A947-437B-A130-35BD54FDF1E9}" type="datetimeFigureOut">
              <a:rPr lang="en-US" smtClean="0"/>
              <a:t>1/27/2024</a:t>
            </a:fld>
            <a:endParaRPr lang="en-US" dirty="0"/>
          </a:p>
        </p:txBody>
      </p:sp>
      <p:sp>
        <p:nvSpPr>
          <p:cNvPr id="4" name="Footer Placeholder 3">
            <a:extLst>
              <a:ext uri="{FF2B5EF4-FFF2-40B4-BE49-F238E27FC236}">
                <a16:creationId xmlns:a16="http://schemas.microsoft.com/office/drawing/2014/main" id="{093610B2-A4C3-1B7F-F217-353A23A65FF3}"/>
              </a:ext>
            </a:extLst>
          </p:cNvPr>
          <p:cNvSpPr>
            <a:spLocks noGrp="1"/>
          </p:cNvSpPr>
          <p:nvPr>
            <p:ph type="ftr" sz="quarter" idx="11"/>
          </p:nvPr>
        </p:nvSpPr>
        <p:spPr/>
        <p:txBody>
          <a:bodyPr/>
          <a:lstStyle/>
          <a:p>
            <a:r>
              <a:rPr lang="en-US"/>
              <a:t>
              </a:t>
            </a:r>
            <a:endParaRPr lang="en-US" dirty="0"/>
          </a:p>
        </p:txBody>
      </p:sp>
      <p:sp>
        <p:nvSpPr>
          <p:cNvPr id="5" name="Slide Number Placeholder 4">
            <a:extLst>
              <a:ext uri="{FF2B5EF4-FFF2-40B4-BE49-F238E27FC236}">
                <a16:creationId xmlns:a16="http://schemas.microsoft.com/office/drawing/2014/main" id="{FE4627CE-A03E-09A5-37C0-308AEB9287D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2304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CED01-E29D-4ED1-2A90-0EBF3E399D1A}"/>
              </a:ext>
            </a:extLst>
          </p:cNvPr>
          <p:cNvSpPr>
            <a:spLocks noGrp="1"/>
          </p:cNvSpPr>
          <p:nvPr>
            <p:ph type="dt" sz="half" idx="10"/>
          </p:nvPr>
        </p:nvSpPr>
        <p:spPr/>
        <p:txBody>
          <a:bodyPr/>
          <a:lstStyle/>
          <a:p>
            <a:fld id="{7C8D7E02-BCB8-4D50-A234-369438C08659}" type="datetimeFigureOut">
              <a:rPr lang="en-US" smtClean="0"/>
              <a:t>1/27/2024</a:t>
            </a:fld>
            <a:endParaRPr lang="en-US" dirty="0"/>
          </a:p>
        </p:txBody>
      </p:sp>
      <p:sp>
        <p:nvSpPr>
          <p:cNvPr id="3" name="Footer Placeholder 2">
            <a:extLst>
              <a:ext uri="{FF2B5EF4-FFF2-40B4-BE49-F238E27FC236}">
                <a16:creationId xmlns:a16="http://schemas.microsoft.com/office/drawing/2014/main" id="{6E6B414D-A2AB-D344-1A29-CBB539C82906}"/>
              </a:ext>
            </a:extLst>
          </p:cNvPr>
          <p:cNvSpPr>
            <a:spLocks noGrp="1"/>
          </p:cNvSpPr>
          <p:nvPr>
            <p:ph type="ftr" sz="quarter" idx="11"/>
          </p:nvPr>
        </p:nvSpPr>
        <p:spPr/>
        <p:txBody>
          <a:bodyPr/>
          <a:lstStyle/>
          <a:p>
            <a:r>
              <a:rPr lang="en-US"/>
              <a:t>
              </a:t>
            </a:r>
            <a:endParaRPr lang="en-US" dirty="0"/>
          </a:p>
        </p:txBody>
      </p:sp>
      <p:sp>
        <p:nvSpPr>
          <p:cNvPr id="4" name="Slide Number Placeholder 3">
            <a:extLst>
              <a:ext uri="{FF2B5EF4-FFF2-40B4-BE49-F238E27FC236}">
                <a16:creationId xmlns:a16="http://schemas.microsoft.com/office/drawing/2014/main" id="{66079005-7263-28CC-EBC3-C3294319DDD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62634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D0B7A-64AD-DF78-3FFE-90F85B5DE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353E0A-122E-234A-FDF0-2873038A8E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0D54E1-B92E-65CD-231F-162D5EDDE3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8C964C-4C91-876D-2339-234CC22E1367}"/>
              </a:ext>
            </a:extLst>
          </p:cNvPr>
          <p:cNvSpPr>
            <a:spLocks noGrp="1"/>
          </p:cNvSpPr>
          <p:nvPr>
            <p:ph type="dt" sz="half" idx="10"/>
          </p:nvPr>
        </p:nvSpPr>
        <p:spPr/>
        <p:txBody>
          <a:bodyPr/>
          <a:lstStyle/>
          <a:p>
            <a:fld id="{76E86A4C-8E40-4F87-A4F0-01A0687C5742}" type="datetimeFigureOut">
              <a:rPr lang="en-US" smtClean="0"/>
              <a:t>1/27/2024</a:t>
            </a:fld>
            <a:endParaRPr lang="en-US" dirty="0"/>
          </a:p>
        </p:txBody>
      </p:sp>
      <p:sp>
        <p:nvSpPr>
          <p:cNvPr id="6" name="Footer Placeholder 5">
            <a:extLst>
              <a:ext uri="{FF2B5EF4-FFF2-40B4-BE49-F238E27FC236}">
                <a16:creationId xmlns:a16="http://schemas.microsoft.com/office/drawing/2014/main" id="{C68AEFB9-598A-0ADB-0E6C-C4CC23503CC2}"/>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B9C67A16-4DF4-9ABD-22B5-F814ADB6E4C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25698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9FB48-459F-BB20-2704-99B1FBD6AA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8C8CB4-0F5F-16D8-50CD-53E13A2B8C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4C3C69-0AD6-8D35-FC3F-D0A6864F4B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C12BB8-FB15-1F8D-AB3F-61168B3DB0E2}"/>
              </a:ext>
            </a:extLst>
          </p:cNvPr>
          <p:cNvSpPr>
            <a:spLocks noGrp="1"/>
          </p:cNvSpPr>
          <p:nvPr>
            <p:ph type="dt" sz="half" idx="10"/>
          </p:nvPr>
        </p:nvSpPr>
        <p:spPr/>
        <p:txBody>
          <a:bodyPr/>
          <a:lstStyle/>
          <a:p>
            <a:fld id="{35E72C73-2D91-4E12-BA25-F0AA0C03599B}" type="datetimeFigureOut">
              <a:rPr lang="en-US" smtClean="0"/>
              <a:t>1/27/2024</a:t>
            </a:fld>
            <a:endParaRPr lang="en-US" dirty="0"/>
          </a:p>
        </p:txBody>
      </p:sp>
      <p:sp>
        <p:nvSpPr>
          <p:cNvPr id="6" name="Footer Placeholder 5">
            <a:extLst>
              <a:ext uri="{FF2B5EF4-FFF2-40B4-BE49-F238E27FC236}">
                <a16:creationId xmlns:a16="http://schemas.microsoft.com/office/drawing/2014/main" id="{9DAD4040-4FC0-DA46-4E18-40D537D5C237}"/>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A2689E8C-0848-8F58-E05E-80A8509048E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661846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85DA-02F9-457F-B827-8890E1AB27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2CB516-30A3-3F29-10A7-98E0913033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A1FD12-633E-CD53-CE13-59792303E8BF}"/>
              </a:ext>
            </a:extLst>
          </p:cNvPr>
          <p:cNvSpPr>
            <a:spLocks noGrp="1"/>
          </p:cNvSpPr>
          <p:nvPr>
            <p:ph type="dt" sz="half" idx="10"/>
          </p:nvPr>
        </p:nvSpPr>
        <p:spPr/>
        <p:txBody>
          <a:bodyPr/>
          <a:lstStyle/>
          <a:p>
            <a:fld id="{53086D93-FCAC-47E0-A2EE-787E62CA814C}" type="datetimeFigureOut">
              <a:rPr lang="en-US" smtClean="0"/>
              <a:t>1/27/2024</a:t>
            </a:fld>
            <a:endParaRPr lang="en-US" dirty="0"/>
          </a:p>
        </p:txBody>
      </p:sp>
      <p:sp>
        <p:nvSpPr>
          <p:cNvPr id="5" name="Footer Placeholder 4">
            <a:extLst>
              <a:ext uri="{FF2B5EF4-FFF2-40B4-BE49-F238E27FC236}">
                <a16:creationId xmlns:a16="http://schemas.microsoft.com/office/drawing/2014/main" id="{A07DA7EF-754C-F260-D422-84363C4025AC}"/>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1771E28B-0D23-3AB2-E20D-04105379C76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274611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6BB4D7-7DC9-4108-383C-ED3990FF45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B361E1-7E1D-C590-4BE6-BF7FA5906F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0A045B-5139-F5CC-5BD5-FAB9E2756F6D}"/>
              </a:ext>
            </a:extLst>
          </p:cNvPr>
          <p:cNvSpPr>
            <a:spLocks noGrp="1"/>
          </p:cNvSpPr>
          <p:nvPr>
            <p:ph type="dt" sz="half" idx="10"/>
          </p:nvPr>
        </p:nvSpPr>
        <p:spPr/>
        <p:txBody>
          <a:bodyPr/>
          <a:lstStyle/>
          <a:p>
            <a:fld id="{CDA879A6-0FD0-4734-A311-86BFCA472E6E}" type="datetimeFigureOut">
              <a:rPr lang="en-US" smtClean="0"/>
              <a:t>1/27/2024</a:t>
            </a:fld>
            <a:endParaRPr lang="en-US" dirty="0"/>
          </a:p>
        </p:txBody>
      </p:sp>
      <p:sp>
        <p:nvSpPr>
          <p:cNvPr id="5" name="Footer Placeholder 4">
            <a:extLst>
              <a:ext uri="{FF2B5EF4-FFF2-40B4-BE49-F238E27FC236}">
                <a16:creationId xmlns:a16="http://schemas.microsoft.com/office/drawing/2014/main" id="{2F5D54F3-E514-6270-CE10-8F828AAE76EA}"/>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4D27EA23-BFC2-6335-E1F1-777237CF33C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669687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2F1CFD-AE92-DCD7-EF83-091D653B64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4B3051-438A-B6E4-53C4-2CE832001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498FA-7B9A-FF60-8667-B8C48A700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E451C3-0FF4-47C4-B829-773ADF60F88C}" type="datetimeFigureOut">
              <a:rPr lang="en-US" smtClean="0"/>
              <a:t>1/27/2024</a:t>
            </a:fld>
            <a:endParaRPr lang="en-US" dirty="0"/>
          </a:p>
        </p:txBody>
      </p:sp>
      <p:sp>
        <p:nvSpPr>
          <p:cNvPr id="5" name="Footer Placeholder 4">
            <a:extLst>
              <a:ext uri="{FF2B5EF4-FFF2-40B4-BE49-F238E27FC236}">
                <a16:creationId xmlns:a16="http://schemas.microsoft.com/office/drawing/2014/main" id="{9A7D1D9D-E806-370A-EFB8-931004D461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a:t>
            </a:r>
            <a:endParaRPr lang="en-US" dirty="0"/>
          </a:p>
        </p:txBody>
      </p:sp>
      <p:sp>
        <p:nvSpPr>
          <p:cNvPr id="6" name="Slide Number Placeholder 5">
            <a:extLst>
              <a:ext uri="{FF2B5EF4-FFF2-40B4-BE49-F238E27FC236}">
                <a16:creationId xmlns:a16="http://schemas.microsoft.com/office/drawing/2014/main" id="{58ED7851-51C2-9F3D-5D19-772F41554F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299647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3171" y="1409997"/>
            <a:ext cx="8825658" cy="2546541"/>
          </a:xfrm>
        </p:spPr>
        <p:txBody>
          <a:bodyPr>
            <a:normAutofit/>
          </a:bodyPr>
          <a:lstStyle/>
          <a:p>
            <a:r>
              <a:rPr lang="en-US" sz="4400" b="1" dirty="0">
                <a:solidFill>
                  <a:srgbClr val="00ACEE"/>
                </a:solidFill>
                <a:latin typeface="Poppins" panose="00000500000000000000" pitchFamily="2" charset="0"/>
                <a:cs typeface="Poppins" panose="00000500000000000000" pitchFamily="2" charset="0"/>
              </a:rPr>
              <a:t>INTRO TO </a:t>
            </a:r>
            <a:br>
              <a:rPr lang="en-US" sz="4800" b="1" dirty="0">
                <a:latin typeface="Poppins" panose="00000500000000000000" pitchFamily="2" charset="0"/>
                <a:cs typeface="Poppins" panose="00000500000000000000" pitchFamily="2" charset="0"/>
              </a:rPr>
            </a:br>
            <a:r>
              <a:rPr lang="en-US" sz="9600" b="1" dirty="0">
                <a:solidFill>
                  <a:srgbClr val="0B5296"/>
                </a:solidFill>
                <a:latin typeface="Poppins" panose="00000500000000000000" pitchFamily="2" charset="0"/>
                <a:cs typeface="Poppins" panose="00000500000000000000" pitchFamily="2" charset="0"/>
              </a:rPr>
              <a:t>PYTHON</a:t>
            </a:r>
            <a:br>
              <a:rPr lang="en-US" sz="9600" b="1" dirty="0">
                <a:solidFill>
                  <a:srgbClr val="0B5296"/>
                </a:solidFill>
                <a:latin typeface="Poppins" panose="00000500000000000000" pitchFamily="2" charset="0"/>
                <a:cs typeface="Poppins" panose="00000500000000000000" pitchFamily="2" charset="0"/>
              </a:rPr>
            </a:br>
            <a:r>
              <a:rPr lang="en-US" sz="2800" b="1" dirty="0">
                <a:solidFill>
                  <a:srgbClr val="0B5296"/>
                </a:solidFill>
                <a:latin typeface="Poppins" panose="00000500000000000000" pitchFamily="2" charset="0"/>
                <a:cs typeface="Poppins" panose="00000500000000000000" pitchFamily="2" charset="0"/>
              </a:rPr>
              <a:t>Section Three</a:t>
            </a:r>
            <a:endParaRPr lang="en-US" sz="3200" b="1" dirty="0">
              <a:solidFill>
                <a:srgbClr val="0B5296"/>
              </a:solidFill>
              <a:latin typeface="Poppins" panose="00000500000000000000" pitchFamily="2" charset="0"/>
              <a:cs typeface="Poppins" panose="00000500000000000000" pitchFamily="2" charset="0"/>
            </a:endParaRPr>
          </a:p>
        </p:txBody>
      </p:sp>
      <p:pic>
        <p:nvPicPr>
          <p:cNvPr id="1026" name="Picture 2">
            <a:extLst>
              <a:ext uri="{FF2B5EF4-FFF2-40B4-BE49-F238E27FC236}">
                <a16:creationId xmlns:a16="http://schemas.microsoft.com/office/drawing/2014/main" id="{3A0B3D93-A82F-31A0-5E09-D6DFAAE3ED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5514975"/>
            <a:ext cx="365760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9279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Loops in Python</a:t>
            </a:r>
            <a:b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br>
            <a:r>
              <a:rPr lang="en-US" sz="1800" b="1" kern="0" dirty="0">
                <a:solidFill>
                  <a:srgbClr val="0B5296"/>
                </a:solidFill>
                <a:latin typeface="Poppins" panose="00000500000000000000" pitchFamily="2" charset="0"/>
                <a:ea typeface="Fira Code"/>
                <a:cs typeface="Poppins" panose="00000500000000000000" pitchFamily="2" charset="0"/>
                <a:sym typeface="Fira Code"/>
              </a:rPr>
              <a:t>[</a:t>
            </a:r>
            <a:r>
              <a:rPr kumimoji="0" lang="en-US" sz="18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For, While and Nested Loops]</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2" y="1690688"/>
            <a:ext cx="10648951" cy="3787280"/>
          </a:xfrm>
        </p:spPr>
        <p:txBody>
          <a:bodyPr>
            <a:normAutofit fontScale="92500"/>
          </a:bodyPr>
          <a:lstStyle/>
          <a:p>
            <a:pPr marL="0" indent="0">
              <a:lnSpc>
                <a:spcPct val="100000"/>
              </a:lnSpc>
              <a:buNone/>
            </a:pPr>
            <a:r>
              <a:rPr lang="en-US" dirty="0">
                <a:latin typeface="Poppins" panose="00000500000000000000" pitchFamily="2" charset="0"/>
                <a:cs typeface="Poppins" panose="00000500000000000000" pitchFamily="2" charset="0"/>
              </a:rPr>
              <a:t>Python programming language provides two types of loops – For loop and While loop to handle looping requirements. Python provides three ways for executing the loops.</a:t>
            </a:r>
          </a:p>
          <a:p>
            <a:pPr marL="0" indent="0">
              <a:lnSpc>
                <a:spcPct val="100000"/>
              </a:lnSpc>
              <a:buNone/>
            </a:pPr>
            <a:endParaRPr lang="en-US" dirty="0">
              <a:latin typeface="Poppins" panose="00000500000000000000" pitchFamily="2" charset="0"/>
              <a:cs typeface="Poppins" panose="00000500000000000000" pitchFamily="2" charset="0"/>
            </a:endParaRPr>
          </a:p>
          <a:p>
            <a:pPr marL="0" indent="0">
              <a:lnSpc>
                <a:spcPct val="100000"/>
              </a:lnSpc>
              <a:buNone/>
            </a:pPr>
            <a:r>
              <a:rPr lang="en-US" dirty="0">
                <a:latin typeface="Poppins" panose="00000500000000000000" pitchFamily="2" charset="0"/>
                <a:cs typeface="Poppins" panose="00000500000000000000" pitchFamily="2" charset="0"/>
              </a:rPr>
              <a:t>While all the ways provide similar basic functionality, they differ in their syntax and condition-checking time. In this section, we will look at Python loops and understand their working with the help of examples.</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16486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While Loop in Python</a:t>
            </a:r>
            <a:endParaRPr lang="en-US" b="1" dirty="0">
              <a:solidFill>
                <a:srgbClr val="0B5296"/>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F85FCCE3-5DD6-B237-CDA3-DE089C3EA67F}"/>
              </a:ext>
            </a:extLst>
          </p:cNvPr>
          <p:cNvSpPr>
            <a:spLocks noGrp="1"/>
          </p:cNvSpPr>
          <p:nvPr>
            <p:ph idx="1"/>
          </p:nvPr>
        </p:nvSpPr>
        <p:spPr>
          <a:xfrm>
            <a:off x="838200" y="1825625"/>
            <a:ext cx="10515600" cy="2117725"/>
          </a:xfrm>
        </p:spPr>
        <p:txBody>
          <a:bodyPr/>
          <a:lstStyle/>
          <a:p>
            <a:pPr marL="0" indent="0">
              <a:buNone/>
            </a:pPr>
            <a:r>
              <a:rPr lang="en-US" dirty="0">
                <a:latin typeface="Poppins" panose="00000500000000000000" pitchFamily="2" charset="0"/>
                <a:cs typeface="Poppins" panose="00000500000000000000" pitchFamily="2" charset="0"/>
              </a:rPr>
              <a:t>In Python, a while loop is used to execute a block of statements repeatedly until a given condition is satisfied. When the condition becomes false, the line immediately after the loop in the program is executed.</a:t>
            </a:r>
          </a:p>
        </p:txBody>
      </p:sp>
      <p:pic>
        <p:nvPicPr>
          <p:cNvPr id="4" name="Picture 3">
            <a:extLst>
              <a:ext uri="{FF2B5EF4-FFF2-40B4-BE49-F238E27FC236}">
                <a16:creationId xmlns:a16="http://schemas.microsoft.com/office/drawing/2014/main" id="{9AC2ADA8-B1C1-1C25-9346-AAE09E639568}"/>
              </a:ext>
            </a:extLst>
          </p:cNvPr>
          <p:cNvPicPr>
            <a:picLocks noChangeAspect="1"/>
          </p:cNvPicPr>
          <p:nvPr/>
        </p:nvPicPr>
        <p:blipFill rotWithShape="1">
          <a:blip r:embed="rId3"/>
          <a:srcRect r="49878"/>
          <a:stretch/>
        </p:blipFill>
        <p:spPr>
          <a:xfrm>
            <a:off x="1025913" y="3548807"/>
            <a:ext cx="6177776" cy="2944068"/>
          </a:xfrm>
          <a:prstGeom prst="rect">
            <a:avLst/>
          </a:prstGeom>
        </p:spPr>
      </p:pic>
    </p:spTree>
    <p:extLst>
      <p:ext uri="{BB962C8B-B14F-4D97-AF65-F5344CB8AC3E}">
        <p14:creationId xmlns:p14="http://schemas.microsoft.com/office/powerpoint/2010/main" val="34189876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Example of Python While Loop </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3" y="1690688"/>
            <a:ext cx="10626272" cy="1966912"/>
          </a:xfrm>
        </p:spPr>
        <p:txBody>
          <a:bodyPr>
            <a:normAutofit/>
          </a:bodyPr>
          <a:lstStyle/>
          <a:p>
            <a:pPr marL="0" indent="0">
              <a:lnSpc>
                <a:spcPct val="100000"/>
              </a:lnSpc>
              <a:buNone/>
            </a:pPr>
            <a:r>
              <a:rPr lang="en-US" dirty="0">
                <a:latin typeface="Poppins" panose="00000500000000000000" pitchFamily="2" charset="0"/>
                <a:cs typeface="Poppins" panose="00000500000000000000" pitchFamily="2" charset="0"/>
              </a:rPr>
              <a:t>All the statements indented by the same number of character spaces after a programming construct are considered to be part of a single block of code. Python uses indentation as its method of grouping statements. </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BFF63A2-0491-D03F-D451-32D5A08DE6C0}"/>
              </a:ext>
            </a:extLst>
          </p:cNvPr>
          <p:cNvPicPr>
            <a:picLocks noChangeAspect="1"/>
          </p:cNvPicPr>
          <p:nvPr/>
        </p:nvPicPr>
        <p:blipFill>
          <a:blip r:embed="rId3"/>
          <a:stretch>
            <a:fillRect/>
          </a:stretch>
        </p:blipFill>
        <p:spPr>
          <a:xfrm>
            <a:off x="2469243" y="2755811"/>
            <a:ext cx="6137729" cy="4384092"/>
          </a:xfrm>
          <a:prstGeom prst="rect">
            <a:avLst/>
          </a:prstGeom>
        </p:spPr>
      </p:pic>
    </p:spTree>
    <p:extLst>
      <p:ext uri="{BB962C8B-B14F-4D97-AF65-F5344CB8AC3E}">
        <p14:creationId xmlns:p14="http://schemas.microsoft.com/office/powerpoint/2010/main" val="14761501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32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Using else with While Loop</a:t>
            </a:r>
            <a:endParaRPr lang="en-US" sz="3200"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3" y="1690688"/>
            <a:ext cx="10515600" cy="1545998"/>
          </a:xfrm>
        </p:spPr>
        <p:txBody>
          <a:bodyPr>
            <a:normAutofit/>
          </a:bodyPr>
          <a:lstStyle/>
          <a:p>
            <a:pPr marL="0" indent="0">
              <a:lnSpc>
                <a:spcPct val="100000"/>
              </a:lnSpc>
              <a:buNone/>
            </a:pPr>
            <a:r>
              <a:rPr lang="en-US" dirty="0">
                <a:latin typeface="Poppins" panose="00000500000000000000" pitchFamily="2" charset="0"/>
                <a:cs typeface="Poppins" panose="00000500000000000000" pitchFamily="2" charset="0"/>
              </a:rPr>
              <a:t>The else clause is only executed when your while condition becomes false. If you break out of the loop, or if an exception is raised, it won’t be executed. </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9A88CD5-8FDE-D5EC-41A4-8AC145273684}"/>
              </a:ext>
            </a:extLst>
          </p:cNvPr>
          <p:cNvPicPr>
            <a:picLocks noChangeAspect="1"/>
          </p:cNvPicPr>
          <p:nvPr/>
        </p:nvPicPr>
        <p:blipFill>
          <a:blip r:embed="rId3"/>
          <a:stretch>
            <a:fillRect/>
          </a:stretch>
        </p:blipFill>
        <p:spPr>
          <a:xfrm>
            <a:off x="1072242" y="3148073"/>
            <a:ext cx="5872615" cy="3090041"/>
          </a:xfrm>
          <a:prstGeom prst="rect">
            <a:avLst/>
          </a:prstGeom>
        </p:spPr>
      </p:pic>
    </p:spTree>
    <p:extLst>
      <p:ext uri="{BB962C8B-B14F-4D97-AF65-F5344CB8AC3E}">
        <p14:creationId xmlns:p14="http://schemas.microsoft.com/office/powerpoint/2010/main" val="21455070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28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Examples of While Loop </a:t>
            </a:r>
            <a:br>
              <a:rPr kumimoji="0" lang="en-US" sz="28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br>
            <a:r>
              <a:rPr kumimoji="0" lang="en-US" sz="28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with else statement:</a:t>
            </a:r>
            <a:endParaRPr lang="en-US" sz="2800"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42983" y="1690688"/>
            <a:ext cx="10648951" cy="1618569"/>
          </a:xfrm>
        </p:spPr>
        <p:txBody>
          <a:bodyPr>
            <a:normAutofit/>
          </a:bodyPr>
          <a:lstStyle/>
          <a:p>
            <a:pPr marL="0" indent="0">
              <a:lnSpc>
                <a:spcPct val="100000"/>
              </a:lnSpc>
              <a:buNone/>
            </a:pPr>
            <a:r>
              <a:rPr lang="en-US" sz="2600" dirty="0">
                <a:latin typeface="Poppins" panose="00000500000000000000" pitchFamily="2" charset="0"/>
                <a:cs typeface="Poppins" panose="00000500000000000000" pitchFamily="2" charset="0"/>
              </a:rPr>
              <a:t>The code prints “Hello Geek” three times using a ‘while' loop and then, after the loop, it prints “In Else Block” because there is an “else” block associated with the ‘while' loop.</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62EBEB4-3C5A-5869-40C1-4722664C709F}"/>
              </a:ext>
            </a:extLst>
          </p:cNvPr>
          <p:cNvPicPr>
            <a:picLocks noChangeAspect="1"/>
          </p:cNvPicPr>
          <p:nvPr/>
        </p:nvPicPr>
        <p:blipFill>
          <a:blip r:embed="rId3"/>
          <a:stretch>
            <a:fillRect/>
          </a:stretch>
        </p:blipFill>
        <p:spPr>
          <a:xfrm>
            <a:off x="2264229" y="2152070"/>
            <a:ext cx="6364060" cy="4705930"/>
          </a:xfrm>
          <a:prstGeom prst="rect">
            <a:avLst/>
          </a:prstGeom>
        </p:spPr>
      </p:pic>
    </p:spTree>
    <p:extLst>
      <p:ext uri="{BB962C8B-B14F-4D97-AF65-F5344CB8AC3E}">
        <p14:creationId xmlns:p14="http://schemas.microsoft.com/office/powerpoint/2010/main" val="6867020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For Loop in Python</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3" y="1690688"/>
            <a:ext cx="10281558" cy="1923369"/>
          </a:xfrm>
        </p:spPr>
        <p:txBody>
          <a:bodyPr>
            <a:normAutofit fontScale="92500" lnSpcReduction="10000"/>
          </a:bodyPr>
          <a:lstStyle/>
          <a:p>
            <a:pPr marL="0" indent="0">
              <a:lnSpc>
                <a:spcPct val="100000"/>
              </a:lnSpc>
              <a:buNone/>
            </a:pPr>
            <a:r>
              <a:rPr lang="en-US" dirty="0">
                <a:latin typeface="Poppins" panose="00000500000000000000" pitchFamily="2" charset="0"/>
                <a:cs typeface="Poppins" panose="00000500000000000000" pitchFamily="2" charset="0"/>
              </a:rPr>
              <a:t>For loops are used for sequential traversal. For example: traversing a list or string or array etc. In Python, there is “for in” loop which is similar to foreach loop in other languages. Let us learn how to use for loop in Python for sequential traversals with examples.</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0D78B4D-BB7D-BB82-56F4-3D1ED344AA34}"/>
              </a:ext>
            </a:extLst>
          </p:cNvPr>
          <p:cNvPicPr>
            <a:picLocks noChangeAspect="1"/>
          </p:cNvPicPr>
          <p:nvPr/>
        </p:nvPicPr>
        <p:blipFill>
          <a:blip r:embed="rId3"/>
          <a:stretch>
            <a:fillRect/>
          </a:stretch>
        </p:blipFill>
        <p:spPr>
          <a:xfrm>
            <a:off x="1057277" y="3559630"/>
            <a:ext cx="6315984" cy="2676265"/>
          </a:xfrm>
          <a:prstGeom prst="rect">
            <a:avLst/>
          </a:prstGeom>
        </p:spPr>
      </p:pic>
    </p:spTree>
    <p:extLst>
      <p:ext uri="{BB962C8B-B14F-4D97-AF65-F5344CB8AC3E}">
        <p14:creationId xmlns:p14="http://schemas.microsoft.com/office/powerpoint/2010/main" val="28934864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Example:</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D4891504-F219-BE7D-C77A-E150B6B8F222}"/>
              </a:ext>
            </a:extLst>
          </p:cNvPr>
          <p:cNvSpPr txBox="1">
            <a:spLocks/>
          </p:cNvSpPr>
          <p:nvPr/>
        </p:nvSpPr>
        <p:spPr>
          <a:xfrm>
            <a:off x="960129" y="1509488"/>
            <a:ext cx="10515600" cy="23948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dirty="0">
                <a:latin typeface="Poppins" panose="00000500000000000000" pitchFamily="2" charset="0"/>
                <a:cs typeface="Poppins" panose="00000500000000000000" pitchFamily="2" charset="0"/>
              </a:rPr>
              <a:t>The code uses a Python for loop that iterates over the values from 0 to 3 (not including 4), as specified by the range(0, n) construct. It will print the values of ‘</a:t>
            </a:r>
            <a:r>
              <a:rPr lang="en-US" dirty="0" err="1">
                <a:latin typeface="Poppins" panose="00000500000000000000" pitchFamily="2" charset="0"/>
                <a:cs typeface="Poppins" panose="00000500000000000000" pitchFamily="2" charset="0"/>
              </a:rPr>
              <a:t>i</a:t>
            </a:r>
            <a:r>
              <a:rPr lang="en-US" dirty="0">
                <a:latin typeface="Poppins" panose="00000500000000000000" pitchFamily="2" charset="0"/>
                <a:cs typeface="Poppins" panose="00000500000000000000" pitchFamily="2" charset="0"/>
              </a:rPr>
              <a:t>' in each iteration of the loop.</a:t>
            </a:r>
          </a:p>
        </p:txBody>
      </p:sp>
      <p:pic>
        <p:nvPicPr>
          <p:cNvPr id="6" name="Picture 5">
            <a:extLst>
              <a:ext uri="{FF2B5EF4-FFF2-40B4-BE49-F238E27FC236}">
                <a16:creationId xmlns:a16="http://schemas.microsoft.com/office/drawing/2014/main" id="{A535AF8D-682E-1C86-9C3D-FBD0C4EC00A0}"/>
              </a:ext>
            </a:extLst>
          </p:cNvPr>
          <p:cNvPicPr>
            <a:picLocks noChangeAspect="1"/>
          </p:cNvPicPr>
          <p:nvPr/>
        </p:nvPicPr>
        <p:blipFill>
          <a:blip r:embed="rId3"/>
          <a:stretch>
            <a:fillRect/>
          </a:stretch>
        </p:blipFill>
        <p:spPr>
          <a:xfrm>
            <a:off x="1343025" y="2386693"/>
            <a:ext cx="7677150" cy="4610100"/>
          </a:xfrm>
          <a:prstGeom prst="rect">
            <a:avLst/>
          </a:prstGeom>
        </p:spPr>
      </p:pic>
    </p:spTree>
    <p:extLst>
      <p:ext uri="{BB962C8B-B14F-4D97-AF65-F5344CB8AC3E}">
        <p14:creationId xmlns:p14="http://schemas.microsoft.com/office/powerpoint/2010/main" val="31363926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32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String Iteration Using for Loops</a:t>
            </a:r>
            <a:endParaRPr lang="en-US" sz="3200" b="1" dirty="0">
              <a:solidFill>
                <a:srgbClr val="0B5296"/>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CBB259F-8E4E-187A-9F65-B1280538489B}"/>
              </a:ext>
            </a:extLst>
          </p:cNvPr>
          <p:cNvSpPr>
            <a:spLocks noGrp="1"/>
          </p:cNvSpPr>
          <p:nvPr>
            <p:ph idx="1"/>
          </p:nvPr>
        </p:nvSpPr>
        <p:spPr>
          <a:xfrm>
            <a:off x="1072242" y="1538515"/>
            <a:ext cx="10648951" cy="1325563"/>
          </a:xfrm>
        </p:spPr>
        <p:txBody>
          <a:bodyPr>
            <a:normAutofit/>
          </a:bodyPr>
          <a:lstStyle/>
          <a:p>
            <a:pPr marL="0" indent="0">
              <a:lnSpc>
                <a:spcPct val="100000"/>
              </a:lnSpc>
              <a:buNone/>
            </a:pPr>
            <a:r>
              <a:rPr lang="en-US" dirty="0">
                <a:latin typeface="Poppins" panose="00000500000000000000" pitchFamily="2" charset="0"/>
                <a:cs typeface="Poppins" panose="00000500000000000000" pitchFamily="2" charset="0"/>
              </a:rPr>
              <a:t>We can use for loop to iterate lists, tuples, strings and dictionaries in Python.</a:t>
            </a:r>
          </a:p>
        </p:txBody>
      </p:sp>
      <p:pic>
        <p:nvPicPr>
          <p:cNvPr id="5" name="Picture 4">
            <a:extLst>
              <a:ext uri="{FF2B5EF4-FFF2-40B4-BE49-F238E27FC236}">
                <a16:creationId xmlns:a16="http://schemas.microsoft.com/office/drawing/2014/main" id="{E61E8DBE-10F7-861C-5890-BD0200771426}"/>
              </a:ext>
            </a:extLst>
          </p:cNvPr>
          <p:cNvPicPr>
            <a:picLocks noChangeAspect="1"/>
          </p:cNvPicPr>
          <p:nvPr/>
        </p:nvPicPr>
        <p:blipFill>
          <a:blip r:embed="rId3"/>
          <a:stretch>
            <a:fillRect/>
          </a:stretch>
        </p:blipFill>
        <p:spPr>
          <a:xfrm>
            <a:off x="2065317" y="1573091"/>
            <a:ext cx="7677150" cy="4610100"/>
          </a:xfrm>
          <a:prstGeom prst="rect">
            <a:avLst/>
          </a:prstGeom>
        </p:spPr>
      </p:pic>
    </p:spTree>
    <p:extLst>
      <p:ext uri="{BB962C8B-B14F-4D97-AF65-F5344CB8AC3E}">
        <p14:creationId xmlns:p14="http://schemas.microsoft.com/office/powerpoint/2010/main" val="2906242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lang="en-US" b="1" kern="0" dirty="0">
                <a:solidFill>
                  <a:srgbClr val="0B5296"/>
                </a:solidFill>
                <a:latin typeface="Poppins" panose="00000500000000000000" pitchFamily="2" charset="0"/>
                <a:ea typeface="Fira Code"/>
                <a:cs typeface="Poppins" panose="00000500000000000000" pitchFamily="2" charset="0"/>
                <a:sym typeface="Fira Code"/>
              </a:rPr>
              <a:t>else Statement with for Loop</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38200" y="1690688"/>
            <a:ext cx="10749643" cy="1325563"/>
          </a:xfrm>
        </p:spPr>
        <p:txBody>
          <a:bodyPr>
            <a:normAutofit fontScale="85000" lnSpcReduction="20000"/>
          </a:bodyPr>
          <a:lstStyle/>
          <a:p>
            <a:pPr marL="0" indent="0">
              <a:lnSpc>
                <a:spcPct val="100000"/>
              </a:lnSpc>
              <a:buNone/>
            </a:pPr>
            <a:r>
              <a:rPr lang="en-US" dirty="0">
                <a:latin typeface="Poppins" panose="00000500000000000000" pitchFamily="2" charset="0"/>
                <a:cs typeface="Poppins" panose="00000500000000000000" pitchFamily="2" charset="0"/>
              </a:rPr>
              <a:t>We can also combine else statement with for loop like in while loop. But as there is no condition in for loop based on which the execution will terminate so the else block will be executed immediately after for block finishes execution. </a:t>
            </a:r>
          </a:p>
          <a:p>
            <a:pPr marL="0" indent="0">
              <a:lnSpc>
                <a:spcPct val="100000"/>
              </a:lnSpc>
              <a:buNone/>
            </a:pPr>
            <a:endParaRPr lang="en-US" dirty="0">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1FA4698-2B6A-5087-B0BE-E0EDA19F5EE5}"/>
              </a:ext>
            </a:extLst>
          </p:cNvPr>
          <p:cNvPicPr>
            <a:picLocks noChangeAspect="1"/>
          </p:cNvPicPr>
          <p:nvPr/>
        </p:nvPicPr>
        <p:blipFill>
          <a:blip r:embed="rId3"/>
          <a:stretch>
            <a:fillRect/>
          </a:stretch>
        </p:blipFill>
        <p:spPr>
          <a:xfrm>
            <a:off x="1683657" y="2162629"/>
            <a:ext cx="7684496" cy="5088844"/>
          </a:xfrm>
          <a:prstGeom prst="rect">
            <a:avLst/>
          </a:prstGeom>
        </p:spPr>
      </p:pic>
    </p:spTree>
    <p:extLst>
      <p:ext uri="{BB962C8B-B14F-4D97-AF65-F5344CB8AC3E}">
        <p14:creationId xmlns:p14="http://schemas.microsoft.com/office/powerpoint/2010/main" val="36713599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Nested Loops</a:t>
            </a:r>
            <a:endParaRPr lang="en-US" b="1" dirty="0">
              <a:solidFill>
                <a:srgbClr val="0B5296"/>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CBB259F-8E4E-187A-9F65-B1280538489B}"/>
              </a:ext>
            </a:extLst>
          </p:cNvPr>
          <p:cNvSpPr>
            <a:spLocks noGrp="1"/>
          </p:cNvSpPr>
          <p:nvPr>
            <p:ph idx="1"/>
          </p:nvPr>
        </p:nvSpPr>
        <p:spPr>
          <a:xfrm>
            <a:off x="1005334" y="1690689"/>
            <a:ext cx="10515599" cy="1738312"/>
          </a:xfrm>
        </p:spPr>
        <p:txBody>
          <a:bodyPr>
            <a:normAutofit fontScale="85000" lnSpcReduction="20000"/>
          </a:bodyPr>
          <a:lstStyle/>
          <a:p>
            <a:pPr marL="0" indent="0">
              <a:lnSpc>
                <a:spcPct val="100000"/>
              </a:lnSpc>
              <a:buNone/>
            </a:pPr>
            <a:r>
              <a:rPr lang="en-US" dirty="0">
                <a:latin typeface="Poppins" panose="00000500000000000000" pitchFamily="2" charset="0"/>
                <a:cs typeface="Poppins" panose="00000500000000000000" pitchFamily="2" charset="0"/>
              </a:rPr>
              <a:t>Python programming language allows to use one loop inside another loop which is called nested loop. </a:t>
            </a:r>
          </a:p>
          <a:p>
            <a:pPr marL="0" indent="0">
              <a:lnSpc>
                <a:spcPct val="100000"/>
              </a:lnSpc>
              <a:buNone/>
            </a:pPr>
            <a:r>
              <a:rPr lang="en-US" dirty="0">
                <a:latin typeface="Poppins" panose="00000500000000000000" pitchFamily="2" charset="0"/>
                <a:cs typeface="Poppins" panose="00000500000000000000" pitchFamily="2" charset="0"/>
              </a:rPr>
              <a:t>A final note on loop nesting is that we can put any type of loop inside of any other type of loop. For example, a for loop can be inside a while loop or vice versa.</a:t>
            </a:r>
          </a:p>
        </p:txBody>
      </p:sp>
      <p:pic>
        <p:nvPicPr>
          <p:cNvPr id="5" name="Picture 4">
            <a:extLst>
              <a:ext uri="{FF2B5EF4-FFF2-40B4-BE49-F238E27FC236}">
                <a16:creationId xmlns:a16="http://schemas.microsoft.com/office/drawing/2014/main" id="{AFF4BD3B-72E1-1E5B-DF9A-4D1D28F2B187}"/>
              </a:ext>
            </a:extLst>
          </p:cNvPr>
          <p:cNvPicPr>
            <a:picLocks noChangeAspect="1"/>
          </p:cNvPicPr>
          <p:nvPr/>
        </p:nvPicPr>
        <p:blipFill>
          <a:blip r:embed="rId3"/>
          <a:stretch>
            <a:fillRect/>
          </a:stretch>
        </p:blipFill>
        <p:spPr>
          <a:xfrm>
            <a:off x="986971" y="3352705"/>
            <a:ext cx="5109029" cy="2961706"/>
          </a:xfrm>
          <a:prstGeom prst="rect">
            <a:avLst/>
          </a:prstGeom>
        </p:spPr>
      </p:pic>
      <p:pic>
        <p:nvPicPr>
          <p:cNvPr id="8" name="Picture 7">
            <a:extLst>
              <a:ext uri="{FF2B5EF4-FFF2-40B4-BE49-F238E27FC236}">
                <a16:creationId xmlns:a16="http://schemas.microsoft.com/office/drawing/2014/main" id="{CAA14186-1AE5-A1A2-E472-4F4CA93607F7}"/>
              </a:ext>
            </a:extLst>
          </p:cNvPr>
          <p:cNvPicPr>
            <a:picLocks noChangeAspect="1"/>
          </p:cNvPicPr>
          <p:nvPr/>
        </p:nvPicPr>
        <p:blipFill>
          <a:blip r:embed="rId4"/>
          <a:stretch>
            <a:fillRect/>
          </a:stretch>
        </p:blipFill>
        <p:spPr>
          <a:xfrm>
            <a:off x="6531429" y="3838778"/>
            <a:ext cx="3643085" cy="2399336"/>
          </a:xfrm>
          <a:prstGeom prst="rect">
            <a:avLst/>
          </a:prstGeom>
        </p:spPr>
      </p:pic>
    </p:spTree>
    <p:extLst>
      <p:ext uri="{BB962C8B-B14F-4D97-AF65-F5344CB8AC3E}">
        <p14:creationId xmlns:p14="http://schemas.microsoft.com/office/powerpoint/2010/main" val="13985058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Nested loop example</a:t>
            </a:r>
            <a:endParaRPr lang="en-US" b="1" dirty="0">
              <a:solidFill>
                <a:srgbClr val="0B5296"/>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B6C2A69-E4A7-EB07-E938-51DE9A0D3488}"/>
              </a:ext>
            </a:extLst>
          </p:cNvPr>
          <p:cNvPicPr>
            <a:picLocks noChangeAspect="1"/>
          </p:cNvPicPr>
          <p:nvPr/>
        </p:nvPicPr>
        <p:blipFill>
          <a:blip r:embed="rId3"/>
          <a:stretch>
            <a:fillRect/>
          </a:stretch>
        </p:blipFill>
        <p:spPr>
          <a:xfrm>
            <a:off x="-294822" y="952500"/>
            <a:ext cx="8572500" cy="4953000"/>
          </a:xfrm>
          <a:prstGeom prst="rect">
            <a:avLst/>
          </a:prstGeom>
        </p:spPr>
      </p:pic>
    </p:spTree>
    <p:extLst>
      <p:ext uri="{BB962C8B-B14F-4D97-AF65-F5344CB8AC3E}">
        <p14:creationId xmlns:p14="http://schemas.microsoft.com/office/powerpoint/2010/main" val="4510581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Loop Control Statements</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3" y="1690688"/>
            <a:ext cx="10281558" cy="4202112"/>
          </a:xfrm>
        </p:spPr>
        <p:txBody>
          <a:bodyPr>
            <a:normAutofit/>
          </a:bodyPr>
          <a:lstStyle/>
          <a:p>
            <a:pPr marL="0" indent="0">
              <a:lnSpc>
                <a:spcPct val="100000"/>
              </a:lnSpc>
              <a:buNone/>
            </a:pPr>
            <a:r>
              <a:rPr lang="en-US" dirty="0">
                <a:latin typeface="Poppins" panose="00000500000000000000" pitchFamily="2" charset="0"/>
                <a:cs typeface="Poppins" panose="00000500000000000000" pitchFamily="2" charset="0"/>
              </a:rPr>
              <a:t>Loop control statements change execution from their normal sequence. When execution leaves a scope, all automatic objects that were created in that scope are destroyed. Python supports the following control statements. </a:t>
            </a:r>
          </a:p>
          <a:p>
            <a:pPr marL="0" indent="0">
              <a:lnSpc>
                <a:spcPct val="100000"/>
              </a:lnSpc>
              <a:buNone/>
            </a:pPr>
            <a:endParaRPr lang="en-US" dirty="0">
              <a:latin typeface="Poppins" panose="00000500000000000000" pitchFamily="2" charset="0"/>
              <a:cs typeface="Poppins" panose="00000500000000000000" pitchFamily="2" charset="0"/>
            </a:endParaRPr>
          </a:p>
          <a:p>
            <a:pPr marL="0" indent="0" algn="ctr">
              <a:lnSpc>
                <a:spcPct val="100000"/>
              </a:lnSpc>
              <a:buNone/>
            </a:pPr>
            <a:r>
              <a:rPr lang="en-US" sz="3200" b="1" dirty="0">
                <a:solidFill>
                  <a:srgbClr val="00ACEE"/>
                </a:solidFill>
                <a:latin typeface="Poppins" panose="00000500000000000000" pitchFamily="2" charset="0"/>
                <a:cs typeface="Poppins" panose="00000500000000000000" pitchFamily="2" charset="0"/>
              </a:rPr>
              <a:t>Continue - Break - Pass </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594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a:xfrm>
            <a:off x="838200" y="365126"/>
            <a:ext cx="10515600" cy="984704"/>
          </a:xfrm>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Loop Control [continue]</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38200" y="1349830"/>
            <a:ext cx="10816771" cy="2917370"/>
          </a:xfrm>
        </p:spPr>
        <p:txBody>
          <a:bodyPr>
            <a:normAutofit fontScale="92500" lnSpcReduction="10000"/>
          </a:bodyPr>
          <a:lstStyle/>
          <a:p>
            <a:pPr marL="0" indent="0">
              <a:lnSpc>
                <a:spcPct val="100000"/>
              </a:lnSpc>
              <a:buNone/>
            </a:pPr>
            <a:r>
              <a:rPr lang="en-US" dirty="0">
                <a:latin typeface="Poppins" panose="00000500000000000000" pitchFamily="2" charset="0"/>
                <a:cs typeface="Poppins" panose="00000500000000000000" pitchFamily="2" charset="0"/>
              </a:rPr>
              <a:t>The continue statement in Python returns the control to the beginning of the loop.</a:t>
            </a:r>
          </a:p>
          <a:p>
            <a:pPr marL="0" indent="0">
              <a:lnSpc>
                <a:spcPct val="100000"/>
              </a:lnSpc>
              <a:buNone/>
            </a:pPr>
            <a:r>
              <a:rPr lang="en-US" sz="2200" b="1" dirty="0">
                <a:latin typeface="Poppins" panose="00000500000000000000" pitchFamily="2" charset="0"/>
                <a:cs typeface="Poppins" panose="00000500000000000000" pitchFamily="2" charset="0"/>
              </a:rPr>
              <a:t>Example</a:t>
            </a:r>
            <a:r>
              <a:rPr lang="en-US" sz="2200" dirty="0">
                <a:latin typeface="Poppins" panose="00000500000000000000" pitchFamily="2" charset="0"/>
                <a:cs typeface="Poppins" panose="00000500000000000000" pitchFamily="2" charset="0"/>
              </a:rPr>
              <a:t>: </a:t>
            </a:r>
          </a:p>
          <a:p>
            <a:pPr marL="0" indent="0">
              <a:lnSpc>
                <a:spcPct val="100000"/>
              </a:lnSpc>
              <a:buNone/>
            </a:pPr>
            <a:r>
              <a:rPr lang="en-US" sz="2200" dirty="0">
                <a:latin typeface="Poppins" panose="00000500000000000000" pitchFamily="2" charset="0"/>
                <a:cs typeface="Poppins" panose="00000500000000000000" pitchFamily="2" charset="0"/>
              </a:rPr>
              <a:t>This Python code iterates through the characters of the string ‘</a:t>
            </a:r>
            <a:r>
              <a:rPr lang="en-US" sz="2200" dirty="0" err="1">
                <a:latin typeface="Poppins" panose="00000500000000000000" pitchFamily="2" charset="0"/>
                <a:cs typeface="Poppins" panose="00000500000000000000" pitchFamily="2" charset="0"/>
              </a:rPr>
              <a:t>geeksforgeeks</a:t>
            </a:r>
            <a:r>
              <a:rPr lang="en-US" sz="2200" dirty="0">
                <a:latin typeface="Poppins" panose="00000500000000000000" pitchFamily="2" charset="0"/>
                <a:cs typeface="Poppins" panose="00000500000000000000" pitchFamily="2" charset="0"/>
              </a:rPr>
              <a:t>’. When it encounters the characters ‘e’ or ‘s’, it uses the continue statement to skip the current iteration and continue with the next character. For all other characters, it prints “Current Letter :” followed by the character. So, the output will display all characters except ‘e’ and ‘s’, each on a separate line.</a:t>
            </a:r>
            <a:endParaRPr lang="en-US" sz="2600" b="1" dirty="0">
              <a:solidFill>
                <a:srgbClr val="00ACEE"/>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2E4E91D-71D0-B27F-2E34-3E49489131BB}"/>
              </a:ext>
            </a:extLst>
          </p:cNvPr>
          <p:cNvPicPr>
            <a:picLocks noChangeAspect="1"/>
          </p:cNvPicPr>
          <p:nvPr/>
        </p:nvPicPr>
        <p:blipFill>
          <a:blip r:embed="rId3"/>
          <a:stretch>
            <a:fillRect/>
          </a:stretch>
        </p:blipFill>
        <p:spPr>
          <a:xfrm>
            <a:off x="1308101" y="3289578"/>
            <a:ext cx="7429500" cy="3926159"/>
          </a:xfrm>
          <a:prstGeom prst="rect">
            <a:avLst/>
          </a:prstGeom>
        </p:spPr>
      </p:pic>
    </p:spTree>
    <p:extLst>
      <p:ext uri="{BB962C8B-B14F-4D97-AF65-F5344CB8AC3E}">
        <p14:creationId xmlns:p14="http://schemas.microsoft.com/office/powerpoint/2010/main" val="399779210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Loop Control [break]</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38200" y="1690688"/>
            <a:ext cx="10874829" cy="2620055"/>
          </a:xfrm>
        </p:spPr>
        <p:txBody>
          <a:bodyPr>
            <a:normAutofit fontScale="92500" lnSpcReduction="10000"/>
          </a:bodyPr>
          <a:lstStyle/>
          <a:p>
            <a:pPr marL="0" indent="0">
              <a:lnSpc>
                <a:spcPct val="100000"/>
              </a:lnSpc>
              <a:buNone/>
            </a:pPr>
            <a:r>
              <a:rPr lang="en-US" dirty="0">
                <a:latin typeface="Poppins" panose="00000500000000000000" pitchFamily="2" charset="0"/>
                <a:cs typeface="Poppins" panose="00000500000000000000" pitchFamily="2" charset="0"/>
              </a:rPr>
              <a:t>The break statement in Python brings control out of the loop.</a:t>
            </a:r>
          </a:p>
          <a:p>
            <a:pPr marL="0" indent="0">
              <a:lnSpc>
                <a:spcPct val="100000"/>
              </a:lnSpc>
              <a:buNone/>
            </a:pPr>
            <a:r>
              <a:rPr lang="en-US" sz="2400" b="1" dirty="0">
                <a:latin typeface="Poppins" panose="00000500000000000000" pitchFamily="2" charset="0"/>
                <a:cs typeface="Poppins" panose="00000500000000000000" pitchFamily="2" charset="0"/>
              </a:rPr>
              <a:t>Example</a:t>
            </a:r>
            <a:r>
              <a:rPr lang="en-US" sz="2400" dirty="0">
                <a:latin typeface="Poppins" panose="00000500000000000000" pitchFamily="2" charset="0"/>
                <a:cs typeface="Poppins" panose="00000500000000000000" pitchFamily="2" charset="0"/>
              </a:rPr>
              <a:t>: In this Python code, it iterates through the characters of the string ‘</a:t>
            </a:r>
            <a:r>
              <a:rPr lang="en-US" sz="2400" dirty="0" err="1">
                <a:latin typeface="Poppins" panose="00000500000000000000" pitchFamily="2" charset="0"/>
                <a:cs typeface="Poppins" panose="00000500000000000000" pitchFamily="2" charset="0"/>
              </a:rPr>
              <a:t>geeksforgeeks</a:t>
            </a:r>
            <a:r>
              <a:rPr lang="en-US" sz="2400" dirty="0">
                <a:latin typeface="Poppins" panose="00000500000000000000" pitchFamily="2" charset="0"/>
                <a:cs typeface="Poppins" panose="00000500000000000000" pitchFamily="2" charset="0"/>
              </a:rPr>
              <a:t>’. When it encounters the characters ‘e’ or ‘s’, it uses the break statement to exit the loop. After the loop is terminated, it prints “Current Letter :” followed by the last character encountered in the loop (either ‘e’ or ‘s’). So, the output will display “Current Letter :” followed by the first occurrence of ‘e’ or ‘s’ in the string.</a:t>
            </a:r>
            <a:endParaRPr lang="en-US" b="1" dirty="0">
              <a:solidFill>
                <a:srgbClr val="00ACEE"/>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F08F335-B301-E91B-9D94-6D65C5C5FE6C}"/>
              </a:ext>
            </a:extLst>
          </p:cNvPr>
          <p:cNvPicPr>
            <a:picLocks noChangeAspect="1"/>
          </p:cNvPicPr>
          <p:nvPr/>
        </p:nvPicPr>
        <p:blipFill>
          <a:blip r:embed="rId3"/>
          <a:stretch>
            <a:fillRect/>
          </a:stretch>
        </p:blipFill>
        <p:spPr>
          <a:xfrm>
            <a:off x="1830615" y="3369141"/>
            <a:ext cx="6805386" cy="3596342"/>
          </a:xfrm>
          <a:prstGeom prst="rect">
            <a:avLst/>
          </a:prstGeom>
        </p:spPr>
      </p:pic>
    </p:spTree>
    <p:extLst>
      <p:ext uri="{BB962C8B-B14F-4D97-AF65-F5344CB8AC3E}">
        <p14:creationId xmlns:p14="http://schemas.microsoft.com/office/powerpoint/2010/main" val="319031665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Loop Control [pass]</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38200" y="1690688"/>
            <a:ext cx="10874829" cy="2620055"/>
          </a:xfrm>
        </p:spPr>
        <p:txBody>
          <a:bodyPr>
            <a:normAutofit/>
          </a:bodyPr>
          <a:lstStyle/>
          <a:p>
            <a:pPr marL="0" indent="0">
              <a:lnSpc>
                <a:spcPct val="100000"/>
              </a:lnSpc>
              <a:buNone/>
            </a:pPr>
            <a:r>
              <a:rPr lang="en-US" dirty="0">
                <a:latin typeface="Poppins" panose="00000500000000000000" pitchFamily="2" charset="0"/>
                <a:cs typeface="Poppins" panose="00000500000000000000" pitchFamily="2" charset="0"/>
              </a:rPr>
              <a:t>We use pass statement in Python to write empty loops</a:t>
            </a:r>
          </a:p>
          <a:p>
            <a:pPr marL="0" indent="0">
              <a:lnSpc>
                <a:spcPct val="100000"/>
              </a:lnSpc>
              <a:buNone/>
            </a:pPr>
            <a:r>
              <a:rPr lang="en-US" sz="2200" b="1" dirty="0">
                <a:latin typeface="Poppins" panose="00000500000000000000" pitchFamily="2" charset="0"/>
                <a:cs typeface="Poppins" panose="00000500000000000000" pitchFamily="2" charset="0"/>
              </a:rPr>
              <a:t>Example</a:t>
            </a:r>
            <a:r>
              <a:rPr lang="en-US" sz="2200" dirty="0">
                <a:latin typeface="Poppins" panose="00000500000000000000" pitchFamily="2" charset="0"/>
                <a:cs typeface="Poppins" panose="00000500000000000000" pitchFamily="2" charset="0"/>
              </a:rPr>
              <a:t>: This Python code iterates through the characters of the string ‘</a:t>
            </a:r>
            <a:r>
              <a:rPr lang="en-US" sz="2200" dirty="0" err="1">
                <a:latin typeface="Poppins" panose="00000500000000000000" pitchFamily="2" charset="0"/>
                <a:cs typeface="Poppins" panose="00000500000000000000" pitchFamily="2" charset="0"/>
              </a:rPr>
              <a:t>geeksforgeeks</a:t>
            </a:r>
            <a:r>
              <a:rPr lang="en-US" sz="2200" dirty="0">
                <a:latin typeface="Poppins" panose="00000500000000000000" pitchFamily="2" charset="0"/>
                <a:cs typeface="Poppins" panose="00000500000000000000" pitchFamily="2" charset="0"/>
              </a:rPr>
              <a:t>’ using a ‘for' loop. However, it doesn’t perform any specific action within the loop, and the ‘pass' statement is used. After the loop, it prints “Last Letter :” followed by the last character in the string, which is ‘s’.</a:t>
            </a:r>
            <a:endParaRPr lang="en-US" sz="2200" b="1" dirty="0">
              <a:solidFill>
                <a:srgbClr val="00ACEE"/>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943DF85-58AF-A11E-A69B-23FD07AD435C}"/>
              </a:ext>
            </a:extLst>
          </p:cNvPr>
          <p:cNvPicPr>
            <a:picLocks noChangeAspect="1"/>
          </p:cNvPicPr>
          <p:nvPr/>
        </p:nvPicPr>
        <p:blipFill>
          <a:blip r:embed="rId3"/>
          <a:stretch>
            <a:fillRect/>
          </a:stretch>
        </p:blipFill>
        <p:spPr>
          <a:xfrm>
            <a:off x="1916545" y="2979398"/>
            <a:ext cx="7575798" cy="3726307"/>
          </a:xfrm>
          <a:prstGeom prst="rect">
            <a:avLst/>
          </a:prstGeom>
        </p:spPr>
      </p:pic>
    </p:spTree>
    <p:extLst>
      <p:ext uri="{BB962C8B-B14F-4D97-AF65-F5344CB8AC3E}">
        <p14:creationId xmlns:p14="http://schemas.microsoft.com/office/powerpoint/2010/main" val="368728501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Presentation Assignment</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38200" y="1690688"/>
            <a:ext cx="10874829" cy="2620055"/>
          </a:xfrm>
        </p:spPr>
        <p:txBody>
          <a:bodyPr>
            <a:normAutofit/>
          </a:bodyPr>
          <a:lstStyle/>
          <a:p>
            <a:pPr marL="0" indent="0">
              <a:lnSpc>
                <a:spcPct val="100000"/>
              </a:lnSpc>
              <a:buNone/>
            </a:pPr>
            <a:r>
              <a:rPr lang="en-US" dirty="0">
                <a:latin typeface="Poppins" panose="00000500000000000000" pitchFamily="2" charset="0"/>
                <a:cs typeface="Poppins" panose="00000500000000000000" pitchFamily="2" charset="0"/>
              </a:rPr>
              <a:t>Prepare a presentation for the next class about</a:t>
            </a:r>
          </a:p>
          <a:p>
            <a:pPr marL="800100" lvl="1" indent="-342900">
              <a:lnSpc>
                <a:spcPct val="100000"/>
              </a:lnSpc>
              <a:buFont typeface="+mj-lt"/>
              <a:buAutoNum type="arabicPeriod"/>
            </a:pPr>
            <a:r>
              <a:rPr lang="en-US" sz="1800" dirty="0">
                <a:latin typeface="Poppins" panose="00000500000000000000" pitchFamily="2" charset="0"/>
                <a:cs typeface="Poppins" panose="00000500000000000000" pitchFamily="2" charset="0"/>
              </a:rPr>
              <a:t>Application of loops</a:t>
            </a:r>
          </a:p>
          <a:p>
            <a:pPr marL="800100" lvl="1" indent="-342900">
              <a:lnSpc>
                <a:spcPct val="100000"/>
              </a:lnSpc>
              <a:buFont typeface="+mj-lt"/>
              <a:buAutoNum type="arabicPeriod"/>
            </a:pPr>
            <a:r>
              <a:rPr lang="en-US" sz="1800" dirty="0">
                <a:latin typeface="Poppins" panose="00000500000000000000" pitchFamily="2" charset="0"/>
                <a:cs typeface="Poppins" panose="00000500000000000000" pitchFamily="2" charset="0"/>
              </a:rPr>
              <a:t>Difference between for and while loop</a:t>
            </a:r>
          </a:p>
          <a:p>
            <a:pPr marL="800100" lvl="1" indent="-342900">
              <a:lnSpc>
                <a:spcPct val="100000"/>
              </a:lnSpc>
              <a:buFont typeface="+mj-lt"/>
              <a:buAutoNum type="arabicPeriod"/>
            </a:pPr>
            <a:r>
              <a:rPr lang="en-US" sz="1800" dirty="0">
                <a:latin typeface="Poppins" panose="00000500000000000000" pitchFamily="2" charset="0"/>
                <a:cs typeface="Poppins" panose="00000500000000000000" pitchFamily="2" charset="0"/>
              </a:rPr>
              <a:t>What is </a:t>
            </a:r>
            <a:r>
              <a:rPr lang="en-US" sz="1800" b="1" dirty="0">
                <a:latin typeface="Poppins" panose="00000500000000000000" pitchFamily="2" charset="0"/>
                <a:cs typeface="Poppins" panose="00000500000000000000" pitchFamily="2" charset="0"/>
              </a:rPr>
              <a:t>do-while</a:t>
            </a:r>
            <a:r>
              <a:rPr lang="en-US" sz="1800" dirty="0">
                <a:latin typeface="Poppins" panose="00000500000000000000" pitchFamily="2" charset="0"/>
                <a:cs typeface="Poppins" panose="00000500000000000000" pitchFamily="2" charset="0"/>
              </a:rPr>
              <a:t>? how does it work? one code example based on what you mentioned as application in question number one.</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0895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2840</TotalTime>
  <Words>890</Words>
  <Application>Microsoft Office PowerPoint</Application>
  <PresentationFormat>Widescreen</PresentationFormat>
  <Paragraphs>44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Poppins</vt:lpstr>
      <vt:lpstr>Office Theme</vt:lpstr>
      <vt:lpstr>INTRO TO  PYTHON Section Three</vt:lpstr>
      <vt:lpstr>Loops in Python [For, While and Nested Loops]</vt:lpstr>
      <vt:lpstr>While Loop in Python</vt:lpstr>
      <vt:lpstr>Example of Python While Loop </vt:lpstr>
      <vt:lpstr>Using else with While Loop</vt:lpstr>
      <vt:lpstr>Examples of While Loop  with else statement:</vt:lpstr>
      <vt:lpstr>For Loop in Python</vt:lpstr>
      <vt:lpstr>Example:</vt:lpstr>
      <vt:lpstr>String Iteration Using for Loops</vt:lpstr>
      <vt:lpstr>else Statement with for Loop</vt:lpstr>
      <vt:lpstr>Nested Loops</vt:lpstr>
      <vt:lpstr>Nested loop example</vt:lpstr>
      <vt:lpstr>Loop Control Statements</vt:lpstr>
      <vt:lpstr>Loop Control [continue]</vt:lpstr>
      <vt:lpstr>Loop Control [break]</vt:lpstr>
      <vt:lpstr>Loop Control [pass]</vt:lpstr>
      <vt:lpstr>Presentation 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creator/>
  <cp:lastModifiedBy>Abdiyu Urgesa</cp:lastModifiedBy>
  <cp:revision>72</cp:revision>
  <dcterms:created xsi:type="dcterms:W3CDTF">2017-11-16T19:31:50Z</dcterms:created>
  <dcterms:modified xsi:type="dcterms:W3CDTF">2024-01-27T10:37:13Z</dcterms:modified>
</cp:coreProperties>
</file>