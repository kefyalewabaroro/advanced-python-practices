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914400"/>
            <a:ext cx="4236415" cy="5650992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217920" cy="5486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3000" b="1">
                <a:solidFill>
                  <a:srgbClr val="12224A"/>
                </a:solidFill>
                <a:latin typeface="Aptos"/>
              </a:rPr>
              <a:t>Power BI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6126480" cy="7772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900" b="0">
                <a:solidFill>
                  <a:srgbClr val="646E78"/>
                </a:solidFill>
                <a:latin typeface="Aptos"/>
              </a:rPr>
              <a:t>Organizing data into clear, connected tables so reports become accurate, fast, and easy to understand.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2926080" cy="594360"/>
          </a:xfrm>
          <a:prstGeom prst="roundRect">
            <a:avLst/>
          </a:prstGeom>
          <a:solidFill>
            <a:srgbClr val="E2F8FA"/>
          </a:solidFill>
          <a:ln w="1524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0096AA"/>
                </a:solidFill>
                <a:latin typeface="Aptos"/>
              </a:rPr>
              <a:t>Clear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2926080" cy="59436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3266CC"/>
                </a:solidFill>
                <a:latin typeface="Aptos"/>
              </a:rPr>
              <a:t>Correct relationships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2926080" cy="594360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27AE60"/>
                </a:solidFill>
                <a:latin typeface="Aptos"/>
              </a:rPr>
              <a:t>Reliable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965960"/>
            <a:ext cx="17830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12224A"/>
                </a:solidFill>
                <a:latin typeface="Aptos"/>
              </a:rPr>
              <a:t>Raw Tables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195560" y="2139696"/>
            <a:ext cx="502920" cy="384048"/>
          </a:xfrm>
          <a:prstGeom prst="rightArrow">
            <a:avLst/>
          </a:prstGeom>
          <a:solidFill>
            <a:srgbClr val="12224A"/>
          </a:solidFill>
          <a:ln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35640" y="1965960"/>
            <a:ext cx="1097280" cy="749808"/>
          </a:xfrm>
          <a:prstGeom prst="roundRect">
            <a:avLst/>
          </a:prstGeom>
          <a:solidFill>
            <a:srgbClr val="0096AA"/>
          </a:solidFill>
          <a:ln w="1524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337560"/>
            <a:ext cx="17830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12224A"/>
                </a:solidFill>
                <a:latin typeface="Aptos"/>
              </a:rPr>
              <a:t>Clean Keys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195560" y="3511296"/>
            <a:ext cx="502920" cy="384048"/>
          </a:xfrm>
          <a:prstGeom prst="rightArrow">
            <a:avLst/>
          </a:prstGeom>
          <a:solidFill>
            <a:srgbClr val="12224A"/>
          </a:solidFill>
          <a:ln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835640" y="3337560"/>
            <a:ext cx="1097280" cy="749808"/>
          </a:xfrm>
          <a:prstGeom prst="roundRect">
            <a:avLst/>
          </a:prstGeom>
          <a:solidFill>
            <a:srgbClr val="27AE60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3657600" cy="5486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700" b="1">
                <a:solidFill>
                  <a:srgbClr val="12224A"/>
                </a:solidFill>
                <a:latin typeface="Aptos"/>
              </a:rPr>
              <a:t>Data model = the structure behind the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What Is Data Modeling?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4846320" cy="237744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52728"/>
            <a:ext cx="451713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81912"/>
            <a:ext cx="4608576" cy="184708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Organizing data into related tables.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Defining how tables connect and filter each other.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Preparing data for accurate business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4846320" cy="141732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904488"/>
            <a:ext cx="451713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Simple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33672"/>
            <a:ext cx="4608576" cy="88696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A2A2A"/>
                </a:solidFill>
                <a:latin typeface="Aptos"/>
              </a:defRPr>
            </a:pPr>
            <a:r>
              <a:t>Sales connects with Product, Customer, and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1828800" cy="685800"/>
          </a:xfrm>
          <a:prstGeom prst="roundRect">
            <a:avLst/>
          </a:prstGeom>
          <a:solidFill>
            <a:srgbClr val="FFF3E5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E67E22"/>
                </a:solidFill>
                <a:latin typeface="Aptos"/>
              </a:rPr>
              <a:t>Raw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12480" y="1664208"/>
            <a:ext cx="502920" cy="365760"/>
          </a:xfrm>
          <a:prstGeom prst="rightArrow">
            <a:avLst/>
          </a:prstGeom>
          <a:solidFill>
            <a:srgbClr val="12224A"/>
          </a:solidFill>
          <a:ln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508760"/>
            <a:ext cx="1920240" cy="68580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12224A"/>
                </a:solidFill>
                <a:latin typeface="Aptos"/>
              </a:rPr>
              <a:t>Good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063240"/>
            <a:ext cx="2011680" cy="685800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27AE60"/>
                </a:solidFill>
                <a:latin typeface="Aptos"/>
              </a:rPr>
              <a:t>Useful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4846320" cy="9144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200" b="1">
                <a:solidFill>
                  <a:srgbClr val="12224A"/>
                </a:solidFill>
                <a:latin typeface="Aptos"/>
              </a:rPr>
              <a:t>A report is only as trustworthy as the model behind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Why Data Modeling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606040" cy="173736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344168"/>
            <a:ext cx="227685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73352"/>
            <a:ext cx="2368296" cy="120700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Correct totals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Correct filtering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234440"/>
            <a:ext cx="2606040" cy="173736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344168"/>
            <a:ext cx="227685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608" y="1673352"/>
            <a:ext cx="2368296" cy="120700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Faster visuals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Cleaner calculations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34440"/>
            <a:ext cx="2606040" cy="173736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344168"/>
            <a:ext cx="227685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73352"/>
            <a:ext cx="2368296" cy="120700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Easy to expand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Reusable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234440"/>
            <a:ext cx="1965960" cy="173736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7192" y="1344168"/>
            <a:ext cx="163677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Clarity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1673352"/>
            <a:ext cx="1728216" cy="120700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Easy to explain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4480560" cy="1051560"/>
          </a:xfrm>
          <a:prstGeom prst="roundRect">
            <a:avLst/>
          </a:prstGeom>
          <a:solidFill>
            <a:srgbClr val="FFEDED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C0392B"/>
                </a:solidFill>
                <a:latin typeface="Aptos"/>
              </a:rPr>
              <a:t>Weak model
One flat table, repeated text, unclear keys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840480"/>
            <a:ext cx="4480560" cy="1051560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27AE60"/>
                </a:solidFill>
                <a:latin typeface="Aptos"/>
              </a:rPr>
              <a:t>Strong model
Fact table + dimensions + clear 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40680"/>
            <a:ext cx="98755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100" b="1">
                <a:solidFill>
                  <a:srgbClr val="12224A"/>
                </a:solidFill>
                <a:latin typeface="Aptos"/>
              </a:rPr>
              <a:t>Good modeling prevents wrong totals and confusing filters.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Fact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120640" cy="420624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52728"/>
            <a:ext cx="479145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81912"/>
            <a:ext cx="4882896" cy="367588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A fact table stores measurable business events.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It usually contains numeric values.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It usually has many rows.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It connects to dimension tables using foreign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303520" cy="420624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252728"/>
            <a:ext cx="497433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Example: Sales 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581912"/>
            <a:ext cx="5065776" cy="367588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OrderID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ProductID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CustomerID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OrderDate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Sales Amount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Quantity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51560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2224A"/>
                </a:solidFill>
                <a:latin typeface="Aptos"/>
              </a:rPr>
              <a:t>Quick rule: fact tables answer “How much?” and “How many?”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Dimension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120640" cy="420624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52728"/>
            <a:ext cx="479145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81912"/>
            <a:ext cx="4882896" cy="367588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A dimension table stores descriptive information.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It is used for filtering, grouping, and slicing data.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It usually has fewer rows than a fact table.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It contains a unique key for each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303520" cy="420624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252728"/>
            <a:ext cx="497433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581912"/>
            <a:ext cx="5065776" cy="367588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Product: Product Name, Category, Brand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Customer: Customer Name, Segment, City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Date: Year, Quarter, Month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Store: Store Name, 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51560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2224A"/>
                </a:solidFill>
                <a:latin typeface="Aptos"/>
              </a:rPr>
              <a:t>Quick rule: dimension tables answer “What?”, “Who?”, “Where?”, and “When?”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Fact vs Dimension: Quick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280160"/>
            <a:ext cx="2377440" cy="594360"/>
          </a:xfrm>
          <a:prstGeom prst="roundRect">
            <a:avLst/>
          </a:prstGeom>
          <a:solidFill>
            <a:srgbClr val="12224A"/>
          </a:solidFill>
          <a:ln w="15240"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80160"/>
            <a:ext cx="3749039" cy="594360"/>
          </a:xfrm>
          <a:prstGeom prst="roundRect">
            <a:avLst/>
          </a:prstGeom>
          <a:solidFill>
            <a:srgbClr val="12224A"/>
          </a:solidFill>
          <a:ln w="15240"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Fact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280160"/>
            <a:ext cx="3749039" cy="594360"/>
          </a:xfrm>
          <a:prstGeom prst="roundRect">
            <a:avLst/>
          </a:prstGeom>
          <a:solidFill>
            <a:srgbClr val="12224A"/>
          </a:solidFill>
          <a:ln w="15240"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Dimension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65960"/>
            <a:ext cx="2377440" cy="6858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12224A"/>
                </a:solidFill>
                <a:latin typeface="Aptos"/>
              </a:rPr>
              <a:t>Purpose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65960"/>
            <a:ext cx="3749039" cy="6858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0">
                <a:solidFill>
                  <a:srgbClr val="2A2A2A"/>
                </a:solidFill>
                <a:latin typeface="Aptos"/>
              </a:rPr>
              <a:t>Stores numbers and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965960"/>
            <a:ext cx="3749039" cy="6858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0">
                <a:solidFill>
                  <a:srgbClr val="2A2A2A"/>
                </a:solidFill>
                <a:latin typeface="Aptos"/>
              </a:rPr>
              <a:t>Stores descriptions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770632"/>
            <a:ext cx="23774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12224A"/>
                </a:solidFill>
                <a:latin typeface="Aptos"/>
              </a:rPr>
              <a:t>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770632"/>
            <a:ext cx="3749039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0">
                <a:solidFill>
                  <a:srgbClr val="2A2A2A"/>
                </a:solidFill>
                <a:latin typeface="Aptos"/>
              </a:rPr>
              <a:t>Sales, Quantity,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770632"/>
            <a:ext cx="3749039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0">
                <a:solidFill>
                  <a:srgbClr val="2A2A2A"/>
                </a:solidFill>
                <a:latin typeface="Aptos"/>
              </a:rPr>
              <a:t>Product, Date, Customer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575303"/>
            <a:ext cx="2377440" cy="6858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12224A"/>
                </a:solidFill>
                <a:latin typeface="Aptos"/>
              </a:rPr>
              <a:t>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575303"/>
            <a:ext cx="3749039" cy="6858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0">
                <a:solidFill>
                  <a:srgbClr val="2A2A2A"/>
                </a:solidFill>
                <a:latin typeface="Aptos"/>
              </a:rPr>
              <a:t>How much? How many?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575303"/>
            <a:ext cx="3749039" cy="6858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0">
                <a:solidFill>
                  <a:srgbClr val="2A2A2A"/>
                </a:solidFill>
                <a:latin typeface="Aptos"/>
              </a:rPr>
              <a:t>What? Who? Where? When?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79976"/>
            <a:ext cx="23774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12224A"/>
                </a:solidFill>
                <a:latin typeface="Aptos"/>
              </a:rPr>
              <a:t>Size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379976"/>
            <a:ext cx="3749039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0">
                <a:solidFill>
                  <a:srgbClr val="2A2A2A"/>
                </a:solidFill>
                <a:latin typeface="Aptos"/>
              </a:rPr>
              <a:t>Usually larger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379976"/>
            <a:ext cx="3749039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0">
                <a:solidFill>
                  <a:srgbClr val="2A2A2A"/>
                </a:solidFill>
                <a:latin typeface="Aptos"/>
              </a:rPr>
              <a:t>Usually smaller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9875520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900" b="1">
                <a:solidFill>
                  <a:srgbClr val="0096AA"/>
                </a:solidFill>
                <a:latin typeface="Aptos"/>
              </a:rPr>
              <a:t>Example: Sales is the fact table. Product, Customer, Store, and Date are dimensions.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Keys Used in the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3337560" cy="201168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298448"/>
            <a:ext cx="300837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Primary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3099816" cy="14813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Unique value in a dimension table.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Example: ProductID in Product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188720"/>
            <a:ext cx="3337560" cy="201168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298448"/>
            <a:ext cx="300837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Foreign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27632"/>
            <a:ext cx="3099816" cy="14813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Matching value in the fact table.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Example: ProductID in Sales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88720"/>
            <a:ext cx="3337560" cy="2011680"/>
          </a:xfrm>
          <a:prstGeom prst="roundRect">
            <a:avLst/>
          </a:prstGeom>
          <a:solidFill>
            <a:srgbClr val="FFF3E5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298448"/>
            <a:ext cx="300837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27632"/>
            <a:ext cx="3099816" cy="14813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Keys create relationships and make filtering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4069080"/>
            <a:ext cx="2788920" cy="960120"/>
          </a:xfrm>
          <a:prstGeom prst="roundRect">
            <a:avLst/>
          </a:prstGeom>
          <a:solidFill>
            <a:srgbClr val="E2F8FA"/>
          </a:solidFill>
          <a:ln w="1524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2A2A2A"/>
                </a:solidFill>
                <a:latin typeface="Aptos"/>
              </a:rPr>
              <a:t>Product Table
ProductID = Primary Key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09160" y="4334256"/>
            <a:ext cx="1920240" cy="411480"/>
          </a:xfrm>
          <a:prstGeom prst="rightArrow">
            <a:avLst/>
          </a:prstGeom>
          <a:solidFill>
            <a:srgbClr val="12224A"/>
          </a:solidFill>
          <a:ln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4069080"/>
            <a:ext cx="2926080" cy="96012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2A2A2A"/>
                </a:solidFill>
                <a:latin typeface="Aptos"/>
              </a:rPr>
              <a:t>Sales Table
ProductID = Foreign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840480"/>
            <a:ext cx="210312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500" b="1">
                <a:solidFill>
                  <a:srgbClr val="12224A"/>
                </a:solidFill>
                <a:latin typeface="Aptos"/>
              </a:rPr>
              <a:t>matching key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120640" cy="246888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52728"/>
            <a:ext cx="479145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81912"/>
            <a:ext cx="4882896" cy="19385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A relationship tells Power BI how two tables are connected.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It allows filters from one table to affect another table.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Most relationships connect a dimension to a fact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691640"/>
            <a:ext cx="2057400" cy="777240"/>
          </a:xfrm>
          <a:prstGeom prst="roundRect">
            <a:avLst/>
          </a:prstGeom>
          <a:solidFill>
            <a:srgbClr val="E2F8FA"/>
          </a:solidFill>
          <a:ln w="1524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2A2A2A"/>
                </a:solidFill>
                <a:latin typeface="Aptos"/>
              </a:rPr>
              <a:t>Product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69680" y="1901952"/>
            <a:ext cx="566928" cy="365760"/>
          </a:xfrm>
          <a:prstGeom prst="rightArrow">
            <a:avLst/>
          </a:prstGeom>
          <a:solidFill>
            <a:srgbClr val="12224A"/>
          </a:solidFill>
          <a:ln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38360" y="1691640"/>
            <a:ext cx="1828800" cy="77724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2A2A2A"/>
                </a:solidFill>
                <a:latin typeface="Aptos"/>
              </a:rP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71800"/>
            <a:ext cx="5029200" cy="8229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800" b="0">
                <a:solidFill>
                  <a:srgbClr val="2A2A2A"/>
                </a:solidFill>
                <a:latin typeface="Aptos"/>
              </a:rPr>
              <a:t>Example: selecting a Product filters the Sales table, so visuals show sales for that product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89120"/>
            <a:ext cx="3337560" cy="109728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498848"/>
            <a:ext cx="300837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828032"/>
            <a:ext cx="3099816" cy="5669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A2A2A"/>
                </a:solidFill>
                <a:latin typeface="Aptos"/>
              </a:defRPr>
            </a:pPr>
            <a:r>
              <a:t>Filter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389120"/>
            <a:ext cx="3337560" cy="109728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4498848"/>
            <a:ext cx="300837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828032"/>
            <a:ext cx="3099816" cy="5669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A2A2A"/>
                </a:solidFill>
                <a:latin typeface="Aptos"/>
              </a:defRPr>
            </a:pPr>
            <a:r>
              <a:t>Calculation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389120"/>
            <a:ext cx="3337560" cy="1097280"/>
          </a:xfrm>
          <a:prstGeom prst="roundRect">
            <a:avLst/>
          </a:prstGeom>
          <a:solidFill>
            <a:srgbClr val="FFF3E5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4498848"/>
            <a:ext cx="300837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4828032"/>
            <a:ext cx="3099816" cy="5669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A2A2A"/>
                </a:solidFill>
                <a:latin typeface="Aptos"/>
              </a:defRPr>
            </a:pPr>
            <a:r>
              <a:t>Simple, clear connections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Cardinality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000" b="0">
                <a:solidFill>
                  <a:srgbClr val="2A2A2A"/>
                </a:solidFill>
                <a:latin typeface="Aptos"/>
              </a:rPr>
              <a:t>Cardinality explains how rows in one table match rows in another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657600" cy="3154680"/>
          </a:xfrm>
          <a:prstGeom prst="roundRect">
            <a:avLst/>
          </a:prstGeom>
          <a:solidFill>
            <a:srgbClr val="E7F7EE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09928"/>
            <a:ext cx="332841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Aptos"/>
              </a:rPr>
              <a:t>One-to-Many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39112"/>
            <a:ext cx="3419856" cy="26243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One product can appear in many sales rows.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This is the recommended pattern for most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00200"/>
            <a:ext cx="3383280" cy="315468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709928"/>
            <a:ext cx="305409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Many-to-One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039112"/>
            <a:ext cx="3145536" cy="26243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Same relationship viewed from the fact table side.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Power BI may display it depending on table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291840" cy="3154680"/>
          </a:xfrm>
          <a:prstGeom prst="roundRect">
            <a:avLst/>
          </a:prstGeom>
          <a:solidFill>
            <a:srgbClr val="FFF3E5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09928"/>
            <a:ext cx="296265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E67E22"/>
                </a:solidFill>
                <a:latin typeface="Aptos"/>
              </a:rPr>
              <a:t>Many-to-Many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39112"/>
            <a:ext cx="3054096" cy="26243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Both tables contain repeated values.</a:t>
            </a:r>
          </a:p>
          <a:p>
            <a:pPr>
              <a:spcAft>
                <a:spcPts val="4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Can create ambiguity and wrong totals.</a:t>
            </a:r>
          </a:p>
          <a:p>
            <a:pPr>
              <a:spcAft>
                <a:spcPts val="4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Avoid unless necessary.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987552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900" b="1">
                <a:solidFill>
                  <a:srgbClr val="12224A"/>
                </a:solidFill>
                <a:latin typeface="Aptos"/>
              </a:rPr>
              <a:t>Best practice: build one-to-many relationships from dimensions to facts.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Filter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5212080" cy="246888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344168"/>
            <a:ext cx="488289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0096AA"/>
                </a:solidFill>
                <a:latin typeface="Aptos"/>
              </a:rPr>
              <a:t>Single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73352"/>
            <a:ext cx="4974336" cy="19385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Filters flow from dimension tables to fact tables.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Easier to understand.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Recommended in most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2468880"/>
          </a:xfrm>
          <a:prstGeom prst="roundRect">
            <a:avLst/>
          </a:prstGeom>
          <a:solidFill>
            <a:srgbClr val="FFF3E5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344168"/>
            <a:ext cx="488289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E67E22"/>
                </a:solidFill>
                <a:latin typeface="Aptos"/>
              </a:rPr>
              <a:t>Both Directions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673352"/>
            <a:ext cx="4974336" cy="193852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Filters flow both ways between tables.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Useful in some advanced cases.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Use carefully to avoid confusing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343400"/>
            <a:ext cx="1920240" cy="713232"/>
          </a:xfrm>
          <a:prstGeom prst="roundRect">
            <a:avLst/>
          </a:prstGeom>
          <a:solidFill>
            <a:srgbClr val="E2F8FA"/>
          </a:solidFill>
          <a:ln w="1524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A2A2A"/>
                </a:solidFill>
                <a:latin typeface="Aptos"/>
              </a:rPr>
              <a:t>Dimension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39" y="4517136"/>
            <a:ext cx="713232" cy="347472"/>
          </a:xfrm>
          <a:prstGeom prst="rightArrow">
            <a:avLst/>
          </a:prstGeom>
          <a:solidFill>
            <a:srgbClr val="0096AA"/>
          </a:solidFill>
          <a:ln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92040" y="4343400"/>
            <a:ext cx="1920240" cy="713232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A2A2A"/>
                </a:solidFill>
                <a:latin typeface="Aptos"/>
              </a:rPr>
              <a:t>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285232"/>
            <a:ext cx="45720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500" b="1">
                <a:solidFill>
                  <a:srgbClr val="0096AA"/>
                </a:solidFill>
                <a:latin typeface="Aptos"/>
              </a:rPr>
              <a:t>Recommended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343400"/>
            <a:ext cx="173736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A2A2A"/>
                </a:solidFill>
                <a:latin typeface="Aptos"/>
              </a:rPr>
              <a:t>Table 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2600" y="4471416"/>
            <a:ext cx="384048" cy="274320"/>
          </a:xfrm>
          <a:prstGeom prst="rightArrow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 Arrow 15"/>
          <p:cNvSpPr/>
          <p:nvPr/>
        </p:nvSpPr>
        <p:spPr>
          <a:xfrm>
            <a:off x="9372600" y="4754880"/>
            <a:ext cx="384048" cy="274320"/>
          </a:xfrm>
          <a:prstGeom prst="leftArrow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29800" y="4343400"/>
            <a:ext cx="173736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A2A2A"/>
                </a:solidFill>
                <a:latin typeface="Aptos"/>
              </a:rPr>
              <a:t>Table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5285232"/>
            <a:ext cx="36576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500" b="1">
                <a:solidFill>
                  <a:srgbClr val="E67E22"/>
                </a:solidFill>
                <a:latin typeface="Aptos"/>
              </a:rPr>
              <a:t>Use carefully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144000" cy="38404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Star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000" b="0">
                <a:solidFill>
                  <a:srgbClr val="2A2A2A"/>
                </a:solidFill>
                <a:latin typeface="Aptos"/>
              </a:rPr>
              <a:t>The fact table sits in the center and dimension tables surround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044952"/>
            <a:ext cx="6720840" cy="73152"/>
          </a:xfrm>
          <a:prstGeom prst="rect">
            <a:avLst/>
          </a:prstGeom>
          <a:solidFill>
            <a:srgbClr val="46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53328" y="1874519"/>
            <a:ext cx="73152" cy="2834640"/>
          </a:xfrm>
          <a:prstGeom prst="rect">
            <a:avLst/>
          </a:prstGeom>
          <a:solidFill>
            <a:srgbClr val="46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4920" y="2615184"/>
            <a:ext cx="2011680" cy="868680"/>
          </a:xfrm>
          <a:prstGeom prst="roundRect">
            <a:avLst/>
          </a:prstGeom>
          <a:solidFill>
            <a:srgbClr val="0096AA"/>
          </a:solidFill>
          <a:ln w="1651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Fact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17320"/>
            <a:ext cx="1554480" cy="658368"/>
          </a:xfrm>
          <a:prstGeom prst="roundRect">
            <a:avLst/>
          </a:prstGeom>
          <a:solidFill>
            <a:srgbClr val="E2F8FA"/>
          </a:solidFill>
          <a:ln w="1651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A2A2A"/>
                </a:solidFill>
                <a:latin typeface="Aptos"/>
              </a:rPr>
              <a:t>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724912"/>
            <a:ext cx="1783080" cy="658368"/>
          </a:xfrm>
          <a:prstGeom prst="roundRect">
            <a:avLst/>
          </a:prstGeom>
          <a:solidFill>
            <a:srgbClr val="E2F8FA"/>
          </a:solidFill>
          <a:ln w="1651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A2A2A"/>
                </a:solidFill>
                <a:latin typeface="Aptos"/>
              </a:rPr>
              <a:t>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4343400"/>
            <a:ext cx="1737360" cy="658368"/>
          </a:xfrm>
          <a:prstGeom prst="roundRect">
            <a:avLst/>
          </a:prstGeom>
          <a:solidFill>
            <a:srgbClr val="E2F8FA"/>
          </a:solidFill>
          <a:ln w="1651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A2A2A"/>
                </a:solidFill>
                <a:latin typeface="Aptos"/>
              </a:rPr>
              <a:t>Customer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2724912"/>
            <a:ext cx="1691640" cy="658368"/>
          </a:xfrm>
          <a:prstGeom prst="roundRect">
            <a:avLst/>
          </a:prstGeom>
          <a:solidFill>
            <a:srgbClr val="E2F8FA"/>
          </a:solidFill>
          <a:ln w="1651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A2A2A"/>
                </a:solidFill>
                <a:latin typeface="Aptos"/>
              </a:rPr>
              <a:t>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85232"/>
            <a:ext cx="1828800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600" b="1">
                <a:solidFill>
                  <a:srgbClr val="12224A"/>
                </a:solidFill>
                <a:latin typeface="Aptos"/>
              </a:rPr>
              <a:t>Why it is preferred: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5193792"/>
            <a:ext cx="1920240" cy="530352"/>
          </a:xfrm>
          <a:prstGeom prst="roundRect">
            <a:avLst/>
          </a:prstGeom>
          <a:solidFill>
            <a:srgbClr val="E8F1FF"/>
          </a:solidFill>
          <a:ln w="1651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2224A"/>
                </a:solidFill>
                <a:latin typeface="Aptos"/>
              </a:rPr>
              <a:t>Easy to understand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5193792"/>
            <a:ext cx="1874519" cy="530352"/>
          </a:xfrm>
          <a:prstGeom prst="roundRect">
            <a:avLst/>
          </a:prstGeom>
          <a:solidFill>
            <a:srgbClr val="E8F1FF"/>
          </a:solidFill>
          <a:ln w="1651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2224A"/>
                </a:solidFill>
                <a:latin typeface="Aptos"/>
              </a:rPr>
              <a:t>Fast and efficient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5193792"/>
            <a:ext cx="1828800" cy="530352"/>
          </a:xfrm>
          <a:prstGeom prst="roundRect">
            <a:avLst/>
          </a:prstGeom>
          <a:solidFill>
            <a:srgbClr val="E8F1FF"/>
          </a:solidFill>
          <a:ln w="1651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2224A"/>
                </a:solidFill>
                <a:latin typeface="Aptos"/>
              </a:rPr>
              <a:t>Simple filtering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5193792"/>
            <a:ext cx="2057400" cy="530352"/>
          </a:xfrm>
          <a:prstGeom prst="roundRect">
            <a:avLst/>
          </a:prstGeom>
          <a:solidFill>
            <a:srgbClr val="E8F1FF"/>
          </a:solidFill>
          <a:ln w="16510">
            <a:solidFill>
              <a:srgbClr val="32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2224A"/>
                </a:solidFill>
                <a:latin typeface="Aptos"/>
              </a:rPr>
              <a:t>Works well with DAX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97880"/>
            <a:ext cx="1005840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900" b="1">
                <a:solidFill>
                  <a:srgbClr val="12224A"/>
                </a:solidFill>
                <a:latin typeface="Aptos"/>
              </a:rPr>
              <a:t>Recommended design for most Power BI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Snowflake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1097280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2A2A2A"/>
                </a:solidFill>
                <a:latin typeface="Aptos"/>
              </a:rPr>
              <a:t>A snowflake schema has dimensions connected to other dimensions. It is more normalized but usually more complex for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0280" y="2926080"/>
            <a:ext cx="7680960" cy="73152"/>
          </a:xfrm>
          <a:prstGeom prst="rect">
            <a:avLst/>
          </a:prstGeom>
          <a:solidFill>
            <a:srgbClr val="46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99232" y="1993392"/>
            <a:ext cx="73152" cy="1901952"/>
          </a:xfrm>
          <a:prstGeom prst="rect">
            <a:avLst/>
          </a:prstGeom>
          <a:solidFill>
            <a:srgbClr val="46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20" y="1993392"/>
            <a:ext cx="73152" cy="1901952"/>
          </a:xfrm>
          <a:prstGeom prst="rect">
            <a:avLst/>
          </a:prstGeom>
          <a:solidFill>
            <a:srgbClr val="46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66360" y="2542032"/>
            <a:ext cx="1783080" cy="841248"/>
          </a:xfrm>
          <a:prstGeom prst="roundRect">
            <a:avLst/>
          </a:prstGeom>
          <a:solidFill>
            <a:srgbClr val="0096AA"/>
          </a:solidFill>
          <a:ln w="1524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Fact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633472"/>
            <a:ext cx="1554480" cy="621792"/>
          </a:xfrm>
          <a:prstGeom prst="roundRect">
            <a:avLst/>
          </a:prstGeom>
          <a:solidFill>
            <a:srgbClr val="E2F8FA"/>
          </a:solidFill>
          <a:ln w="1524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2A2A2A"/>
                </a:solidFill>
                <a:latin typeface="Aptos"/>
              </a:rPr>
              <a:t>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691640"/>
            <a:ext cx="1554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2A2A2A"/>
                </a:solidFill>
                <a:latin typeface="Aptos"/>
              </a:rPr>
              <a:t>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703320"/>
            <a:ext cx="1554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2A2A2A"/>
                </a:solidFill>
                <a:latin typeface="Aptos"/>
              </a:rPr>
              <a:t>Brand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633472"/>
            <a:ext cx="1554480" cy="621792"/>
          </a:xfrm>
          <a:prstGeom prst="roundRect">
            <a:avLst/>
          </a:prstGeom>
          <a:solidFill>
            <a:srgbClr val="E2F8FA"/>
          </a:solidFill>
          <a:ln w="1524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2A2A2A"/>
                </a:solidFill>
                <a:latin typeface="Aptos"/>
              </a:rPr>
              <a:t>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691640"/>
            <a:ext cx="1554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2A2A2A"/>
                </a:solidFill>
                <a:latin typeface="Aptos"/>
              </a:rPr>
              <a:t>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703320"/>
            <a:ext cx="1554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2A2A2A"/>
                </a:solidFill>
                <a:latin typeface="Aptos"/>
              </a:rPr>
              <a:t>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166360"/>
            <a:ext cx="7406640" cy="566928"/>
          </a:xfrm>
          <a:prstGeom prst="roundRect">
            <a:avLst/>
          </a:prstGeom>
          <a:solidFill>
            <a:srgbClr val="FFF3E5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E67E22"/>
                </a:solidFill>
                <a:latin typeface="Aptos"/>
              </a:rPr>
              <a:t>For reporting, star schema is usually simpler and easier to maintain.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Date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4297680" cy="411480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52728"/>
            <a:ext cx="396849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81912"/>
            <a:ext cx="4059936" cy="358444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A separate table with one row for each date.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Connects to fact tables using a date field or date key.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Required for clean time-based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143000"/>
            <a:ext cx="2651760" cy="411480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8112" y="1252728"/>
            <a:ext cx="232257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Typical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1581912"/>
            <a:ext cx="2414016" cy="358444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Date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Year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Quarter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Month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Month Name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Weekday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43000"/>
            <a:ext cx="3200400" cy="4114800"/>
          </a:xfrm>
          <a:prstGeom prst="roundRect">
            <a:avLst/>
          </a:prstGeom>
          <a:solidFill>
            <a:srgbClr val="FFF3E5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252728"/>
            <a:ext cx="287121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Example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581912"/>
            <a:ext cx="2962656" cy="358444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Sales by Month</a:t>
            </a:r>
          </a:p>
          <a:p>
            <a:pPr>
              <a:spcAft>
                <a:spcPts val="4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Sales by Year</a:t>
            </a:r>
          </a:p>
          <a:p>
            <a:pPr>
              <a:spcAft>
                <a:spcPts val="4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Year-to-Date Sales</a:t>
            </a:r>
          </a:p>
          <a:p>
            <a:pPr>
              <a:spcAft>
                <a:spcPts val="4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Month-over-Month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05840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900" b="1">
                <a:solidFill>
                  <a:srgbClr val="12224A"/>
                </a:solidFill>
                <a:latin typeface="Aptos"/>
              </a:rPr>
              <a:t>A proper Date table makes trends and time calculations easier and more reliable.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Common Mistakes and Better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5074920" cy="4480560"/>
          </a:xfrm>
          <a:prstGeom prst="roundRect">
            <a:avLst/>
          </a:prstGeom>
          <a:solidFill>
            <a:srgbClr val="FFEDED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298448"/>
            <a:ext cx="474573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Aptos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4837176" cy="395020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Putting everything into one flat table.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Using many-to-many relationships unnecessarily.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Using both-direction filters everywhere.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Ignoring duplicate keys or missing keys.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Not validating totals against the source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074920" cy="4480560"/>
          </a:xfrm>
          <a:prstGeom prst="roundRect">
            <a:avLst/>
          </a:prstGeom>
          <a:solidFill>
            <a:srgbClr val="E7F7EE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298448"/>
            <a:ext cx="474573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Aptos"/>
              </a:rPr>
              <a:t>Better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627632"/>
            <a:ext cx="4837176" cy="395020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Separate facts and dimensions.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Use one-to-many relationships.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Use single direction when possible.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Clean keys before creating relationships.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Validate totals after modeling.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Final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88720"/>
            <a:ext cx="3383280" cy="182880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98448"/>
            <a:ext cx="305409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Before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3145536" cy="129844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Clean column names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Fix data types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Remove duplicate dimension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383280" cy="1828800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298448"/>
            <a:ext cx="305409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During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1627632"/>
            <a:ext cx="3145536" cy="129844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Identify fact and dimension tables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Create one-to-many relationships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Prefer single filter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188720"/>
            <a:ext cx="3383280" cy="1828800"/>
          </a:xfrm>
          <a:prstGeom prst="roundRect">
            <a:avLst/>
          </a:prstGeom>
          <a:solidFill>
            <a:srgbClr val="FFF3E5"/>
          </a:solidFill>
          <a:ln w="1397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1" y="1298448"/>
            <a:ext cx="3054096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2224A"/>
                </a:solidFill>
                <a:latin typeface="Aptos"/>
              </a:rPr>
              <a:t>After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7" y="1627632"/>
            <a:ext cx="3145536" cy="1298448"/>
          </a:xfrm>
          <a:prstGeom prst="rect">
            <a:avLst/>
          </a:prstGeom>
          <a:noFill/>
        </p:spPr>
        <p:txBody>
          <a:bodyPr wrap="square" lIns="127000" rIns="50800" tIns="38100" bIns="3810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Check totals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Test slicers and filters</a:t>
            </a:r>
          </a:p>
          <a:p>
            <a:pPr>
              <a:spcAft>
                <a:spcPts val="400"/>
              </a:spcAft>
              <a:defRPr sz="1700">
                <a:solidFill>
                  <a:srgbClr val="2A2A2A"/>
                </a:solidFill>
                <a:latin typeface="Aptos"/>
              </a:defRPr>
            </a:pPr>
            <a:r>
              <a:t>Compare with source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9966960" cy="7772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500" b="1">
                <a:solidFill>
                  <a:srgbClr val="12224A"/>
                </a:solidFill>
                <a:latin typeface="Aptos"/>
              </a:rPr>
              <a:t>A clean star schema makes Power BI reports easier to build, easier to understand, and more accurate.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5257800"/>
            <a:ext cx="4754880" cy="640080"/>
          </a:xfrm>
          <a:prstGeom prst="roundRect">
            <a:avLst/>
          </a:prstGeom>
          <a:solidFill>
            <a:srgbClr val="0096AA"/>
          </a:solidFill>
          <a:ln w="15240">
            <a:solidFill>
              <a:srgbClr val="00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Model first, visuals second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9282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  <a:latin typeface="Aptos"/>
              </a:rPr>
              <a:t>Power BI Data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