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notesMasterIdLst>
    <p:notesMasterId r:id="rId23"/>
  </p:notesMasterIdLst>
  <p:sldIdLst>
    <p:sldId id="256" r:id="rId2"/>
    <p:sldId id="310" r:id="rId3"/>
    <p:sldId id="312" r:id="rId4"/>
    <p:sldId id="313" r:id="rId5"/>
    <p:sldId id="314" r:id="rId6"/>
    <p:sldId id="315" r:id="rId7"/>
    <p:sldId id="316" r:id="rId8"/>
    <p:sldId id="341" r:id="rId9"/>
    <p:sldId id="317" r:id="rId10"/>
    <p:sldId id="320" r:id="rId11"/>
    <p:sldId id="319" r:id="rId12"/>
    <p:sldId id="342" r:id="rId13"/>
    <p:sldId id="321" r:id="rId14"/>
    <p:sldId id="323" r:id="rId15"/>
    <p:sldId id="325" r:id="rId16"/>
    <p:sldId id="326" r:id="rId17"/>
    <p:sldId id="327" r:id="rId18"/>
    <p:sldId id="329" r:id="rId19"/>
    <p:sldId id="339" r:id="rId20"/>
    <p:sldId id="343" r:id="rId21"/>
    <p:sldId id="34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CEE"/>
    <a:srgbClr val="0B5296"/>
    <a:srgbClr val="00EB8F"/>
    <a:srgbClr val="B31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43" d="100"/>
          <a:sy n="43" d="100"/>
        </p:scale>
        <p:origin x="66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33AB2-457B-483C-A6BF-091D9EEA21D1}" type="datetimeFigureOut">
              <a:rPr lang="en-US" smtClean="0"/>
              <a:t>2/3/2024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E5B2B-AC46-46D3-B23A-7D4BCC1DB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62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0BCB-0FE7-9C64-FB17-47A08CC04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A68E2-589F-921A-C7E1-559699E1D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7863-181A-3AAB-8FA6-B5642C442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5529F-610E-4D9D-AD6A-59ABC3E9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C484-C333-F647-A664-6ACCBD56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295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16EF-C84E-7020-01F3-B9144547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9DD6D-6522-675D-43D8-7DB9B0FF7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2716F-3400-E1DC-5EB6-2571D948C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CFAA7-E577-5BDD-AFC3-CD37FD4FB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FACA6-9F53-4A00-F729-99106937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24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7869-91F0-88FF-931C-13F1E0B1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1E4BB-2B08-FA52-4679-49F32BA9B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6DD27-A052-B893-6D31-28056790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8DCF5-93B3-01DD-A157-456AFD0F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BDDC2-6E87-4B77-56F7-8BAE8157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266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D21E-AE57-0DA3-354F-2B60A75E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FBE-2549-B927-4F8A-F95AF6140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17ACA-CEB3-CDBF-5081-286BE206D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0C18C-295A-0270-8C78-B77F3D5D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19453-4297-CE3B-635B-0DF5CCE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FC621-E016-41E7-621A-E06188A2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438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8032-DD47-08E2-557F-EF92F10A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54883-E766-0167-816A-3FAD04F9C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BB996-DC12-4EAB-2584-CB327A810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FDA71-7A9E-23FA-FAA7-055F91F9E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2ADC07-E2D7-074B-83AE-BC80B926C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B88E27-C9C9-D5AD-4D46-A51DC149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A2553F-B65F-F61E-2563-BB2BD004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0FFB81-BF63-ECD6-10E1-2E438181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603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3D75-B9C9-EF81-6D6A-EEA80276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E720E5-BCAF-2E88-118C-6C1C6B3A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610B2-A4C3-1B7F-F217-353A23A6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4627CE-A03E-09A5-37C0-308AEB92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30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CED01-E29D-4ED1-2A90-0EBF3E39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B414D-A2AB-D344-1A29-CBB539C82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79005-7263-28CC-EBC3-C3294319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63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0B7A-64AD-DF78-3FFE-90F85B5DE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53E0A-122E-234A-FDF0-2873038A8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D54E1-B92E-65CD-231F-162D5EDDE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C964C-4C91-876D-2339-234CC22E1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AEFB9-598A-0ADB-0E6C-C4CC2350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67A16-4DF4-9ABD-22B5-F814ADB6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569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9FB48-459F-BB20-2704-99B1FBD6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8C8CB4-0F5F-16D8-50CD-53E13A2B8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C3C69-0AD6-8D35-FC3F-D0A6864F4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12BB8-FB15-1F8D-AB3F-61168B3D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D4040-4FC0-DA46-4E18-40D537D5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89E8C-0848-8F58-E05E-80A85090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184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85DA-02F9-457F-B827-8890E1AB2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CB516-30A3-3F29-10A7-98E091303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1FD12-633E-CD53-CE13-59792303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DA7EF-754C-F260-D422-84363C402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1E28B-0D23-3AB2-E20D-04105379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461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6BB4D7-7DC9-4108-383C-ED3990FF4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361E1-7E1D-C590-4BE6-BF7FA5906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A045B-5139-F5CC-5BD5-FAB9E275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D54F3-E514-6270-CE10-8F828AAE7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7EA23-BFC2-6335-E1F1-777237CF3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96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F1CFD-AE92-DCD7-EF83-091D653B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B3051-438A-B6E4-53C4-2CE832001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498FA-7B9A-FF60-8667-B8C48A700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1D9D-E806-370A-EFB8-931004D46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D7851-51C2-9F3D-5D19-772F41554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996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3171" y="1409997"/>
            <a:ext cx="8825658" cy="2546541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INTRO TO </a:t>
            </a:r>
            <a:br>
              <a:rPr lang="en-US" sz="48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9600" b="1" dirty="0">
                <a:solidFill>
                  <a:srgbClr val="0B529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PYTHON</a:t>
            </a:r>
            <a:br>
              <a:rPr lang="en-US" sz="9600" b="1" dirty="0">
                <a:solidFill>
                  <a:srgbClr val="0B5296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800" b="1" dirty="0">
                <a:solidFill>
                  <a:srgbClr val="0B529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Section Five</a:t>
            </a:r>
            <a:endParaRPr lang="en-US" sz="3200" b="1" dirty="0">
              <a:solidFill>
                <a:srgbClr val="0B529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0B3D93-A82F-31A0-5E09-D6DFAAE3E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5514975"/>
            <a:ext cx="365760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927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Python Functions</a:t>
            </a:r>
            <a:endParaRPr lang="en-US" b="1" dirty="0">
              <a:solidFill>
                <a:srgbClr val="0B529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638" y="2301495"/>
            <a:ext cx="6778216" cy="33258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A function is a block of code which only runs when it is called.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You can pass data, known as parameters, into a function.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A function can return data as a result.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60E76B-F926-8518-F376-3FC10826C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405" y="802888"/>
            <a:ext cx="4464689" cy="446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48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Creating a Function</a:t>
            </a:r>
            <a:endParaRPr lang="en-US" b="1" dirty="0">
              <a:solidFill>
                <a:srgbClr val="0B529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5FCCE3-5DD6-B237-CDA3-DE089C3EA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70494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In Python a function is defined using the def keyword: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E79416-F5C7-C729-0A62-362BF85D1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350" y="1335449"/>
            <a:ext cx="10237748" cy="525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87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Calling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243" y="1690688"/>
            <a:ext cx="10626272" cy="102490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To call a function, use the function name followed by parenthesis: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E72881-B5A7-9E0F-179E-43B6AA2E7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5" y="2038455"/>
            <a:ext cx="77152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150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Arguments /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args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0B5296"/>
              </a:solidFill>
              <a:effectLst/>
              <a:uLnTx/>
              <a:uFillTx/>
              <a:latin typeface="Poppins" panose="00000500000000000000" pitchFamily="2" charset="0"/>
              <a:ea typeface="Fira Code"/>
              <a:cs typeface="Poppins" panose="00000500000000000000" pitchFamily="2" charset="0"/>
              <a:sym typeface="Fira Code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243" y="1690688"/>
            <a:ext cx="5707698" cy="401873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Information can be passed into functions as arguments.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Arguments are specified after the function name, inside the parentheses. You can add as many arguments as you want, just separate them with a comma.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1446D0-A974-8ECE-03CC-AC67A94D5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866" y="741556"/>
            <a:ext cx="69151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07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Parameters or Arguments?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983" y="1690688"/>
            <a:ext cx="10648951" cy="381516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latin typeface="Poppins" panose="00000500000000000000" pitchFamily="2" charset="0"/>
                <a:cs typeface="Poppins" panose="00000500000000000000" pitchFamily="2" charset="0"/>
              </a:rPr>
              <a:t>The terms parameter and argument can be used for the same thing: information that are passed into a function.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latin typeface="Poppins" panose="00000500000000000000" pitchFamily="2" charset="0"/>
                <a:cs typeface="Poppins" panose="00000500000000000000" pitchFamily="2" charset="0"/>
              </a:rPr>
              <a:t>From a function's perspective: A parameter is the variable listed inside the parentheses in the function definition.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latin typeface="Poppins" panose="00000500000000000000" pitchFamily="2" charset="0"/>
                <a:cs typeface="Poppins" panose="00000500000000000000" pitchFamily="2" charset="0"/>
              </a:rPr>
              <a:t>An argument is the value that is sent to the function when it is called.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702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17BD873B-04F1-F3FB-614A-CE1E1DA81E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0" t="2837" r="6148" b="3546"/>
          <a:stretch/>
        </p:blipFill>
        <p:spPr bwMode="auto">
          <a:xfrm>
            <a:off x="3166945" y="927259"/>
            <a:ext cx="6266987" cy="500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486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Number of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983" y="1690688"/>
            <a:ext cx="5966379" cy="412645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latin typeface="Poppins" panose="00000500000000000000" pitchFamily="2" charset="0"/>
                <a:cs typeface="Poppins" panose="00000500000000000000" pitchFamily="2" charset="0"/>
              </a:rPr>
              <a:t>By default, a function must be called with the correct number of arguments. Meaning that if your function expects 2 arguments, you have to call the function with 2 arguments, not more, and not less.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6AB95F-A17C-9A12-E348-4F0B144C2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563" y="1040860"/>
            <a:ext cx="4126452" cy="412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60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Example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891504-F219-BE7D-C77A-E150B6B8F222}"/>
              </a:ext>
            </a:extLst>
          </p:cNvPr>
          <p:cNvSpPr txBox="1">
            <a:spLocks/>
          </p:cNvSpPr>
          <p:nvPr/>
        </p:nvSpPr>
        <p:spPr>
          <a:xfrm>
            <a:off x="1093944" y="2231572"/>
            <a:ext cx="10515600" cy="2394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def </a:t>
            </a:r>
            <a:r>
              <a:rPr lang="en-US" dirty="0" err="1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my_function</a:t>
            </a:r>
            <a:r>
              <a:rPr lang="en-US" dirty="0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dirty="0" err="1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fname</a:t>
            </a:r>
            <a:r>
              <a:rPr lang="en-US" dirty="0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dirty="0" err="1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lname</a:t>
            </a:r>
            <a:r>
              <a:rPr lang="en-US" dirty="0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print(</a:t>
            </a:r>
            <a:r>
              <a:rPr lang="en-US" dirty="0" err="1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fname</a:t>
            </a:r>
            <a:r>
              <a:rPr lang="en-US" dirty="0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+ " " + </a:t>
            </a:r>
            <a:r>
              <a:rPr lang="en-US" dirty="0" err="1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lname</a:t>
            </a:r>
            <a:r>
              <a:rPr lang="en-US" dirty="0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00ACE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dirty="0" err="1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my_function</a:t>
            </a:r>
            <a:r>
              <a:rPr lang="en-US" dirty="0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("Emil", "</a:t>
            </a:r>
            <a:r>
              <a:rPr lang="en-US" dirty="0" err="1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Refsnes</a:t>
            </a:r>
            <a:r>
              <a:rPr lang="en-US" dirty="0">
                <a:solidFill>
                  <a:srgbClr val="00ACE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")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00ACE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00ACE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>
              <a:solidFill>
                <a:srgbClr val="00ACE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92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Arbitrary Arguments, *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args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0B5296"/>
              </a:solidFill>
              <a:effectLst/>
              <a:uLnTx/>
              <a:uFillTx/>
              <a:latin typeface="Poppins" panose="00000500000000000000" pitchFamily="2" charset="0"/>
              <a:ea typeface="Fira Code"/>
              <a:cs typeface="Poppins" panose="00000500000000000000" pitchFamily="2" charset="0"/>
              <a:sym typeface="Fira Code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B259F-8E4E-187A-9F65-B12805384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637" y="2051472"/>
            <a:ext cx="10648951" cy="218732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If you do not know how many arguments that will be passed into your function, add a * before the parameter name in the function definition.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This way the function will receive a tuple of arguments, and can access the items accordingly:</a:t>
            </a:r>
          </a:p>
        </p:txBody>
      </p:sp>
    </p:spTree>
    <p:extLst>
      <p:ext uri="{BB962C8B-B14F-4D97-AF65-F5344CB8AC3E}">
        <p14:creationId xmlns:p14="http://schemas.microsoft.com/office/powerpoint/2010/main" val="290624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0B5296"/>
                </a:solidFill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Example</a:t>
            </a:r>
            <a:endParaRPr lang="en-US" b="1" dirty="0">
              <a:solidFill>
                <a:srgbClr val="0B529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49643" cy="377341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If the number of arguments is unknown, add a * before the parameter name: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(*kids):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"The youngest child is 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 kids[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dirty="0"/>
            </a:b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abebe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kebede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dani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359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Keyword Arguments /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kwargs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983" y="1690688"/>
            <a:ext cx="10713477" cy="42042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dirty="0">
                <a:latin typeface="Poppins" panose="00000500000000000000" pitchFamily="2" charset="0"/>
                <a:cs typeface="Poppins" panose="00000500000000000000" pitchFamily="2" charset="0"/>
              </a:rPr>
              <a:t>You can also send arguments with the key = value syntax. This way the order of the arguments does not matter.</a:t>
            </a:r>
            <a:endParaRPr lang="en-US" sz="4000" dirty="0">
              <a:solidFill>
                <a:srgbClr val="0B529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Example</a:t>
            </a:r>
          </a:p>
          <a:p>
            <a:pPr marL="0" indent="0" algn="l">
              <a:buNone/>
            </a:pPr>
            <a:r>
              <a:rPr lang="en-US" sz="2400" b="0" i="0" dirty="0">
                <a:solidFill>
                  <a:srgbClr val="0000C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def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my_function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(child3, child2, child1):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 </a:t>
            </a:r>
            <a:r>
              <a:rPr lang="en-US" sz="2400" b="0" i="0" dirty="0">
                <a:solidFill>
                  <a:srgbClr val="0000CD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print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(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"The youngest child is 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 + child3)</a:t>
            </a:r>
            <a:b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400" b="0" i="0" dirty="0" err="1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my_function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(child1 =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"Emil"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child2 =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"Tobias"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child3 = </a:t>
            </a:r>
            <a:r>
              <a:rPr lang="en-US" sz="2400" b="0" i="0" dirty="0">
                <a:solidFill>
                  <a:srgbClr val="A52A2A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"Linus"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645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Arbitrary Keyword </a:t>
            </a:r>
            <a:r>
              <a:rPr kumimoji="0" lang="en-US" sz="4400" b="1" i="0" u="none" strike="noStrike" kern="0" cap="none" spc="0" normalizeH="0" baseline="0" noProof="0" dirty="0" err="1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Args</a:t>
            </a: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,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**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kwargs</a:t>
            </a:r>
            <a:endParaRPr lang="en-US" b="1" dirty="0">
              <a:solidFill>
                <a:srgbClr val="0B529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B259F-8E4E-187A-9F65-B12805384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34" y="1690688"/>
            <a:ext cx="10515599" cy="406808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f you do not know how many keyword arguments that will be passed into your function, add two asterisk: ** before the parameter name in the function definition.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This way the function will receive a dictionary of arguments, and can access the items accordingly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(**kid):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"His last name is 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 kid[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dirty="0"/>
            </a:b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my_function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"Tobias"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Refsnes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505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Default Parameter Value</a:t>
            </a:r>
            <a:endParaRPr lang="en-US" b="1" dirty="0">
              <a:solidFill>
                <a:srgbClr val="0B529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243" y="1690688"/>
            <a:ext cx="10281558" cy="17383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The following example shows how to use a default parameter value. If we call the function without argument, it uses the default value:</a:t>
            </a:r>
            <a:endParaRPr lang="en-US" sz="3200" b="1" dirty="0">
              <a:solidFill>
                <a:srgbClr val="00ACE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4DE069-99B7-421D-D8F4-D2BACDD8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25" y="2007219"/>
            <a:ext cx="83629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6583" cy="1325563"/>
          </a:xfrm>
        </p:spPr>
        <p:txBody>
          <a:bodyPr/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Passing a List as an Argument</a:t>
            </a:r>
            <a:endParaRPr lang="en-US" b="1" dirty="0">
              <a:solidFill>
                <a:srgbClr val="0B529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085877" cy="454742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You can send any data types of argument to a function (string, number, list, dictionary etc.), and it will be treated as the same data type inside the function.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E.g. if you send a List as an argument, it will still be a List when it reaches the function:</a:t>
            </a:r>
            <a:endParaRPr lang="en-US" b="1" dirty="0">
              <a:solidFill>
                <a:srgbClr val="00ACE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5D053C-77D2-C422-4612-186C5A275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122" y="1406406"/>
            <a:ext cx="6085878" cy="404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16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Return Values</a:t>
            </a:r>
            <a:endParaRPr lang="en-US" b="1" dirty="0">
              <a:solidFill>
                <a:srgbClr val="0B529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74829" cy="80718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To let a function return a value, use the return statement:</a:t>
            </a:r>
            <a:endParaRPr lang="en-US" sz="2200" b="1" dirty="0">
              <a:solidFill>
                <a:srgbClr val="00ACE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F49A3D-8FF6-B404-CFFF-70F2B34C3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496" y="1355996"/>
            <a:ext cx="6619763" cy="519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85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The pass Statement</a:t>
            </a:r>
            <a:endParaRPr lang="en-US" b="1" dirty="0">
              <a:solidFill>
                <a:srgbClr val="0B529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74829" cy="262005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function definitions cannot be empty, but if you for some reason have a function definition with no content, put in the pass statement to avoid getting an error.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D58D8F-3354-C892-C06C-6F39A9C9C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664" y="2329543"/>
            <a:ext cx="52959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8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EB74-134D-1AF8-F00C-EB345EEF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244" y="1690688"/>
            <a:ext cx="10281556" cy="390722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Recursion is a common mathematical and programming concept. It means that a function calls itself. This has the benefit of meaning that you can loop through data to reach a result.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The developer should be very careful with recursion as it can be quite easy to slip into writing a function which never terminates, or one that uses excess amounts of memory or processor power. However, when written correctly recursion can be a very efficient and mathematically-elegant approach to programming.</a:t>
            </a:r>
            <a:endParaRPr lang="en-US" sz="3200" b="1" dirty="0">
              <a:solidFill>
                <a:srgbClr val="00ACE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905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0B5296"/>
                </a:solidFill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Example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B5296"/>
              </a:solidFill>
              <a:effectLst/>
              <a:uLnTx/>
              <a:uFillTx/>
              <a:latin typeface="Poppins" panose="00000500000000000000" pitchFamily="2" charset="0"/>
              <a:ea typeface="Fira Code"/>
              <a:cs typeface="Poppins" panose="00000500000000000000" pitchFamily="2" charset="0"/>
              <a:sym typeface="Fira Code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6E5525-E0E6-4014-471B-9E2697809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87" y="971655"/>
            <a:ext cx="674370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66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5244-7E79-06E5-9076-8C9E53D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B5296"/>
                </a:solidFill>
                <a:effectLst/>
                <a:uLnTx/>
                <a:uFillTx/>
                <a:latin typeface="Poppins" panose="00000500000000000000" pitchFamily="2" charset="0"/>
                <a:ea typeface="Fira Code"/>
                <a:cs typeface="Poppins" panose="00000500000000000000" pitchFamily="2" charset="0"/>
                <a:sym typeface="Fira Code"/>
              </a:rPr>
              <a:t>Free Resources To Advance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w3schools.com - YouTube">
            <a:extLst>
              <a:ext uri="{FF2B5EF4-FFF2-40B4-BE49-F238E27FC236}">
                <a16:creationId xmlns:a16="http://schemas.microsoft.com/office/drawing/2014/main" id="{ACE819FA-302F-7A53-DFB2-71D01DF90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925" y="132681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eeksforGeeks Articles">
            <a:extLst>
              <a:ext uri="{FF2B5EF4-FFF2-40B4-BE49-F238E27FC236}">
                <a16:creationId xmlns:a16="http://schemas.microsoft.com/office/drawing/2014/main" id="{478AEE17-6536-4C70-0CB7-4056B1200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81234"/>
            <a:ext cx="5208109" cy="262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reeCodeCamp with Quincy Larson - Software Engineering Daily">
            <a:extLst>
              <a:ext uri="{FF2B5EF4-FFF2-40B4-BE49-F238E27FC236}">
                <a16:creationId xmlns:a16="http://schemas.microsoft.com/office/drawing/2014/main" id="{7C302156-C686-72DC-05F6-F9CCF5549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865" y="2386893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YouTube">
            <a:extLst>
              <a:ext uri="{FF2B5EF4-FFF2-40B4-BE49-F238E27FC236}">
                <a16:creationId xmlns:a16="http://schemas.microsoft.com/office/drawing/2014/main" id="{C09EBF3D-583C-EA28-E279-EDF8ACF3A2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8" b="38486"/>
          <a:stretch/>
        </p:blipFill>
        <p:spPr bwMode="auto">
          <a:xfrm>
            <a:off x="5024437" y="3469941"/>
            <a:ext cx="2143125" cy="50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CD853155-F041-37CA-6B1C-A6A93E295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12" y="2081034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Error Sign Images - Free Download on Freepik">
            <a:extLst>
              <a:ext uri="{FF2B5EF4-FFF2-40B4-BE49-F238E27FC236}">
                <a16:creationId xmlns:a16="http://schemas.microsoft.com/office/drawing/2014/main" id="{2B0CF87C-1C4A-465D-72F6-D156AD271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450" y="4063452"/>
            <a:ext cx="28956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5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ADAB9628-45ED-95B0-D11B-679BE689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488" y="6238114"/>
            <a:ext cx="1995055" cy="46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2B0AE2-4A77-55B8-7D8A-64C142C25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91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3406</TotalTime>
  <Words>754</Words>
  <Application>Microsoft Office PowerPoint</Application>
  <PresentationFormat>Widescreen</PresentationFormat>
  <Paragraphs>55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inter-regular</vt:lpstr>
      <vt:lpstr>Poppins</vt:lpstr>
      <vt:lpstr>Office Theme</vt:lpstr>
      <vt:lpstr>INTRO TO  PYTHON Section Five</vt:lpstr>
      <vt:lpstr>Python Functions</vt:lpstr>
      <vt:lpstr>Creating a Function</vt:lpstr>
      <vt:lpstr>Calling a Function</vt:lpstr>
      <vt:lpstr>Arguments /args</vt:lpstr>
      <vt:lpstr>Parameters or Arguments?</vt:lpstr>
      <vt:lpstr>PowerPoint Presentation</vt:lpstr>
      <vt:lpstr>Number of Arguments</vt:lpstr>
      <vt:lpstr>Example</vt:lpstr>
      <vt:lpstr>Arbitrary Arguments, *args</vt:lpstr>
      <vt:lpstr>Example</vt:lpstr>
      <vt:lpstr>Keyword Arguments /kwargs/</vt:lpstr>
      <vt:lpstr>Arbitrary Keyword Args, **kwargs</vt:lpstr>
      <vt:lpstr>Default Parameter Value</vt:lpstr>
      <vt:lpstr>Passing a List as an Argument</vt:lpstr>
      <vt:lpstr>Return Values</vt:lpstr>
      <vt:lpstr>The pass Statement</vt:lpstr>
      <vt:lpstr>Recursion</vt:lpstr>
      <vt:lpstr>Example</vt:lpstr>
      <vt:lpstr>Free Resources To Advance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/>
  <cp:lastModifiedBy>Abdiyu Urgesa</cp:lastModifiedBy>
  <cp:revision>115</cp:revision>
  <dcterms:created xsi:type="dcterms:W3CDTF">2017-11-16T19:31:50Z</dcterms:created>
  <dcterms:modified xsi:type="dcterms:W3CDTF">2024-02-03T08:06:53Z</dcterms:modified>
</cp:coreProperties>
</file>