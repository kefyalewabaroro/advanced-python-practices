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Poppins"/>
      <p:regular r:id="rId19"/>
      <p:bold r:id="rId20"/>
      <p:italic r:id="rId21"/>
      <p:boldItalic r:id="rId22"/>
    </p:embeddedFont>
    <p:embeddedFont>
      <p:font typeface="Poppins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7Y5uGrkQsns/nwBLFg6wQYGvS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Medium-bold.fntdata"/><Relationship Id="rId23" Type="http://schemas.openxmlformats.org/officeDocument/2006/relationships/font" Target="fonts/Poppins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Medium-boldItalic.fntdata"/><Relationship Id="rId25" Type="http://schemas.openxmlformats.org/officeDocument/2006/relationships/font" Target="fonts/PoppinsMedium-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oppin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4"/>
          <p:cNvSpPr/>
          <p:nvPr>
            <p:ph idx="2" type="pic"/>
          </p:nvPr>
        </p:nvSpPr>
        <p:spPr>
          <a:xfrm>
            <a:off x="5183188" y="987425"/>
            <a:ext cx="6172200" cy="4873625"/>
          </a:xfrm>
          <a:prstGeom prst="rect">
            <a:avLst/>
          </a:prstGeom>
          <a:noFill/>
          <a:ln>
            <a:noFill/>
          </a:ln>
        </p:spPr>
      </p:sp>
      <p:sp>
        <p:nvSpPr>
          <p:cNvPr id="68" name="Google Shape;68;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683171" y="1409997"/>
            <a:ext cx="8825658" cy="254654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ACEE"/>
              </a:buClr>
              <a:buSzPts val="4400"/>
              <a:buFont typeface="Poppins"/>
              <a:buNone/>
            </a:pPr>
            <a:r>
              <a:rPr b="1" lang="en-US" sz="4400">
                <a:solidFill>
                  <a:srgbClr val="00ACEE"/>
                </a:solidFill>
                <a:latin typeface="Poppins"/>
                <a:ea typeface="Poppins"/>
                <a:cs typeface="Poppins"/>
                <a:sym typeface="Poppins"/>
              </a:rPr>
              <a:t>INTRO TO </a:t>
            </a:r>
            <a:br>
              <a:rPr b="1" lang="en-US" sz="4800">
                <a:latin typeface="Poppins"/>
                <a:ea typeface="Poppins"/>
                <a:cs typeface="Poppins"/>
                <a:sym typeface="Poppins"/>
              </a:rPr>
            </a:br>
            <a:r>
              <a:rPr b="1" lang="en-US" sz="9600">
                <a:solidFill>
                  <a:srgbClr val="0B5296"/>
                </a:solidFill>
                <a:latin typeface="Poppins"/>
                <a:ea typeface="Poppins"/>
                <a:cs typeface="Poppins"/>
                <a:sym typeface="Poppins"/>
              </a:rPr>
              <a:t>PYTHON</a:t>
            </a:r>
            <a:br>
              <a:rPr b="1" lang="en-US" sz="9600">
                <a:solidFill>
                  <a:srgbClr val="0B5296"/>
                </a:solidFill>
                <a:latin typeface="Poppins"/>
                <a:ea typeface="Poppins"/>
                <a:cs typeface="Poppins"/>
                <a:sym typeface="Poppins"/>
              </a:rPr>
            </a:br>
            <a:r>
              <a:rPr b="1" lang="en-US" sz="2800">
                <a:solidFill>
                  <a:srgbClr val="0B5296"/>
                </a:solidFill>
                <a:latin typeface="Poppins"/>
                <a:ea typeface="Poppins"/>
                <a:cs typeface="Poppins"/>
                <a:sym typeface="Poppins"/>
              </a:rPr>
              <a:t>Section Two</a:t>
            </a:r>
            <a:endParaRPr b="1" sz="3200">
              <a:solidFill>
                <a:srgbClr val="0B5296"/>
              </a:solidFill>
              <a:latin typeface="Poppins"/>
              <a:ea typeface="Poppins"/>
              <a:cs typeface="Poppins"/>
              <a:sym typeface="Poppins"/>
            </a:endParaRPr>
          </a:p>
        </p:txBody>
      </p:sp>
      <p:pic>
        <p:nvPicPr>
          <p:cNvPr id="89" name="Google Shape;89;p1"/>
          <p:cNvPicPr preferRelativeResize="0"/>
          <p:nvPr/>
        </p:nvPicPr>
        <p:blipFill rotWithShape="1">
          <a:blip r:embed="rId3">
            <a:alphaModFix/>
          </a:blip>
          <a:srcRect b="0" l="0" r="0" t="0"/>
          <a:stretch/>
        </p:blipFill>
        <p:spPr>
          <a:xfrm>
            <a:off x="4267200" y="5514975"/>
            <a:ext cx="3657600" cy="857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Accepting input from the users</a:t>
            </a:r>
            <a:endParaRPr b="1">
              <a:solidFill>
                <a:srgbClr val="0B5296"/>
              </a:solidFill>
              <a:latin typeface="Poppins"/>
              <a:ea typeface="Poppins"/>
              <a:cs typeface="Poppins"/>
              <a:sym typeface="Poppins"/>
            </a:endParaRPr>
          </a:p>
        </p:txBody>
      </p:sp>
      <p:sp>
        <p:nvSpPr>
          <p:cNvPr id="95" name="Google Shape;95;p2"/>
          <p:cNvSpPr txBox="1"/>
          <p:nvPr>
            <p:ph idx="1" type="body"/>
          </p:nvPr>
        </p:nvSpPr>
        <p:spPr>
          <a:xfrm>
            <a:off x="1072242" y="1690688"/>
            <a:ext cx="10648951" cy="378728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The input() function always returns the user's input as a string, regardless of the input type. If you need to process the input as a different data type (e.g., integer or float), you need to explicitly convert it using appropriate typecasting functions like int() or float().</a:t>
            </a:r>
            <a:endParaRPr/>
          </a:p>
          <a:p>
            <a:pPr indent="0" lvl="0" marL="0" rtl="0" algn="l">
              <a:lnSpc>
                <a:spcPct val="100000"/>
              </a:lnSpc>
              <a:spcBef>
                <a:spcPts val="1000"/>
              </a:spcBef>
              <a:spcAft>
                <a:spcPts val="0"/>
              </a:spcAft>
              <a:buClr>
                <a:schemeClr val="dk1"/>
              </a:buClr>
              <a:buSzPts val="2800"/>
              <a:buNone/>
            </a:pPr>
            <a:r>
              <a:t/>
            </a:r>
            <a:endParaRPr>
              <a:latin typeface="Poppins"/>
              <a:ea typeface="Poppins"/>
              <a:cs typeface="Poppins"/>
              <a:sym typeface="Poppins"/>
            </a:endParaRPr>
          </a:p>
          <a:p>
            <a:pPr indent="0" lvl="0" marL="0" rtl="0" algn="l">
              <a:lnSpc>
                <a:spcPct val="100000"/>
              </a:lnSpc>
              <a:spcBef>
                <a:spcPts val="1000"/>
              </a:spcBef>
              <a:spcAft>
                <a:spcPts val="0"/>
              </a:spcAft>
              <a:buClr>
                <a:schemeClr val="dk1"/>
              </a:buClr>
              <a:buSzPts val="2800"/>
              <a:buNone/>
            </a:pPr>
            <a:r>
              <a:rPr lang="en-US">
                <a:latin typeface="Poppins"/>
                <a:ea typeface="Poppins"/>
                <a:cs typeface="Poppins"/>
                <a:sym typeface="Poppins"/>
              </a:rPr>
              <a:t>	age = input(“How old are you?”)</a:t>
            </a:r>
            <a:endParaRPr/>
          </a:p>
          <a:p>
            <a:pPr indent="0" lvl="0" marL="0" rtl="0" algn="l">
              <a:lnSpc>
                <a:spcPct val="100000"/>
              </a:lnSpc>
              <a:spcBef>
                <a:spcPts val="1000"/>
              </a:spcBef>
              <a:spcAft>
                <a:spcPts val="0"/>
              </a:spcAft>
              <a:buClr>
                <a:schemeClr val="dk1"/>
              </a:buClr>
              <a:buSzPts val="2800"/>
              <a:buNone/>
            </a:pPr>
            <a:r>
              <a:t/>
            </a:r>
            <a:endParaRPr>
              <a:latin typeface="Poppins"/>
              <a:ea typeface="Poppins"/>
              <a:cs typeface="Poppins"/>
              <a:sym typeface="Poppins"/>
            </a:endParaRPr>
          </a:p>
        </p:txBody>
      </p:sp>
      <p:pic>
        <p:nvPicPr>
          <p:cNvPr id="96" name="Google Shape;96;p2"/>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Activity 1</a:t>
            </a:r>
            <a:endParaRPr b="1">
              <a:solidFill>
                <a:srgbClr val="0B5296"/>
              </a:solidFill>
              <a:latin typeface="Poppins"/>
              <a:ea typeface="Poppins"/>
              <a:cs typeface="Poppins"/>
              <a:sym typeface="Poppins"/>
            </a:endParaRPr>
          </a:p>
        </p:txBody>
      </p:sp>
      <p:sp>
        <p:nvSpPr>
          <p:cNvPr id="102" name="Google Shape;102;p3"/>
          <p:cNvSpPr txBox="1"/>
          <p:nvPr>
            <p:ph idx="1" type="body"/>
          </p:nvPr>
        </p:nvSpPr>
        <p:spPr>
          <a:xfrm>
            <a:off x="1072242" y="1690688"/>
            <a:ext cx="10648951" cy="86201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Write a program to convert Celsius to Fahrenheit</a:t>
            </a:r>
            <a:endParaRPr/>
          </a:p>
        </p:txBody>
      </p:sp>
      <p:pic>
        <p:nvPicPr>
          <p:cNvPr id="103" name="Google Shape;103;p3"/>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pic>
        <p:nvPicPr>
          <p:cNvPr id="104" name="Google Shape;104;p3"/>
          <p:cNvPicPr preferRelativeResize="0"/>
          <p:nvPr/>
        </p:nvPicPr>
        <p:blipFill rotWithShape="1">
          <a:blip r:embed="rId4">
            <a:alphaModFix/>
          </a:blip>
          <a:srcRect b="0" l="0" r="0" t="0"/>
          <a:stretch/>
        </p:blipFill>
        <p:spPr>
          <a:xfrm>
            <a:off x="2785746" y="2867940"/>
            <a:ext cx="6620508" cy="11221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Relational Operators</a:t>
            </a:r>
            <a:endParaRPr b="1">
              <a:solidFill>
                <a:srgbClr val="0B5296"/>
              </a:solidFill>
              <a:latin typeface="Poppins"/>
              <a:ea typeface="Poppins"/>
              <a:cs typeface="Poppins"/>
              <a:sym typeface="Poppins"/>
            </a:endParaRPr>
          </a:p>
        </p:txBody>
      </p:sp>
      <p:pic>
        <p:nvPicPr>
          <p:cNvPr id="110" name="Google Shape;110;p4"/>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
        <p:nvSpPr>
          <p:cNvPr id="111" name="Google Shape;111;p4"/>
          <p:cNvSpPr txBox="1"/>
          <p:nvPr>
            <p:ph idx="1" type="body"/>
          </p:nvPr>
        </p:nvSpPr>
        <p:spPr>
          <a:xfrm>
            <a:off x="838200" y="1825625"/>
            <a:ext cx="10515600" cy="2117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Poppins"/>
                <a:ea typeface="Poppins"/>
                <a:cs typeface="Poppins"/>
                <a:sym typeface="Poppins"/>
              </a:rPr>
              <a:t>relational operators are used to compare values and determine the relationship between them. These operators return a Boolean value (True or False) based on the comparison result. Here are the relational operators in Python:</a:t>
            </a:r>
            <a:endParaRPr/>
          </a:p>
        </p:txBody>
      </p:sp>
      <p:pic>
        <p:nvPicPr>
          <p:cNvPr id="112" name="Google Shape;112;p4"/>
          <p:cNvPicPr preferRelativeResize="0"/>
          <p:nvPr/>
        </p:nvPicPr>
        <p:blipFill rotWithShape="1">
          <a:blip r:embed="rId4">
            <a:alphaModFix/>
          </a:blip>
          <a:srcRect b="0" l="0" r="0" t="0"/>
          <a:stretch/>
        </p:blipFill>
        <p:spPr>
          <a:xfrm>
            <a:off x="2590800" y="3510956"/>
            <a:ext cx="5505450" cy="27271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Accepting input from the users</a:t>
            </a:r>
            <a:endParaRPr b="1">
              <a:solidFill>
                <a:srgbClr val="0B5296"/>
              </a:solidFill>
              <a:latin typeface="Poppins"/>
              <a:ea typeface="Poppins"/>
              <a:cs typeface="Poppins"/>
              <a:sym typeface="Poppins"/>
            </a:endParaRPr>
          </a:p>
        </p:txBody>
      </p:sp>
      <p:sp>
        <p:nvSpPr>
          <p:cNvPr id="118" name="Google Shape;118;p5"/>
          <p:cNvSpPr txBox="1"/>
          <p:nvPr>
            <p:ph idx="1" type="body"/>
          </p:nvPr>
        </p:nvSpPr>
        <p:spPr>
          <a:xfrm>
            <a:off x="1072242" y="1690688"/>
            <a:ext cx="10648951" cy="378728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The input() function always returns the user's input as a string, regardless of the input type. If you need to process the input as a different data type (e.g., integer or float), you need to explicitly convert it using appropriate typecasting functions like int() or float().</a:t>
            </a:r>
            <a:endParaRPr/>
          </a:p>
          <a:p>
            <a:pPr indent="0" lvl="0" marL="0" rtl="0" algn="l">
              <a:lnSpc>
                <a:spcPct val="100000"/>
              </a:lnSpc>
              <a:spcBef>
                <a:spcPts val="1000"/>
              </a:spcBef>
              <a:spcAft>
                <a:spcPts val="0"/>
              </a:spcAft>
              <a:buClr>
                <a:schemeClr val="dk1"/>
              </a:buClr>
              <a:buSzPts val="2800"/>
              <a:buNone/>
            </a:pPr>
            <a:r>
              <a:t/>
            </a:r>
            <a:endParaRPr>
              <a:latin typeface="Poppins"/>
              <a:ea typeface="Poppins"/>
              <a:cs typeface="Poppins"/>
              <a:sym typeface="Poppins"/>
            </a:endParaRPr>
          </a:p>
          <a:p>
            <a:pPr indent="0" lvl="0" marL="0" rtl="0" algn="l">
              <a:lnSpc>
                <a:spcPct val="100000"/>
              </a:lnSpc>
              <a:spcBef>
                <a:spcPts val="1000"/>
              </a:spcBef>
              <a:spcAft>
                <a:spcPts val="0"/>
              </a:spcAft>
              <a:buClr>
                <a:schemeClr val="dk1"/>
              </a:buClr>
              <a:buSzPts val="2800"/>
              <a:buNone/>
            </a:pPr>
            <a:r>
              <a:rPr lang="en-US">
                <a:latin typeface="Poppins"/>
                <a:ea typeface="Poppins"/>
                <a:cs typeface="Poppins"/>
                <a:sym typeface="Poppins"/>
              </a:rPr>
              <a:t>	age = input(“How old are you?”)</a:t>
            </a:r>
            <a:endParaRPr/>
          </a:p>
          <a:p>
            <a:pPr indent="0" lvl="0" marL="0" rtl="0" algn="l">
              <a:lnSpc>
                <a:spcPct val="100000"/>
              </a:lnSpc>
              <a:spcBef>
                <a:spcPts val="1000"/>
              </a:spcBef>
              <a:spcAft>
                <a:spcPts val="0"/>
              </a:spcAft>
              <a:buClr>
                <a:schemeClr val="dk1"/>
              </a:buClr>
              <a:buSzPts val="2800"/>
              <a:buNone/>
            </a:pPr>
            <a:r>
              <a:t/>
            </a:r>
            <a:endParaRPr>
              <a:latin typeface="Poppins"/>
              <a:ea typeface="Poppins"/>
              <a:cs typeface="Poppins"/>
              <a:sym typeface="Poppins"/>
            </a:endParaRPr>
          </a:p>
        </p:txBody>
      </p:sp>
      <p:pic>
        <p:nvPicPr>
          <p:cNvPr id="119" name="Google Shape;119;p5"/>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Logical Operators</a:t>
            </a:r>
            <a:endParaRPr b="1">
              <a:solidFill>
                <a:srgbClr val="0B5296"/>
              </a:solidFill>
              <a:latin typeface="Poppins"/>
              <a:ea typeface="Poppins"/>
              <a:cs typeface="Poppins"/>
              <a:sym typeface="Poppins"/>
            </a:endParaRPr>
          </a:p>
        </p:txBody>
      </p:sp>
      <p:sp>
        <p:nvSpPr>
          <p:cNvPr id="125" name="Google Shape;125;p6"/>
          <p:cNvSpPr txBox="1"/>
          <p:nvPr>
            <p:ph idx="1" type="body"/>
          </p:nvPr>
        </p:nvSpPr>
        <p:spPr>
          <a:xfrm>
            <a:off x="1072242" y="1690688"/>
            <a:ext cx="10648951" cy="378728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Logical operators are used to combine and manipulate Boolean values. They allow you to perform logical operations on one or more Boolean expressions and evaluate the overall result. </a:t>
            </a:r>
            <a:endParaRPr/>
          </a:p>
          <a:p>
            <a:pPr indent="0" lvl="0" marL="0" rtl="0" algn="l">
              <a:lnSpc>
                <a:spcPct val="100000"/>
              </a:lnSpc>
              <a:spcBef>
                <a:spcPts val="1000"/>
              </a:spcBef>
              <a:spcAft>
                <a:spcPts val="0"/>
              </a:spcAft>
              <a:buClr>
                <a:schemeClr val="dk1"/>
              </a:buClr>
              <a:buSzPts val="2800"/>
              <a:buNone/>
            </a:pPr>
            <a:r>
              <a:rPr lang="en-US">
                <a:latin typeface="Poppins"/>
                <a:ea typeface="Poppins"/>
                <a:cs typeface="Poppins"/>
                <a:sym typeface="Poppins"/>
              </a:rPr>
              <a:t>Python provides three logical operators: </a:t>
            </a:r>
            <a:endParaRPr/>
          </a:p>
          <a:p>
            <a:pPr indent="0" lvl="0" marL="0" rtl="0" algn="ctr">
              <a:lnSpc>
                <a:spcPct val="100000"/>
              </a:lnSpc>
              <a:spcBef>
                <a:spcPts val="1000"/>
              </a:spcBef>
              <a:spcAft>
                <a:spcPts val="0"/>
              </a:spcAft>
              <a:buClr>
                <a:srgbClr val="0B5296"/>
              </a:buClr>
              <a:buSzPts val="4800"/>
              <a:buNone/>
            </a:pPr>
            <a:r>
              <a:rPr b="1" lang="en-US" sz="4800">
                <a:solidFill>
                  <a:srgbClr val="0B5296"/>
                </a:solidFill>
                <a:latin typeface="Poppins"/>
                <a:ea typeface="Poppins"/>
                <a:cs typeface="Poppins"/>
                <a:sym typeface="Poppins"/>
              </a:rPr>
              <a:t>AND, OR, NOT</a:t>
            </a:r>
            <a:endParaRPr/>
          </a:p>
        </p:txBody>
      </p:sp>
      <p:pic>
        <p:nvPicPr>
          <p:cNvPr id="126" name="Google Shape;126;p6"/>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Logical Operators </a:t>
            </a:r>
            <a:r>
              <a:rPr b="1" i="0" lang="en-US" sz="2400" u="none" cap="none" strike="noStrike">
                <a:solidFill>
                  <a:srgbClr val="0B5296"/>
                </a:solidFill>
                <a:latin typeface="Poppins"/>
                <a:ea typeface="Poppins"/>
                <a:cs typeface="Poppins"/>
                <a:sym typeface="Poppins"/>
              </a:rPr>
              <a:t>cont.….</a:t>
            </a:r>
            <a:endParaRPr b="1">
              <a:solidFill>
                <a:srgbClr val="0B5296"/>
              </a:solidFill>
              <a:latin typeface="Poppins"/>
              <a:ea typeface="Poppins"/>
              <a:cs typeface="Poppins"/>
              <a:sym typeface="Poppins"/>
            </a:endParaRPr>
          </a:p>
        </p:txBody>
      </p:sp>
      <p:sp>
        <p:nvSpPr>
          <p:cNvPr id="132" name="Google Shape;132;p7"/>
          <p:cNvSpPr txBox="1"/>
          <p:nvPr>
            <p:ph idx="1" type="body"/>
          </p:nvPr>
        </p:nvSpPr>
        <p:spPr>
          <a:xfrm>
            <a:off x="1072242" y="1690688"/>
            <a:ext cx="10648951" cy="454742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2600"/>
              <a:buNone/>
            </a:pPr>
            <a:r>
              <a:rPr b="1" lang="en-US" sz="2600">
                <a:latin typeface="Poppins"/>
                <a:ea typeface="Poppins"/>
                <a:cs typeface="Poppins"/>
                <a:sym typeface="Poppins"/>
              </a:rPr>
              <a:t>Logical AND :</a:t>
            </a:r>
            <a:r>
              <a:rPr lang="en-US" sz="2600">
                <a:latin typeface="Poppins"/>
                <a:ea typeface="Poppins"/>
                <a:cs typeface="Poppins"/>
                <a:sym typeface="Poppins"/>
              </a:rPr>
              <a:t>The and operator returns True if both operands are True, and False otherwise. It evaluates the second operand only if the first operand is True.</a:t>
            </a:r>
            <a:endParaRPr/>
          </a:p>
          <a:p>
            <a:pPr indent="0" lvl="0" marL="0" rtl="0" algn="l">
              <a:lnSpc>
                <a:spcPct val="100000"/>
              </a:lnSpc>
              <a:spcBef>
                <a:spcPts val="1000"/>
              </a:spcBef>
              <a:spcAft>
                <a:spcPts val="0"/>
              </a:spcAft>
              <a:buClr>
                <a:schemeClr val="dk1"/>
              </a:buClr>
              <a:buSzPts val="2600"/>
              <a:buNone/>
            </a:pPr>
            <a:r>
              <a:t/>
            </a:r>
            <a:endParaRPr sz="2600">
              <a:latin typeface="Poppins"/>
              <a:ea typeface="Poppins"/>
              <a:cs typeface="Poppins"/>
              <a:sym typeface="Poppins"/>
            </a:endParaRPr>
          </a:p>
          <a:p>
            <a:pPr indent="0" lvl="0" marL="0" rtl="0" algn="l">
              <a:lnSpc>
                <a:spcPct val="100000"/>
              </a:lnSpc>
              <a:spcBef>
                <a:spcPts val="1000"/>
              </a:spcBef>
              <a:spcAft>
                <a:spcPts val="0"/>
              </a:spcAft>
              <a:buClr>
                <a:schemeClr val="dk1"/>
              </a:buClr>
              <a:buSzPts val="2600"/>
              <a:buNone/>
            </a:pPr>
            <a:r>
              <a:rPr b="1" lang="en-US" sz="2600">
                <a:latin typeface="Poppins"/>
                <a:ea typeface="Poppins"/>
                <a:cs typeface="Poppins"/>
                <a:sym typeface="Poppins"/>
              </a:rPr>
              <a:t>Logical OR :</a:t>
            </a:r>
            <a:r>
              <a:rPr lang="en-US" sz="2600">
                <a:latin typeface="Poppins"/>
                <a:ea typeface="Poppins"/>
                <a:cs typeface="Poppins"/>
                <a:sym typeface="Poppins"/>
              </a:rPr>
              <a:t>The or operator returns True if at least one of the operands is True, and False if both operands are False. It evaluates the second operand only if the first operand is False.</a:t>
            </a:r>
            <a:endParaRPr/>
          </a:p>
          <a:p>
            <a:pPr indent="0" lvl="0" marL="0" rtl="0" algn="l">
              <a:lnSpc>
                <a:spcPct val="100000"/>
              </a:lnSpc>
              <a:spcBef>
                <a:spcPts val="1000"/>
              </a:spcBef>
              <a:spcAft>
                <a:spcPts val="0"/>
              </a:spcAft>
              <a:buClr>
                <a:schemeClr val="dk1"/>
              </a:buClr>
              <a:buSzPts val="2600"/>
              <a:buNone/>
            </a:pPr>
            <a:r>
              <a:t/>
            </a:r>
            <a:endParaRPr sz="2600">
              <a:latin typeface="Poppins"/>
              <a:ea typeface="Poppins"/>
              <a:cs typeface="Poppins"/>
              <a:sym typeface="Poppins"/>
            </a:endParaRPr>
          </a:p>
          <a:p>
            <a:pPr indent="0" lvl="0" marL="0" rtl="0" algn="l">
              <a:lnSpc>
                <a:spcPct val="100000"/>
              </a:lnSpc>
              <a:spcBef>
                <a:spcPts val="1000"/>
              </a:spcBef>
              <a:spcAft>
                <a:spcPts val="0"/>
              </a:spcAft>
              <a:buClr>
                <a:schemeClr val="dk1"/>
              </a:buClr>
              <a:buSzPts val="2600"/>
              <a:buNone/>
            </a:pPr>
            <a:r>
              <a:rPr b="1" lang="en-US" sz="2600">
                <a:latin typeface="Poppins"/>
                <a:ea typeface="Poppins"/>
                <a:cs typeface="Poppins"/>
                <a:sym typeface="Poppins"/>
              </a:rPr>
              <a:t>Logical NOT : </a:t>
            </a:r>
            <a:r>
              <a:rPr lang="en-US" sz="2600">
                <a:latin typeface="Poppins"/>
                <a:ea typeface="Poppins"/>
                <a:cs typeface="Poppins"/>
                <a:sym typeface="Poppins"/>
              </a:rPr>
              <a:t>The not operator returns the opposite Boolean value of the operand. It negates the truth value.</a:t>
            </a:r>
            <a:endParaRPr/>
          </a:p>
          <a:p>
            <a:pPr indent="0" lvl="0" marL="0" rtl="0" algn="l">
              <a:lnSpc>
                <a:spcPct val="100000"/>
              </a:lnSpc>
              <a:spcBef>
                <a:spcPts val="1000"/>
              </a:spcBef>
              <a:spcAft>
                <a:spcPts val="0"/>
              </a:spcAft>
              <a:buClr>
                <a:schemeClr val="dk1"/>
              </a:buClr>
              <a:buSzPts val="2600"/>
              <a:buNone/>
            </a:pPr>
            <a:r>
              <a:t/>
            </a:r>
            <a:endParaRPr sz="2600">
              <a:latin typeface="Poppins"/>
              <a:ea typeface="Poppins"/>
              <a:cs typeface="Poppins"/>
              <a:sym typeface="Poppins"/>
            </a:endParaRPr>
          </a:p>
        </p:txBody>
      </p:sp>
      <p:pic>
        <p:nvPicPr>
          <p:cNvPr id="133" name="Google Shape;133;p7"/>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Conditional Statements</a:t>
            </a:r>
            <a:endParaRPr b="1">
              <a:solidFill>
                <a:srgbClr val="0B5296"/>
              </a:solidFill>
              <a:latin typeface="Poppins"/>
              <a:ea typeface="Poppins"/>
              <a:cs typeface="Poppins"/>
              <a:sym typeface="Poppins"/>
            </a:endParaRPr>
          </a:p>
        </p:txBody>
      </p:sp>
      <p:sp>
        <p:nvSpPr>
          <p:cNvPr id="139" name="Google Shape;139;p8"/>
          <p:cNvSpPr txBox="1"/>
          <p:nvPr>
            <p:ph idx="1" type="body"/>
          </p:nvPr>
        </p:nvSpPr>
        <p:spPr>
          <a:xfrm>
            <a:off x="1072242" y="1690688"/>
            <a:ext cx="10648951" cy="378728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Conditional statements in Python are used to control the flow of a program based on certain conditions. Python provides three main conditional statements: </a:t>
            </a:r>
            <a:endParaRPr/>
          </a:p>
          <a:p>
            <a:pPr indent="0" lvl="0" marL="0" rtl="0" algn="l">
              <a:lnSpc>
                <a:spcPct val="100000"/>
              </a:lnSpc>
              <a:spcBef>
                <a:spcPts val="1000"/>
              </a:spcBef>
              <a:spcAft>
                <a:spcPts val="0"/>
              </a:spcAft>
              <a:buClr>
                <a:srgbClr val="0B5296"/>
              </a:buClr>
              <a:buSzPts val="2800"/>
              <a:buNone/>
            </a:pPr>
            <a:r>
              <a:rPr lang="en-US">
                <a:solidFill>
                  <a:srgbClr val="0B5296"/>
                </a:solidFill>
                <a:latin typeface="Poppins Medium"/>
                <a:ea typeface="Poppins Medium"/>
                <a:cs typeface="Poppins Medium"/>
                <a:sym typeface="Poppins Medium"/>
              </a:rPr>
              <a:t>if, elif (short for "else if"), and else</a:t>
            </a:r>
            <a:r>
              <a:rPr lang="en-US">
                <a:latin typeface="Poppins"/>
                <a:ea typeface="Poppins"/>
                <a:cs typeface="Poppins"/>
                <a:sym typeface="Poppins"/>
              </a:rPr>
              <a:t>. These statements allow you to execute different blocks of code depending on the outcome of specified conditions.</a:t>
            </a:r>
            <a:endParaRPr/>
          </a:p>
        </p:txBody>
      </p:sp>
      <p:pic>
        <p:nvPicPr>
          <p:cNvPr id="140" name="Google Shape;140;p8"/>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Conditional Statements </a:t>
            </a:r>
            <a:r>
              <a:rPr b="1" i="0" lang="en-US" sz="2400" u="none" cap="none" strike="noStrike">
                <a:solidFill>
                  <a:srgbClr val="0B5296"/>
                </a:solidFill>
                <a:latin typeface="Poppins"/>
                <a:ea typeface="Poppins"/>
                <a:cs typeface="Poppins"/>
                <a:sym typeface="Poppins"/>
              </a:rPr>
              <a:t>cont…</a:t>
            </a:r>
            <a:endParaRPr b="1">
              <a:solidFill>
                <a:srgbClr val="0B5296"/>
              </a:solidFill>
              <a:latin typeface="Poppins"/>
              <a:ea typeface="Poppins"/>
              <a:cs typeface="Poppins"/>
              <a:sym typeface="Poppins"/>
            </a:endParaRPr>
          </a:p>
        </p:txBody>
      </p:sp>
      <p:pic>
        <p:nvPicPr>
          <p:cNvPr id="146" name="Google Shape;146;p9"/>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pic>
        <p:nvPicPr>
          <p:cNvPr id="147" name="Google Shape;147;p9"/>
          <p:cNvPicPr preferRelativeResize="0"/>
          <p:nvPr>
            <p:ph idx="1" type="body"/>
          </p:nvPr>
        </p:nvPicPr>
        <p:blipFill rotWithShape="1">
          <a:blip r:embed="rId4">
            <a:alphaModFix/>
          </a:blip>
          <a:srcRect b="0" l="0" r="0" t="0"/>
          <a:stretch/>
        </p:blipFill>
        <p:spPr>
          <a:xfrm>
            <a:off x="0" y="734825"/>
            <a:ext cx="12569210" cy="5038365"/>
          </a:xfrm>
          <a:prstGeom prst="rect">
            <a:avLst/>
          </a:prstGeom>
          <a:noFill/>
          <a:ln>
            <a:noFill/>
          </a:ln>
        </p:spPr>
      </p:pic>
      <p:sp>
        <p:nvSpPr>
          <p:cNvPr id="148" name="Google Shape;148;p9"/>
          <p:cNvSpPr txBox="1"/>
          <p:nvPr/>
        </p:nvSpPr>
        <p:spPr>
          <a:xfrm>
            <a:off x="960129" y="5112549"/>
            <a:ext cx="10648951" cy="660641"/>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00000"/>
              </a:lnSpc>
              <a:spcBef>
                <a:spcPts val="0"/>
              </a:spcBef>
              <a:spcAft>
                <a:spcPts val="0"/>
              </a:spcAft>
              <a:buClr>
                <a:schemeClr val="dk1"/>
              </a:buClr>
              <a:buSzPct val="100000"/>
              <a:buFont typeface="Arial"/>
              <a:buNone/>
            </a:pPr>
            <a:r>
              <a:rPr b="0" i="0" lang="en-US" sz="2800" u="none" cap="none" strike="noStrike">
                <a:solidFill>
                  <a:schemeClr val="dk1"/>
                </a:solidFill>
                <a:latin typeface="Poppins"/>
                <a:ea typeface="Poppins"/>
                <a:cs typeface="Poppins"/>
                <a:sym typeface="Poppins"/>
              </a:rPr>
              <a:t>Pay close attention to the syntax of conditional statements.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Example</a:t>
            </a:r>
            <a:endParaRPr b="1">
              <a:solidFill>
                <a:srgbClr val="0B5296"/>
              </a:solidFill>
              <a:latin typeface="Poppins"/>
              <a:ea typeface="Poppins"/>
              <a:cs typeface="Poppins"/>
              <a:sym typeface="Poppins"/>
            </a:endParaRPr>
          </a:p>
        </p:txBody>
      </p:sp>
      <p:pic>
        <p:nvPicPr>
          <p:cNvPr id="154" name="Google Shape;154;p10"/>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pic>
        <p:nvPicPr>
          <p:cNvPr id="155" name="Google Shape;155;p10"/>
          <p:cNvPicPr preferRelativeResize="0"/>
          <p:nvPr/>
        </p:nvPicPr>
        <p:blipFill rotWithShape="1">
          <a:blip r:embed="rId4">
            <a:alphaModFix/>
          </a:blip>
          <a:srcRect b="0" l="0" r="0" t="0"/>
          <a:stretch/>
        </p:blipFill>
        <p:spPr>
          <a:xfrm>
            <a:off x="0" y="712514"/>
            <a:ext cx="11353800" cy="54329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Activity 2</a:t>
            </a:r>
            <a:endParaRPr b="1">
              <a:solidFill>
                <a:srgbClr val="0B5296"/>
              </a:solidFill>
              <a:latin typeface="Poppins"/>
              <a:ea typeface="Poppins"/>
              <a:cs typeface="Poppins"/>
              <a:sym typeface="Poppins"/>
            </a:endParaRPr>
          </a:p>
        </p:txBody>
      </p:sp>
      <p:pic>
        <p:nvPicPr>
          <p:cNvPr id="161" name="Google Shape;161;p11"/>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pic>
        <p:nvPicPr>
          <p:cNvPr id="162" name="Google Shape;162;p11"/>
          <p:cNvPicPr preferRelativeResize="0"/>
          <p:nvPr/>
        </p:nvPicPr>
        <p:blipFill rotWithShape="1">
          <a:blip r:embed="rId4">
            <a:alphaModFix/>
          </a:blip>
          <a:srcRect b="7859" l="0" r="0" t="15715"/>
          <a:stretch/>
        </p:blipFill>
        <p:spPr>
          <a:xfrm>
            <a:off x="535259" y="1371477"/>
            <a:ext cx="9099395" cy="3327769"/>
          </a:xfrm>
          <a:prstGeom prst="rect">
            <a:avLst/>
          </a:prstGeom>
          <a:noFill/>
          <a:ln>
            <a:noFill/>
          </a:ln>
        </p:spPr>
      </p:pic>
      <p:sp>
        <p:nvSpPr>
          <p:cNvPr id="163" name="Google Shape;163;p11"/>
          <p:cNvSpPr txBox="1"/>
          <p:nvPr>
            <p:ph idx="1" type="body"/>
          </p:nvPr>
        </p:nvSpPr>
        <p:spPr>
          <a:xfrm>
            <a:off x="1072242" y="4415882"/>
            <a:ext cx="10648951" cy="106208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Fix the above example so that it will replay “your are not eligible to buy alcohol” if the customer age is under 18.</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lang="en-US">
                <a:solidFill>
                  <a:srgbClr val="0B5296"/>
                </a:solidFill>
                <a:latin typeface="Poppins"/>
                <a:ea typeface="Poppins"/>
                <a:cs typeface="Poppins"/>
                <a:sym typeface="Poppins"/>
              </a:rPr>
              <a:t>Example</a:t>
            </a:r>
            <a:endParaRPr b="1">
              <a:solidFill>
                <a:srgbClr val="0B5296"/>
              </a:solidFill>
              <a:latin typeface="Poppins"/>
              <a:ea typeface="Poppins"/>
              <a:cs typeface="Poppins"/>
              <a:sym typeface="Poppins"/>
            </a:endParaRPr>
          </a:p>
        </p:txBody>
      </p:sp>
      <p:sp>
        <p:nvSpPr>
          <p:cNvPr id="169" name="Google Shape;169;p12"/>
          <p:cNvSpPr txBox="1"/>
          <p:nvPr>
            <p:ph idx="1" type="body"/>
          </p:nvPr>
        </p:nvSpPr>
        <p:spPr>
          <a:xfrm>
            <a:off x="1072242" y="1690688"/>
            <a:ext cx="10648951" cy="378728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n-US">
                <a:latin typeface="Poppins"/>
                <a:ea typeface="Poppins"/>
                <a:cs typeface="Poppins"/>
                <a:sym typeface="Poppins"/>
              </a:rPr>
              <a:t>1.Check if a Number is Positive, Negative or 0 Using if...elif...else</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num = input("Enter a number: ")</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if num &gt; 0: </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	print "Positive number" </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elif num == 0: </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	print "Zero"</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else: </a:t>
            </a:r>
            <a:endParaRPr/>
          </a:p>
          <a:p>
            <a:pPr indent="0" lvl="0" marL="0" rtl="0" algn="l">
              <a:lnSpc>
                <a:spcPct val="100000"/>
              </a:lnSpc>
              <a:spcBef>
                <a:spcPts val="1000"/>
              </a:spcBef>
              <a:spcAft>
                <a:spcPts val="0"/>
              </a:spcAft>
              <a:buClr>
                <a:schemeClr val="dk1"/>
              </a:buClr>
              <a:buSzPct val="100000"/>
              <a:buNone/>
            </a:pPr>
            <a:r>
              <a:rPr lang="en-US">
                <a:latin typeface="Poppins"/>
                <a:ea typeface="Poppins"/>
                <a:cs typeface="Poppins"/>
                <a:sym typeface="Poppins"/>
              </a:rPr>
              <a:t>	print "Negative number"</a:t>
            </a:r>
            <a:endParaRPr/>
          </a:p>
          <a:p>
            <a:pPr indent="0" lvl="0" marL="0" rtl="0" algn="l">
              <a:lnSpc>
                <a:spcPct val="100000"/>
              </a:lnSpc>
              <a:spcBef>
                <a:spcPts val="1000"/>
              </a:spcBef>
              <a:spcAft>
                <a:spcPts val="0"/>
              </a:spcAft>
              <a:buClr>
                <a:schemeClr val="dk1"/>
              </a:buClr>
              <a:buSzPct val="100000"/>
              <a:buNone/>
            </a:pPr>
            <a:r>
              <a:t/>
            </a:r>
            <a:endParaRPr>
              <a:latin typeface="Poppins"/>
              <a:ea typeface="Poppins"/>
              <a:cs typeface="Poppins"/>
              <a:sym typeface="Poppins"/>
            </a:endParaRPr>
          </a:p>
        </p:txBody>
      </p:sp>
      <p:pic>
        <p:nvPicPr>
          <p:cNvPr id="170" name="Google Shape;170;p12"/>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Activity 3</a:t>
            </a:r>
            <a:endParaRPr b="1">
              <a:solidFill>
                <a:srgbClr val="0B5296"/>
              </a:solidFill>
              <a:latin typeface="Poppins"/>
              <a:ea typeface="Poppins"/>
              <a:cs typeface="Poppins"/>
              <a:sym typeface="Poppins"/>
            </a:endParaRPr>
          </a:p>
        </p:txBody>
      </p:sp>
      <p:pic>
        <p:nvPicPr>
          <p:cNvPr id="176" name="Google Shape;176;p13"/>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
        <p:nvSpPr>
          <p:cNvPr id="177" name="Google Shape;177;p13"/>
          <p:cNvSpPr txBox="1"/>
          <p:nvPr>
            <p:ph idx="1" type="body"/>
          </p:nvPr>
        </p:nvSpPr>
        <p:spPr>
          <a:xfrm>
            <a:off x="1005335" y="2366915"/>
            <a:ext cx="9655232" cy="106208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Write a Python program to check if the input number is odd or even.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5296"/>
              </a:buClr>
              <a:buSzPts val="4400"/>
              <a:buFont typeface="Poppins"/>
              <a:buNone/>
            </a:pPr>
            <a:r>
              <a:rPr b="1" i="0" lang="en-US" sz="4400" u="none" cap="none" strike="noStrike">
                <a:solidFill>
                  <a:srgbClr val="0B5296"/>
                </a:solidFill>
                <a:latin typeface="Poppins"/>
                <a:ea typeface="Poppins"/>
                <a:cs typeface="Poppins"/>
                <a:sym typeface="Poppins"/>
              </a:rPr>
              <a:t>Nested conditionals </a:t>
            </a:r>
            <a:endParaRPr b="1">
              <a:solidFill>
                <a:srgbClr val="0B5296"/>
              </a:solidFill>
              <a:latin typeface="Poppins"/>
              <a:ea typeface="Poppins"/>
              <a:cs typeface="Poppins"/>
              <a:sym typeface="Poppins"/>
            </a:endParaRPr>
          </a:p>
        </p:txBody>
      </p:sp>
      <p:pic>
        <p:nvPicPr>
          <p:cNvPr id="183" name="Google Shape;183;p14"/>
          <p:cNvPicPr preferRelativeResize="0"/>
          <p:nvPr/>
        </p:nvPicPr>
        <p:blipFill rotWithShape="1">
          <a:blip r:embed="rId3">
            <a:alphaModFix/>
          </a:blip>
          <a:srcRect b="0" l="0" r="0" t="0"/>
          <a:stretch/>
        </p:blipFill>
        <p:spPr>
          <a:xfrm>
            <a:off x="9859488" y="6238114"/>
            <a:ext cx="1995055" cy="467591"/>
          </a:xfrm>
          <a:prstGeom prst="rect">
            <a:avLst/>
          </a:prstGeom>
          <a:noFill/>
          <a:ln>
            <a:noFill/>
          </a:ln>
        </p:spPr>
      </p:pic>
      <p:sp>
        <p:nvSpPr>
          <p:cNvPr id="184" name="Google Shape;184;p14"/>
          <p:cNvSpPr txBox="1"/>
          <p:nvPr>
            <p:ph idx="1" type="body"/>
          </p:nvPr>
        </p:nvSpPr>
        <p:spPr>
          <a:xfrm>
            <a:off x="1005335" y="1690688"/>
            <a:ext cx="6167809" cy="430866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latin typeface="Poppins"/>
                <a:ea typeface="Poppins"/>
                <a:cs typeface="Poppins"/>
                <a:sym typeface="Poppins"/>
              </a:rPr>
              <a:t>Nested conditionals in Python refer to the situation where one conditional statement is nested within another conditional statement. This allows for more complex decision-making logic in your code. Here's an example of nested conditionals:</a:t>
            </a:r>
            <a:endParaRPr/>
          </a:p>
          <a:p>
            <a:pPr indent="0" lvl="0" marL="0" rtl="0" algn="l">
              <a:lnSpc>
                <a:spcPct val="100000"/>
              </a:lnSpc>
              <a:spcBef>
                <a:spcPts val="1000"/>
              </a:spcBef>
              <a:spcAft>
                <a:spcPts val="0"/>
              </a:spcAft>
              <a:buClr>
                <a:schemeClr val="dk1"/>
              </a:buClr>
              <a:buSzPts val="2800"/>
              <a:buNone/>
            </a:pPr>
            <a:r>
              <a:t/>
            </a:r>
            <a:endParaRPr>
              <a:latin typeface="Poppins"/>
              <a:ea typeface="Poppins"/>
              <a:cs typeface="Poppins"/>
              <a:sym typeface="Poppins"/>
            </a:endParaRPr>
          </a:p>
        </p:txBody>
      </p:sp>
      <p:pic>
        <p:nvPicPr>
          <p:cNvPr id="185" name="Google Shape;185;p14"/>
          <p:cNvPicPr preferRelativeResize="0"/>
          <p:nvPr/>
        </p:nvPicPr>
        <p:blipFill rotWithShape="1">
          <a:blip r:embed="rId4">
            <a:alphaModFix/>
          </a:blip>
          <a:srcRect b="0" l="0" r="0" t="0"/>
          <a:stretch/>
        </p:blipFill>
        <p:spPr>
          <a:xfrm>
            <a:off x="5932450" y="858644"/>
            <a:ext cx="6630922" cy="51627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2017-11-16T19:31:50Z</dcterms:created>
</cp:coreProperties>
</file>