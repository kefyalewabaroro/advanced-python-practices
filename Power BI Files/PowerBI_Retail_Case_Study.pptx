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0"/>
            <a:ext cx="256032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</a:rPr>
              <a:t>CLASS 4  |  POWER BI CASE STUDY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0" y="502920"/>
            <a:ext cx="2514600" cy="219456"/>
          </a:xfrm>
          <a:prstGeom prst="rect">
            <a:avLst/>
          </a:prstGeom>
          <a:solidFill>
            <a:srgbClr val="FFFFFF">
              <a:alpha val="97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</a:rPr>
              <a:t>Scenario: USA Retail Orders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1207008"/>
            <a:ext cx="56692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Retail Sales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Performance Dashboard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94360" y="2670048"/>
            <a:ext cx="6858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2670048"/>
            <a:ext cx="29260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47088" y="2670048"/>
            <a:ext cx="292608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76856" y="2670048"/>
            <a:ext cx="29260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26080"/>
            <a:ext cx="5074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Act like a Power BI developer: clean messy order data, build a decision-ready dashboard, and explain what the numbers mean.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79476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93192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3C5FD"/>
                </a:solidFill>
              </a:rPr>
              <a:t>Your role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77240" y="414223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</a:rPr>
              <a:t>Turn raw Excel orders into business insight.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2926080" y="379476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3931920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6EFAC"/>
                </a:solidFill>
              </a:rPr>
              <a:t>Expected output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108960" y="41422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</a:rPr>
              <a:t>A clean one-page dashboard with clear business answers.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612648" y="5504688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4223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Raw Excel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463040" y="5559552"/>
            <a:ext cx="50292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029968" y="5504688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40280" y="54223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Clean Data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880360" y="5559552"/>
            <a:ext cx="50292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447288" y="5504688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54223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Dashboard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297680" y="5559552"/>
            <a:ext cx="50292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864608" y="550468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54223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Insights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818120" y="1417320"/>
            <a:ext cx="2788920" cy="4206240"/>
          </a:xfrm>
          <a:prstGeom prst="roundRect">
            <a:avLst>
              <a:gd name="adj" fmla="val 2623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92440" y="16916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Executive dashboard preview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92440" y="2148840"/>
            <a:ext cx="1353312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02168" y="224028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</a:rPr>
              <a:t>$ Sales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8202168" y="240487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$284K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464040" y="2148840"/>
            <a:ext cx="1353312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73768" y="224028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</a:rPr>
              <a:t>Profit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9573768" y="240487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$67K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92440" y="2926080"/>
            <a:ext cx="1353312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02168" y="301752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</a:rPr>
              <a:t>Orders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8202168" y="318211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1,240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464040" y="2926080"/>
            <a:ext cx="1353312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73768" y="301752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</a:rPr>
              <a:t>Margin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9573768" y="318211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23.6%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38160" y="391363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Sales trend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183880" y="4663440"/>
            <a:ext cx="320040" cy="-292608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03920" y="4370832"/>
            <a:ext cx="320040" cy="164592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23960" y="4535424"/>
            <a:ext cx="411480" cy="-41148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35440" y="4123944"/>
            <a:ext cx="411480" cy="-18288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55480" y="391363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Region rank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9555480" y="4251960"/>
            <a:ext cx="73152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555480" y="4480560"/>
            <a:ext cx="54864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555480" y="4709160"/>
            <a:ext cx="384048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137392" y="62636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94360" y="6263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Power BI Retail Dashboard Case Study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3327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scenario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6070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realistic business request from a retail management team.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1480" y="649224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Retail Dashboard Case Study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4373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920240"/>
            <a:ext cx="3154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24128" y="2176272"/>
            <a:ext cx="45720" cy="10789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9576" y="2267712"/>
            <a:ext cx="2514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Client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79576" y="2615184"/>
            <a:ext cx="2514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334155"/>
                </a:solidFill>
              </a:rPr>
              <a:t>A USA retail company sells products across regions, cities, and salespeople. Orders are tracked in one Excel file.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4480560" y="1920240"/>
            <a:ext cx="3154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81728" y="2176272"/>
            <a:ext cx="45720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37176" y="2267712"/>
            <a:ext cx="2514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Problem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37176" y="2615184"/>
            <a:ext cx="2514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334155"/>
                </a:solidFill>
              </a:rPr>
              <a:t>Management cannot trust the current report because the raw file has duplicates, blanks, inconsistent text, and cancelled orders.</a:t>
            </a: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8138160" y="1920240"/>
            <a:ext cx="3154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39328" y="2176272"/>
            <a:ext cx="45720" cy="10789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94776" y="2267712"/>
            <a:ext cx="2514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Your mission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94776" y="2615184"/>
            <a:ext cx="2514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334155"/>
                </a:solidFill>
              </a:rPr>
              <a:t>Create a clean Power BI dashboard that shows performance and helps managers decide where to focus next.</a:t>
            </a:r>
            <a:endParaRPr lang="en-US" sz="1160" dirty="0"/>
          </a:p>
        </p:txBody>
      </p:sp>
      <p:sp>
        <p:nvSpPr>
          <p:cNvPr id="20" name="Text 18"/>
          <p:cNvSpPr/>
          <p:nvPr/>
        </p:nvSpPr>
        <p:spPr>
          <a:xfrm>
            <a:off x="1874520" y="5074920"/>
            <a:ext cx="8412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The dashboard should answer questions, not simply display a table.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3327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 developer assignment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6070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like a report developer receiving a stakeholder request.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1480" y="649224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Retail Dashboard Case Study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4373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470916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2148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</a:rPr>
              <a:t>What you need to produce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143000" y="2578608"/>
            <a:ext cx="3886200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Import the raw Excel orders file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Clean the data in Power Query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 business metrics for sales and profit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Build one executive dashboard page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three clear insights to the client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4892040" cy="3794760"/>
          </a:xfrm>
          <a:prstGeom prst="roundRect">
            <a:avLst>
              <a:gd name="adj" fmla="val 1928"/>
            </a:avLst>
          </a:prstGeom>
          <a:solidFill>
            <a:srgbClr val="ECFDF5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</a:rPr>
              <a:t>Real developer mindset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629400" y="2587752"/>
            <a:ext cx="201168" cy="2011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61975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1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6949440" y="2578608"/>
            <a:ext cx="3931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Understand the business question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6629400" y="3063240"/>
            <a:ext cx="201168" cy="2011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3095244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2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6949440" y="3054096"/>
            <a:ext cx="3931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Check data quality before visuals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6629400" y="3538728"/>
            <a:ext cx="201168" cy="2011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357073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3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6949440" y="3529584"/>
            <a:ext cx="3931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Choose visuals based on the answer needed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6629400" y="4014216"/>
            <a:ext cx="201168" cy="2011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404622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4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6949440" y="4005072"/>
            <a:ext cx="3931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Make filters easy for management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6629400" y="4489704"/>
            <a:ext cx="201168" cy="2011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452170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5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6949440" y="4480560"/>
            <a:ext cx="3931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Translate charts into business language</a:t>
            </a:r>
            <a:endParaRPr lang="en-US" sz="12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3327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Stakeholder question list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6070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the questions your Power BI report must help answer.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1480" y="649224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Retail Dashboard Case Study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4373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20574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Performance questions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51560" y="258775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1975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1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371600" y="2578608"/>
            <a:ext cx="44348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What are total sales, profit, orders, and quantity sold?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1051560" y="313639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16839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2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1371600" y="3127248"/>
            <a:ext cx="44348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What is the overall profit margin?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1051560" y="368503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71703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3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371600" y="3675888"/>
            <a:ext cx="44348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Are sales increasing, decreasing, or staying flat?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1051560" y="423367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26567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4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1371600" y="4224528"/>
            <a:ext cx="44348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Which month had the strongest performance?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1051560" y="47823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81431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5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1371600" y="4773168"/>
            <a:ext cx="44348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Which order statuses belong in actual sales analysis?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6400800" y="173736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20840" y="20574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Business focus questions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720840" y="2587752"/>
            <a:ext cx="201168" cy="2011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261975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1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7040880" y="2578608"/>
            <a:ext cx="43891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Which region and city generate the most revenue?</a:t>
            </a:r>
            <a:endParaRPr lang="en-US" sz="1230" dirty="0"/>
          </a:p>
        </p:txBody>
      </p:sp>
      <p:sp>
        <p:nvSpPr>
          <p:cNvPr id="30" name="Shape 28"/>
          <p:cNvSpPr/>
          <p:nvPr/>
        </p:nvSpPr>
        <p:spPr>
          <a:xfrm>
            <a:off x="6720840" y="3136392"/>
            <a:ext cx="201168" cy="2011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316839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2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7040880" y="3127248"/>
            <a:ext cx="43891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Which category and product are best performers?</a:t>
            </a:r>
            <a:endParaRPr lang="en-US" sz="1230" dirty="0"/>
          </a:p>
        </p:txBody>
      </p:sp>
      <p:sp>
        <p:nvSpPr>
          <p:cNvPr id="33" name="Shape 31"/>
          <p:cNvSpPr/>
          <p:nvPr/>
        </p:nvSpPr>
        <p:spPr>
          <a:xfrm>
            <a:off x="6720840" y="3685032"/>
            <a:ext cx="201168" cy="2011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371703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3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7040880" y="3675888"/>
            <a:ext cx="43891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Which product or category needs attention?</a:t>
            </a:r>
            <a:endParaRPr lang="en-US" sz="1230" dirty="0"/>
          </a:p>
        </p:txBody>
      </p:sp>
      <p:sp>
        <p:nvSpPr>
          <p:cNvPr id="36" name="Shape 34"/>
          <p:cNvSpPr/>
          <p:nvPr/>
        </p:nvSpPr>
        <p:spPr>
          <a:xfrm>
            <a:off x="6720840" y="4233672"/>
            <a:ext cx="201168" cy="2011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0840" y="426567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4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7040880" y="4224528"/>
            <a:ext cx="43891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Which salesperson is leading or needs support?</a:t>
            </a:r>
            <a:endParaRPr lang="en-US" sz="1230" dirty="0"/>
          </a:p>
        </p:txBody>
      </p:sp>
      <p:sp>
        <p:nvSpPr>
          <p:cNvPr id="39" name="Shape 37"/>
          <p:cNvSpPr/>
          <p:nvPr/>
        </p:nvSpPr>
        <p:spPr>
          <a:xfrm>
            <a:off x="6720840" y="4782312"/>
            <a:ext cx="201168" cy="2011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0840" y="481431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5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7040880" y="4773168"/>
            <a:ext cx="43891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What changes after filtering by region, date, or category?</a:t>
            </a:r>
            <a:endParaRPr lang="en-US" sz="12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3327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you will receive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6070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order-level table with fields that look realistic.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1480" y="649224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Retail Dashboard Case Study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4373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920240"/>
            <a:ext cx="1874520" cy="2971800"/>
          </a:xfrm>
          <a:prstGeom prst="roundRect">
            <a:avLst>
              <a:gd name="adj" fmla="val 3902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212848"/>
            <a:ext cx="148132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Order details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86968" y="2743200"/>
            <a:ext cx="1444752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ID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Date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Status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2953512" y="1920240"/>
            <a:ext cx="1874520" cy="2971800"/>
          </a:xfrm>
          <a:prstGeom prst="roundRect">
            <a:avLst>
              <a:gd name="adj" fmla="val 3902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2212848"/>
            <a:ext cx="148132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Customer &amp; location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154680" y="2743200"/>
            <a:ext cx="1444752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Customer Name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Region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City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5221224" y="1920240"/>
            <a:ext cx="1874520" cy="2971800"/>
          </a:xfrm>
          <a:prstGeom prst="roundRect">
            <a:avLst>
              <a:gd name="adj" fmla="val 3902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22392" y="2212848"/>
            <a:ext cx="148132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Product details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22392" y="2743200"/>
            <a:ext cx="1444752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Product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Category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Quantity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7488936" y="1920240"/>
            <a:ext cx="1874520" cy="2971800"/>
          </a:xfrm>
          <a:prstGeom prst="roundRect">
            <a:avLst>
              <a:gd name="adj" fmla="val 3902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90104" y="2212848"/>
            <a:ext cx="148132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Financial fields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690104" y="2743200"/>
            <a:ext cx="1444752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Sales Amount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Cost Amount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Unit Price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9756648" y="1920240"/>
            <a:ext cx="1874520" cy="2971800"/>
          </a:xfrm>
          <a:prstGeom prst="roundRect">
            <a:avLst>
              <a:gd name="adj" fmla="val 390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57816" y="2212848"/>
            <a:ext cx="148132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Operations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957816" y="2743200"/>
            <a:ext cx="1444752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Payment Method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Salesperson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1554480" y="5349240"/>
            <a:ext cx="90525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0" y="5468112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Profit is not a ready-made column. You will create it from Sales Amount and Cost Amount.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3327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Raw data audit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6070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the file before trusting any chart.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1480" y="649224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Retail Dashboard Case Study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4373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3246120" cy="1261872"/>
          </a:xfrm>
          <a:prstGeom prst="roundRect">
            <a:avLst>
              <a:gd name="adj" fmla="val 579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828800"/>
            <a:ext cx="45720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993392"/>
            <a:ext cx="2743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</a:rPr>
              <a:t>Duplicate orders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932688" y="2331720"/>
            <a:ext cx="26974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</a:rPr>
              <a:t>The same Order ID appears more than once.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4526280" y="1828800"/>
            <a:ext cx="3246120" cy="1261872"/>
          </a:xfrm>
          <a:prstGeom prst="roundRect">
            <a:avLst>
              <a:gd name="adj" fmla="val 579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1828800"/>
            <a:ext cx="45720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7448" y="1993392"/>
            <a:ext cx="2743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</a:rPr>
              <a:t>Blank rows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4727448" y="2331720"/>
            <a:ext cx="26974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</a:rPr>
              <a:t>Some rows contain no useful order information.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8321040" y="1828800"/>
            <a:ext cx="3246120" cy="1261872"/>
          </a:xfrm>
          <a:prstGeom prst="roundRect">
            <a:avLst>
              <a:gd name="adj" fmla="val 579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828800"/>
            <a:ext cx="45720" cy="1261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22208" y="1993392"/>
            <a:ext cx="2743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</a:rPr>
              <a:t>Inconsistent text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8522208" y="2331720"/>
            <a:ext cx="26974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</a:rPr>
              <a:t>NY, new york, and New York City should not become separate cities.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731520" y="3703320"/>
            <a:ext cx="3246120" cy="1261872"/>
          </a:xfrm>
          <a:prstGeom prst="roundRect">
            <a:avLst>
              <a:gd name="adj" fmla="val 579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703320"/>
            <a:ext cx="45720" cy="12618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3867912"/>
            <a:ext cx="2743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</a:rPr>
              <a:t>Wrong data types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932688" y="4206240"/>
            <a:ext cx="26974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</a:rPr>
              <a:t>Dates and currency values may be stored as text.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4526280" y="3703320"/>
            <a:ext cx="3246120" cy="1261872"/>
          </a:xfrm>
          <a:prstGeom prst="roundRect">
            <a:avLst>
              <a:gd name="adj" fmla="val 579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3703320"/>
            <a:ext cx="45720" cy="12618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7448" y="3867912"/>
            <a:ext cx="2743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</a:rPr>
              <a:t>Missing values</a:t>
            </a:r>
            <a:endParaRPr lang="en-US" sz="1420" dirty="0"/>
          </a:p>
        </p:txBody>
      </p:sp>
      <p:sp>
        <p:nvSpPr>
          <p:cNvPr id="27" name="Text 25"/>
          <p:cNvSpPr/>
          <p:nvPr/>
        </p:nvSpPr>
        <p:spPr>
          <a:xfrm>
            <a:off x="4727448" y="4206240"/>
            <a:ext cx="26974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</a:rPr>
              <a:t>Region, salesperson, or payment method may be blank.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8321040" y="3703320"/>
            <a:ext cx="3246120" cy="1261872"/>
          </a:xfrm>
          <a:prstGeom prst="roundRect">
            <a:avLst>
              <a:gd name="adj" fmla="val 579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21040" y="3703320"/>
            <a:ext cx="45720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22208" y="3867912"/>
            <a:ext cx="2743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</a:rPr>
              <a:t>Cancelled orders</a:t>
            </a:r>
            <a:endParaRPr lang="en-US" sz="1420" dirty="0"/>
          </a:p>
        </p:txBody>
      </p:sp>
      <p:sp>
        <p:nvSpPr>
          <p:cNvPr id="31" name="Text 29"/>
          <p:cNvSpPr/>
          <p:nvPr/>
        </p:nvSpPr>
        <p:spPr>
          <a:xfrm>
            <a:off x="8522208" y="4206240"/>
            <a:ext cx="26974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</a:rPr>
              <a:t>Cancelled orders should not count as completed sales.</a:t>
            </a:r>
            <a:endParaRPr lang="en-US" sz="1180" dirty="0"/>
          </a:p>
        </p:txBody>
      </p:sp>
      <p:sp>
        <p:nvSpPr>
          <p:cNvPr id="32" name="Text 30"/>
          <p:cNvSpPr/>
          <p:nvPr/>
        </p:nvSpPr>
        <p:spPr>
          <a:xfrm>
            <a:off x="1097280" y="5513832"/>
            <a:ext cx="9966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Why this matters: one data quality issue can change totals, rankings, and management decisions.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3327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Developer cleaning plan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6070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cleaning step should protect the business answer.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1480" y="649224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Retail Dashboard Case Study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4373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2880360" cy="438912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819656"/>
            <a:ext cx="2660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Raw issue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3474720" y="1691640"/>
            <a:ext cx="2971800" cy="438912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1819656"/>
            <a:ext cx="2752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Power Query action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446520" y="1691640"/>
            <a:ext cx="4754880" cy="438912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6248" y="1819656"/>
            <a:ext cx="4535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Business reason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594360" y="2130552"/>
            <a:ext cx="2880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29514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Duplicate order IDs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3474720" y="2130552"/>
            <a:ext cx="2971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84448" y="2295144"/>
            <a:ext cx="2752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Remove duplicates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6446520" y="2130552"/>
            <a:ext cx="4754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6248" y="2295144"/>
            <a:ext cx="4535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Prevents inflated sales and order counts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94360" y="2697480"/>
            <a:ext cx="288036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2862072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Blank rows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3474720" y="2697480"/>
            <a:ext cx="297180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84448" y="2862072"/>
            <a:ext cx="2752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Remove empty rows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6446520" y="2697480"/>
            <a:ext cx="475488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6248" y="2862072"/>
            <a:ext cx="4535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Keeps visuals and totals clean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594360" y="3264408"/>
            <a:ext cx="2880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" y="3429000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Dates or numbers as text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3474720" y="3264408"/>
            <a:ext cx="2971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84448" y="3429000"/>
            <a:ext cx="2752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Set correct data types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6446520" y="3264408"/>
            <a:ext cx="4754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56248" y="3429000"/>
            <a:ext cx="4535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Allows trends, totals, and calculations</a:t>
            </a:r>
            <a:endParaRPr lang="en-US" sz="1130" dirty="0"/>
          </a:p>
        </p:txBody>
      </p:sp>
      <p:sp>
        <p:nvSpPr>
          <p:cNvPr id="32" name="Shape 30"/>
          <p:cNvSpPr/>
          <p:nvPr/>
        </p:nvSpPr>
        <p:spPr>
          <a:xfrm>
            <a:off x="594360" y="3831336"/>
            <a:ext cx="288036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" y="3995928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City/payment/status variations</a:t>
            </a:r>
            <a:endParaRPr lang="en-US" sz="1130" dirty="0"/>
          </a:p>
        </p:txBody>
      </p:sp>
      <p:sp>
        <p:nvSpPr>
          <p:cNvPr id="34" name="Shape 32"/>
          <p:cNvSpPr/>
          <p:nvPr/>
        </p:nvSpPr>
        <p:spPr>
          <a:xfrm>
            <a:off x="3474720" y="3831336"/>
            <a:ext cx="297180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84448" y="3995928"/>
            <a:ext cx="2752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Standardize values</a:t>
            </a:r>
            <a:endParaRPr lang="en-US" sz="1130" dirty="0"/>
          </a:p>
        </p:txBody>
      </p:sp>
      <p:sp>
        <p:nvSpPr>
          <p:cNvPr id="36" name="Shape 34"/>
          <p:cNvSpPr/>
          <p:nvPr/>
        </p:nvSpPr>
        <p:spPr>
          <a:xfrm>
            <a:off x="6446520" y="3831336"/>
            <a:ext cx="475488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56248" y="3995928"/>
            <a:ext cx="4535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Creates clean categories in charts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594360" y="4398264"/>
            <a:ext cx="2880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4088" y="4562856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Missing text fields</a:t>
            </a:r>
            <a:endParaRPr lang="en-US" sz="1130" dirty="0"/>
          </a:p>
        </p:txBody>
      </p:sp>
      <p:sp>
        <p:nvSpPr>
          <p:cNvPr id="40" name="Shape 38"/>
          <p:cNvSpPr/>
          <p:nvPr/>
        </p:nvSpPr>
        <p:spPr>
          <a:xfrm>
            <a:off x="3474720" y="4398264"/>
            <a:ext cx="2971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84448" y="4562856"/>
            <a:ext cx="2752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Replace with “Unknown”</a:t>
            </a:r>
            <a:endParaRPr lang="en-US" sz="1130" dirty="0"/>
          </a:p>
        </p:txBody>
      </p:sp>
      <p:sp>
        <p:nvSpPr>
          <p:cNvPr id="42" name="Shape 40"/>
          <p:cNvSpPr/>
          <p:nvPr/>
        </p:nvSpPr>
        <p:spPr>
          <a:xfrm>
            <a:off x="6446520" y="4398264"/>
            <a:ext cx="4754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56248" y="4562856"/>
            <a:ext cx="4535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Keeps unmatched records visible</a:t>
            </a:r>
            <a:endParaRPr lang="en-US" sz="1130" dirty="0"/>
          </a:p>
        </p:txBody>
      </p:sp>
      <p:sp>
        <p:nvSpPr>
          <p:cNvPr id="44" name="Shape 42"/>
          <p:cNvSpPr/>
          <p:nvPr/>
        </p:nvSpPr>
        <p:spPr>
          <a:xfrm>
            <a:off x="594360" y="4965192"/>
            <a:ext cx="288036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" y="512978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Cancelled orders</a:t>
            </a:r>
            <a:endParaRPr lang="en-US" sz="1130" dirty="0"/>
          </a:p>
        </p:txBody>
      </p:sp>
      <p:sp>
        <p:nvSpPr>
          <p:cNvPr id="46" name="Shape 44"/>
          <p:cNvSpPr/>
          <p:nvPr/>
        </p:nvSpPr>
        <p:spPr>
          <a:xfrm>
            <a:off x="3474720" y="4965192"/>
            <a:ext cx="297180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84448" y="5129784"/>
            <a:ext cx="2752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Filter from sales analysis</a:t>
            </a:r>
            <a:endParaRPr lang="en-US" sz="1130" dirty="0"/>
          </a:p>
        </p:txBody>
      </p:sp>
      <p:sp>
        <p:nvSpPr>
          <p:cNvPr id="48" name="Shape 46"/>
          <p:cNvSpPr/>
          <p:nvPr/>
        </p:nvSpPr>
        <p:spPr>
          <a:xfrm>
            <a:off x="6446520" y="4965192"/>
            <a:ext cx="475488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56248" y="5129784"/>
            <a:ext cx="4535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Shows actual business performance</a:t>
            </a:r>
            <a:endParaRPr lang="en-US" sz="1130" dirty="0"/>
          </a:p>
        </p:txBody>
      </p:sp>
      <p:sp>
        <p:nvSpPr>
          <p:cNvPr id="50" name="Shape 48"/>
          <p:cNvSpPr/>
          <p:nvPr/>
        </p:nvSpPr>
        <p:spPr>
          <a:xfrm>
            <a:off x="2286000" y="5715000"/>
            <a:ext cx="7635240" cy="384048"/>
          </a:xfrm>
          <a:prstGeom prst="roundRect">
            <a:avLst>
              <a:gd name="adj" fmla="val 19048"/>
            </a:avLst>
          </a:prstGeom>
          <a:solidFill>
            <a:srgbClr val="ECFDF5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377440" y="5824728"/>
            <a:ext cx="7406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766E"/>
                </a:solidFill>
              </a:rPr>
              <a:t>Clean data first. Then create visuals.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3327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metrics to create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6070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numbers management expects to see.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1480" y="649224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Retail Dashboard Case Study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4373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920240"/>
            <a:ext cx="2926080" cy="2971800"/>
          </a:xfrm>
          <a:prstGeom prst="roundRect">
            <a:avLst>
              <a:gd name="adj" fmla="val 25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920240"/>
            <a:ext cx="54864" cy="2971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Profit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788920"/>
            <a:ext cx="2377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[Sales Amount] - [Cost Amount]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" y="3456432"/>
            <a:ext cx="23317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Shows how much money remains after cost.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4617720" y="1920240"/>
            <a:ext cx="2926080" cy="2971800"/>
          </a:xfrm>
          <a:prstGeom prst="roundRect">
            <a:avLst>
              <a:gd name="adj" fmla="val 25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920240"/>
            <a:ext cx="54864" cy="2971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Profit Margin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2788920"/>
            <a:ext cx="2377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[Profit] / [Sales Amount]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46320" y="3456432"/>
            <a:ext cx="23317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Shows profitability as a percentage.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8321040" y="1920240"/>
            <a:ext cx="2926080" cy="2971800"/>
          </a:xfrm>
          <a:prstGeom prst="roundRect">
            <a:avLst>
              <a:gd name="adj" fmla="val 25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1920240"/>
            <a:ext cx="54864" cy="2971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964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Month Year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49640" y="2788920"/>
            <a:ext cx="2377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Format order date by month and year.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549640" y="3456432"/>
            <a:ext cx="23317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Makes trend charts easier to read.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1828800" y="5349240"/>
            <a:ext cx="85496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65960" y="5477256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A developer does not only import data. A developer creates business logic.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3327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acceptance criteria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6070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client will consider the report successful when it meets these requirements.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1480" y="649224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Retail Dashboard Case Study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4373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691640"/>
            <a:ext cx="4983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691640"/>
            <a:ext cx="45720" cy="9326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84708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0F172A"/>
                </a:solidFill>
              </a:rPr>
              <a:t>KPI cards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1051560" y="213055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</a:rPr>
              <a:t>Total Sales, Profit, Orders, Quantity, and Margin are visible at the top.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822960" y="3108960"/>
            <a:ext cx="4983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108960"/>
            <a:ext cx="45720" cy="93268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2644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0F172A"/>
                </a:solidFill>
              </a:rPr>
              <a:t>Trend view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1051560" y="354787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</a:rPr>
              <a:t>A monthly sales trend shows whether performance is moving up or down.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822960" y="4526280"/>
            <a:ext cx="4983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526280"/>
            <a:ext cx="45720" cy="9326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68172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0F172A"/>
                </a:solidFill>
              </a:rPr>
              <a:t>Rankings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1051560" y="496519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</a:rPr>
              <a:t>Region, city, product/category, and salesperson performance can be compared.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6309360" y="1691640"/>
            <a:ext cx="4983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1691640"/>
            <a:ext cx="45720" cy="9326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84708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0F172A"/>
                </a:solidFill>
              </a:rPr>
              <a:t>Filters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6537960" y="213055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</a:rPr>
              <a:t>Users can filter by date, region, category, and order status when needed.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6309360" y="3108960"/>
            <a:ext cx="4983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3108960"/>
            <a:ext cx="45720" cy="9326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32644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0F172A"/>
                </a:solidFill>
              </a:rPr>
              <a:t>Clean labels</a:t>
            </a:r>
            <a:endParaRPr lang="en-US" sz="1430" dirty="0"/>
          </a:p>
        </p:txBody>
      </p:sp>
      <p:sp>
        <p:nvSpPr>
          <p:cNvPr id="27" name="Text 25"/>
          <p:cNvSpPr/>
          <p:nvPr/>
        </p:nvSpPr>
        <p:spPr>
          <a:xfrm>
            <a:off x="6537960" y="354787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</a:rPr>
              <a:t>Visual titles, axis labels, and currency/percentage formats are readable.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6309360" y="4526280"/>
            <a:ext cx="4983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4526280"/>
            <a:ext cx="45720" cy="9326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468172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0F172A"/>
                </a:solidFill>
              </a:rPr>
              <a:t>Insight-ready</a:t>
            </a:r>
            <a:endParaRPr lang="en-US" sz="1430" dirty="0"/>
          </a:p>
        </p:txBody>
      </p:sp>
      <p:sp>
        <p:nvSpPr>
          <p:cNvPr id="31" name="Text 29"/>
          <p:cNvSpPr/>
          <p:nvPr/>
        </p:nvSpPr>
        <p:spPr>
          <a:xfrm>
            <a:off x="6537960" y="496519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</a:rPr>
              <a:t>The report helps answer the stakeholder questions without a raw table dump.</a:t>
            </a:r>
            <a:endParaRPr lang="en-US" sz="11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3327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One-page dashboard blueprint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6070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clean executive view that feels intentional.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1480" y="649224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Retail Dashboard Case Study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4373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645920"/>
            <a:ext cx="106527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1874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F172A"/>
                </a:solidFill>
              </a:rPr>
              <a:t>Retail Sales Performance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1097280" y="2423160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53288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Total Sales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207008" y="272491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$___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34640" y="2423160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44368" y="253288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Profit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944368" y="272491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$___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2423160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253288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Orders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681728" y="272491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$___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423160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253288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Margin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419088" y="272491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$___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778240" y="21488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79408" y="232257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Slicers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942832" y="2578608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Region | Category | Date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97280" y="3291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25880" y="35295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Sales trend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600200" y="4480560"/>
            <a:ext cx="914400" cy="-164592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14600" y="4315968"/>
            <a:ext cx="1005840" cy="-27432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0440" y="4041648"/>
            <a:ext cx="1005840" cy="-347472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94960" y="329184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35295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Sales by region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715000" y="4114800"/>
            <a:ext cx="22860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99048" y="3886200"/>
            <a:ext cx="228600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83096" y="4233672"/>
            <a:ext cx="228600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67144" y="4023360"/>
            <a:ext cx="228600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92440" y="32918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21040" y="35295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Category share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823960" y="3977640"/>
            <a:ext cx="822960" cy="822960"/>
          </a:xfrm>
          <a:prstGeom prst="arc">
            <a:avLst/>
          </a:prstGeom>
          <a:solidFill>
            <a:srgbClr val="F59E0B">
              <a:alpha val="0"/>
            </a:srgbClr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7200000">
            <a:off x="8823960" y="3977640"/>
            <a:ext cx="822960" cy="822960"/>
          </a:xfrm>
          <a:prstGeom prst="arc">
            <a:avLst/>
          </a:prstGeom>
          <a:solidFill>
            <a:srgbClr val="0F766E">
              <a:alpha val="0"/>
            </a:srgbClr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88720" y="557784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Use this as a layout target, then improve spacing, titles, and formatting.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3327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to answer after the dashboard is built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6070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report like a business analyst, not only like a chart builder.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1480" y="649224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Retail Dashboard Case Study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4373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37360"/>
            <a:ext cx="53492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205740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Dashboard reading questions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2514600"/>
            <a:ext cx="4434840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region is strongest, and what evidence supports that?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city deserves more management attention?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product or category drives the most sales?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product looks weak after filtering by region?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09360" y="1737360"/>
            <a:ext cx="50749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20574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Decision questions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29400" y="2514600"/>
            <a:ext cx="4343400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Is sales performance improving or declining over time?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salesperson should be recognized?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salesperson may need support or review?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changes when cancelled or returned orders are excluded?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3000" y="5440680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0F172A"/>
                </a:solidFill>
              </a:rPr>
              <a:t>Final response format: “The dashboard shows ___, so management should ___.”</a:t>
            </a:r>
            <a:endParaRPr lang="en-US" sz="14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3327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handoff checklist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6070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sharing the report, confirm that it is clear, clean, and decision-ready.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1480" y="649224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Retail Dashboard Case Study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4373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4800600" cy="4114800"/>
          </a:xfrm>
          <a:prstGeom prst="roundRect">
            <a:avLst>
              <a:gd name="adj" fmla="val 1778"/>
            </a:avLst>
          </a:prstGeom>
          <a:solidFill>
            <a:srgbClr val="ECFDF5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88720" y="2084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Report quality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560320"/>
            <a:ext cx="397764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Totals are not inflated by duplicates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Cancelled orders do not distort actual sales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Dates, currency, and percentages are formatted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City, status, and payment values are consistent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Slicers work and visuals respond correctly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400800" y="1783080"/>
            <a:ext cx="46177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20840" y="2084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Business handoff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20840" y="2560320"/>
            <a:ext cx="374904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State the top insight from the dashboard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Mention one risk or weak area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Recommend one action for management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which filters were used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Avoid saying “I made charts” — explain the business meaning</a:t>
            </a:r>
            <a:endParaRPr lang="en-US" sz="13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Retail Dashboard Case Study — Cleaned Layout</dc:title>
  <dc:subject>Power BI Retail Dashboard Case Study</dc:subject>
  <dc:creator>OpenAI</dc:creator>
  <cp:lastModifiedBy>OpenAI</cp:lastModifiedBy>
  <cp:revision>1</cp:revision>
  <dcterms:created xsi:type="dcterms:W3CDTF">2026-04-25T15:07:29Z</dcterms:created>
  <dcterms:modified xsi:type="dcterms:W3CDTF">2026-04-25T15:07:29Z</dcterms:modified>
</cp:coreProperties>
</file>