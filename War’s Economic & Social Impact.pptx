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9" r:id="rId5"/>
    <p:sldId id="260" r:id="rId6"/>
    <p:sldId id="261" r:id="rId7"/>
    <p:sldId id="265" r:id="rId8"/>
    <p:sldId id="264" r:id="rId9"/>
    <p:sldId id="262" r:id="rId10"/>
    <p:sldId id="263" r:id="rId11"/>
    <p:sldId id="258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9C50-E125-80A2-EFE6-721279D29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5680" y="1212428"/>
            <a:ext cx="9052560" cy="1015998"/>
          </a:xfrm>
        </p:spPr>
        <p:txBody>
          <a:bodyPr/>
          <a:lstStyle/>
          <a:p>
            <a:r>
              <a:rPr lang="en-US" b="1" dirty="0"/>
              <a:t>War’s Economic &amp; Social Impact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4072F-B20D-BB17-D8A4-D0D591309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80" y="2384213"/>
            <a:ext cx="2615564" cy="745068"/>
          </a:xfrm>
        </p:spPr>
        <p:txBody>
          <a:bodyPr/>
          <a:lstStyle/>
          <a:p>
            <a:r>
              <a:rPr lang="en-US" dirty="0"/>
              <a:t>Analytical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5EF1B-4BF1-09B4-7F0F-8716C00B0CFC}"/>
              </a:ext>
            </a:extLst>
          </p:cNvPr>
          <p:cNvSpPr txBox="1"/>
          <p:nvPr/>
        </p:nvSpPr>
        <p:spPr>
          <a:xfrm>
            <a:off x="680721" y="4674661"/>
            <a:ext cx="284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Kefyalew Abaroro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414FC-8CFF-E7E1-0862-055D1AEBDB26}"/>
              </a:ext>
            </a:extLst>
          </p:cNvPr>
          <p:cNvSpPr txBox="1"/>
          <p:nvPr/>
        </p:nvSpPr>
        <p:spPr>
          <a:xfrm>
            <a:off x="8666480" y="4859774"/>
            <a:ext cx="2418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Date: 26,2026</a:t>
            </a:r>
          </a:p>
        </p:txBody>
      </p:sp>
    </p:spTree>
    <p:extLst>
      <p:ext uri="{BB962C8B-B14F-4D97-AF65-F5344CB8AC3E}">
        <p14:creationId xmlns:p14="http://schemas.microsoft.com/office/powerpoint/2010/main" val="339898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E2E4-24DF-7AA1-43B8-C4D0D3A1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74321"/>
            <a:ext cx="2545079" cy="10261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DFED-1242-4B38-1ADD-3D7404B42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833121"/>
            <a:ext cx="1150112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>
                <a:effectLst/>
              </a:rPr>
              <a:t>This presentation summarizes the economic and social consequences of war using a multi‑indicator dataset covering GDP, unemployment, poverty, inflation, informal economy activity, black‑market dynamics, and reconstruction costs.</a:t>
            </a:r>
            <a:endParaRPr lang="en-US" sz="3400" dirty="0"/>
          </a:p>
          <a:p>
            <a:r>
              <a:rPr lang="en-US" sz="3400" b="1" dirty="0">
                <a:effectLst/>
              </a:rPr>
              <a:t>Focus Areas</a:t>
            </a:r>
            <a:endParaRPr lang="en-US" sz="3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400" dirty="0">
                <a:effectLst/>
              </a:rPr>
              <a:t>Macroeconomic deterioration</a:t>
            </a:r>
            <a:endParaRPr lang="en-US" sz="3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400" dirty="0">
                <a:effectLst/>
              </a:rPr>
              <a:t>Labor market disruption</a:t>
            </a:r>
            <a:endParaRPr lang="en-US" sz="3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400" dirty="0">
                <a:effectLst/>
              </a:rPr>
              <a:t>Poverty escalation</a:t>
            </a:r>
            <a:endParaRPr lang="en-US" sz="3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400" dirty="0">
                <a:effectLst/>
              </a:rPr>
              <a:t>Inflation and currency instability</a:t>
            </a:r>
            <a:endParaRPr lang="en-US" sz="3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400" dirty="0">
                <a:effectLst/>
              </a:rPr>
              <a:t>Informal and black‑market expansion</a:t>
            </a:r>
            <a:endParaRPr lang="en-US" sz="3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400" dirty="0">
                <a:effectLst/>
              </a:rPr>
              <a:t>Reconstruction burden</a:t>
            </a:r>
            <a:endParaRPr lang="en-US" sz="3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00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AA12-4EBB-6CBE-2C1C-439BC2AF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41" y="112475"/>
            <a:ext cx="5913119" cy="599439"/>
          </a:xfrm>
        </p:spPr>
        <p:txBody>
          <a:bodyPr>
            <a:normAutofit fontScale="90000"/>
          </a:bodyPr>
          <a:lstStyle/>
          <a:p>
            <a:r>
              <a:rPr lang="en-US" dirty="0"/>
              <a:t>Economic Impact: GDP Decline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D769D2-3F70-2F36-E919-3AC40EE12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1" y="812800"/>
            <a:ext cx="8006079" cy="593272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FF3370-4A48-79F2-0104-DC0923052CA1}"/>
              </a:ext>
            </a:extLst>
          </p:cNvPr>
          <p:cNvSpPr txBox="1"/>
          <p:nvPr/>
        </p:nvSpPr>
        <p:spPr>
          <a:xfrm>
            <a:off x="8188960" y="812800"/>
            <a:ext cx="38912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Insight:</a:t>
            </a:r>
            <a:r>
              <a:rPr lang="en-US" dirty="0">
                <a:effectLst/>
              </a:rPr>
              <a:t> Most conflicts show </a:t>
            </a:r>
            <a:r>
              <a:rPr lang="en-US" b="1" dirty="0">
                <a:effectLst/>
              </a:rPr>
              <a:t>significant negative GDP change</a:t>
            </a:r>
            <a:r>
              <a:rPr lang="en-US" dirty="0">
                <a:effectLst/>
              </a:rPr>
              <a:t>, reflecting broad macroeconomic contraction.</a:t>
            </a:r>
            <a:endParaRPr lang="en-US" dirty="0"/>
          </a:p>
          <a:p>
            <a:r>
              <a:rPr lang="en-US" b="1" dirty="0">
                <a:effectLst/>
              </a:rPr>
              <a:t>Drivers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Destruction of productive assets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Reduced investment and trade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Displacement of labor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Supply chain collapse</a:t>
            </a:r>
            <a:endParaRPr lang="en-US" dirty="0"/>
          </a:p>
          <a:p>
            <a:r>
              <a:rPr lang="en-US" b="1" dirty="0">
                <a:effectLst/>
              </a:rPr>
              <a:t>Implication:</a:t>
            </a:r>
            <a:r>
              <a:rPr lang="en-US" dirty="0">
                <a:effectLst/>
              </a:rPr>
              <a:t> GDP decline is a consistent early indicator of long‑term recovery difficulty.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7015-387B-9EA4-2236-33EAFFDEE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1" y="71120"/>
            <a:ext cx="8600439" cy="680719"/>
          </a:xfrm>
        </p:spPr>
        <p:txBody>
          <a:bodyPr/>
          <a:lstStyle/>
          <a:p>
            <a:r>
              <a:rPr lang="en-US" dirty="0"/>
              <a:t>Economic Impact: Unemployment Spike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A7CD14-6D20-4980-72C8-5C16C1D74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160" y="751839"/>
            <a:ext cx="8290560" cy="603504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5D51F0-50C6-9BFB-87B7-21ABE8794822}"/>
              </a:ext>
            </a:extLst>
          </p:cNvPr>
          <p:cNvSpPr txBox="1"/>
          <p:nvPr/>
        </p:nvSpPr>
        <p:spPr>
          <a:xfrm>
            <a:off x="8696960" y="751839"/>
            <a:ext cx="3352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Insight:</a:t>
            </a:r>
            <a:r>
              <a:rPr lang="en-US" dirty="0">
                <a:effectLst/>
              </a:rPr>
              <a:t> Unemployment rises sharply during conflict due to labor displacement, sector shutdowns, and loss of formal employment.</a:t>
            </a:r>
            <a:endParaRPr lang="en-US" dirty="0"/>
          </a:p>
          <a:p>
            <a:r>
              <a:rPr lang="en-US" b="1" dirty="0">
                <a:effectLst/>
              </a:rPr>
              <a:t>Patterns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Youth unemployment increases fastest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Informal labor replaces formal jobs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Conflict intensity correlates with unemployment spikes</a:t>
            </a:r>
            <a:endParaRPr lang="en-US" dirty="0"/>
          </a:p>
          <a:p>
            <a:r>
              <a:rPr lang="en-US" b="1" dirty="0">
                <a:effectLst/>
              </a:rPr>
              <a:t>Implication:</a:t>
            </a:r>
            <a:r>
              <a:rPr lang="en-US" dirty="0">
                <a:effectLst/>
              </a:rPr>
              <a:t> Labor market instability amplifies poverty and slows post‑war recovery.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6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E56F-2590-DCF4-33F8-A7D441AC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81" y="71120"/>
            <a:ext cx="6156959" cy="558800"/>
          </a:xfrm>
        </p:spPr>
        <p:txBody>
          <a:bodyPr>
            <a:normAutofit fontScale="90000"/>
          </a:bodyPr>
          <a:lstStyle/>
          <a:p>
            <a:r>
              <a:rPr lang="en-US" dirty="0"/>
              <a:t>Social Impact: Poverty Increase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C4525A-71CA-119D-1CD1-8DE4C4B63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20" y="792480"/>
            <a:ext cx="8310880" cy="59029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E7BFDA-5B05-A5CF-A1E2-3552D94FC798}"/>
              </a:ext>
            </a:extLst>
          </p:cNvPr>
          <p:cNvSpPr txBox="1"/>
          <p:nvPr/>
        </p:nvSpPr>
        <p:spPr>
          <a:xfrm>
            <a:off x="8534400" y="792480"/>
            <a:ext cx="34645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Insight:</a:t>
            </a:r>
            <a:r>
              <a:rPr lang="en-US" dirty="0">
                <a:effectLst/>
              </a:rPr>
              <a:t> Poverty rates rise across nearly all conflicts, with many households falling into poverty during war.</a:t>
            </a:r>
            <a:endParaRPr lang="en-US" dirty="0"/>
          </a:p>
          <a:p>
            <a:r>
              <a:rPr lang="en-US" b="1" dirty="0">
                <a:effectLst/>
              </a:rPr>
              <a:t>Drivers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Job loss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Inflation &amp; food insecurity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Collapse of social services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Supply chain disruption</a:t>
            </a:r>
            <a:endParaRPr lang="en-US" dirty="0"/>
          </a:p>
          <a:p>
            <a:r>
              <a:rPr lang="en-US" b="1" dirty="0">
                <a:effectLst/>
              </a:rPr>
              <a:t>Implication:</a:t>
            </a:r>
            <a:r>
              <a:rPr lang="en-US" dirty="0">
                <a:effectLst/>
              </a:rPr>
              <a:t> Poverty escalation is one of the most persistent long‑term social impacts of conflict.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25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5DA6-4BF5-C316-13C8-23C31B34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1" y="71120"/>
            <a:ext cx="6289039" cy="568960"/>
          </a:xfrm>
        </p:spPr>
        <p:txBody>
          <a:bodyPr>
            <a:normAutofit fontScale="90000"/>
          </a:bodyPr>
          <a:lstStyle/>
          <a:p>
            <a:r>
              <a:rPr lang="en-US" dirty="0"/>
              <a:t>Inflation &amp; Currency Instability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12D338-2AB4-1346-66DB-350D55FBD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41" y="640080"/>
            <a:ext cx="8717280" cy="607568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BA7937-E719-9890-3C9A-7C9BD8FEA8A4}"/>
              </a:ext>
            </a:extLst>
          </p:cNvPr>
          <p:cNvSpPr txBox="1"/>
          <p:nvPr/>
        </p:nvSpPr>
        <p:spPr>
          <a:xfrm>
            <a:off x="8930642" y="640080"/>
            <a:ext cx="31495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Insight:</a:t>
            </a:r>
            <a:r>
              <a:rPr lang="en-US" dirty="0">
                <a:effectLst/>
              </a:rPr>
              <a:t> Inflation increases significantly in conflict regions, often accompanied by currency devaluation.</a:t>
            </a:r>
            <a:endParaRPr lang="en-US" dirty="0"/>
          </a:p>
          <a:p>
            <a:r>
              <a:rPr lang="en-US" b="1" dirty="0">
                <a:effectLst/>
              </a:rPr>
              <a:t>Observed Trends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Sharp price increases for essentials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Currency instability drives black‑market exchange rates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Prolonged conflicts show the highest inflation</a:t>
            </a:r>
            <a:endParaRPr lang="en-US" dirty="0"/>
          </a:p>
          <a:p>
            <a:r>
              <a:rPr lang="en-US" b="1" dirty="0">
                <a:effectLst/>
              </a:rPr>
              <a:t>Implication:</a:t>
            </a:r>
            <a:r>
              <a:rPr lang="en-US" dirty="0">
                <a:effectLst/>
              </a:rPr>
              <a:t> Inflation erodes purchasing power and accelerates poverty.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8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6D7B9-F031-579B-2A88-849319AD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161" y="0"/>
            <a:ext cx="6903719" cy="782320"/>
          </a:xfrm>
        </p:spPr>
        <p:txBody>
          <a:bodyPr/>
          <a:lstStyle/>
          <a:p>
            <a:r>
              <a:rPr lang="en-US" dirty="0"/>
              <a:t>Economic &amp; Social Linkages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C1E767-B54D-E509-3855-3E2088CDA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82320"/>
            <a:ext cx="8280400" cy="5953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D92AA4-5C7A-E0A5-B26C-4421D7F0D0CC}"/>
              </a:ext>
            </a:extLst>
          </p:cNvPr>
          <p:cNvSpPr txBox="1"/>
          <p:nvPr/>
        </p:nvSpPr>
        <p:spPr>
          <a:xfrm>
            <a:off x="8514080" y="710906"/>
            <a:ext cx="34340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</a:t>
            </a:r>
          </a:p>
          <a:p>
            <a:r>
              <a:rPr lang="en-US" dirty="0">
                <a:effectLst/>
              </a:rPr>
              <a:t>War consistently drives </a:t>
            </a:r>
            <a:r>
              <a:rPr lang="en-US" b="1" dirty="0">
                <a:effectLst/>
              </a:rPr>
              <a:t>sharp increases in unemployment and poverty</a:t>
            </a:r>
            <a:r>
              <a:rPr lang="en-US" dirty="0">
                <a:effectLst/>
              </a:rPr>
              <a:t>, which rise together more than any other indicators. Inflation, currency devaluation, and food insecurity also trend upward, but the strongest pattern is the tight link between </a:t>
            </a:r>
            <a:r>
              <a:rPr lang="en-US" b="1" dirty="0">
                <a:effectLst/>
              </a:rPr>
              <a:t>labor market collapse and poverty escalation</a:t>
            </a:r>
            <a:r>
              <a:rPr lang="en-US" dirty="0"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06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F780-C86D-D458-D66E-53C83239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6201" y="0"/>
            <a:ext cx="6233159" cy="538480"/>
          </a:xfrm>
        </p:spPr>
        <p:txBody>
          <a:bodyPr>
            <a:normAutofit fontScale="90000"/>
          </a:bodyPr>
          <a:lstStyle/>
          <a:p>
            <a:r>
              <a:rPr lang="en-US" dirty="0"/>
              <a:t>Correlation Insight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2537F9-7DDB-99B5-5E1F-9B719D438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60" y="619760"/>
            <a:ext cx="8016240" cy="6096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489E24-225A-0E6F-DFE9-425B3B5448EE}"/>
              </a:ext>
            </a:extLst>
          </p:cNvPr>
          <p:cNvSpPr txBox="1"/>
          <p:nvPr/>
        </p:nvSpPr>
        <p:spPr>
          <a:xfrm>
            <a:off x="8178800" y="619760"/>
            <a:ext cx="4013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Unemployment spikes and poverty increases move almost identically during conflict — the strongest relationship in the dataset. Inflation, currency devaluation, and food insecurity also rise together, reinforcing how economic shocks compound social stress.</a:t>
            </a:r>
          </a:p>
        </p:txBody>
      </p:sp>
    </p:spTree>
    <p:extLst>
      <p:ext uri="{BB962C8B-B14F-4D97-AF65-F5344CB8AC3E}">
        <p14:creationId xmlns:p14="http://schemas.microsoft.com/office/powerpoint/2010/main" val="337387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E90D-9F1B-761E-B45D-A03C5D35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521" y="0"/>
            <a:ext cx="4983479" cy="589280"/>
          </a:xfrm>
        </p:spPr>
        <p:txBody>
          <a:bodyPr>
            <a:normAutofit fontScale="90000"/>
          </a:bodyPr>
          <a:lstStyle/>
          <a:p>
            <a:r>
              <a:rPr lang="en-US" dirty="0"/>
              <a:t>Reconstruction Burden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9BEA7-0055-F4E1-6CBB-493EFA8F9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" y="589280"/>
            <a:ext cx="8676640" cy="612648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DD339E-4F1D-8A8D-1DCD-6C573F171D98}"/>
              </a:ext>
            </a:extLst>
          </p:cNvPr>
          <p:cNvSpPr txBox="1"/>
          <p:nvPr/>
        </p:nvSpPr>
        <p:spPr>
          <a:xfrm>
            <a:off x="8920480" y="589280"/>
            <a:ext cx="3200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Insight:</a:t>
            </a:r>
            <a:r>
              <a:rPr lang="en-US" dirty="0">
                <a:effectLst/>
              </a:rPr>
              <a:t> Reconstruction cost strongly correlates with war cost — more destructive conflicts require substantially higher investment.</a:t>
            </a:r>
            <a:endParaRPr lang="en-US" dirty="0"/>
          </a:p>
          <a:p>
            <a:r>
              <a:rPr lang="en-US" b="1" dirty="0">
                <a:effectLst/>
              </a:rPr>
              <a:t>Correlation:</a:t>
            </a:r>
            <a:r>
              <a:rPr lang="en-US" dirty="0">
                <a:effectLst/>
              </a:rPr>
              <a:t> War Cost ↔ Reconstruction Cost (high positive correlation)</a:t>
            </a:r>
            <a:endParaRPr lang="en-US" dirty="0"/>
          </a:p>
          <a:p>
            <a:r>
              <a:rPr lang="en-US" b="1" dirty="0">
                <a:effectLst/>
              </a:rPr>
              <a:t>Implication:</a:t>
            </a:r>
            <a:r>
              <a:rPr lang="en-US" dirty="0">
                <a:effectLst/>
              </a:rPr>
              <a:t> Reconstruction planning must account for conflict intensity, not just duration.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40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5754-32B9-8C38-E047-31557276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0"/>
            <a:ext cx="8930639" cy="609599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Economy &amp; Black‑Market Activity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E9FCF5-7D47-CDC2-FE59-4FD2153C3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1" y="609599"/>
            <a:ext cx="9032239" cy="611632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39A98B-832B-FD76-4997-7EB4F3BE505F}"/>
              </a:ext>
            </a:extLst>
          </p:cNvPr>
          <p:cNvSpPr txBox="1"/>
          <p:nvPr/>
        </p:nvSpPr>
        <p:spPr>
          <a:xfrm>
            <a:off x="9215121" y="537478"/>
            <a:ext cx="28752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Key Insight:</a:t>
            </a:r>
            <a:r>
              <a:rPr lang="en-US" dirty="0">
                <a:effectLst/>
              </a:rPr>
              <a:t> Informal economic activity expands during conflict as formal systems weaken.</a:t>
            </a:r>
            <a:endParaRPr lang="en-US" dirty="0"/>
          </a:p>
          <a:p>
            <a:r>
              <a:rPr lang="en-US" b="1" dirty="0">
                <a:effectLst/>
              </a:rPr>
              <a:t>Indicators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Growth in black‑market goods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Increased currency black‑market rate gaps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Documented war profiteering in several conflict types</a:t>
            </a:r>
            <a:endParaRPr lang="en-US" dirty="0"/>
          </a:p>
          <a:p>
            <a:r>
              <a:rPr lang="en-US" b="1" dirty="0">
                <a:effectLst/>
              </a:rPr>
              <a:t>Implication:</a:t>
            </a:r>
            <a:r>
              <a:rPr lang="en-US" dirty="0">
                <a:effectLst/>
              </a:rPr>
              <a:t> Informal markets fill gaps left by weakened institutions but increase governance challenges.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2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94B3-AC89-7D17-95D6-154B5BB3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1" y="172721"/>
            <a:ext cx="4333239" cy="701040"/>
          </a:xfrm>
        </p:spPr>
        <p:txBody>
          <a:bodyPr>
            <a:normAutofit/>
          </a:bodyPr>
          <a:lstStyle/>
          <a:p>
            <a:r>
              <a:rPr lang="en-US" b="1" dirty="0"/>
              <a:t>Executive Summary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FB97C21A-867E-D5A1-8DA5-33F42B81C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AB07613-C4A3-5B4B-4B1E-A87F2AB7F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 Copilot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46FF1-9B33-CB6B-55BC-B326794C7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1" y="873761"/>
            <a:ext cx="11836400" cy="5811517"/>
          </a:xfrm>
        </p:spPr>
        <p:txBody>
          <a:bodyPr/>
          <a:lstStyle/>
          <a:p>
            <a:r>
              <a:rPr lang="en-US" sz="3200" dirty="0">
                <a:effectLst/>
              </a:rPr>
              <a:t>War produces predictable patterns of economic and social disruption: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ffectLst/>
              </a:rPr>
              <a:t>Economic deterioration:</a:t>
            </a:r>
            <a:r>
              <a:rPr lang="en-US" sz="3200" dirty="0">
                <a:effectLst/>
              </a:rPr>
              <a:t> GDP decline, unemployment spikes, inflation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ffectLst/>
              </a:rPr>
              <a:t>Social pressure:</a:t>
            </a:r>
            <a:r>
              <a:rPr lang="en-US" sz="3200" dirty="0">
                <a:effectLst/>
              </a:rPr>
              <a:t> poverty increase, food insecurity, informal economy growth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ffectLst/>
              </a:rPr>
              <a:t>Structural strain:</a:t>
            </a:r>
            <a:r>
              <a:rPr lang="en-US" sz="3200" dirty="0">
                <a:effectLst/>
              </a:rPr>
              <a:t> currency instability, black‑market expansion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effectLst/>
              </a:rPr>
              <a:t>Financial burden:</a:t>
            </a:r>
            <a:r>
              <a:rPr lang="en-US" sz="3200" dirty="0">
                <a:effectLst/>
              </a:rPr>
              <a:t> reconstruction cost scales with war intensity</a:t>
            </a:r>
            <a:endParaRPr lang="en-US" sz="3200" dirty="0"/>
          </a:p>
          <a:p>
            <a:r>
              <a:rPr lang="en-US" sz="3200" dirty="0">
                <a:effectLst/>
              </a:rPr>
              <a:t>These patterns highlight the need for coordinated economic, humanitarian, and governance interventions.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5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8EEC-1FC4-9899-6464-14E001B5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1" y="121921"/>
            <a:ext cx="4820919" cy="680720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BE12-89AC-7B62-A4CD-635578BF6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11200"/>
            <a:ext cx="11282679" cy="5811519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Short‑Term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Emergency employment programs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Stabilization of essential goods supply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Targeted poverty relief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Currency stabilization measures</a:t>
            </a:r>
            <a:endParaRPr lang="en-US" sz="2800" dirty="0"/>
          </a:p>
          <a:p>
            <a:r>
              <a:rPr lang="en-US" sz="2800" b="1" dirty="0">
                <a:effectLst/>
              </a:rPr>
              <a:t>Long‑Term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Institutional rebuilding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Infrastructure reconstruction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Anti‑profiteering and governance reforms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Investment in formal labor markets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993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5A35-48A8-AAF8-0D09-F1C9A1A17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6029959" cy="1456267"/>
          </a:xfrm>
        </p:spPr>
        <p:txBody>
          <a:bodyPr/>
          <a:lstStyle/>
          <a:p>
            <a:r>
              <a:rPr lang="en-US" b="1" dirty="0">
                <a:effectLst/>
              </a:rPr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60D4-68A0-B72F-27D9-80F00DF85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Questions &amp;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90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{317F4BB7-CC64-4986-B882-9D8BFAA5A82A}TFb5ae2469-0bae-4978-b0e0-39dd046150ff9a115ede-a9c3cc5252b0</Template>
  <TotalTime>209</TotalTime>
  <Words>594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Celestial</vt:lpstr>
      <vt:lpstr>War’s Economic &amp; Social Impact </vt:lpstr>
      <vt:lpstr>Overview </vt:lpstr>
      <vt:lpstr>Economic Impact: GDP Decline</vt:lpstr>
      <vt:lpstr>Economic Impact: Unemployment Spike</vt:lpstr>
      <vt:lpstr>Social Impact: Poverty Increase</vt:lpstr>
      <vt:lpstr>Inflation &amp; Currency Instability</vt:lpstr>
      <vt:lpstr>Economic &amp; Social Linkages</vt:lpstr>
      <vt:lpstr>Correlation Insight</vt:lpstr>
      <vt:lpstr>Reconstruction Burden</vt:lpstr>
      <vt:lpstr>Informal Economy &amp; Black‑Market Activity</vt:lpstr>
      <vt:lpstr>Executive Summary</vt:lpstr>
      <vt:lpstr>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kefyalew Abaroro</dc:creator>
  <cp:lastModifiedBy>kefyalew Abaroro</cp:lastModifiedBy>
  <cp:revision>6</cp:revision>
  <dcterms:created xsi:type="dcterms:W3CDTF">2026-09-29T20:21:57Z</dcterms:created>
  <dcterms:modified xsi:type="dcterms:W3CDTF">2026-09-30T00:01:55Z</dcterms:modified>
</cp:coreProperties>
</file>